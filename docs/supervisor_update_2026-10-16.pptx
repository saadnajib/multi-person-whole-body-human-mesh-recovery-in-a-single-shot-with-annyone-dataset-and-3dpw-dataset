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bf8bf7df-a7e6-9808-df0f-e3a1d4ef6799}">
          <p14:sldIdLst>
            <p14:sldId id="256"/>
            <p14:sldId id="257"/>
            <p14:sldId id="258"/>
            <p14:sldId id="259"/>
          </p14:sldIdLst>
        </p14:section>
        <p14:section name="3DPW labels" id="{9c37fc90-15f6-713b-a76e-202b6b4366e1}">
          <p14:sldIdLst>
            <p14:sldId id="260"/>
            <p14:sldId id="261"/>
          </p14:sldIdLst>
        </p14:section>
        <p14:section name="Findings" id="{cb4013ab-fd32-de11-a9d7-0da37f05f38b}">
          <p14:sldIdLst>
            <p14:sldId id="262"/>
            <p14:sldId id="263"/>
            <p14:sldId id="264"/>
          </p14:sldIdLst>
        </p14:section>
        <p14:section name="Bug" id="{8de466eb-45b4-5317-c665-c8cdc16e0f75}">
          <p14:sldIdLst>
            <p14:sldId id="265"/>
            <p14:sldId id="266"/>
            <p14:sldId id="267"/>
          </p14:sldIdLst>
        </p14:section>
        <p14:section name="Next" id="{123c569b-bad0-d1f9-ba91-caa9f6ee7ba1}">
          <p14:sldIdLst>
            <p14:sldId id="268"/>
            <p14:sldId id="269"/>
            <p14:sldId id="270"/>
            <p14:sldId id="271"/>
          </p14:sldIdLst>
        </p14:section>
        <p14:section name="Appendix" id="{162fc2a4-22f6-d510-6a47-7638894a04f0}">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and two bugs I found in them, what I found in the neck and measured about the fingers and the children, one depth bug nobody was looking for and its fix, and what is still open. I will say clearly what is measured and what is only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I found that two bones in the v5 models, neck02 and the head bone, are turned half a turn, and the neck skin comes out about half as thick; I have not yet rendered it to check that this is the look we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10;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and about 144 of the 163 bones stay at rest, including neck02, neck03, the head and the fingers. So in these labels the head never turns relative to the 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answer: partly. Some parts are measured. On 60 frames of one sequence, raw 3DPW joints land on OpenPose at 8.9 pixels, so the camera formula is right, and the step into the camera is exact. Sides, units and image numbers are right in the code. The fit error is saved for every frame on the cluster and used for the 80 millimetre drop, but nobody has summarised it; the 13 to 20 millimetres in our scripts has no log. An old pilot, not v2.2, matched its own neutral-SMPL target to 13 millimetres on the limbs, but that target was 58 millimetres from the real 3DPW joints, so v2 changed the target; I do not use that number as evidence. A perfect-target test shows why joint error is not enough: joints match to 1.5 millimetres, but a 45-degree head turn is lost. Limb twist is not recovered either. I also found two real bugs. Gender is reversed: men get a female body and women a male one. The code is clear. I also checked Anny directly: at gender 0 the rest body is 1.75 metres tall with 37-centimetre shoulders, at gender 1 it is 1.63 metres with 31 centimetres, so 0 is male. The renders I saw are from v2.1, which uses the same rule, and they show men only. In two-person scenes the frames are picked per person, so at least a third (validation) to a half (train, test) of the images label only one person. Also, 6 train and 2 validation sequences have no labels at all; I do not know why yet. v7 to v10 train on these labels, and our 3DPW scores use them. So our 3DPW scores are measured against these Anny labels on every third frame; they cannot be compared with published 3DPW results, which use the SMPL meshes and all valid frames. I wrote a cluster check that compares the labels with the original SMPL meshes and refits a few people per sequence with the flipped gender; it has not run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I traced, two bones are wrong by about half a turn: neck02 by 176 degrees and the head by 178, in every holdout person. The other neck bones and the jaw are fine. It is there from the first training stage, frozen_bb_v2, and nothing later changed it. The two half-turns cancel: the whole head still points the right way, within 12 to 15 degrees, so the head direction and the body PVE never showed it; only the per-bone angles did, last week's 63 and 90 degrees. But the neck skin comes out less than half as thick as the truth. v10 has no neck flip, but the same kind of flip in its left shoulder, its left upper arm and three hand bones, one left and two right. Two epochs with a geodesic loss barely moved it, likely because both bones would have to turn back together. The flip is measured, but I have not yet rendered it to check that it is the look we saw in the overlays. Its origin is not known; the singular start value of the rotation output would start a bone turned about its sideways axis, a tilt like the one in v5's left index base, not the twist in neck02 and the head. Next: a fixed output correction, no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error is 17.3 degrees. With the fingers simply left in the rest pose it is 15.1. So the hand prediction is worse than no prediction, which is why the demos zero the fingers and now say so. Hands are small: about two tokens at 672 pixels. I cropped around the person at test time, without retraining. Per person that magnifies the hands by 1.6 times on median, and by 2.5 times or more for a quarter of the people; 26 percent of the people are not magnified at all. The table compares median hand sizes, so it shows a slightly larger factor. The finger error does not change: 17.2 against 17.3, and from 17.7 to 17.5 for the most magnified quarter. The body error nearly doubles on these crops, because the model never saw such a camera in training. So test-time magnification does not help; a model trained on larger hands is not tested. A rebalanced loss also changed nothing: 17.5 against 17.4 for its control. That loss cut the hands' share of the rotation loss from about 70 percent, which includes the four-times hand boost, to 33 percent; without the boost the share would be 40. So it does not test giving the fingers more weight, and the earlier four-times hand boost did not help either. My best guess is supervision or model capacity, but that is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too old but still clearly a child; the holdout adults lie mostly between 0.4 and 0.8. Anny's own age calibration puts 0.10 at about 2 years and 0.67 at about 16, while the labels in our code assume 0.33 is 11 years and 0.67 is 25; I have not settled which one the dataset follows. The ten children in the training manifest also come out too old, by 0.078 on average. With their true shape, their error falls from 47.8 to 41.6 millimetres, so 6.2 millimetres of it is shape. Only 2 percent of training people are children, so I tried a sampler that shows about 10 percent. In a 2-epoch fine-tune nothing changed, not for the training children and not on real photos: five small people still get the age of the holdout adults, 0.57 to 0.67 in the sampler and the control run. So I compare with the holdout adults rather than give years: 0.57 to 0.67 is about 14 to 16 years on Anny's calibration and 21 to 25 on our code's labels; either way far too old for people 0.6 to 1.1 metres tall. That is a short run on few people, so it shows no effect, not that there can be none. My best guess is a gap between synthetic and real images, plus an old-age bias that shows even on training children; neither is tested. There are no labelled real children, and the 3DPW labels fix age at one value, 0.55, for everyone (slide 5). The next step is a 10-epoch balanced-sampler run; if that also shows nothing, it goes into the thesis as a limitation. The holdout has no children, so every synthetic child number is in-sample.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gt_center_joint person_center: build the training targets at the head, the joint the model anchors. Each fix run has a control with the same schedule and the switch off; the stronger-loss runs have no control at the same weight. I report the 3D root error: the distance between the predicted and the true root joint, at the pelvis. Drawn size is the predicted over the true head-to-pelvis distance in pixels. The mean signed depth offset fell from 1.08 to 0.39 metres, but after the fix near people are too far and far people too near, and these cancel in that mean, so it flatters the fix. The head now lands within about 7 to 10 pixels, as expected, because the target moved to the head. With the depth loss five times stronger for 10 epochs, the root error falls from 1.21 to 0.54 metres and bodies are drawn at 84 percent of their true size; twenty times for 2 epochs ties with it, and the controls stay at 1.11 to 1.44. But the slope is 0.30 with the switch alone and 0.38 to 0.44 with the stronger depth loss. Predictions are pulled toward about 2.5 to 2.9 metres, close to the estimated training average; holdout people are nearer, 1.9 metres on average, so this pull becomes a large error here. Why the model cannot separate near from far, I do not know.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Every fix run is worse than its control in PVE and recall. The PVE gaps, 2.6 to 4.9 millimetres, are inside pilot noise; the recall drops, 1.6 to 2.4 points, are at the edge of what one pilot can detect; and the five fix runs share only two controls, so they are not five independent tests. I count it as a likely cost. The pelvis 2D error clearly got worse, from about 23 pixels to between 31 and 39 pixels; probably because the body is still drawn too small while the head is now pinned, but I have not checked that. The twenty-times 10-epoch run has no result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ran next to a control with the main switch off, on the same 100-image holdout and manifest, with helper bones masked. The stronger age loss and the stronger depth loss were not separately controlled: both children arms used the same age and height weights, and the depth runs at five and twenty times have no control at the same weight. Depth: by its own success rule the experiment failed. The slope did not move toward 1: it is 0.30 with the switch alone and 0.38 with the five-times depth loss. PVE is 74.8, against 72.2 for the control and 70.5 for v5. What clearly improved is outside the rule: the root error went from 1.21 to 0.54 metres and the drawn size from 0.63 to 0.84. I say that openly instead of changing the rule afterwards. Children, neck and fingers: no measurable effect. The neck loss gave 11.3 degrees of head error, which passes the rule of below 12, but the two controls gave 11.7 and 13.6, so that is inside the noise. The experiments also have a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8; the difference is only which people are matched. There is no fixed random seed: two identical runs differed by 7.6 millimetres PVE and 1.9 degrees of head error, so one pilot only detects about 10 millimetres, 3 degrees or 2 recall points. Restarting the fine-tune alone costs about 2.4 millimetres. A 2-epoch pilot trains in about 12 minutes, a 10-epoch run in about one hour. No new architecture, because the diagnostics do not justify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the findings and the handover documents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neck: the per-bone check is done, on slide 7, but nothing is fixed. Next is exp6: turn the flipped bones back with a fixed correction at the network output, tested with no training at all. If the neck skin then gets its thickness back, I will render it to check that the thin neck is what we saw in the overlays. Second, the depth slope, stuck at 0.3 to 0.4: why near and far are not separated is unknown. The training depths so far come from small samples, batch means of about 2.5 to 3.2 metres, so I will measure them properly, and measure the fix run's slope on training images; for v5 it was just as low there. Third, the cost of the fix: paired PVE on the same people, recall over people whose head is visible, and the root error next to PVE in the thesis. Testing the fix on 3DPW waits for item seven. The twenty-times 10-epoch run has no result yet. Fourth, pilot noise: fix the seed or repeat the key run. Fifth, people very close to the camera: both models miss them in 4 of the 12 rendered images; likely a detection problem, not yet counted. Sixth, children and fingers: one 2-epoch test is not enough to close them. Next is a 10-epoch balanced-sampler run, and for the fingers training on larger hand crops. If those show nothing too, both go into the thesis as limitations. Seventh, the 3DPW labels from slide 6: set men to 0 and women to 1, and pick both people's frames on one shared grid. Both happen inside the fit, so all 87 conversion tasks must be fitted again, not only the 11 missing ones, and into a new folder, because the task script skips every person that already has a file; otherwise old and new fits would mix without a warning. That is an 87-task array job: about 40 GPU hours by the task script's own estimate of 6 seconds per frame, so 5 to 6 hours with 8 GPUs at once; not measured. Then rebuild the labels and run the new check. Only after that should I test the depth fix on 3DPW or fine-tune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measured: the failures are not rig or decoding problems. A training-target bug puts people too far away in v5, v9 and v10; in v5 it is all 222 holdout people. The depth fix draws the bodies much closer to their true size, but near and far are still not separated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Separately, the 3DPW labels have the two bugs from slide 6: the two-person problem is counted from the label files, the reversed gender is read in the code and seen in v2.1 renders. Also measured now: in all eight v5-line checkpoints I traced, neck02 and the head bone sit half a turn off; they cancel, so the head points the right way, but the neck skin is about half as thick. I do not claim a fix for it: a 2-epoch fine-tune did not undo it. Its origin is not known; the singular start value of the rotation output would start a bone turned about its sideways axis, a tilt like the one in v5's left index base, not the twist in neck02 and the head. I do not claim any improvement in the fingers or the children, and I do not claim an accuracy for the 3DPW labels: nobody has summarised the saved fit error or compared the labels with the SMPL meshes. My question: should I fine-tune v9 with the corrected targets and the depth loss five times stronger, before the thesis numbers are final? That is about one hour of training. From v5 I expect a drawn size of about 0.84 and a root error of about half a metre; on v5 that run cost 2.6 millimetres PVE and 1.6 recall points against its control. Five, not twenty, because the twenty-times 10-epoch run has no result yet. v9 is best on our 3DPW-Anny labels, but those labels have the gender bug and the two-person bug, so that score is not a clean measure. The other option is to fix the labels first: men to 0, one shared frame grid, re-fit all 87 conversion tasks into a new folder, rebuild the labels, then fine-tune. Rebuilding the labels alone is not enough, because the gender and the frame choice are fixed inside the fit; the re-fit is an 87-task array job, about 40 GPU hours by the script's own estimate. I think the 3DPW labels should be re-fitted with the corrected gender before any fine-tune that mixes in 3DPW; otherwise the fine-tune keeps learning the wrong body. A v9 fine-tune keeps the neck flip; v10 has no neck flip, but the same kind of flip in the left shoulder and upper arm, which is most of why its shoulders and arms are worse. Either fine-tune should also mask the 3DPW finger labels, which are set to the rest pose, with mask_3dpw_hands. The ViT-S students use the same training code and are probably affected too; not measured. On the AnnyOne holdout v9 is not the best: 77.0 against 70.5.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4630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01168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 what this week found</a:t>
            </a:r>
            <a:endParaRPr lang="en-US" sz="4000" dirty="0"/>
          </a:p>
        </p:txBody>
      </p:sp>
      <p:sp>
        <p:nvSpPr>
          <p:cNvPr id="3" name="Text 0"/>
          <p:cNvSpPr/>
          <p:nvPr>
            <p:ph idx="101" type="body" hasCustomPrompt="1"/>
          </p:nvPr>
        </p:nvSpPr>
        <p:spPr>
          <a:xfrm>
            <a:off x="548640" y="2834640"/>
            <a:ext cx="8046720" cy="146304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Two bugs in the 3DPW labels (gender, two-person frames).</a:t>
            </a:r>
            <a:endParaRPr lang="en-US" sz="1800" dirty="0"/>
          </a:p>
          <a:p>
            <a:pPr algn="l" indent="0" marL="0">
              <a:buNone/>
            </a:pPr>
            <a:r>
              <a:rPr lang="en-US" sz="1800" dirty="0">
                <a:solidFill>
                  <a:schemeClr val="bg2"/>
                </a:solidFill>
              </a:rPr>
              <a:t>Neck: two bones turned half a turn, found, not yet fixed.</a:t>
            </a:r>
            <a:endParaRPr lang="en-US" sz="1800" dirty="0"/>
          </a:p>
          <a:p>
            <a:pPr algn="l" indent="0" marL="0">
              <a:buNone/>
            </a:pPr>
            <a:r>
              <a:rPr lang="en-US" sz="1800" dirty="0">
                <a:solidFill>
                  <a:schemeClr val="bg2"/>
                </a:solidFill>
              </a:rPr>
              <a:t>Fingers and children: measured, still open.</a:t>
            </a:r>
            <a:endParaRPr lang="en-US" sz="1800" dirty="0"/>
          </a:p>
          <a:p>
            <a:pPr algn="l" indent="0" marL="0">
              <a:buNone/>
            </a:pPr>
            <a:r>
              <a:rPr lang="en-US" sz="1800" dirty="0">
                <a:solidFill>
                  <a:schemeClr val="bg2"/>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In v5, neck02 and the head bone are turned half a turn and the neck skin comes out half as thick. A render check is still to do.</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10).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About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Conversion: camera verified, fit not checked, two bugs</a:t>
            </a:r>
            <a:endParaRPr lang="en-US" sz="2700" dirty="0"/>
          </a:p>
        </p:txBody>
      </p:sp>
      <p:sp>
        <p:nvSpPr>
          <p:cNvPr id="3" name="ev Measured"/>
          <p:cNvSpPr/>
          <p:nvPr/>
        </p:nvSpPr>
        <p:spPr>
          <a:xfrm>
            <a:off x="457200" y="1143000"/>
            <a:ext cx="2651760" cy="2432304"/>
          </a:xfrm>
          <a:prstGeom prst="roundRect">
            <a:avLst>
              <a:gd name="adj" fmla="val 3008"/>
            </a:avLst>
          </a:prstGeom>
          <a:solidFill>
            <a:schemeClr val="bg2"/>
          </a:solidFill>
          <a:ln w="12700">
            <a:solidFill>
              <a:schemeClr val="bg2"/>
            </a:solidFill>
            <a:prstDash val="solid"/>
          </a:ln>
        </p:spPr>
      </p:sp>
      <p:sp>
        <p:nvSpPr>
          <p:cNvPr id="4" name="ev dot Measured"/>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a:t>
            </a:r>
            <a:endParaRPr lang="en-US" sz="1500" dirty="0"/>
          </a:p>
        </p:txBody>
      </p:sp>
      <p:sp>
        <p:nvSpPr>
          <p:cNvPr id="6" name="ev body Measured"/>
          <p:cNvSpPr txBox="1"/>
          <p:nvPr/>
        </p:nvSpPr>
        <p:spPr>
          <a:xfrm>
            <a:off x="594360" y="1645920"/>
            <a:ext cx="2377440" cy="1865376"/>
          </a:xfrm>
          <a:prstGeom prst="rect">
            <a:avLst/>
          </a:prstGeom>
          <a:noFill/>
          <a:ln/>
        </p:spPr>
        <p:txBody>
          <a:bodyPr wrap="square" lIns="0" tIns="0" rIns="0" bIns="0" rtlCol="0" anchor="t"/>
          <a:lstStyle/>
          <a:p>
            <a:pPr marL="177800" indent="-177800">
              <a:spcAft>
                <a:spcPts val="300"/>
              </a:spcAft>
              <a:buSzPct val="100000"/>
              <a:buChar char="•"/>
            </a:pPr>
            <a:r>
              <a:rPr lang="en-US" sz="1100" b="1" dirty="0">
                <a:solidFill>
                  <a:schemeClr val="tx1"/>
                </a:solidFill>
              </a:rPr>
              <a:t>Camera formula: </a:t>
            </a:r>
            <a:r>
              <a:rPr lang="en-US" sz="1100" dirty="0">
                <a:solidFill>
                  <a:schemeClr val="tx1"/>
                </a:solidFill>
              </a:rPr>
              <a:t>raw 3DPW joints hit OpenPose 2D at 8.9 px on 60 frames of one sequence (other convention: ~2400 px).</a:t>
            </a:r>
            <a:endParaRPr lang="en-US" sz="1100" dirty="0"/>
          </a:p>
          <a:p>
            <a:pPr marL="177800" indent="-177800">
              <a:spcAft>
                <a:spcPts val="300"/>
              </a:spcAft>
              <a:buSzPct val="100000"/>
              <a:buChar char="•"/>
            </a:pPr>
            <a:r>
              <a:rPr lang="en-US" sz="1100" b="1" dirty="0">
                <a:solidFill>
                  <a:schemeClr val="tx1"/>
                </a:solidFill>
              </a:rPr>
              <a:t>World → camera: </a:t>
            </a:r>
            <a:r>
              <a:rPr lang="en-US" sz="1100" dirty="0">
                <a:solidFill>
                  <a:schemeClr val="tx1"/>
                </a:solidFill>
              </a:rPr>
              <a:t>exact; label mesh = moved fit mesh to 0.002 mm (synthetic test).</a:t>
            </a:r>
            <a:endParaRPr lang="en-US" sz="1100" dirty="0"/>
          </a:p>
          <a:p>
            <a:pPr marL="177800" indent="-177800">
              <a:spcAft>
                <a:spcPts val="300"/>
              </a:spcAft>
              <a:buSzPct val="100000"/>
              <a:buChar char="•"/>
            </a:pPr>
            <a:r>
              <a:rPr lang="en-US" sz="1100" b="1" dirty="0">
                <a:solidFill>
                  <a:schemeClr val="tx1"/>
                </a:solidFill>
              </a:rPr>
              <a:t>Perfect targets: </a:t>
            </a:r>
            <a:r>
              <a:rPr lang="en-US" sz="1100" dirty="0">
                <a:solidFill>
                  <a:schemeClr val="tx1"/>
                </a:solidFill>
              </a:rPr>
              <a:t>joints within 1.5 mm, yet a 45° head turn comes back as 0°.</a:t>
            </a:r>
            <a:endParaRPr lang="en-US" sz="1100" dirty="0"/>
          </a:p>
        </p:txBody>
      </p:sp>
      <p:sp>
        <p:nvSpPr>
          <p:cNvPr id="7" name="ev Checked in code"/>
          <p:cNvSpPr/>
          <p:nvPr/>
        </p:nvSpPr>
        <p:spPr>
          <a:xfrm>
            <a:off x="3246120" y="1143000"/>
            <a:ext cx="2651760" cy="2432304"/>
          </a:xfrm>
          <a:prstGeom prst="roundRect">
            <a:avLst>
              <a:gd name="adj" fmla="val 3008"/>
            </a:avLst>
          </a:prstGeom>
          <a:solidFill>
            <a:schemeClr val="bg2"/>
          </a:solidFill>
          <a:ln w="12700">
            <a:solidFill>
              <a:schemeClr val="bg2"/>
            </a:solidFill>
            <a:prstDash val="solid"/>
          </a:ln>
        </p:spPr>
      </p:sp>
      <p:sp>
        <p:nvSpPr>
          <p:cNvPr id="8" name="ev dot Checked in code"/>
          <p:cNvSpPr/>
          <p:nvPr/>
        </p:nvSpPr>
        <p:spPr>
          <a:xfrm>
            <a:off x="3401568" y="1280160"/>
            <a:ext cx="274320" cy="274320"/>
          </a:xfrm>
          <a:prstGeom prst="ellipse">
            <a:avLst/>
          </a:prstGeom>
          <a:solidFill>
            <a:schemeClr val="accent1"/>
          </a:solidFill>
          <a:ln w="12700">
            <a:solidFill>
              <a:schemeClr val="accent1"/>
            </a:solidFill>
            <a:prstDash val="solid"/>
          </a:ln>
        </p:spPr>
      </p:sp>
      <p:sp>
        <p:nvSpPr>
          <p:cNvPr id="9" name="ev head Checked in code"/>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Checked in code</a:t>
            </a:r>
            <a:endParaRPr lang="en-US" sz="1500" dirty="0"/>
          </a:p>
        </p:txBody>
      </p:sp>
      <p:sp>
        <p:nvSpPr>
          <p:cNvPr id="10" name="ev body Checked in code"/>
          <p:cNvSpPr txBox="1"/>
          <p:nvPr/>
        </p:nvSpPr>
        <p:spPr>
          <a:xfrm>
            <a:off x="3383280" y="1645920"/>
            <a:ext cx="2377440" cy="1865376"/>
          </a:xfrm>
          <a:prstGeom prst="rect">
            <a:avLst/>
          </a:prstGeom>
          <a:noFill/>
          <a:ln/>
        </p:spPr>
        <p:txBody>
          <a:bodyPr wrap="square" lIns="0" tIns="0" rIns="0" bIns="0" rtlCol="0" anchor="t"/>
          <a:lstStyle/>
          <a:p>
            <a:pPr marL="177800" indent="-177800">
              <a:spcAft>
                <a:spcPts val="300"/>
              </a:spcAft>
              <a:buSzPct val="100000"/>
              <a:buChar char="•"/>
            </a:pPr>
            <a:r>
              <a:rPr lang="en-US" sz="1100" b="1" dirty="0">
                <a:solidFill>
                  <a:schemeClr val="tx1"/>
                </a:solidFill>
              </a:rPr>
              <a:t>Left/right, metres, image numbers </a:t>
            </a:r>
            <a:r>
              <a:rPr lang="en-US" sz="1100" dirty="0">
                <a:solidFill>
                  <a:schemeClr val="tx1"/>
                </a:solidFill>
              </a:rPr>
              <a:t>line up; old 60 Hz frame bug fixed.</a:t>
            </a:r>
            <a:endParaRPr lang="en-US" sz="1100" dirty="0"/>
          </a:p>
          <a:p>
            <a:pPr marL="177800" indent="-177800">
              <a:spcAft>
                <a:spcPts val="300"/>
              </a:spcAft>
              <a:buSzPct val="100000"/>
              <a:buChar char="•"/>
            </a:pPr>
            <a:r>
              <a:rPr lang="en-US" sz="1100" b="1" dirty="0">
                <a:solidFill>
                  <a:schemeClr val="tx1"/>
                </a:solidFill>
              </a:rPr>
              <a:t>Bones without a target </a:t>
            </a:r>
            <a:r>
              <a:rPr lang="en-US" sz="1100" dirty="0">
                <a:solidFill>
                  <a:schemeClr val="tx1"/>
                </a:solidFill>
              </a:rPr>
              <a:t>keep Anny's rest pose; no NaN or broken rotations.</a:t>
            </a:r>
            <a:endParaRPr lang="en-US" sz="1100" dirty="0"/>
          </a:p>
          <a:p>
            <a:pPr marL="177800" indent="-177800">
              <a:spcAft>
                <a:spcPts val="300"/>
              </a:spcAft>
              <a:buSzPct val="100000"/>
              <a:buChar char="•"/>
            </a:pPr>
            <a:r>
              <a:rPr lang="en-US" sz="1100" b="1" dirty="0">
                <a:solidFill>
                  <a:schemeClr val="tx1"/>
                </a:solidFill>
              </a:rPr>
              <a:t>Loader camera: </a:t>
            </a:r>
            <a:r>
              <a:rPr lang="en-US" sz="1100" dirty="0">
                <a:solidFill>
                  <a:schemeClr val="tx1"/>
                </a:solidFill>
              </a:rPr>
              <a:t>rescaled for the 672 px square (likely right).</a:t>
            </a:r>
            <a:endParaRPr lang="en-US" sz="1100" dirty="0"/>
          </a:p>
          <a:p>
            <a:pPr marL="177800" indent="-177800">
              <a:spcAft>
                <a:spcPts val="300"/>
              </a:spcAft>
              <a:buSzPct val="100000"/>
              <a:buChar char="•"/>
            </a:pPr>
            <a:r>
              <a:rPr lang="en-US" sz="1100" b="1" dirty="0">
                <a:solidFill>
                  <a:schemeClr val="tx1"/>
                </a:solidFill>
              </a:rPr>
              <a:t>Version: </a:t>
            </a:r>
            <a:r>
              <a:rPr lang="en-US" sz="1100" dirty="0">
                <a:solidFill>
                  <a:schemeClr val="tx1"/>
                </a:solidFill>
              </a:rPr>
              <a:t>the label builder only accepts v2.2 fits.</a:t>
            </a:r>
            <a:endParaRPr lang="en-US" sz="1100" dirty="0"/>
          </a:p>
        </p:txBody>
      </p:sp>
      <p:sp>
        <p:nvSpPr>
          <p:cNvPr id="11" name="ev Limits, not yet measured"/>
          <p:cNvSpPr/>
          <p:nvPr/>
        </p:nvSpPr>
        <p:spPr>
          <a:xfrm>
            <a:off x="6035040" y="1143000"/>
            <a:ext cx="2651760" cy="2432304"/>
          </a:xfrm>
          <a:prstGeom prst="roundRect">
            <a:avLst>
              <a:gd name="adj" fmla="val 3008"/>
            </a:avLst>
          </a:prstGeom>
          <a:solidFill>
            <a:schemeClr val="bg2"/>
          </a:solidFill>
          <a:ln w="12700">
            <a:solidFill>
              <a:schemeClr val="bg2"/>
            </a:solidFill>
            <a:prstDash val="solid"/>
          </a:ln>
        </p:spPr>
      </p:sp>
      <p:sp>
        <p:nvSpPr>
          <p:cNvPr id="12" name="ev dot Limits, not yet measured"/>
          <p:cNvSpPr/>
          <p:nvPr/>
        </p:nvSpPr>
        <p:spPr>
          <a:xfrm>
            <a:off x="6190488" y="1280160"/>
            <a:ext cx="274320" cy="274320"/>
          </a:xfrm>
          <a:prstGeom prst="ellipse">
            <a:avLst/>
          </a:prstGeom>
          <a:solidFill>
            <a:schemeClr val="accent2"/>
          </a:solidFill>
          <a:ln w="12700">
            <a:solidFill>
              <a:schemeClr val="accent2"/>
            </a:solidFill>
            <a:prstDash val="solid"/>
          </a:ln>
        </p:spPr>
      </p:sp>
      <p:sp>
        <p:nvSpPr>
          <p:cNvPr id="13" name="ev head Limits, not yet measured"/>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not yet measured</a:t>
            </a:r>
            <a:endParaRPr lang="en-US" sz="1500" dirty="0"/>
          </a:p>
        </p:txBody>
      </p:sp>
      <p:sp>
        <p:nvSpPr>
          <p:cNvPr id="14" name="ev body Limits, not yet measured"/>
          <p:cNvSpPr txBox="1"/>
          <p:nvPr/>
        </p:nvSpPr>
        <p:spPr>
          <a:xfrm>
            <a:off x="6172200" y="1645920"/>
            <a:ext cx="2377440" cy="1865376"/>
          </a:xfrm>
          <a:prstGeom prst="rect">
            <a:avLst/>
          </a:prstGeom>
          <a:noFill/>
          <a:ln/>
        </p:spPr>
        <p:txBody>
          <a:bodyPr wrap="square" lIns="0" tIns="0" rIns="0" bIns="0" rtlCol="0" anchor="t"/>
          <a:lstStyle/>
          <a:p>
            <a:pPr marL="177800" indent="-177800">
              <a:spcAft>
                <a:spcPts val="300"/>
              </a:spcAft>
              <a:buSzPct val="100000"/>
              <a:buChar char="•"/>
            </a:pPr>
            <a:r>
              <a:rPr lang="en-US" sz="1100" b="1" dirty="0">
                <a:solidFill>
                  <a:schemeClr val="tx1"/>
                </a:solidFill>
              </a:rPr>
              <a:t>By design: </a:t>
            </a:r>
            <a:r>
              <a:rPr lang="en-US" sz="1100" dirty="0">
                <a:solidFill>
                  <a:schemeClr val="tx1"/>
                </a:solidFill>
              </a:rPr>
              <a:t>head turn and limb twist are not recovered; neck02/03, head and fingers stay at rest; age 0.55.</a:t>
            </a:r>
            <a:endParaRPr lang="en-US" sz="1100" dirty="0"/>
          </a:p>
          <a:p>
            <a:pPr marL="177800" indent="-177800">
              <a:spcAft>
                <a:spcPts val="300"/>
              </a:spcAft>
              <a:buSzPct val="100000"/>
              <a:buChar char="•"/>
            </a:pPr>
            <a:r>
              <a:rPr lang="en-US" sz="1100" b="1" dirty="0">
                <a:solidFill>
                  <a:schemeClr val="tx1"/>
                </a:solidFill>
              </a:rPr>
              <a:t>Never summarised: </a:t>
            </a:r>
            <a:r>
              <a:rPr lang="en-US" sz="1100" dirty="0">
                <a:solidFill>
                  <a:schemeClr val="tx1"/>
                </a:solidFill>
              </a:rPr>
              <a:t>v2.2 fit error, saved per frame on the cluster (the ‘13–20 mm’ has no log). Mesh and head error vs SMPL: never measured.</a:t>
            </a:r>
            <a:endParaRPr lang="en-US" sz="1100" dirty="0"/>
          </a:p>
          <a:p>
            <a:pPr marL="177800" indent="-177800">
              <a:spcAft>
                <a:spcPts val="300"/>
              </a:spcAft>
              <a:buSzPct val="100000"/>
              <a:buChar char="•"/>
            </a:pPr>
            <a:r>
              <a:rPr lang="en-US" sz="1100" b="1" dirty="0">
                <a:solidFill>
                  <a:schemeClr val="tx1"/>
                </a:solidFill>
              </a:rPr>
              <a:t>Fresh check, written, not yet run: </a:t>
            </a:r>
            <a:r>
              <a:rPr lang="en-US" sz="1100" dirty="0">
                <a:solidFill>
                  <a:schemeClr val="tx1"/>
                </a:solidFill>
              </a:rPr>
              <a:t>slurm/diagnostics/​check_3dpw_conversion.sh</a:t>
            </a:r>
            <a:endParaRPr lang="en-US" sz="1100" dirty="0"/>
          </a:p>
        </p:txBody>
      </p:sp>
      <p:sp>
        <p:nvSpPr>
          <p:cNvPr id="15" name="bug band"/>
          <p:cNvSpPr/>
          <p:nvPr/>
        </p:nvSpPr>
        <p:spPr>
          <a:xfrm>
            <a:off x="457200" y="3685032"/>
            <a:ext cx="8229600" cy="996696"/>
          </a:xfrm>
          <a:prstGeom prst="roundRect">
            <a:avLst>
              <a:gd name="adj" fmla="val 7339"/>
            </a:avLst>
          </a:prstGeom>
          <a:solidFill>
            <a:srgbClr val="FBE9E7"/>
          </a:solidFill>
          <a:ln w="12700">
            <a:solidFill>
              <a:srgbClr val="FBE9E7"/>
            </a:solidFill>
            <a:prstDash val="solid"/>
          </a:ln>
        </p:spPr>
      </p:sp>
      <p:sp>
        <p:nvSpPr>
          <p:cNvPr id="16" name="bug dot"/>
          <p:cNvSpPr/>
          <p:nvPr/>
        </p:nvSpPr>
        <p:spPr>
          <a:xfrm>
            <a:off x="612648" y="3758184"/>
            <a:ext cx="274320" cy="274320"/>
          </a:xfrm>
          <a:prstGeom prst="ellipse">
            <a:avLst/>
          </a:prstGeom>
          <a:solidFill>
            <a:schemeClr val="accent4"/>
          </a:solidFill>
          <a:ln w="12700">
            <a:solidFill>
              <a:schemeClr val="accent4"/>
            </a:solidFill>
            <a:prstDash val="solid"/>
          </a:ln>
        </p:spPr>
      </p:sp>
      <p:sp>
        <p:nvSpPr>
          <p:cNvPr id="17" name="bug head"/>
          <p:cNvSpPr txBox="1"/>
          <p:nvPr/>
        </p:nvSpPr>
        <p:spPr>
          <a:xfrm>
            <a:off x="1005840" y="3712464"/>
            <a:ext cx="7543800" cy="365760"/>
          </a:xfrm>
          <a:prstGeom prst="rect">
            <a:avLst/>
          </a:prstGeom>
          <a:noFill/>
          <a:ln/>
        </p:spPr>
        <p:txBody>
          <a:bodyPr wrap="square" lIns="0" tIns="0" rIns="0" bIns="0" rtlCol="0" anchor="ctr"/>
          <a:lstStyle/>
          <a:p>
            <a:pPr indent="0" marL="0">
              <a:buNone/>
            </a:pPr>
            <a:r>
              <a:rPr lang="en-US" sz="1300" b="1" dirty="0">
                <a:solidFill>
                  <a:srgbClr val="C0392B"/>
                </a:solidFill>
              </a:rPr>
              <a:t>Two real bugs found </a:t>
            </a:r>
            <a:r>
              <a:rPr lang="en-US" sz="1300" dirty="0">
                <a:solidFill>
                  <a:srgbClr val="1B2233"/>
                </a:solidFill>
              </a:rPr>
              <a:t>(read in code, seen in data). v7–v10 train on these labels; all 3DPW scores use them.</a:t>
            </a:r>
            <a:endParaRPr lang="en-US" sz="1300" dirty="0"/>
          </a:p>
        </p:txBody>
      </p:sp>
      <p:sp>
        <p:nvSpPr>
          <p:cNvPr id="18" name="bug text"/>
          <p:cNvSpPr txBox="1"/>
          <p:nvPr/>
        </p:nvSpPr>
        <p:spPr>
          <a:xfrm>
            <a:off x="640080" y="4087368"/>
            <a:ext cx="7909560" cy="566928"/>
          </a:xfrm>
          <a:prstGeom prst="rect">
            <a:avLst/>
          </a:prstGeom>
          <a:noFill/>
          <a:ln/>
        </p:spPr>
        <p:txBody>
          <a:bodyPr wrap="square" lIns="0" tIns="0" rIns="0" bIns="0" rtlCol="0" anchor="t"/>
          <a:lstStyle/>
          <a:p>
            <a:pPr marL="177800" indent="-177800">
              <a:spcAft>
                <a:spcPts val="200"/>
              </a:spcAft>
              <a:buSzPct val="100000"/>
              <a:buChar char="•"/>
            </a:pPr>
            <a:r>
              <a:rPr lang="en-US" sz="1100" b="1" dirty="0">
                <a:solidFill>
                  <a:schemeClr val="tx1"/>
                </a:solidFill>
              </a:rPr>
              <a:t>Gender reversed: </a:t>
            </a:r>
            <a:r>
              <a:rPr lang="en-US" sz="1100" dirty="0">
                <a:solidFill>
                  <a:schemeClr val="tx1"/>
                </a:solidFill>
              </a:rPr>
              <a:t>the code sets man = 1, but in Anny 1 = female: men get a female body (seen in v2.1 renders), women a male one.</a:t>
            </a:r>
            <a:endParaRPr lang="en-US" sz="1100" dirty="0"/>
          </a:p>
          <a:p>
            <a:pPr marL="177800" indent="-177800">
              <a:spcAft>
                <a:spcPts val="200"/>
              </a:spcAft>
              <a:buSzPct val="100000"/>
              <a:buChar char="•"/>
            </a:pPr>
            <a:r>
              <a:rPr lang="en-US" sz="1100" b="1" dirty="0">
                <a:solidFill>
                  <a:schemeClr val="tx1"/>
                </a:solidFill>
              </a:rPr>
              <a:t>Two-person scenes: </a:t>
            </a:r>
            <a:r>
              <a:rPr lang="en-US" sz="1100" dirty="0">
                <a:solidFill>
                  <a:schemeClr val="tx1"/>
                </a:solidFill>
              </a:rPr>
              <a:t>frames are picked per person, so ≥ 48% of these train images label only one of the two people.</a:t>
            </a:r>
            <a:endParaRPr lang="en-US" sz="1100" dirty="0"/>
          </a:p>
          <a:p>
            <a:pPr marL="177800" indent="-177800">
              <a:spcAft>
                <a:spcPts val="200"/>
              </a:spcAft>
              <a:buSzPct val="100000"/>
              <a:buChar char="•"/>
            </a:pPr>
            <a:r>
              <a:rPr lang="en-US" sz="1100" b="1" dirty="0">
                <a:solidFill>
                  <a:schemeClr val="tx1"/>
                </a:solidFill>
              </a:rPr>
              <a:t>Also missing: </a:t>
            </a:r>
            <a:r>
              <a:rPr lang="en-US" sz="1100" dirty="0">
                <a:solidFill>
                  <a:schemeClr val="tx1"/>
                </a:solidFill>
              </a:rPr>
              <a:t>6 of 24 train and 2 of 12 validation sequences have no labels at all (cause unknown).</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bones turned half a turn</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434840" cy="914400"/>
        </p:xfrm>
        <a:graphic>
          <a:graphicData uri="http://schemas.openxmlformats.org/drawingml/2006/table">
            <a:tbl>
              <a:tblPr/>
              <a:tblGrid>
                <a:gridCol w="1920240"/>
                <a:gridCol w="1645920"/>
                <a:gridCol w="868680"/>
              </a:tblGrid>
              <a:tr h="246888">
                <a:tc>
                  <a:txBody>
                    <a:bodyPr/>
                    <a:lstStyle/>
                    <a:p>
                      <a:pPr algn="l" indent="0" marL="0">
                        <a:buNone/>
                      </a:pPr>
                      <a:r>
                        <a:rPr lang="en-US" sz="1100" b="1" dirty="0">
                          <a:solidFill>
                            <a:srgbClr val="FFFFFF"/>
                          </a:solidFill>
                        </a:rPr>
                        <a:t>holdout, 100 images</a:t>
                      </a:r>
                      <a:endParaRPr lang="en-US" sz="11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line, 8 checkpoints</a:t>
                      </a:r>
                      <a:endParaRPr lang="en-US" sz="11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v10</a:t>
                      </a:r>
                      <a:endParaRPr lang="en-US" sz="11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neck01</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5.3–7.3°</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5.6°</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neck02</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175.0–176.0°</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3.9°</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neck03</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4.9–8.0°</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4.3°</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177.1–178.0°</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6.8°</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jaw</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0.2–2.5°</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0.2°</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whole head direction</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12.0–14.9°</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12.9°</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 (pred / true)</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0.46–0.47</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27.3–28.7 mm</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10.3 mm</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529584"/>
            <a:ext cx="4434840" cy="365760"/>
          </a:xfrm>
          <a:prstGeom prst="rect">
            <a:avLst/>
          </a:prstGeom>
          <a:noFill/>
          <a:ln/>
        </p:spPr>
        <p:txBody>
          <a:bodyPr wrap="square" lIns="0" tIns="0" rIns="0" bIns="0" rtlCol="0" anchor="t"/>
          <a:lstStyle/>
          <a:p>
            <a:pPr indent="0" marL="0">
              <a:buNone/>
            </a:pPr>
            <a:r>
              <a:rPr lang="en-US" sz="1100" dirty="0">
                <a:solidFill>
                  <a:schemeClr val="tx2"/>
                </a:solidFill>
              </a:rPr>
              <a:t>Bone rows: median angle vs parent bone. Head direction: whole head. Thickness: neck-skin radius. Neck-skin error: centred at neck01.</a:t>
            </a:r>
            <a:endParaRPr lang="en-US" sz="1100" dirty="0"/>
          </a:p>
        </p:txBody>
      </p:sp>
      <p:sp>
        <p:nvSpPr>
          <p:cNvPr id="5" name="neck text"/>
          <p:cNvSpPr txBox="1"/>
          <p:nvPr/>
        </p:nvSpPr>
        <p:spPr>
          <a:xfrm>
            <a:off x="5120640" y="1188720"/>
            <a:ext cx="3566160" cy="2670048"/>
          </a:xfrm>
          <a:prstGeom prst="rect">
            <a:avLst/>
          </a:prstGeom>
          <a:noFill/>
          <a:ln/>
        </p:spPr>
        <p:txBody>
          <a:bodyPr wrap="square" lIns="0" tIns="0" rIns="0" bIns="0" rtlCol="0" anchor="t"/>
          <a:lstStyle/>
          <a:p>
            <a:pPr marL="177800" indent="-177800">
              <a:spcAft>
                <a:spcPts val="600"/>
              </a:spcAft>
              <a:buSzPct val="100000"/>
              <a:buChar char="•"/>
            </a:pPr>
            <a:r>
              <a:rPr lang="en-US" sz="1200" b="1" dirty="0">
                <a:solidFill>
                  <a:schemeClr val="tx1"/>
                </a:solidFill>
              </a:rPr>
              <a:t>Since the first training stage: </a:t>
            </a:r>
            <a:r>
              <a:rPr lang="en-US" sz="1200" dirty="0">
                <a:solidFill>
                  <a:schemeClr val="tx1"/>
                </a:solidFill>
              </a:rPr>
              <a:t>already in frozen_bb_v2, unchanged in v3, v4, v5, v9 and every pilot checked.</a:t>
            </a:r>
            <a:endParaRPr lang="en-US" sz="1200" dirty="0"/>
          </a:p>
          <a:p>
            <a:pPr marL="177800" indent="-177800">
              <a:spcAft>
                <a:spcPts val="600"/>
              </a:spcAft>
              <a:buSzPct val="100000"/>
              <a:buChar char="•"/>
            </a:pPr>
            <a:r>
              <a:rPr lang="en-US" sz="1200" b="1" dirty="0">
                <a:solidFill>
                  <a:schemeClr val="tx1"/>
                </a:solidFill>
              </a:rPr>
              <a:t>Hidden: </a:t>
            </a:r>
            <a:r>
              <a:rPr lang="en-US" sz="1200" dirty="0">
                <a:solidFill>
                  <a:schemeClr val="tx1"/>
                </a:solidFill>
              </a:rPr>
              <a:t>the two half-turns cancel, so the whole head still points the right way (12–15° off); body PVE and head direction missed it, only per-bone angles (last week's 63° / 90°) showed it.</a:t>
            </a:r>
            <a:endParaRPr lang="en-US" sz="1200" dirty="0"/>
          </a:p>
          <a:p>
            <a:pPr marL="177800" indent="-177800">
              <a:spcAft>
                <a:spcPts val="600"/>
              </a:spcAft>
              <a:buSzPct val="100000"/>
              <a:buChar char="•"/>
            </a:pPr>
            <a:r>
              <a:rPr lang="en-US" sz="1200" b="1" dirty="0">
                <a:solidFill>
                  <a:schemeClr val="tx1"/>
                </a:solidFill>
              </a:rPr>
              <a:t>Same thing elsewhere: </a:t>
            </a:r>
            <a:r>
              <a:rPr lang="en-US" sz="1200" dirty="0">
                <a:solidFill>
                  <a:schemeClr val="tx1"/>
                </a:solidFill>
              </a:rPr>
              <a:t>v5 left index base at 180°; v10: left shoulder, left upper arm and 3 hand bones (1 left, 2 right).</a:t>
            </a:r>
            <a:endParaRPr lang="en-US" sz="1200" dirty="0"/>
          </a:p>
          <a:p>
            <a:pPr marL="177800" indent="-177800">
              <a:spcAft>
                <a:spcPts val="600"/>
              </a:spcAft>
              <a:buSzPct val="100000"/>
              <a:buChar char="•"/>
            </a:pPr>
            <a:r>
              <a:rPr lang="en-US" sz="1200" b="1" dirty="0">
                <a:solidFill>
                  <a:schemeClr val="tx1"/>
                </a:solidFill>
              </a:rPr>
              <a:t>Fine-tuning does not undo it: </a:t>
            </a:r>
            <a:r>
              <a:rPr lang="en-US" sz="1200" dirty="0">
                <a:solidFill>
                  <a:schemeClr val="tx1"/>
                </a:solidFill>
              </a:rPr>
              <a:t>2 epochs with a geodesic loss, 175.6 → 175.0°; likely because both bones must turn back together.</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3"/>
          </a:solidFill>
          <a:ln w="12700">
            <a:solidFill>
              <a:schemeClr val="accent3"/>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Measured (what): </a:t>
            </a:r>
            <a:r>
              <a:rPr lang="en-US" sz="1200" dirty="0">
                <a:solidFill>
                  <a:schemeClr val="tx1"/>
                </a:solidFill>
              </a:rPr>
              <a:t>neck02 and head each sit about half a turn off, in 100% of the holdout people; not yet rendered.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(why): </a:t>
            </a:r>
            <a:r>
              <a:rPr lang="en-US" sz="1200" dirty="0">
                <a:solidFill>
                  <a:schemeClr val="tx1"/>
                </a:solidFill>
              </a:rPr>
              <a:t>unknown. The singular start value of the rotation output would give a tilt flip (index base), not this twist.</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Next (exp6): </a:t>
            </a:r>
            <a:r>
              <a:rPr lang="en-US" sz="1200" dirty="0">
                <a:solidFill>
                  <a:schemeClr val="tx1"/>
                </a:solidFill>
              </a:rPr>
              <a:t>a fixed output correction for the flipped bones, tested with zero training.</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test-time zoom and a loss rebalance do not help</a:t>
            </a:r>
            <a:endParaRPr lang="en-US" sz="2700" dirty="0"/>
          </a:p>
        </p:txBody>
      </p:sp>
      <p:sp>
        <p:nvSpPr>
          <p:cNvPr id="3" name="stat finger error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with predicted fingers</a:t>
            </a:r>
            <a:endParaRPr lang="en-US" sz="1300" dirty="0"/>
          </a:p>
        </p:txBody>
      </p:sp>
      <p:sp>
        <p:nvSpPr>
          <p:cNvPr id="5" name="stat finger error with fingers set to rest pose"/>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15.1°</a:t>
            </a:r>
            <a:endParaRPr lang="en-US" sz="4000" dirty="0"/>
          </a:p>
        </p:txBody>
      </p:sp>
      <p:sp>
        <p:nvSpPr>
          <p:cNvPr id="6" name="label finger error with fingers set to rest pose"/>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with fingers set to rest pose</a:t>
            </a:r>
            <a:endParaRPr lang="en-US" sz="1300" dirty="0"/>
          </a:p>
        </p:txBody>
      </p:sp>
      <p:sp>
        <p:nvSpPr>
          <p:cNvPr id="7" name="stat change when the person is magnified at test time (no retraining)"/>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0.1°</a:t>
            </a:r>
            <a:endParaRPr lang="en-US" sz="4000" dirty="0"/>
          </a:p>
        </p:txBody>
      </p:sp>
      <p:sp>
        <p:nvSpPr>
          <p:cNvPr id="8" name="label change when the person is magnified at test time (no retraining)"/>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change when the person is magnified at test time (no retraining)</a:t>
            </a:r>
            <a:endParaRPr lang="en-US" sz="1300" dirty="0"/>
          </a:p>
        </p:txBody>
      </p:sp>
      <p:graphicFrame>
        <p:nvGraphicFramePr>
          <p:cNvPr id="9"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What it means: </a:t>
            </a:r>
            <a:r>
              <a:rPr lang="en-US" sz="1200" dirty="0">
                <a:solidFill>
                  <a:schemeClr val="tx1"/>
                </a:solidFill>
              </a:rPr>
              <a:t>predicting fingers is worse than leaving them at rest.</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 It gave fingers less weight; more weight and training on larger hand crops are still untested.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no effe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no effe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no effect</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5 small people in real photos (sampler and control runs): same as the holdout adult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sampler and control runs): same as the holdout adult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(sampler and control runs): same as the holdout adults</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synthetic-to-real gap, plus an old-age bias even on training children. One 2-epoch test is not enough to call it a limitation.</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Ages are Anny's 0–1 value (holdout adults: mostly 0.4–0.8). Ages are not converted to years, because Anny's calibration and the labels in our code disagree.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3"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4"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stays near v5 (70.5 mm)</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slope 0.30 (switch alone) / 0.38 (×5), not near 1; PVE 74.8 mm (control 72.2, v5 70.5). Outside the rule, clearly better: root error 1.21 → 0.54 m, drawn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in a 2-epoch fine-tune: training children and real photos unchanged.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findings and handover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Neck: two half-turned bones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Found (slide 7), not fixed. Next, exp6: a fixed output correction for the flipped bones, no training.</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models miss them (4 of 12 rendered images), so not the fix. Likely detection; not yet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Next: 10-epoch balanced-sampler run; larger hand crops for fingers. If no effect: thesis limitations.</a:t>
            </a:r>
            <a:endParaRPr lang="en-US" sz="1200" dirty="0"/>
          </a:p>
        </p:txBody>
      </p:sp>
      <p:sp>
        <p:nvSpPr>
          <p:cNvPr id="27" name="open 7"/>
          <p:cNvSpPr/>
          <p:nvPr/>
        </p:nvSpPr>
        <p:spPr>
          <a:xfrm>
            <a:off x="457200" y="3931920"/>
            <a:ext cx="457200" cy="457200"/>
          </a:xfrm>
          <a:prstGeom prst="ellipse">
            <a:avLst/>
          </a:prstGeom>
          <a:solidFill>
            <a:schemeClr val="accent4"/>
          </a:solidFill>
          <a:ln w="12700">
            <a:solidFill>
              <a:schemeClr val="accent4"/>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two bugs and 8 missing sequences (slide 6)</a:t>
            </a:r>
            <a:endParaRPr lang="en-US" sz="1500" dirty="0"/>
          </a:p>
        </p:txBody>
      </p:sp>
      <p:sp>
        <p:nvSpPr>
          <p:cNvPr id="30" name="open body 7"/>
          <p:cNvSpPr txBox="1"/>
          <p:nvPr/>
        </p:nvSpPr>
        <p:spPr>
          <a:xfrm>
            <a:off x="1097280" y="4215384"/>
            <a:ext cx="7589520" cy="548640"/>
          </a:xfrm>
          <a:prstGeom prst="rect">
            <a:avLst/>
          </a:prstGeom>
          <a:noFill/>
          <a:ln/>
        </p:spPr>
        <p:txBody>
          <a:bodyPr wrap="square" lIns="0" tIns="0" rIns="0" bIns="0" rtlCol="0" anchor="t"/>
          <a:lstStyle/>
          <a:p>
            <a:pPr indent="0" marL="0">
              <a:buNone/>
            </a:pPr>
            <a:r>
              <a:rPr lang="en-US" sz="1200" dirty="0">
                <a:solidFill>
                  <a:schemeClr val="tx2"/>
                </a:solidFill>
              </a:rPr>
              <a:t>Fix gender (m → 0) and use one shared frame grid; re-fit all 87 tasks into a new folder (the task script skips existing .npz); rebuild the labels; run check_3dpw_conversion.sh. Only then test the depth fix on 3DPW or fine-tune on it.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01168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(v5: all 222 holdout people); the fix draws bodies much closer to their true size. In all 8 v5-line checkpoints traced, neck02 and the head bone sit half a turn off and cancel; the neck skin is half as thick (0.46). ≥ 48% of two-person 3DPW train images label only one person (counted). </a:t>
            </a:r>
            <a:r>
              <a:rPr lang="en-US" sz="1500" b="1" dirty="0">
                <a:solidFill>
                  <a:srgbClr val="F4C95D"/>
                </a:solidFill>
              </a:rPr>
              <a:t>Found in code: </a:t>
            </a:r>
            <a:r>
              <a:rPr lang="en-US" sz="1500" dirty="0">
                <a:solidFill>
                  <a:schemeClr val="bg2"/>
                </a:solidFill>
              </a:rPr>
              <a:t>the 3DPW-Anny labels have reversed gender (seen in v2.1 renders; slide 6).</a:t>
            </a:r>
            <a:endParaRPr lang="en-US" sz="1500" dirty="0"/>
          </a:p>
          <a:p>
            <a:pPr algn="l" indent="0" marL="0">
              <a:buNone/>
            </a:pPr>
            <a:r>
              <a:rPr lang="en-US" sz="1500" b="1" dirty="0">
                <a:solidFill>
                  <a:srgbClr val="F4C95D"/>
                </a:solidFill>
              </a:rPr>
              <a:t>Not claimed: </a:t>
            </a:r>
            <a:r>
              <a:rPr lang="en-US" sz="1500" dirty="0">
                <a:solidFill>
                  <a:schemeClr val="bg2"/>
                </a:solidFill>
              </a:rPr>
              <a:t>a neck fix, or a proven origin of the flip; any improvement in fingers or children; correct depths for both near and far people; a fix without cost (likely 2.6–4.9 mm PVE and 1.6–2.4 recall points worse, not yet confirmed); any measured accuracy of the 3DPW labels.</a:t>
            </a:r>
            <a:endParaRPr lang="en-US" sz="1500" dirty="0"/>
          </a:p>
        </p:txBody>
      </p:sp>
      <p:sp>
        <p:nvSpPr>
          <p:cNvPr id="4" name="question box"/>
          <p:cNvSpPr/>
          <p:nvPr/>
        </p:nvSpPr>
        <p:spPr>
          <a:xfrm>
            <a:off x="548640" y="3246120"/>
            <a:ext cx="8046720" cy="1435608"/>
          </a:xfrm>
          <a:prstGeom prst="rect">
            <a:avLst/>
          </a:prstGeom>
          <a:solidFill>
            <a:srgbClr val="2B3550"/>
          </a:solidFill>
          <a:ln w="12700">
            <a:solidFill>
              <a:srgbClr val="2B3550"/>
            </a:solidFill>
            <a:prstDash val="solid"/>
          </a:ln>
        </p:spPr>
      </p:sp>
      <p:sp>
        <p:nvSpPr>
          <p:cNvPr id="5" name="question bar"/>
          <p:cNvSpPr/>
          <p:nvPr/>
        </p:nvSpPr>
        <p:spPr>
          <a:xfrm>
            <a:off x="548640" y="3246120"/>
            <a:ext cx="73152" cy="1435608"/>
          </a:xfrm>
          <a:prstGeom prst="rect">
            <a:avLst/>
          </a:prstGeom>
          <a:solidFill>
            <a:srgbClr val="F4C95D"/>
          </a:solidFill>
          <a:ln w="12700">
            <a:solidFill>
              <a:srgbClr val="F4C95D"/>
            </a:solidFill>
            <a:prstDash val="solid"/>
          </a:ln>
        </p:spPr>
      </p:sp>
      <p:sp>
        <p:nvSpPr>
          <p:cNvPr id="6" name="question text"/>
          <p:cNvSpPr txBox="1"/>
          <p:nvPr/>
        </p:nvSpPr>
        <p:spPr>
          <a:xfrm>
            <a:off x="822960" y="3291840"/>
            <a:ext cx="7635240" cy="1344168"/>
          </a:xfrm>
          <a:prstGeom prst="rect">
            <a:avLst/>
          </a:prstGeom>
          <a:noFill/>
          <a:ln/>
        </p:spPr>
        <p:txBody>
          <a:bodyPr wrap="square" lIns="0" tIns="0" rIns="0" bIns="0" rtlCol="0" anchor="ctr"/>
          <a:lstStyle/>
          <a:p>
            <a:pPr indent="0" marL="0">
              <a:spcAft>
                <a:spcPts val="400"/>
              </a:spcAft>
              <a:buNone/>
            </a:pPr>
            <a:r>
              <a:rPr lang="en-US" sz="1400" b="1" dirty="0">
                <a:solidFill>
                  <a:srgbClr val="F4C95D"/>
                </a:solidFill>
              </a:rPr>
              <a:t>Question for you</a:t>
            </a:r>
            <a:endParaRPr lang="en-US" sz="1400" dirty="0"/>
          </a:p>
          <a:p>
            <a:pPr indent="0" marL="0">
              <a:spcAft>
                <a:spcPts val="400"/>
              </a:spcAft>
              <a:buNone/>
            </a:pPr>
            <a:r>
              <a:rPr lang="en-US" sz="1400" b="1" dirty="0">
                <a:solidFill>
                  <a:srgbClr val="EEF2F7"/>
                </a:solidFill>
              </a:rPr>
              <a:t>Fine-tune v9 (best on our 3DPW-Anny labels, which have the gender bug: slide 6) with the fixed targets and depth ×5? Or first fix gender and frame grid, re-fit all 3DPW tasks, then fine-tune?</a:t>
            </a:r>
            <a:endParaRPr lang="en-US" sz="1400" dirty="0"/>
          </a:p>
          <a:p>
            <a:pPr indent="0" marL="0">
              <a:buNone/>
            </a:pPr>
            <a:r>
              <a:rPr lang="en-US" sz="1400" dirty="0">
                <a:solidFill>
                  <a:srgbClr val="EEF2F7"/>
                </a:solidFill>
              </a:rPr>
              <a:t>From v5 (×5, 10 epochs): drawn size 0.84, root error 0.54 m, at +2.6 mm PVE and −1.6 recall points vs its control. v9 keeps the neck flip; v10 has a similar flip in the left shoulder and upper arm instead.</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2026-10-15T13:32:29Z</dcterms:created>
  <dcterms:modified xsi:type="dcterms:W3CDTF">2026-10-15T13:32:29Z</dcterms:modified>
</cp:coreProperties>
</file>