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172506b-0cca-c7d9-3e6c-b0bef2618da0}">
          <p14:sldIdLst>
            <p14:sldId id="256"/>
            <p14:sldId id="257"/>
            <p14:sldId id="258"/>
            <p14:sldId id="259"/>
          </p14:sldIdLst>
        </p14:section>
        <p14:section name="3DPW labels" id="{ad0c0608-500d-1fe1-2f9c-352cbf9057d9}">
          <p14:sldIdLst>
            <p14:sldId id="260"/>
            <p14:sldId id="261"/>
          </p14:sldIdLst>
        </p14:section>
        <p14:section name="Findings" id="{ea43f461-02c1-76d1-6125-40ff2fd666c5}">
          <p14:sldIdLst>
            <p14:sldId id="262"/>
            <p14:sldId id="263"/>
            <p14:sldId id="264"/>
            <p14:sldId id="265"/>
          </p14:sldIdLst>
        </p14:section>
        <p14:section name="Bug" id="{fc60ff21-5fa8-f92d-aa53-2f3c06cb206d}">
          <p14:sldIdLst>
            <p14:sldId id="266"/>
            <p14:sldId id="267"/>
            <p14:sldId id="268"/>
          </p14:sldIdLst>
        </p14:section>
        <p14:section name="Next" id="{e1e01bfa-b10f-a381-b468-2268d16ec325}">
          <p14:sldIdLst>
            <p14:sldId id="269"/>
            <p14:sldId id="270"/>
            <p14:sldId id="271"/>
            <p14:sldId id="272"/>
          </p14:sldIdLst>
        </p14:section>
        <p14:section name="Appendix" id="{426b0dc6-0675-049a-f360-1bb1d21544d2}">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and three defects I found in them, what I found in the neck and a first fix for it, what I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before the fine-tune, show normal necks; real photos are still to check.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cluster check has now done that. Joints, surface and 2D pass. Body joints are 18.7 millimetres off at the median, below the about 26 millimetres cited for 3DPW's own joints. The surface is about 19 millimetres off; that is a nearest-point distance, so a lower bound. But the labels have three defects. First, gender is reversed: with the other gender, the joint error dropped for 72 of 73 male samples. Second, in 407 of 960 two-person images one person has no label, because that person was not fitted on that frame. Third, labels are missing for 6 train sequences, part of a seventh, and one validation sequence. The fits exist, but a rebuild gave the same counts. So the image files of those sequences are likely missing on the cluster; I have not checked that yet.</a:t>
            </a:r>
          </a:p>
          <a:p>
            <a:endParaRPr lang="en-US" dirty="0"/>
          </a:p>
          <a:p>
            <a:r>
              <a:rPr lang="en-US" dirty="0"/>
              <a:t>If asked:</a:t>
            </a:r>
          </a:p>
          <a:p>
            <a:r>
              <a:rPr lang="en-US" dirty="0"/>
              <a:t>- Right column: by design, the head does not turn on its own. The overall FAIL comes only from the limb lengths, and they fail only in the test split; I do not know the cause yet. A few hip outliers give a warning overall, and a FAIL in the train split alone.</a:t>
            </a:r>
          </a:p>
          <a:p>
            <a:r>
              <a:rPr lang="en-US" dirty="0"/>
              <a:t>- Gender: for the 31 female samples the gender result is mixed. The surface test cannot see a wrong gender; that is why there is a separate refit test. In the script's own synthetic test, a label fitted with the wrong gender still stayed at 7 to 10 millimetres from the surface. Anny's male end is 0: at gender 0 the rest body is 1.753 metres tall, at 1 it is 1.632 metres. In the checked images, 1,801 people are labelled male and 734 female; these count people in images, not different persons. All men have the label 1.000, all women 0.000. The refit used 2 people per sequence, 104 samples, so 73 and 31 are samples, not different persons. For the men, the refit with flipped gender lowered the median joint error from 19.2 to 15.3 millimetres, and the surface got closer for 68 of 73. For the women, the flip made the joints worse for most of them, 13.7 to 16.3 millimetres, but the surface closer for 27 of 31.</a:t>
            </a:r>
          </a:p>
          <a:p>
            <a:r>
              <a:rPr lang="en-US" dirty="0"/>
              <a:t>- Missing labels: train has 4,451 of 6,437 expected label images, validation 2,458 of 2,777. The rebuild, job 3579266, gave the same image counts: train 4,451 (5,183 people), validation 2,458, test 9,722, 16,631 label files in total; the same six train sequences and basketball_01 at zero, captureSelfies_00 at 319. The label builder skips every frame whose image file is missing, without a warning. So the likely cause is an incomplete unzip of the 3DPW images on the cluster; counting the files in each of those image folders will show it. My earlier guess, that the builder ran before the fits finished, was wrong. All 162 frames of outdoors_crosscountry_00 are dropped by the visibility filter, under 30 percent visible; the fits are fine, and I have not yet checked why the whole sequence counts as not visible.</a:t>
            </a:r>
          </a:p>
          <a:p>
            <a:r>
              <a:rPr lang="en-US" dirty="0"/>
              <a:t>- Joints: the 18.7 millimetres are measured at the points the fit aims at. The bare bone heads that train.py uses are 32.5 millimetres off, mostly a fixed torso rig gap, not a fit error. The train split alone: body joints 20.2 millimetres, just over the 20 millimetre line, so WARN; and 5.2 percent of people with a joint over 100 millimetres, so FAIL. The script marks the 26 millimetres for 3DPW as likely, from von Marcard et al., 2018; I have not checked the paper.</a:t>
            </a:r>
          </a:p>
          <a:p>
            <a:r>
              <a:rPr lang="en-US" dirty="0"/>
              <a:t>- 2D and left/right: in 2D the labels are only 1 pixel worse than raw 3DPW, and left and right were correct in every checked person.</a:t>
            </a:r>
          </a:p>
          <a:p>
            <a:r>
              <a:rPr lang="en-US" dirty="0"/>
              <a:t>- Limb lengths: the ratios are forearm 0.879 and thigh 1.119 overall. Train passes, with 0.965 and 1.035; only test fails. All checked test people are men labelled 1, so a link to the gender defect is possible, but not shown.</a:t>
            </a:r>
          </a:p>
          <a:p>
            <a:r>
              <a:rPr lang="en-US" dirty="0"/>
              <a:t>- Head turn: train and validation keep most of it, 18.5 against 21.2 degrees and 19.1 against 19.3; the loss is mainly in test, 6.3 against 20.0.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next slide shows the correction alone, before the fine-tune; real photos are not checked yet.</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two of them. Next: a real-photo demo with the fine-tuned checkpoint, which carries the fix, and a longer fine-tune with the fix.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of the twelve holdout images. For each image, the left panel is v5 as trained and the right panel is the same model with the correction, no training; on the neck, only neck02 and the head are turned back. Look at the necks, ringed in yellow: on the left they are thin stalks, on the right they have normal width. This matches the thickness 0.46 to 1.00 on slide 7, measured over all 100 holdout images. All twelve images show this wherever a neck is visible. Three limits. Without fine-tuning the head points 19 degrees off, against 12 before; the fine-tune brings it to 14. The bodies are still too small; that is the depth bug. Real photos are not checked yet.</a:t>
            </a:r>
          </a:p>
          <a:p>
            <a:endParaRPr lang="en-US" dirty="0"/>
          </a:p>
          <a:p>
            <a:r>
              <a:rPr lang="en-US" dirty="0"/>
              <a:t>If asked: the same correction also turns back two hand bones, so the hands differ too; I have not judged them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That is a short run on few people, so it shows no effect, not that there can be none. My best guess is a gap between synthetic and real images, plus an old-age bias that shows even on training children; neither is tested. The next step is a 10-epoch balanced-sampler run; if that also shows nothing, it goes into the thesis as a limitation. The holdout has no children, so every synthetic child number is in-sample.</a:t>
            </a:r>
          </a:p>
          <a:p>
            <a:endParaRPr lang="en-US" dirty="0"/>
          </a:p>
          <a:p>
            <a:r>
              <a:rPr lang="en-US" dirty="0"/>
              <a:t>If asked: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So I compare with the holdout adults rather than give years: 0.57 to 0.67 is about 14 to 16 years on Anny's calibration and 21 to 25 on our code's labels; either way far too old for people 0.6 to 1.1 metres tall. There are no labelled real children, and the 3DPW labels fix age at one value, 0.55, for everyone (slide 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neck fix passes in one run, and the holdout renders of the correction alone show normal necks; I still have to check real photos and a longer run. v10's left arm has the same kind of flip, but a bone further down the arm undoes it, so it needs a two-sided correction, not built yet. Second, the depth slope is stuck at 0.3 to 0.4, cause unknown. Third, the cost of the depth fix, paired on the same people. Fourth, pilot noise: fix the seed or repeat key runs. Fifth, people very close to the camera. Sixth, children and fingers: a longer sampler run, and a look at the hands with the bone fix. Seventh, 3DPW: the rebuild gave the same counts, so the images are likely missing; I will check, re-extract and rebuild. Then gender, frame grid and a re-fit of all 87 tasks, before any 3DPW test.</a:t>
            </a:r>
          </a:p>
          <a:p>
            <a:endParaRPr lang="en-US" dirty="0"/>
          </a:p>
          <a:p>
            <a:r>
              <a:rPr lang="en-US" dirty="0"/>
              <a:t>If asked: Neck: the fine-tuned checkpoint carries the fix in its saved settings, so the demo applies it on load; I copy it next to the other demo models and add it to the demo comparison script.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Testing the depth fix on 3DPW waits for item seven. The twenty-times 10-epoch run has no result yet. Close people: both models miss them in 4 of the 12 rendered images. Children and fingers: one 2-epoch test is not enough to close them. 3DPW labels: the rebuild, into a new folder, gave the same counts, so my old guess that the builder ran before the fits finished is wrong. The builder skips every frame without an image file. The check is one file count per image folder of the eight affected sequences; if they are empty or short, I unzip the 3DPW images again and rebuild. Gender and the frame grid are different: set men to 0 and, by Anny's convention, women to 1; the refit confirmed it only for men. And pick both people's frames on one shared grid. Both happen inside the fit, so all 87 conversion tasks must be fitted again, into a new folder, because the task script skips every person that already has a file; otherwise old and new fits would mix without a warning. That is an 87-task array job: about 40 GPU hours by the task script's own estimate of 6 seconds per frame, so 5 to 6 hours with 8 GPUs at once; not measured. Then rebuild the labels and run the check again.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One pilot run with a fixed correction and a short fine-tune restores the neck thickness and passes the fine-tune checks. Two flipped hand bones were about half the finger error. The 3DPW labels pass on joints and surface, but have three defects. What I do not claim: that the neck fix is proven, since it is one run without a fixed seed; better children; correct depth for near and far people; a depth fix without cost. My question: fine-tune v9 now, or first fix the 3DPW labels and re-fit? I propose the second, as on slide 16, but want your view.</a:t>
            </a:r>
          </a:p>
          <a:p>
            <a:endParaRPr lang="en-US" dirty="0"/>
          </a:p>
          <a:p>
            <a:r>
              <a:rPr lang="en-US" dirty="0"/>
              <a:t>If asked:</a:t>
            </a:r>
          </a:p>
          <a:p>
            <a:r>
              <a:rPr lang="en-US" dirty="0"/>
              <a:t>- Depth fix: it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One run without a seed is not proof; the holdout renders of the correction without training show normal neck width, but I have not looked at the fine-tuned model's renders or at real photos yet.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I have not looked at the hands, so I do not claim better-looking fingers.</a:t>
            </a:r>
          </a:p>
          <a:p>
            <a:r>
              <a:rPr lang="en-US" dirty="0"/>
              <a:t>- 3DPW labels: 6 train sequences, part of a seventh, and one validation sequence have no labels; a rebuild gave the same counts, so their image files are likely missing on the cluster; the check is still to do. For the women, the gender refit is mixed. In the 3DPW labels the head, neck02 and neck03 stay at rest; only neck01 turns. Overall the labels keep about half the head turn, 9.5 against 20 degrees. Train and validation keep most of it; the loss is in the test split, and I do not know why yet. Age is fixed, and the limb-length ratios are not explained yet.</a:t>
            </a:r>
          </a:p>
          <a:p>
            <a:r>
              <a:rPr lang="en-US" dirty="0"/>
              <a:t>- Option 1, v9 now: the fine-tune is about 1 to 2 hours of training; that is not measured with 3DPW batches, and the v9 script expects 8 to 10 minutes per epoch.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and two-person defects, so that score is not a clean measure. On the AnnyOne holdout v9 is not the best: 75.0 at epoch 62, the planned start, and 77.0 at epoch 149, against 70.5.</a:t>
            </a:r>
          </a:p>
          <a:p>
            <a:r>
              <a:rPr lang="en-US" dirty="0"/>
              <a:t>- Option 2, labels first: men to 0, women to 1 by Anny's convention, one shared frame grid, re-fit all 87 conversion tasks into a new folder, rebuild the labels, then fine-tune. Rebuilding the labels alone is not enough, because the gender and the frame choice are fixed inside the fit; the re-fit is an 87-task array job, about 40 GPU hours by the script's own estimate. I prefer the re-fit first: 3DPW is 30 percent of each batch, so a fine-tune before it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1.jpg"/><Relationship Id="rId4" Type="http://schemas.openxmlformats.org/officeDocument/2006/relationships/image" Target="../media/image-8-1.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joints and surface pass, three defects.</a:t>
            </a:r>
            <a:endParaRPr lang="en-US" sz="1800" dirty="0"/>
          </a:p>
          <a:p>
            <a:pPr algn="l" indent="0" marL="0">
              <a:buNone/>
            </a:pPr>
            <a:r>
              <a:rPr lang="en-US" sz="1800" dirty="0">
                <a:solidFill>
                  <a:schemeClr val="bg2"/>
                </a:solidFill>
              </a:rPr>
              <a:t>Neck: two bones turned half a turn; a pilot fix passes (one run).</a:t>
            </a:r>
            <a:endParaRPr lang="en-US" sz="1800" dirty="0"/>
          </a:p>
          <a:p>
            <a:pPr algn="l" indent="0" marL="0">
              <a:buNone/>
            </a:pPr>
            <a:r>
              <a:rPr lang="en-US" sz="1800" dirty="0">
                <a:solidFill>
                  <a:schemeClr val="bg2"/>
                </a:solidFill>
              </a:rPr>
              <a:t>Fingers: half the error was two flipped bones. Children: open.</a:t>
            </a:r>
            <a:endParaRPr lang="en-US" sz="1800" dirty="0"/>
          </a:p>
          <a:p>
            <a:pPr algn="l" indent="0" marL="0">
              <a:spcBef>
                <a:spcPts val="1400"/>
              </a:spcBef>
              <a:buNone/>
            </a:pPr>
            <a:r>
              <a:rPr lang="en-US" sz="1400" dirty="0">
                <a:solidFill>
                  <a:srgbClr val="9AA5B4"/>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joints and surface pass, three defects</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18.7 mm (p95 24.5),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18.3 mm, nearest point, so a lower bound; worst region torso, 28 mm.</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12.4 px median, only +1.1 px over raw 3DPW (11.3 px).</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22,915 frames; mean joint error per frame: median 18.2 mm, max 70.9 mm.</a:t>
            </a:r>
            <a:endParaRPr lang="en-US" sz="1100" dirty="0"/>
          </a:p>
        </p:txBody>
      </p:sp>
      <p:sp>
        <p:nvSpPr>
          <p:cNvPr id="7" name="ev Label defects"/>
          <p:cNvSpPr/>
          <p:nvPr/>
        </p:nvSpPr>
        <p:spPr>
          <a:xfrm>
            <a:off x="3246120" y="1143000"/>
            <a:ext cx="2651760" cy="3200400"/>
          </a:xfrm>
          <a:prstGeom prst="roundRect">
            <a:avLst>
              <a:gd name="adj" fmla="val 2759"/>
            </a:avLst>
          </a:prstGeom>
          <a:solidFill>
            <a:srgbClr val="FBE9E7"/>
          </a:solidFill>
          <a:ln w="12700">
            <a:solidFill>
              <a:srgbClr val="FBE9E7"/>
            </a:solidFill>
            <a:prstDash val="solid"/>
          </a:ln>
        </p:spPr>
      </p:sp>
      <p:sp>
        <p:nvSpPr>
          <p:cNvPr id="8" name="ev dot Label defects"/>
          <p:cNvSpPr/>
          <p:nvPr/>
        </p:nvSpPr>
        <p:spPr>
          <a:xfrm>
            <a:off x="3401568" y="1280160"/>
            <a:ext cx="274320" cy="274320"/>
          </a:xfrm>
          <a:prstGeom prst="ellipse">
            <a:avLst/>
          </a:prstGeom>
          <a:solidFill>
            <a:schemeClr val="accent4"/>
          </a:solidFill>
          <a:ln w="12700">
            <a:solidFill>
              <a:schemeClr val="accent4"/>
            </a:solidFill>
            <a:prstDash val="solid"/>
          </a:ln>
        </p:spPr>
      </p:sp>
      <p:sp>
        <p:nvSpPr>
          <p:cNvPr id="9" name="ev head Label defects"/>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Label defects</a:t>
            </a:r>
            <a:endParaRPr lang="en-US" sz="1500" dirty="0"/>
          </a:p>
        </p:txBody>
      </p:sp>
      <p:sp>
        <p:nvSpPr>
          <p:cNvPr id="10" name="ev body Label defects"/>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reversed: </a:t>
            </a:r>
            <a:r>
              <a:rPr lang="en-US" sz="1100" dirty="0">
                <a:solidFill>
                  <a:schemeClr val="tx1"/>
                </a:solidFill>
              </a:rPr>
              <a:t>Anny 0 = male, but 3DPW men get 1, women 0. Refit of 73 male samples, gender flipped: joints better for 72 (19.2 → 15.3 mm), surface for 68. Female (31): mixed, surface better for 27, joints for 8.</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in 407 of 960, one actor (valid in 3DPW) has no label: not fitted on that frame, mostly the per-person frame step (slide 5).</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6 train sequences, part of captureSelfies_00, val basketball_01. Rebuild: same counts; likely missing image files.</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all 2,535 checked people;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20° in SMPL, 9.5° in the labels (median), lost mainly in test.</a:t>
            </a:r>
            <a:endParaRPr lang="en-US" sz="1100" dirty="0"/>
          </a:p>
          <a:p>
            <a:pPr marL="177800" indent="-177800">
              <a:spcAft>
                <a:spcPts val="400"/>
              </a:spcAft>
              <a:buSzPct val="100000"/>
              <a:buChar char="•"/>
            </a:pPr>
            <a:r>
              <a:rPr lang="en-US" sz="1100" b="1" dirty="0">
                <a:solidFill>
                  <a:schemeClr val="tx1"/>
                </a:solidFill>
              </a:rPr>
              <a:t>Overall FAIL: </a:t>
            </a:r>
            <a:r>
              <a:rPr lang="en-US" sz="1100" dirty="0">
                <a:solidFill>
                  <a:schemeClr val="tx1"/>
                </a:solidFill>
              </a:rPr>
              <a:t>limb-length ratios (forearm 0.879, thigh 1.119 Anny/SMPL); FAIL in test only, train PASS; cause unknown. Elbow, wrist 14–18 mm.</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hips). Train alone: 5.2%,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slurm/diagnostics/check_3dpw_conversion.sh, job 3575369; 2,535 people in 2,080 sampled images (40 per sequence, 52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real photos. Holdout renders of the fix with no training: next slide.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a:t>
            </a:r>
            <a:r>
              <a:rPr lang="en-US" sz="1200" dirty="0">
                <a:solidFill>
                  <a:schemeClr val="tx1"/>
                </a:solidFill>
              </a:rPr>
              <a:t>real-photo demo of the fine-tuned fixed checkpoint; a longer fine-tune with the fix.</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correction</a:t>
            </a:r>
            <a:endParaRPr lang="en-US" sz="2700" dirty="0"/>
          </a:p>
        </p:txBody>
      </p:sp>
      <p:sp>
        <p:nvSpPr>
          <p:cNvPr id="3" name="neck header 0"/>
          <p:cNvSpPr txBox="1"/>
          <p:nvPr/>
        </p:nvSpPr>
        <p:spPr>
          <a:xfrm>
            <a:off x="457200" y="1097280"/>
            <a:ext cx="2189951"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200" dirty="0">
                <a:solidFill>
                  <a:srgbClr val="FFFFFF"/>
                </a:solidFill>
              </a:rPr>
              <a:t>as trained</a:t>
            </a:r>
            <a:endParaRPr lang="en-US" sz="1600" dirty="0"/>
          </a:p>
        </p:txBody>
      </p:sp>
      <p:pic>
        <p:nvPicPr>
          <p:cNvPr id="4" name="figure neck_before_after_v5.jpg 579862 before" descr="Holdout image 579862, v5 as trained: thin neck">    </p:cNvPr>
          <p:cNvPicPr>
            <a:picLocks noChangeAspect="1"/>
          </p:cNvPicPr>
          <p:nvPr/>
        </p:nvPicPr>
        <p:blipFill>
          <a:blip r:embed="rId1"/>
          <a:srcRect l="80" r="50638" t="4562" b="49106"/>
          <a:stretch/>
        </p:blipFill>
        <p:spPr>
          <a:xfrm>
            <a:off x="457200" y="1554480"/>
            <a:ext cx="2189951" cy="1835590"/>
          </a:xfrm>
          <a:prstGeom prst="rect">
            <a:avLst/>
          </a:prstGeom>
        </p:spPr>
      </p:pic>
      <p:sp>
        <p:nvSpPr>
          <p:cNvPr id="5" name="neck ring 579862 before 0"/>
          <p:cNvSpPr/>
          <p:nvPr/>
        </p:nvSpPr>
        <p:spPr>
          <a:xfrm>
            <a:off x="884044" y="2077001"/>
            <a:ext cx="237744" cy="237744"/>
          </a:xfrm>
          <a:prstGeom prst="ellipse">
            <a:avLst/>
          </a:prstGeom>
          <a:noFill/>
          <a:ln w="25400">
            <a:solidFill>
              <a:srgbClr val="F4C95D"/>
            </a:solidFill>
            <a:prstDash val="solid"/>
          </a:ln>
        </p:spPr>
      </p:sp>
      <p:sp>
        <p:nvSpPr>
          <p:cNvPr id="6" name="neck ring 579862 before 1"/>
          <p:cNvSpPr/>
          <p:nvPr/>
        </p:nvSpPr>
        <p:spPr>
          <a:xfrm>
            <a:off x="2035717" y="2441993"/>
            <a:ext cx="237744" cy="237744"/>
          </a:xfrm>
          <a:prstGeom prst="ellipse">
            <a:avLst/>
          </a:prstGeom>
          <a:noFill/>
          <a:ln w="25400">
            <a:solidFill>
              <a:srgbClr val="F4C95D"/>
            </a:solidFill>
            <a:prstDash val="solid"/>
          </a:ln>
        </p:spPr>
      </p:sp>
      <p:sp>
        <p:nvSpPr>
          <p:cNvPr id="7" name="neck header 1"/>
          <p:cNvSpPr txBox="1"/>
          <p:nvPr/>
        </p:nvSpPr>
        <p:spPr>
          <a:xfrm>
            <a:off x="2702015" y="1097280"/>
            <a:ext cx="2189951"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200" dirty="0">
                <a:solidFill>
                  <a:srgbClr val="FFFFFF"/>
                </a:solidFill>
              </a:rPr>
              <a:t>no training</a:t>
            </a:r>
            <a:endParaRPr lang="en-US" sz="1600" dirty="0"/>
          </a:p>
        </p:txBody>
      </p:sp>
      <p:pic>
        <p:nvPicPr>
          <p:cNvPr id="8" name="figure neck_before_after_v5.jpg 579862 after" descr="Holdout image 579862, with the correction on neck02 and the head, no training: normal neck width">    </p:cNvPr>
          <p:cNvPicPr>
            <a:picLocks noChangeAspect="1"/>
          </p:cNvPicPr>
          <p:nvPr/>
        </p:nvPicPr>
        <p:blipFill>
          <a:blip r:embed="rId2"/>
          <a:srcRect l="50638" r="80" t="4562" b="49106"/>
          <a:stretch/>
        </p:blipFill>
        <p:spPr>
          <a:xfrm>
            <a:off x="2702015" y="1554480"/>
            <a:ext cx="2189951" cy="1835590"/>
          </a:xfrm>
          <a:prstGeom prst="rect">
            <a:avLst/>
          </a:prstGeom>
        </p:spPr>
      </p:pic>
      <p:sp>
        <p:nvSpPr>
          <p:cNvPr id="9" name="neck ring 579862 after 0"/>
          <p:cNvSpPr/>
          <p:nvPr/>
        </p:nvSpPr>
        <p:spPr>
          <a:xfrm>
            <a:off x="3128859" y="2077001"/>
            <a:ext cx="237744" cy="237744"/>
          </a:xfrm>
          <a:prstGeom prst="ellipse">
            <a:avLst/>
          </a:prstGeom>
          <a:noFill/>
          <a:ln w="25400">
            <a:solidFill>
              <a:srgbClr val="F4C95D"/>
            </a:solidFill>
            <a:prstDash val="solid"/>
          </a:ln>
        </p:spPr>
      </p:sp>
      <p:sp>
        <p:nvSpPr>
          <p:cNvPr id="10" name="neck ring 579862 after 1"/>
          <p:cNvSpPr/>
          <p:nvPr/>
        </p:nvSpPr>
        <p:spPr>
          <a:xfrm>
            <a:off x="4280532" y="2441993"/>
            <a:ext cx="237744" cy="237744"/>
          </a:xfrm>
          <a:prstGeom prst="ellipse">
            <a:avLst/>
          </a:prstGeom>
          <a:noFill/>
          <a:ln w="25400">
            <a:solidFill>
              <a:srgbClr val="F4C95D"/>
            </a:solidFill>
            <a:prstDash val="solid"/>
          </a:ln>
        </p:spPr>
      </p:sp>
      <p:sp>
        <p:nvSpPr>
          <p:cNvPr id="11" name="neck header 2"/>
          <p:cNvSpPr txBox="1"/>
          <p:nvPr/>
        </p:nvSpPr>
        <p:spPr>
          <a:xfrm>
            <a:off x="5166286" y="1097280"/>
            <a:ext cx="1732825"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200" dirty="0">
                <a:solidFill>
                  <a:srgbClr val="FFFFFF"/>
                </a:solidFill>
              </a:rPr>
              <a:t>as trained</a:t>
            </a:r>
            <a:endParaRPr lang="en-US" sz="1600" dirty="0"/>
          </a:p>
        </p:txBody>
      </p:sp>
      <p:pic>
        <p:nvPicPr>
          <p:cNvPr id="12" name="figure neck_before_after_v5.jpg 579863 before" descr="Holdout image 579863, v5 as trained: thin neck">    </p:cNvPr>
          <p:cNvPicPr>
            <a:picLocks noChangeAspect="1"/>
          </p:cNvPicPr>
          <p:nvPr/>
        </p:nvPicPr>
        <p:blipFill>
          <a:blip r:embed="rId3"/>
          <a:srcRect l="5183" r="55821" t="52326" b="1342"/>
          <a:stretch/>
        </p:blipFill>
        <p:spPr>
          <a:xfrm>
            <a:off x="5166286" y="1554480"/>
            <a:ext cx="1732825" cy="1835590"/>
          </a:xfrm>
          <a:prstGeom prst="rect">
            <a:avLst/>
          </a:prstGeom>
        </p:spPr>
      </p:pic>
      <p:sp>
        <p:nvSpPr>
          <p:cNvPr id="13" name="neck ring 579863 before 0"/>
          <p:cNvSpPr/>
          <p:nvPr/>
        </p:nvSpPr>
        <p:spPr>
          <a:xfrm>
            <a:off x="6032537" y="1892734"/>
            <a:ext cx="237744" cy="237744"/>
          </a:xfrm>
          <a:prstGeom prst="ellipse">
            <a:avLst/>
          </a:prstGeom>
          <a:noFill/>
          <a:ln w="25400">
            <a:solidFill>
              <a:srgbClr val="F4C95D"/>
            </a:solidFill>
            <a:prstDash val="solid"/>
          </a:ln>
        </p:spPr>
      </p:sp>
      <p:sp>
        <p:nvSpPr>
          <p:cNvPr id="14" name="neck header 3"/>
          <p:cNvSpPr txBox="1"/>
          <p:nvPr/>
        </p:nvSpPr>
        <p:spPr>
          <a:xfrm>
            <a:off x="6953975" y="1097280"/>
            <a:ext cx="1732825"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200" dirty="0">
                <a:solidFill>
                  <a:srgbClr val="FFFFFF"/>
                </a:solidFill>
              </a:rPr>
              <a:t>no training</a:t>
            </a:r>
            <a:endParaRPr lang="en-US" sz="1600" dirty="0"/>
          </a:p>
        </p:txBody>
      </p:sp>
      <p:pic>
        <p:nvPicPr>
          <p:cNvPr id="15" name="figure neck_before_after_v5.jpg 579863 after" descr="Holdout image 579863, with the correction on neck02 and the head, no training: normal neck width">    </p:cNvPr>
          <p:cNvPicPr>
            <a:picLocks noChangeAspect="1"/>
          </p:cNvPicPr>
          <p:nvPr/>
        </p:nvPicPr>
        <p:blipFill>
          <a:blip r:embed="rId4"/>
          <a:srcRect l="55742" r="5263" t="52326" b="1342"/>
          <a:stretch/>
        </p:blipFill>
        <p:spPr>
          <a:xfrm>
            <a:off x="6953975" y="1554480"/>
            <a:ext cx="1732825" cy="1835590"/>
          </a:xfrm>
          <a:prstGeom prst="rect">
            <a:avLst/>
          </a:prstGeom>
        </p:spPr>
      </p:pic>
      <p:sp>
        <p:nvSpPr>
          <p:cNvPr id="16" name="neck ring 579863 after 0"/>
          <p:cNvSpPr/>
          <p:nvPr/>
        </p:nvSpPr>
        <p:spPr>
          <a:xfrm>
            <a:off x="7820226" y="1892734"/>
            <a:ext cx="237744" cy="237744"/>
          </a:xfrm>
          <a:prstGeom prst="ellipse">
            <a:avLst/>
          </a:prstGeom>
          <a:noFill/>
          <a:ln w="25400">
            <a:solidFill>
              <a:srgbClr val="F4C95D"/>
            </a:solidFill>
            <a:prstDash val="solid"/>
          </a:ln>
        </p:spPr>
      </p:sp>
      <p:sp>
        <p:nvSpPr>
          <p:cNvPr id="17" name="neck caption 579862"/>
          <p:cNvSpPr txBox="1"/>
          <p:nvPr/>
        </p:nvSpPr>
        <p:spPr>
          <a:xfrm>
            <a:off x="457200" y="3444934"/>
            <a:ext cx="4434766" cy="201168"/>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a:t>
            </a:r>
            <a:endParaRPr lang="en-US" sz="1100" dirty="0"/>
          </a:p>
        </p:txBody>
      </p:sp>
      <p:sp>
        <p:nvSpPr>
          <p:cNvPr id="18" name="neck caption 579863"/>
          <p:cNvSpPr txBox="1"/>
          <p:nvPr/>
        </p:nvSpPr>
        <p:spPr>
          <a:xfrm>
            <a:off x="5166286" y="3444934"/>
            <a:ext cx="3520514" cy="201168"/>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579863</a:t>
            </a:r>
            <a:endParaRPr lang="en-US" sz="1100" dirty="0"/>
          </a:p>
        </p:txBody>
      </p:sp>
      <p:sp>
        <p:nvSpPr>
          <p:cNvPr id="19" name="neck figure caption"/>
          <p:cNvSpPr txBox="1"/>
          <p:nvPr/>
        </p:nvSpPr>
        <p:spPr>
          <a:xfrm>
            <a:off x="457200" y="3719254"/>
            <a:ext cx="8229600" cy="365760"/>
          </a:xfrm>
          <a:prstGeom prst="rect">
            <a:avLst/>
          </a:prstGeom>
          <a:noFill/>
          <a:ln/>
        </p:spPr>
        <p:txBody>
          <a:bodyPr wrap="square" lIns="0" tIns="0" rIns="0" bIns="0" rtlCol="0" anchor="t"/>
          <a:lstStyle/>
          <a:p>
            <a:pPr indent="0" marL="0">
              <a:buNone/>
            </a:pPr>
            <a:r>
              <a:rPr lang="en-US" sz="1100" dirty="0">
                <a:solidFill>
                  <a:schemeClr val="tx1"/>
                </a:solidFill>
              </a:rPr>
              <a:t>Same model, no training. On the neck, only the output of neck02 and the head is corrected.</a:t>
            </a:r>
            <a:endParaRPr lang="en-US" sz="1100" dirty="0"/>
          </a:p>
          <a:p>
            <a:pPr indent="0" marL="0">
              <a:buNone/>
            </a:pPr>
            <a:r>
              <a:rPr lang="en-US" sz="1100" dirty="0">
                <a:solidFill>
                  <a:schemeClr val="tx1"/>
                </a:solidFill>
              </a:rPr>
              <a:t>Neck skin thickness on the 100-image holdout: 0.46 → 1.00 of the true value (job 3579014).</a:t>
            </a:r>
            <a:endParaRPr lang="en-US" sz="1100" dirty="0"/>
          </a:p>
        </p:txBody>
      </p:sp>
      <p:sp>
        <p:nvSpPr>
          <p:cNvPr id="20" name="neck figure footnote"/>
          <p:cNvSpPr txBox="1"/>
          <p:nvPr/>
        </p:nvSpPr>
        <p:spPr>
          <a:xfrm>
            <a:off x="457200" y="4158166"/>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Bodies are still too small here (separate depth bug). Real photos not checked yet.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fine-tuned 2 epochs (8.2° with no training)"/>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fine-tuned 2 epochs (8.2° with no training)"/>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fine-tuned 2 epochs (8.2° with no training)</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cannot settle it.</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confirm the pilot fix</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Neck: real photos, a longer run (slide 8: no training).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models miss them (4 of 12 rendered images), so not the fix. Likely detection; not yet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10-epoch sampler run; check the hands with the bone fix, then larger hand crops. Else: limitations.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Rebuild gave the same counts; the image files are likely missing (check pending): re-extract, rebuild. Then gender (m → 0, f → 1), one shared frame grid, re-fit all 87 tasks, rebuild, re-check. Proposed: only then use 3DPW.</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the fix draws bodies closer to their true size. In all 8 v5-line checkpoints, neck02 and the head bone sit half a turn off; in one pilot run, a fixed correction plus a 2-epoch fine-tune restores the neck and passes the fine-tune checks. Two flipped hand bones were half the finger error. 3DPW labels: joints and surface pass; three defects (slide 6).</a:t>
            </a:r>
            <a:endParaRPr lang="en-US" sz="1500" dirty="0"/>
          </a:p>
          <a:p>
            <a:pPr algn="l" indent="0" marL="0">
              <a:buNone/>
            </a:pPr>
            <a:r>
              <a:rPr lang="en-US" sz="1500" b="1" dirty="0">
                <a:solidFill>
                  <a:srgbClr val="F4C95D"/>
                </a:solidFill>
              </a:rPr>
              <a:t>Not claimed: </a:t>
            </a:r>
            <a:r>
              <a:rPr lang="en-US" sz="1500" dirty="0">
                <a:solidFill>
                  <a:schemeClr val="bg2"/>
                </a:solidFill>
              </a:rPr>
              <a:t>a proven neck fix (one run, no seed; head direction 14.4° vs 12.0°) or why the bones flipped; better children; correct depths for near and far people; a depth fix without cost (likely 2.6 to 4.9 mm PVE, 1.6 to 2.4 recall points);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Fine-tune v9 (best on our 3DPW-Anny labels, which have the gender defect: slide 6) with the fixed targets and depth ×5? Or first fix gender and frame grid, re-fit all 3DPW tasks, then fine-tune?</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2026-10-16T03:53:08Z</dcterms:created>
  <dcterms:modified xsi:type="dcterms:W3CDTF">2026-10-16T03:53:08Z</dcterms:modified>
</cp:coreProperties>
</file>