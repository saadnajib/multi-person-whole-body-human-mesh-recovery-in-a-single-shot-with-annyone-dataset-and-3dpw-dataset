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2d9f2dc-1f40-31f4-fe0f-3858cb35e600}">
          <p14:sldIdLst>
            <p14:sldId id="256"/>
            <p14:sldId id="257"/>
            <p14:sldId id="258"/>
            <p14:sldId id="259"/>
          </p14:sldIdLst>
        </p14:section>
        <p14:section name="3DPW labels" id="{92566cdc-5c96-0bf6-fec6-6d97dea00ae5}">
          <p14:sldIdLst>
            <p14:sldId id="260"/>
            <p14:sldId id="261"/>
          </p14:sldIdLst>
        </p14:section>
        <p14:section name="Findings" id="{f9b14e5b-aeca-5545-f14f-86f56993afb9}">
          <p14:sldIdLst>
            <p14:sldId id="262"/>
            <p14:sldId id="263"/>
            <p14:sldId id="264"/>
          </p14:sldIdLst>
        </p14:section>
        <p14:section name="Bug" id="{92b552b3-513d-988a-42e7-8d30c6589a9d}">
          <p14:sldIdLst>
            <p14:sldId id="265"/>
            <p14:sldId id="266"/>
            <p14:sldId id="267"/>
          </p14:sldIdLst>
        </p14:section>
        <p14:section name="Next" id="{66939039-31d8-1b90-47f2-7dd066311519}">
          <p14:sldIdLst>
            <p14:sldId id="268"/>
            <p14:sldId id="269"/>
            <p14:sldId id="270"/>
            <p14:sldId id="271"/>
          </p14:sldIdLst>
        </p14:section>
        <p14:section name="Appendix" id="{4616c31b-08d5-5eae-0d63-5b9cba389084}">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and two bugs I found in them, what I measured about the neck, the fingers and the children, one depth bug nobody was looking for and its fix, and what is still open. I will say clearly what is measured and what is only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I found a fixed rotation error in the v5 models, but I have not yet shown that it causes the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10; I have not repeated the overfit test with the fix. Second, the rotation loss barely moved, from 44.6 to 40.8. That is a sum over all 75 bones, so it does not isolate the neck; it may be related to the stuck neck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and about 144 of the 163 bones stay at rest, including neck02, neck03, the head and the fingers. So in these labels the head never turns relative to the 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answer: partly. Some parts are measured. On 60 frames of one sequence, raw 3DPW joints land on OpenPose at 8.9 pixels, so the camera formula is right, and the step into the camera is exact. Sides, units and image numbers are right in the code. The fit error is saved for every frame on the cluster and used for the 80 millimetre drop, but nobody has summarised it; the 13 to 20 millimetres in our scripts has no log. An old pilot, not v2.2, matched its own neutral-SMPL target to 13 millimetres on the limbs, but that target was 58 millimetres from the real 3DPW joints, so v2 changed the target; I do not use that number as evidence. A perfect-target test shows why joint error is not enough: joints match to 1.5 millimetres, but a 45-degree head turn is lost. Limb twist is not recovered either. I also found two real bugs. Gender is reversed: men get a female body and women a male one. The code is clear. I also checked Anny directly: at gender 0 the rest body is 1.75 metres tall with 37-centimetre shoulders, at gender 1 it is 1.63 metres with 31 centimetres, so 0 is male. The renders I saw are from v2.1, which uses the same rule, and they show men only. In two-person scenes the frames are picked per person, so at least a third (validation) to a half (train, test) of the images label only one person. Also, 6 train and 2 validation sequences have no labels at all; I do not know why yet. v7 to v10 train on these labels, and our 3DPW scores use them. So our 3DPW scores are measured against these Anny labels on every third frame; they cannot be compared with published 3DPW results, which use the SMPL meshes and all valid frames. I wrote a cluster check that compares the labels with the original SMPL meshes and refits a few people per sequence with the flipped gender; it has not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neck length is right, 99 percent of the truth, and with the true shape it is exact. The problem is the rotation of each neck bone relative to its parent. In v5, v9 and all six pilot runs, the three neck bones are on average 63 degrees off, head and jaw 90. In v5 that is the same for every person, within about 1.5 degrees: a fixed offset, not noise. 150 thousand more steps in v9 did not change it, and neither did a pilot that gave head and neck a third of the rotation loss. v10 gets these bones right, 5 and 4 degrees, so the loss can teach the neck, but v10 is worse elsewhere. Its history differs: v10 was trained with the helper bones masked from the start, with no four-times neck boost and with 3DPW. v5 first trained on a frozen backbone with the helper bones unmasked; masking and the neck boost came later. The head points 12 degrees off on the holdout, 8.6 on the held-out test cases and about 20 on the 40 training test cases. I do not know the cause. My guess: the loss compares rotation matrices number by number and can stick near a 180-degree flip; a neck bone and the head flipped about the same axis would cancel, so the head can still point within 12 degrees. I have not shown that this offset makes the necks look wrong; the head-and-neck error PVE_hn cannot tell, because 91 percent of its vertices are on the head. The depth bug cannot cause the neck look in the montage or the photo demos: they place each body from its detection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error is 17.3 degrees. With the fingers simply left in the rest pose it is 15.1. So the hand prediction is worse than no prediction, which is why the demos zero the fingers and now say so. Hands are small: about two tokens at 672 pixels. I cropped around the person at test time, without retraining. Per person that magnifies the hands by 1.6 times on median, and by 2.5 times or more for a quarter of the people; 26 percent of the people are not magnified at all. The table compares median hand sizes, so it shows a slightly larger factor. The finger error does not change: 17.2 against 17.3, and from 17.7 to 17.5 for the most magnified quarter. The body error nearly doubles on these crops, because the model never saw such a camera in training. So test-time magnification does not help; a model trained on larger hands is not tested. A rebalanced loss also changed nothing: 17.5 against 17.4 for its control. That loss cut the hands' share of the rotation loss from about 70 percent, which includes the four-times hand boost, to 33 percent; without the boost the share would be 40. So it does not test giving the fingers more weight, and the earlier four-times hand boost did not help either. My best guess is supervision or model capacity, but that is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So I compare with the holdout adults rather than give years: 0.57 to 0.67 is about 14 to 16 years on Anny's calibration and 21 to 25 on our code's labels; either way far too old for people 0.6 to 1.1 metres tall. That is a short run on few people, so it shows no effect, not that there can be none. My best guess is a gap between synthetic and real images, plus an old-age bias that shows even on training children; neither is tested. There are no labelled real children, and the 3DPW labels fix age at one value, 0.55, for everyone (slide 5). The next step is a 10-epoch balanced-sampler run; if that also shows nothing, it goes into the thesis as a limitation. The holdout has no children, so every synthetic child number is in-sample.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gt_center_joint person_center: build the training targets at the head, the joint the model anchors. Each fix run has a control with the same schedule and the switch off; the stronger-loss runs have no control at the same weight. I report the 3D root error: the distance between the predicted and the true root joint, at the pelvis. Drawn size is the predicted over the true head-to-pelvis distance in pixels. The mean signed depth offset fell from 1.08 to 0.39 metres, but after the fix near people are too far and far people too near, and these cancel in that mean, so it flatters the fix. The head now lands within about 7 to 10 pixels, as expected, because the target moved to the head. With the depth loss five times stronger for 10 epochs, the root error falls from 1.21 to 0.54 metres and bodies are drawn at 84 percent of their true size; twenty times for 2 epochs ties with it, and the controls stay at 1.11 to 1.44. But the slope is 0.30 with the switch alone and 0.38 to 0.44 with the stronger depth loss. Predictions are pulled toward about 2.5 to 2.9 metres, close to the estimated training average; holdout people are nearer, 1.9 metres on average, so this pull becomes a large error here. Why the model cannot separate near from far, I do not know.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Every fix run is worse than its control in PVE and recall. The PVE gaps, 2.6 to 4.9 millimetres, are inside pilot noise; the recall drops, 1.6 to 2.4 points, are at the edge of what one pilot can detect; and the five fix runs share only two controls, so they are not five independent tests. I count it as a likely cost. The pelvis 2D error clearly got worse, from about 23 pixels to between 31 and 39 pixels; probably because the body is still drawn too small while the head is now pinned, but I have not checked that. The twenty-times 10-epoch run has no result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ran next to a control with the main switch off, on the same 100-image holdout and manifest, with helper bones masked. The stronger age loss and the stronger depth loss were not separately controlled: both children arms used the same age and height weights, and the depth runs at five and twenty times have no control at the same weight. Depth: by its own success rule the experiment failed. The slope did not move toward 1: it is 0.30 with the switch alone and 0.38 with the five-times depth loss. PVE is 74.8, against 72.2 for the control and 70.5 for v5.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The experiments also have a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8; the difference is only which people are matched. There is no fixed random seed: two identical runs differed by 7.6 millimetres PVE and 1.9 degrees of head error, so one pilot only detects about 10 millimetres, 3 degrees or 2 recall points. Restarting the fine-tune alone costs about 2.4 millimetres. A 2-epoch pilot trains in about 12 minutes, a 10-epoch run in about one hour. No new architecture, because the diagnostics do not justify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neck: the error of each neck bone, split into twist and swing, an error on the neck skin only, and traces of checkpoint 299 and of v3, to see when the offset appeared. Second, the depth slope, stuck at 0.3 to 0.4: why near and far are not separated is unknown. The training depths so far come from small samples, batch means of about 2.5 to 3.2 metres, so I will measure them properly, and measure the fix run's slope on training images; for v5 it was just as low there. Third, the cost of the fix: paired PVE on the same people, recall over people whose head is visible, and the root error next to PVE in the thesis. Testing the fix on 3DPW waits for item seven. The twenty-times 10-epoch run has no result yet. Fourth, pilot noise: fix the seed or repeat the key run. Fifth, people very close to the camera: both models miss them in 4 of the 12 rendered images; likely a detection problem, not yet counted. Sixth, children and fingers: one 2-epoch test is not enough to close them. Next is a 10-epoch balanced-sampler run, and for the fingers training on larger hand crops. If those show nothing too, both go into the thesis as limitations. Seventh, the 3DPW labels from slide 6: set men to 0 and women to 1, and pick both people's frames on one shared grid. Both happen inside the fit, so all 87 conversion tasks must be fitted again, not only the 11 missing ones, and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new check. Only after that should I test the depth fix on 3DPW or fine-tune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measured: the failures are not rig or decoding problems. A training-target bug puts people too far away in v5, v9 and v10; in v5 it is all 222 holdout people. The depth fix draws the bodies much closer to their true size, but near and far are still not separated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Separately, the 3DPW labels have the two bugs from slide 6: the two-person problem is counted from the label files, the reversed gender is read in the code and seen in v2.1 renders. I do not claim any improvement in the neck, the fingers or the children, and I do not claim an accuracy for the 3DPW labels: nobody has summarised the saved fit error or compared the labels with the SMPL meshes. My question: should I fine-tune v9 with the corrected targets and the depth loss five times stronger, before the thesis numbers are final? That is about one hour of training.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bug and the two-person bug, so that score is not a clean measure. The other option is to fix the labels first: men to 0,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think the 3DPW labels should be re-fitted with the corrected gender before any fine-tune that mixes in 3DPW; otherwise the fine-tune keeps learning the wrong body. A v9 fine-tune keeps the stuck neck; v10 learns the neck but has worse shoulders and arms. Either fine-tune should also mask the 3DPW finger labels, which are set to the rest pose, with mask_3dpw_hands. The ViT-S students use the same training code and are probably affected too; not measured. On the AnnyOne holdout v9 is not the best: 77.0 against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173736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Two bugs in the 3DPW labels (gender, two-person frames).</a:t>
            </a:r>
            <a:endParaRPr lang="en-US" sz="1800" dirty="0"/>
          </a:p>
          <a:p>
            <a:pPr algn="l" indent="0" marL="0">
              <a:buNone/>
            </a:pPr>
            <a:r>
              <a:rPr lang="en-US" sz="1800" dirty="0">
                <a:solidFill>
                  <a:schemeClr val="bg2"/>
                </a:solidFill>
              </a:rPr>
              <a:t>Neck, fingers and children: measured, still open.</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The v5 models are stuck at a fixed neck-bone rotation error. Whether that causes the look is not yet shown.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10).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About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Conversion: camera verified, fit not checked, two bugs</a:t>
            </a:r>
            <a:endParaRPr lang="en-US" sz="2700" dirty="0"/>
          </a:p>
        </p:txBody>
      </p:sp>
      <p:sp>
        <p:nvSpPr>
          <p:cNvPr id="3" name="ev Measured"/>
          <p:cNvSpPr/>
          <p:nvPr/>
        </p:nvSpPr>
        <p:spPr>
          <a:xfrm>
            <a:off x="457200" y="1143000"/>
            <a:ext cx="2651760" cy="2432304"/>
          </a:xfrm>
          <a:prstGeom prst="roundRect">
            <a:avLst>
              <a:gd name="adj" fmla="val 3008"/>
            </a:avLst>
          </a:prstGeom>
          <a:solidFill>
            <a:schemeClr val="bg2"/>
          </a:solidFill>
          <a:ln w="12700">
            <a:solidFill>
              <a:schemeClr val="bg2"/>
            </a:solidFill>
            <a:prstDash val="solid"/>
          </a:ln>
        </p:spPr>
      </p:sp>
      <p:sp>
        <p:nvSpPr>
          <p:cNvPr id="4" name="ev dot Measured"/>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a:t>
            </a:r>
            <a:endParaRPr lang="en-US" sz="1500" dirty="0"/>
          </a:p>
        </p:txBody>
      </p:sp>
      <p:sp>
        <p:nvSpPr>
          <p:cNvPr id="6" name="ev body Measured"/>
          <p:cNvSpPr txBox="1"/>
          <p:nvPr/>
        </p:nvSpPr>
        <p:spPr>
          <a:xfrm>
            <a:off x="594360" y="1645920"/>
            <a:ext cx="2377440" cy="1865376"/>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chemeClr val="tx1"/>
                </a:solidFill>
              </a:rPr>
              <a:t>Camera formula: </a:t>
            </a:r>
            <a:r>
              <a:rPr lang="en-US" sz="1100" dirty="0">
                <a:solidFill>
                  <a:schemeClr val="tx1"/>
                </a:solidFill>
              </a:rPr>
              <a:t>raw 3DPW joints hit OpenPose 2D at 8.9 px on 60 frames of one sequence (other convention: ~2400 px).</a:t>
            </a:r>
            <a:endParaRPr lang="en-US" sz="1100" dirty="0"/>
          </a:p>
          <a:p>
            <a:pPr marL="177800" indent="-177800">
              <a:spcAft>
                <a:spcPts val="300"/>
              </a:spcAft>
              <a:buSzPct val="100000"/>
              <a:buChar char="•"/>
            </a:pPr>
            <a:r>
              <a:rPr lang="en-US" sz="1100" b="1" dirty="0">
                <a:solidFill>
                  <a:schemeClr val="tx1"/>
                </a:solidFill>
              </a:rPr>
              <a:t>World → camera: </a:t>
            </a:r>
            <a:r>
              <a:rPr lang="en-US" sz="1100" dirty="0">
                <a:solidFill>
                  <a:schemeClr val="tx1"/>
                </a:solidFill>
              </a:rPr>
              <a:t>exact; label mesh = moved fit mesh to 0.002 mm (synthetic test).</a:t>
            </a:r>
            <a:endParaRPr lang="en-US" sz="1100" dirty="0"/>
          </a:p>
          <a:p>
            <a:pPr marL="177800" indent="-177800">
              <a:spcAft>
                <a:spcPts val="300"/>
              </a:spcAft>
              <a:buSzPct val="100000"/>
              <a:buChar char="•"/>
            </a:pPr>
            <a:r>
              <a:rPr lang="en-US" sz="1100" b="1" dirty="0">
                <a:solidFill>
                  <a:schemeClr val="tx1"/>
                </a:solidFill>
              </a:rPr>
              <a:t>Perfect targets: </a:t>
            </a:r>
            <a:r>
              <a:rPr lang="en-US" sz="1100" dirty="0">
                <a:solidFill>
                  <a:schemeClr val="tx1"/>
                </a:solidFill>
              </a:rPr>
              <a:t>joints within 1.5 mm, yet a 45° head turn comes back as 0°.</a:t>
            </a:r>
            <a:endParaRPr lang="en-US" sz="1100" dirty="0"/>
          </a:p>
        </p:txBody>
      </p:sp>
      <p:sp>
        <p:nvSpPr>
          <p:cNvPr id="7" name="ev Checked in code"/>
          <p:cNvSpPr/>
          <p:nvPr/>
        </p:nvSpPr>
        <p:spPr>
          <a:xfrm>
            <a:off x="3246120" y="1143000"/>
            <a:ext cx="2651760" cy="2432304"/>
          </a:xfrm>
          <a:prstGeom prst="roundRect">
            <a:avLst>
              <a:gd name="adj" fmla="val 3008"/>
            </a:avLst>
          </a:prstGeom>
          <a:solidFill>
            <a:schemeClr val="bg2"/>
          </a:solidFill>
          <a:ln w="12700">
            <a:solidFill>
              <a:schemeClr val="bg2"/>
            </a:solidFill>
            <a:prstDash val="solid"/>
          </a:ln>
        </p:spPr>
      </p:sp>
      <p:sp>
        <p:nvSpPr>
          <p:cNvPr id="8" name="ev dot Checked in code"/>
          <p:cNvSpPr/>
          <p:nvPr/>
        </p:nvSpPr>
        <p:spPr>
          <a:xfrm>
            <a:off x="3401568" y="1280160"/>
            <a:ext cx="274320" cy="274320"/>
          </a:xfrm>
          <a:prstGeom prst="ellipse">
            <a:avLst/>
          </a:prstGeom>
          <a:solidFill>
            <a:schemeClr val="accent1"/>
          </a:solidFill>
          <a:ln w="12700">
            <a:solidFill>
              <a:schemeClr val="accent1"/>
            </a:solidFill>
            <a:prstDash val="solid"/>
          </a:ln>
        </p:spPr>
      </p:sp>
      <p:sp>
        <p:nvSpPr>
          <p:cNvPr id="9" name="ev head Checked in code"/>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Checked in code</a:t>
            </a:r>
            <a:endParaRPr lang="en-US" sz="1500" dirty="0"/>
          </a:p>
        </p:txBody>
      </p:sp>
      <p:sp>
        <p:nvSpPr>
          <p:cNvPr id="10" name="ev body Checked in code"/>
          <p:cNvSpPr txBox="1"/>
          <p:nvPr/>
        </p:nvSpPr>
        <p:spPr>
          <a:xfrm>
            <a:off x="3383280" y="1645920"/>
            <a:ext cx="2377440" cy="1865376"/>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chemeClr val="tx1"/>
                </a:solidFill>
              </a:rPr>
              <a:t>Left/right, metres, image numbers </a:t>
            </a:r>
            <a:r>
              <a:rPr lang="en-US" sz="1100" dirty="0">
                <a:solidFill>
                  <a:schemeClr val="tx1"/>
                </a:solidFill>
              </a:rPr>
              <a:t>line up; old 60 Hz frame bug fixed.</a:t>
            </a:r>
            <a:endParaRPr lang="en-US" sz="1100" dirty="0"/>
          </a:p>
          <a:p>
            <a:pPr marL="177800" indent="-177800">
              <a:spcAft>
                <a:spcPts val="300"/>
              </a:spcAft>
              <a:buSzPct val="100000"/>
              <a:buChar char="•"/>
            </a:pPr>
            <a:r>
              <a:rPr lang="en-US" sz="1100" b="1" dirty="0">
                <a:solidFill>
                  <a:schemeClr val="tx1"/>
                </a:solidFill>
              </a:rPr>
              <a:t>Bones without a target </a:t>
            </a:r>
            <a:r>
              <a:rPr lang="en-US" sz="1100" dirty="0">
                <a:solidFill>
                  <a:schemeClr val="tx1"/>
                </a:solidFill>
              </a:rPr>
              <a:t>keep Anny's rest pose; no NaN or broken rotations.</a:t>
            </a:r>
            <a:endParaRPr lang="en-US" sz="1100" dirty="0"/>
          </a:p>
          <a:p>
            <a:pPr marL="177800" indent="-177800">
              <a:spcAft>
                <a:spcPts val="300"/>
              </a:spcAft>
              <a:buSzPct val="100000"/>
              <a:buChar char="•"/>
            </a:pPr>
            <a:r>
              <a:rPr lang="en-US" sz="1100" b="1" dirty="0">
                <a:solidFill>
                  <a:schemeClr val="tx1"/>
                </a:solidFill>
              </a:rPr>
              <a:t>Loader camera: </a:t>
            </a:r>
            <a:r>
              <a:rPr lang="en-US" sz="1100" dirty="0">
                <a:solidFill>
                  <a:schemeClr val="tx1"/>
                </a:solidFill>
              </a:rPr>
              <a:t>rescaled for the 672 px square (likely right).</a:t>
            </a:r>
            <a:endParaRPr lang="en-US" sz="1100" dirty="0"/>
          </a:p>
          <a:p>
            <a:pPr marL="177800" indent="-177800">
              <a:spcAft>
                <a:spcPts val="300"/>
              </a:spcAft>
              <a:buSzPct val="100000"/>
              <a:buChar char="•"/>
            </a:pPr>
            <a:r>
              <a:rPr lang="en-US" sz="1100" b="1" dirty="0">
                <a:solidFill>
                  <a:schemeClr val="tx1"/>
                </a:solidFill>
              </a:rPr>
              <a:t>Version: </a:t>
            </a:r>
            <a:r>
              <a:rPr lang="en-US" sz="1100" dirty="0">
                <a:solidFill>
                  <a:schemeClr val="tx1"/>
                </a:solidFill>
              </a:rPr>
              <a:t>the label builder only accepts v2.2 fits.</a:t>
            </a:r>
            <a:endParaRPr lang="en-US" sz="1100" dirty="0"/>
          </a:p>
        </p:txBody>
      </p:sp>
      <p:sp>
        <p:nvSpPr>
          <p:cNvPr id="11" name="ev Limits, not yet measured"/>
          <p:cNvSpPr/>
          <p:nvPr/>
        </p:nvSpPr>
        <p:spPr>
          <a:xfrm>
            <a:off x="6035040" y="1143000"/>
            <a:ext cx="2651760" cy="2432304"/>
          </a:xfrm>
          <a:prstGeom prst="roundRect">
            <a:avLst>
              <a:gd name="adj" fmla="val 3008"/>
            </a:avLst>
          </a:prstGeom>
          <a:solidFill>
            <a:schemeClr val="bg2"/>
          </a:solidFill>
          <a:ln w="12700">
            <a:solidFill>
              <a:schemeClr val="bg2"/>
            </a:solidFill>
            <a:prstDash val="solid"/>
          </a:ln>
        </p:spPr>
      </p:sp>
      <p:sp>
        <p:nvSpPr>
          <p:cNvPr id="12" name="ev dot Limits, not yet measured"/>
          <p:cNvSpPr/>
          <p:nvPr/>
        </p:nvSpPr>
        <p:spPr>
          <a:xfrm>
            <a:off x="6190488" y="1280160"/>
            <a:ext cx="274320" cy="274320"/>
          </a:xfrm>
          <a:prstGeom prst="ellipse">
            <a:avLst/>
          </a:prstGeom>
          <a:solidFill>
            <a:schemeClr val="accent2"/>
          </a:solidFill>
          <a:ln w="12700">
            <a:solidFill>
              <a:schemeClr val="accent2"/>
            </a:solidFill>
            <a:prstDash val="solid"/>
          </a:ln>
        </p:spPr>
      </p:sp>
      <p:sp>
        <p:nvSpPr>
          <p:cNvPr id="13" name="ev head Limits, not yet measured"/>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not yet measured</a:t>
            </a:r>
            <a:endParaRPr lang="en-US" sz="1500" dirty="0"/>
          </a:p>
        </p:txBody>
      </p:sp>
      <p:sp>
        <p:nvSpPr>
          <p:cNvPr id="14" name="ev body Limits, not yet measured"/>
          <p:cNvSpPr txBox="1"/>
          <p:nvPr/>
        </p:nvSpPr>
        <p:spPr>
          <a:xfrm>
            <a:off x="6172200" y="1645920"/>
            <a:ext cx="2377440" cy="1865376"/>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chemeClr val="tx1"/>
                </a:solidFill>
              </a:rPr>
              <a:t>By design: </a:t>
            </a:r>
            <a:r>
              <a:rPr lang="en-US" sz="1100" dirty="0">
                <a:solidFill>
                  <a:schemeClr val="tx1"/>
                </a:solidFill>
              </a:rPr>
              <a:t>head turn and limb twist are not recovered; neck02/03, head and fingers stay at rest; age 0.55.</a:t>
            </a:r>
            <a:endParaRPr lang="en-US" sz="1100" dirty="0"/>
          </a:p>
          <a:p>
            <a:pPr marL="177800" indent="-177800">
              <a:spcAft>
                <a:spcPts val="300"/>
              </a:spcAft>
              <a:buSzPct val="100000"/>
              <a:buChar char="•"/>
            </a:pPr>
            <a:r>
              <a:rPr lang="en-US" sz="1100" b="1" dirty="0">
                <a:solidFill>
                  <a:schemeClr val="tx1"/>
                </a:solidFill>
              </a:rPr>
              <a:t>Never summarised: </a:t>
            </a:r>
            <a:r>
              <a:rPr lang="en-US" sz="1100" dirty="0">
                <a:solidFill>
                  <a:schemeClr val="tx1"/>
                </a:solidFill>
              </a:rPr>
              <a:t>v2.2 fit error, saved per frame on the cluster (the ‘13–20 mm’ has no log). Mesh and head error vs SMPL: never measured.</a:t>
            </a:r>
            <a:endParaRPr lang="en-US" sz="1100" dirty="0"/>
          </a:p>
          <a:p>
            <a:pPr marL="177800" indent="-177800">
              <a:spcAft>
                <a:spcPts val="300"/>
              </a:spcAft>
              <a:buSzPct val="100000"/>
              <a:buChar char="•"/>
            </a:pPr>
            <a:r>
              <a:rPr lang="en-US" sz="1100" b="1" dirty="0">
                <a:solidFill>
                  <a:schemeClr val="tx1"/>
                </a:solidFill>
              </a:rPr>
              <a:t>Fresh check, written, not yet run: </a:t>
            </a:r>
            <a:r>
              <a:rPr lang="en-US" sz="1100" dirty="0">
                <a:solidFill>
                  <a:schemeClr val="tx1"/>
                </a:solidFill>
              </a:rPr>
              <a:t>slurm/diagnostics/​check_3dpw_conversion.sh</a:t>
            </a:r>
            <a:endParaRPr lang="en-US" sz="1100" dirty="0"/>
          </a:p>
        </p:txBody>
      </p:sp>
      <p:sp>
        <p:nvSpPr>
          <p:cNvPr id="15" name="bug band"/>
          <p:cNvSpPr/>
          <p:nvPr/>
        </p:nvSpPr>
        <p:spPr>
          <a:xfrm>
            <a:off x="457200" y="3685032"/>
            <a:ext cx="8229600" cy="996696"/>
          </a:xfrm>
          <a:prstGeom prst="roundRect">
            <a:avLst>
              <a:gd name="adj" fmla="val 7339"/>
            </a:avLst>
          </a:prstGeom>
          <a:solidFill>
            <a:srgbClr val="FBE9E7"/>
          </a:solidFill>
          <a:ln w="12700">
            <a:solidFill>
              <a:srgbClr val="FBE9E7"/>
            </a:solidFill>
            <a:prstDash val="solid"/>
          </a:ln>
        </p:spPr>
      </p:sp>
      <p:sp>
        <p:nvSpPr>
          <p:cNvPr id="16" name="bug dot"/>
          <p:cNvSpPr/>
          <p:nvPr/>
        </p:nvSpPr>
        <p:spPr>
          <a:xfrm>
            <a:off x="612648" y="3758184"/>
            <a:ext cx="274320" cy="274320"/>
          </a:xfrm>
          <a:prstGeom prst="ellipse">
            <a:avLst/>
          </a:prstGeom>
          <a:solidFill>
            <a:schemeClr val="accent4"/>
          </a:solidFill>
          <a:ln w="12700">
            <a:solidFill>
              <a:schemeClr val="accent4"/>
            </a:solidFill>
            <a:prstDash val="solid"/>
          </a:ln>
        </p:spPr>
      </p:sp>
      <p:sp>
        <p:nvSpPr>
          <p:cNvPr id="17" name="bug head"/>
          <p:cNvSpPr txBox="1"/>
          <p:nvPr/>
        </p:nvSpPr>
        <p:spPr>
          <a:xfrm>
            <a:off x="1005840" y="3712464"/>
            <a:ext cx="7543800" cy="365760"/>
          </a:xfrm>
          <a:prstGeom prst="rect">
            <a:avLst/>
          </a:prstGeom>
          <a:noFill/>
          <a:ln/>
        </p:spPr>
        <p:txBody>
          <a:bodyPr wrap="square" lIns="0" tIns="0" rIns="0" bIns="0" rtlCol="0" anchor="ctr"/>
          <a:lstStyle/>
          <a:p>
            <a:pPr indent="0" marL="0">
              <a:buNone/>
            </a:pPr>
            <a:r>
              <a:rPr lang="en-US" sz="1300" b="1" dirty="0">
                <a:solidFill>
                  <a:srgbClr val="C0392B"/>
                </a:solidFill>
              </a:rPr>
              <a:t>Two real bugs found </a:t>
            </a:r>
            <a:r>
              <a:rPr lang="en-US" sz="1300" dirty="0">
                <a:solidFill>
                  <a:srgbClr val="1B2233"/>
                </a:solidFill>
              </a:rPr>
              <a:t>(read in code, seen in data). v7–v10 train on these labels; all 3DPW scores use them.</a:t>
            </a:r>
            <a:endParaRPr lang="en-US" sz="1300" dirty="0"/>
          </a:p>
        </p:txBody>
      </p:sp>
      <p:sp>
        <p:nvSpPr>
          <p:cNvPr id="18" name="bug text"/>
          <p:cNvSpPr txBox="1"/>
          <p:nvPr/>
        </p:nvSpPr>
        <p:spPr>
          <a:xfrm>
            <a:off x="640080" y="4087368"/>
            <a:ext cx="7909560" cy="566928"/>
          </a:xfrm>
          <a:prstGeom prst="rect">
            <a:avLst/>
          </a:prstGeom>
          <a:noFill/>
          <a:ln/>
        </p:spPr>
        <p:txBody>
          <a:bodyPr wrap="square" lIns="0" tIns="0" rIns="0" bIns="0" rtlCol="0" anchor="t"/>
          <a:lstStyle/>
          <a:p>
            <a:pPr marL="177800" indent="-177800">
              <a:spcAft>
                <a:spcPts val="200"/>
              </a:spcAft>
              <a:buSzPct val="100000"/>
              <a:buChar char="•"/>
            </a:pPr>
            <a:r>
              <a:rPr lang="en-US" sz="1100" b="1" dirty="0">
                <a:solidFill>
                  <a:schemeClr val="tx1"/>
                </a:solidFill>
              </a:rPr>
              <a:t>Gender reversed: </a:t>
            </a:r>
            <a:r>
              <a:rPr lang="en-US" sz="1100" dirty="0">
                <a:solidFill>
                  <a:schemeClr val="tx1"/>
                </a:solidFill>
              </a:rPr>
              <a:t>the code sets man = 1, but in Anny 1 = female: men get a female body (seen in v2.1 renders), women a male one.</a:t>
            </a:r>
            <a:endParaRPr lang="en-US" sz="1100" dirty="0"/>
          </a:p>
          <a:p>
            <a:pPr marL="177800" indent="-177800">
              <a:spcAft>
                <a:spcPts val="200"/>
              </a:spcAft>
              <a:buSzPct val="100000"/>
              <a:buChar char="•"/>
            </a:pPr>
            <a:r>
              <a:rPr lang="en-US" sz="1100" b="1" dirty="0">
                <a:solidFill>
                  <a:schemeClr val="tx1"/>
                </a:solidFill>
              </a:rPr>
              <a:t>Two-person scenes: </a:t>
            </a:r>
            <a:r>
              <a:rPr lang="en-US" sz="1100" dirty="0">
                <a:solidFill>
                  <a:schemeClr val="tx1"/>
                </a:solidFill>
              </a:rPr>
              <a:t>frames are picked per person, so ≥ 48% of these train images label only one of the two people.</a:t>
            </a:r>
            <a:endParaRPr lang="en-US" sz="1100" dirty="0"/>
          </a:p>
          <a:p>
            <a:pPr marL="177800" indent="-177800">
              <a:spcAft>
                <a:spcPts val="200"/>
              </a:spcAft>
              <a:buSzPct val="100000"/>
              <a:buChar char="•"/>
            </a:pPr>
            <a:r>
              <a:rPr lang="en-US" sz="1100" b="1" dirty="0">
                <a:solidFill>
                  <a:schemeClr val="tx1"/>
                </a:solidFill>
              </a:rPr>
              <a:t>Also missing: </a:t>
            </a:r>
            <a:r>
              <a:rPr lang="en-US" sz="1100" dirty="0">
                <a:solidFill>
                  <a:schemeClr val="tx1"/>
                </a:solidFill>
              </a:rPr>
              <a:t>6 of 24 train and 2 of 12 validation sequences have no labels at all (cause unknown).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right length, but the v5 models are stuck</a:t>
            </a:r>
            <a:endParaRPr lang="en-US" sz="2700" dirty="0"/>
          </a:p>
        </p:txBody>
      </p:sp>
      <p:sp>
        <p:nvSpPr>
          <p:cNvPr id="3" name="stat predicted neck length vs truth (holdout); with the true shape it is exa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1"/>
                </a:solidFill>
              </a:rPr>
              <a:t>99%</a:t>
            </a:r>
            <a:endParaRPr lang="en-US" sz="4000" dirty="0"/>
          </a:p>
        </p:txBody>
      </p:sp>
      <p:sp>
        <p:nvSpPr>
          <p:cNvPr id="4" name="label predicted neck length vs truth (holdout); with the true shape it is exa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neck length vs truth (holdout); with the true shape it is exact</a:t>
            </a:r>
            <a:endParaRPr lang="en-US" sz="1300" dirty="0"/>
          </a:p>
        </p:txBody>
      </p:sp>
      <p:sp>
        <p:nvSpPr>
          <p:cNvPr id="5" name="stat neck bones / head + jaw vs parent bone (v5, v9, all pilots); in v5 the same for every person (±1.5°)"/>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63° / 90°</a:t>
            </a:r>
            <a:endParaRPr lang="en-US" sz="4000" dirty="0"/>
          </a:p>
        </p:txBody>
      </p:sp>
      <p:sp>
        <p:nvSpPr>
          <p:cNvPr id="6" name="label neck bones / head + jaw vs parent bone (v5, v9, all pilots); in v5 the same for every person (±1.5°)"/>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neck bones / head + jaw vs parent bone (v5, v9, all pilots); in v5 the same for every person (±1.5°)</a:t>
            </a:r>
            <a:endParaRPr lang="en-US" sz="1300" dirty="0"/>
          </a:p>
        </p:txBody>
      </p:sp>
      <p:sp>
        <p:nvSpPr>
          <p:cNvPr id="7" name="stat v10 learns them, but is worse elsewhere (v10 vs v5): PVE 74.1 vs 70.5 mm, shoulders 50° vs 1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1"/>
                </a:solidFill>
              </a:rPr>
              <a:t>5° / 4°</a:t>
            </a:r>
            <a:endParaRPr lang="en-US" sz="4000" dirty="0"/>
          </a:p>
        </p:txBody>
      </p:sp>
      <p:sp>
        <p:nvSpPr>
          <p:cNvPr id="8" name="label v10 learns them, but is worse elsewhere (v10 vs v5): PVE 74.1 vs 70.5 mm, shoulders 50° vs 1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v10 learns them, but is worse elsewhere (v10 vs v5): PVE 74.1 vs 70.5 mm, shoulders 50° vs 11°</a:t>
            </a:r>
            <a:endParaRPr lang="en-US" sz="1300" dirty="0"/>
          </a:p>
        </p:txBody>
      </p:sp>
      <p:sp>
        <p:nvSpPr>
          <p:cNvPr id="9" name="neck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neck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v10 learns these bones with the same loss function: </a:t>
            </a:r>
            <a:r>
              <a:rPr lang="en-US" sz="1200" dirty="0">
                <a:solidFill>
                  <a:schemeClr val="tx1"/>
                </a:solidFill>
              </a:rPr>
              <a:t>it was trained masked from the start, with no ×4 neck boost and with 3DPW. v5 started from a frozen backbone; masking and the ×4 boost were added later.</a:t>
            </a:r>
            <a:endParaRPr lang="en-US" sz="1200" dirty="0"/>
          </a:p>
          <a:p>
            <a:pPr marL="177800" indent="-177800">
              <a:spcAft>
                <a:spcPts val="300"/>
              </a:spcAft>
              <a:buSzPct val="100000"/>
              <a:buChar char="•"/>
            </a:pPr>
            <a:r>
              <a:rPr lang="en-US" sz="1200" b="1" dirty="0">
                <a:solidFill>
                  <a:schemeClr val="tx1"/>
                </a:solidFill>
              </a:rPr>
              <a:t>v5 and its fine-tunes are stuck: </a:t>
            </a:r>
            <a:r>
              <a:rPr lang="en-US" sz="1200" dirty="0">
                <a:solidFill>
                  <a:schemeClr val="tx1"/>
                </a:solidFill>
              </a:rPr>
              <a:t>150,000 more steps in v9 changed nothing, nor did a pilot that gave head and neck a third of the rotation loss. Yet the whole head still points only 12° off (holdout).</a:t>
            </a:r>
            <a:endParaRPr lang="en-US" sz="1200" dirty="0"/>
          </a:p>
          <a:p>
            <a:pPr marL="177800" indent="-177800">
              <a:spcAft>
                <a:spcPts val="300"/>
              </a:spcAft>
              <a:buSzPct val="100000"/>
              <a:buChar char="•"/>
            </a:pPr>
            <a:r>
              <a:rPr lang="en-US" sz="1200" b="1" dirty="0">
                <a:solidFill>
                  <a:schemeClr val="tx1"/>
                </a:solidFill>
              </a:rPr>
              <a:t>Cause unknown. Best guess, not tested: </a:t>
            </a:r>
            <a:r>
              <a:rPr lang="en-US" sz="1200" dirty="0">
                <a:solidFill>
                  <a:schemeClr val="tx1"/>
                </a:solidFill>
              </a:rPr>
              <a:t>the loss compares rotation matrices number by number and can stick near a 180° flip (one of 3 neck bones flipped: mean near 63°; head or jaw flipped: near 90°).</a:t>
            </a:r>
            <a:endParaRPr lang="en-US" sz="1200" dirty="0"/>
          </a:p>
          <a:p>
            <a:pPr marL="177800" indent="-177800">
              <a:spcAft>
                <a:spcPts val="300"/>
              </a:spcAft>
              <a:buSzPct val="100000"/>
              <a:buChar char="•"/>
            </a:pPr>
            <a:r>
              <a:rPr lang="en-US" sz="1200" b="1" dirty="0">
                <a:solidFill>
                  <a:schemeClr val="tx1"/>
                </a:solidFill>
              </a:rPr>
              <a:t>Not yet shown </a:t>
            </a:r>
            <a:r>
              <a:rPr lang="en-US" sz="1200" dirty="0">
                <a:solidFill>
                  <a:schemeClr val="tx1"/>
                </a:solidFill>
              </a:rPr>
              <a:t>that this offset makes necks look wrong. Not the depth bug: the neck montage and the real-photo demos place each body from its detection box.</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test-time zoom and a loss rebalance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fingers set to rest pose</a:t>
            </a:r>
            <a:endParaRPr lang="en-US" sz="1300" dirty="0"/>
          </a:p>
        </p:txBody>
      </p:sp>
      <p:sp>
        <p:nvSpPr>
          <p:cNvPr id="7" name="stat change when the person is magnified at test time (no retraining)"/>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the person is magnified at test time (no retraining)"/>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change when the person is magnified at test time (no retraining)</a:t>
            </a:r>
            <a:endParaRPr lang="en-US" sz="1300" dirty="0"/>
          </a:p>
        </p:txBody>
      </p:sp>
      <p:graphicFrame>
        <p:nvGraphicFramePr>
          <p:cNvPr id="9"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What it means: </a:t>
            </a:r>
            <a:r>
              <a:rPr lang="en-US" sz="1200" dirty="0">
                <a:solidFill>
                  <a:schemeClr val="tx1"/>
                </a:solidFill>
              </a:rPr>
              <a:t>predicting fingers is worse than leaving them at rest.</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 It gave fingers less weight; more weight and training on larger hand crops are still untested.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is not enough to call it a limitation.</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3"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4"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stays near v5 (70.5 mm)</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slope 0.30 (switch alone) / 0.38 (×5), not near 1; PVE 74.8 mm (control 72.2, v5 70.5). Outside the rule, clearly better: root error 1.21 → 0.54 m, drawn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findings and handover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Neck offset in the v5 models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Next: error per bone, split into twist and swing; find when the offset first appeared (earlier checkpoints).</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Next: 10-epoch balanced-sampler run; larger hand crops for fingers. If no effect: thesis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two bugs and 8 missing sequences (slide 6)</a:t>
            </a:r>
            <a:endParaRPr lang="en-US" sz="1500" dirty="0"/>
          </a:p>
        </p:txBody>
      </p:sp>
      <p:sp>
        <p:nvSpPr>
          <p:cNvPr id="30" name="open body 7"/>
          <p:cNvSpPr txBox="1"/>
          <p:nvPr/>
        </p:nvSpPr>
        <p:spPr>
          <a:xfrm>
            <a:off x="1097280" y="4215384"/>
            <a:ext cx="7589520" cy="548640"/>
          </a:xfrm>
          <a:prstGeom prst="rect">
            <a:avLst/>
          </a:prstGeom>
          <a:noFill/>
          <a:ln/>
        </p:spPr>
        <p:txBody>
          <a:bodyPr wrap="square" lIns="0" tIns="0" rIns="0" bIns="0" rtlCol="0" anchor="t"/>
          <a:lstStyle/>
          <a:p>
            <a:pPr indent="0" marL="0">
              <a:buNone/>
            </a:pPr>
            <a:r>
              <a:rPr lang="en-US" sz="1200" dirty="0">
                <a:solidFill>
                  <a:schemeClr val="tx2"/>
                </a:solidFill>
              </a:rPr>
              <a:t>Fix gender (m → 0) and use one shared frame grid; re-fit all 87 tasks into a new folder (the task script skips existing .npz); rebuild the labels; run check_3dpw_conversion.sh. Only then test the depth fix on 3DPW or fine-tune on it.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173736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(v5: all 222 holdout people); the fix draws bodies much closer to their true size. ≥ 48% of two-person 3DPW train images label only one person (counted). </a:t>
            </a:r>
            <a:r>
              <a:rPr lang="en-US" sz="1500" b="1" dirty="0">
                <a:solidFill>
                  <a:srgbClr val="F4C95D"/>
                </a:solidFill>
              </a:rPr>
              <a:t>Found in code: </a:t>
            </a:r>
            <a:r>
              <a:rPr lang="en-US" sz="1500" dirty="0">
                <a:solidFill>
                  <a:schemeClr val="bg2"/>
                </a:solidFill>
              </a:rPr>
              <a:t>the 3DPW-Anny labels have reversed gender (seen in v2.1 renders; slide 6).</a:t>
            </a:r>
            <a:endParaRPr lang="en-US" sz="1500" dirty="0"/>
          </a:p>
          <a:p>
            <a:pPr algn="l" indent="0" marL="0">
              <a:buNone/>
            </a:pPr>
            <a:r>
              <a:rPr lang="en-US" sz="1500" b="1" dirty="0">
                <a:solidFill>
                  <a:srgbClr val="F4C95D"/>
                </a:solidFill>
              </a:rPr>
              <a:t>Not claimed: </a:t>
            </a:r>
            <a:r>
              <a:rPr lang="en-US" sz="1500" dirty="0">
                <a:solidFill>
                  <a:schemeClr val="bg2"/>
                </a:solidFill>
              </a:rPr>
              <a:t>any improvement in neck, fingers or children; correct depths for both near and far people; a fix without cost (likely 2.6–4.9 mm PVE and 1.6–2.4 recall points worse, not yet confirmed); any measured accuracy of the 3DPW labels.</a:t>
            </a:r>
            <a:endParaRPr lang="en-US" sz="1500" dirty="0"/>
          </a:p>
        </p:txBody>
      </p:sp>
      <p:sp>
        <p:nvSpPr>
          <p:cNvPr id="4" name="question box"/>
          <p:cNvSpPr/>
          <p:nvPr/>
        </p:nvSpPr>
        <p:spPr>
          <a:xfrm>
            <a:off x="548640" y="2990088"/>
            <a:ext cx="8046720" cy="1673352"/>
          </a:xfrm>
          <a:prstGeom prst="rect">
            <a:avLst/>
          </a:prstGeom>
          <a:solidFill>
            <a:srgbClr val="2B3550"/>
          </a:solidFill>
          <a:ln w="12700">
            <a:solidFill>
              <a:srgbClr val="2B3550"/>
            </a:solidFill>
            <a:prstDash val="solid"/>
          </a:ln>
        </p:spPr>
      </p:sp>
      <p:sp>
        <p:nvSpPr>
          <p:cNvPr id="5" name="question bar"/>
          <p:cNvSpPr/>
          <p:nvPr/>
        </p:nvSpPr>
        <p:spPr>
          <a:xfrm>
            <a:off x="548640" y="2990088"/>
            <a:ext cx="73152" cy="1673352"/>
          </a:xfrm>
          <a:prstGeom prst="rect">
            <a:avLst/>
          </a:prstGeom>
          <a:solidFill>
            <a:srgbClr val="F4C95D"/>
          </a:solidFill>
          <a:ln w="12700">
            <a:solidFill>
              <a:srgbClr val="F4C95D"/>
            </a:solidFill>
            <a:prstDash val="solid"/>
          </a:ln>
        </p:spPr>
      </p:sp>
      <p:sp>
        <p:nvSpPr>
          <p:cNvPr id="6" name="question text"/>
          <p:cNvSpPr txBox="1"/>
          <p:nvPr/>
        </p:nvSpPr>
        <p:spPr>
          <a:xfrm>
            <a:off x="822960" y="3063240"/>
            <a:ext cx="7635240" cy="1527048"/>
          </a:xfrm>
          <a:prstGeom prst="rect">
            <a:avLst/>
          </a:prstGeom>
          <a:noFill/>
          <a:ln/>
        </p:spPr>
        <p:txBody>
          <a:bodyPr wrap="square" lIns="0" tIns="0" rIns="0" bIns="0" rtlCol="0" anchor="ctr"/>
          <a:lstStyle/>
          <a:p>
            <a:pPr indent="0" marL="0">
              <a:spcAft>
                <a:spcPts val="400"/>
              </a:spcAft>
              <a:buNone/>
            </a:pPr>
            <a:r>
              <a:rPr lang="en-US" sz="1400" b="1" dirty="0">
                <a:solidFill>
                  <a:srgbClr val="F4C95D"/>
                </a:solidFill>
              </a:rPr>
              <a:t>Question for you</a:t>
            </a:r>
            <a:endParaRPr lang="en-US" sz="1400" dirty="0"/>
          </a:p>
          <a:p>
            <a:pPr indent="0" marL="0">
              <a:spcAft>
                <a:spcPts val="400"/>
              </a:spcAft>
              <a:buNone/>
            </a:pPr>
            <a:r>
              <a:rPr lang="en-US" sz="1400" b="1" dirty="0">
                <a:solidFill>
                  <a:srgbClr val="EEF2F7"/>
                </a:solidFill>
              </a:rPr>
              <a:t>Fine-tune v9 (best on our 3DPW-Anny labels, which have the gender bug: slide 6) with the fixed targets and depth ×5? Or first fix gender and frame grid, re-fit all 3DPW tasks, then fine-tune?</a:t>
            </a:r>
            <a:endParaRPr lang="en-US" sz="1400" dirty="0"/>
          </a:p>
          <a:p>
            <a:pPr indent="0" marL="0">
              <a:buNone/>
            </a:pPr>
            <a:r>
              <a:rPr lang="en-US" sz="1400" dirty="0">
                <a:solidFill>
                  <a:srgbClr val="EEF2F7"/>
                </a:solidFill>
              </a:rPr>
              <a:t>From v5 (×5, 10 epochs): drawn size 0.84, root error 0.54 m, at +2.6 mm PVE and −1.6 recall points vs its control. v9 keeps the stuck neck; v10 learns the neck but has worse shoulders and arms.</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2026-10-15T03:09:13Z</dcterms:created>
  <dcterms:modified xsi:type="dcterms:W3CDTF">2026-10-15T03:09:13Z</dcterms:modified>
</cp:coreProperties>
</file>