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3ab0dc66-0b24-cecf-0d4b-93bfcca7f0df}">
          <p14:sldIdLst>
            <p14:sldId id="256"/>
            <p14:sldId id="257"/>
            <p14:sldId id="258"/>
            <p14:sldId id="259"/>
          </p14:sldIdLst>
        </p14:section>
        <p14:section name="Findings" id="{660c8e71-c403-227a-974d-2a1e8b5e2d74}">
          <p14:sldIdLst>
            <p14:sldId id="260"/>
            <p14:sldId id="261"/>
            <p14:sldId id="262"/>
          </p14:sldIdLst>
        </p14:section>
        <p14:section name="Bug" id="{32727f8e-168b-97f3-5b65-36207d9c24d1}">
          <p14:sldIdLst>
            <p14:sldId id="263"/>
            <p14:sldId id="264"/>
            <p14:sldId id="265"/>
          </p14:sldIdLst>
        </p14:section>
        <p14:section name="Next" id="{b2a67c55-b1f0-34d0-e5c2-d72678612956}">
          <p14:sldIdLst>
            <p14:sldId id="266"/>
            <p14:sldId id="267"/>
            <p14:sldId id="268"/>
            <p14:sldId id="269"/>
          </p14:sldIdLst>
        </p14:section>
        <p14:section name="Appendix" id="{17b6a086-e46e-6586-a837-9a9cb816292c}">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last Friday I measured each stage of the pipeline separately. I will show what is not the cause, what I measured about the neck, the fingers and the children, one bug nobody was looking for and its fix, and what is still open. I will say clearly what is measured and what is only a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failures we discussed last time. Until this week they were explained by guesses: a rig problem, too few pixels on the hands, or a shape head that does not learn age. None of these guesses had been tested on its own. That is what I did first. The last line on each card is what this week showed; the details follow. For the neck, I found a fixed rotation error in the v5 models, but I have not yet shown that it causes the look.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built six checks, each testing one stage. I use a fixed holdout of 100 images that were never used in training, and a fixed set of test cases: 40 training images with adults, children, visible hands and hard necks, and 15 held-out images with no children. Most numbers in this talk come from these sets with the same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changes the story. The rig, the decoding and the body model are correct, and gradients reach every bone and every shape output. The one exception: two of the three camera outputs are unused and get no gradient. The overfit test shows the optimiser works for shape and 3D joints: on 40 training images the error falls by 36 percent. It has two warnings. First, even while the images were memorised, the translation loss and the 2D losses went up, from 1.67 to 1.89 and from 58 to 75. The network could not satisfy the position targets and the 2D projection at the same time. That was probably the first sign of the depth bug on slide 8; I have not repeated the overfit test with the fix. Second, the rotation loss barely moved, from 44.6 to 40.8. That is a sum over all 75 bones, so it does not isolate the neck; it may be related to the stuck neck on the next slide, but that is a guess. So the three failures are not rig or decoding problems, which is how the thesis described them until now, but training can still get stuck. One caveat on the ground-truth check: people who fill the frame lose joints at the image border. That is truncation, not a decoding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neck length is right, 99 percent of the truth, and with the true shape it is exact. The problem is the rotation of each neck bone relative to its parent. In v5, v9 and all six pilot runs, the three neck bones are on average 63 degrees off, head and jaw 90. In v5 that is the same for every person, within about 1.5 degrees: a fixed offset, not noise. 150 thousand more steps in v9 did not change it, and neither did a pilot that gave head and neck a third of the rotation loss. v10 gets these bones right, 5 and 4 degrees, so the loss can teach the neck, but v10 is worse elsewhere. Its history differs: v10 was trained with the helper bones masked from the start, with no four-times neck boost and with 3DPW. v5 first trained on a frozen backbone with the helper bones unmasked; masking and the neck boost came later. The head points 12 degrees off on the holdout, 8.6 on the held-out test cases and about 20 on the 40 training test cases. I do not know the cause. My guess: the loss compares rotation matrices number by number and can stick near a 180-degree flip; a neck bone and the head flipped about the same axis would cancel, so the head can still point within 12 degrees. I have not shown that this offset makes the necks look wrong; the head-and-neck error PVE_hn cannot tell, because 91 percent of its vertices are on the head. The depth bug cannot cause the neck look in the montage or the photo demos: they place each body from its detection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predicted fingers the error is 17.3 degrees. With the fingers simply left in the rest pose it is 15.1. So the hand prediction is worse than no prediction, which is why the demos zero the fingers and now say so. Hands are small: about two tokens at 672 pixels. I cropped around the person at test time, without retraining. Per person that magnifies the hands by 1.6 times on median, and by 2.5 times or more for a quarter of the people; 26 percent of the people are not magnified at all. The table compares median hand sizes, so it shows a slightly larger factor. The finger error does not change: 17.2 against 17.3, and from 17.7 to 17.5 for the most magnified quarter. The body error nearly doubles on these crops, because the model never saw such a camera in training. So test-time magnification does not help; a model trained on larger hands is not tested. A rebalanced loss also changed nothing: 17.5 against 17.4 for its control. That loss cut the hands' share of the rotation loss from about 70 percent, which includes the four-times hand boost, to 33 percent; without the boost the share would be 40. So it does not test giving the fingers more weight, and the earlier four-times hand boost did not help either. My best guess is supervision or model capacity, but that is not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checked in the code that the shape head is complete: all eleven shape values go into the body model and are trained, with no adult default. The model can make a child: for the youngest training people it predicts age 0.10 for a true 0.015, too old but still clearly a child; the holdout adults lie mostly between 0.4 and 0.8. Anny's own age calibration puts 0.10 at about 2 years and 0.67 at about 16, while the labels in our code assume 0.33 is 11 years and 0.67 is 25; I have not settled which one the dataset follows. The ten children in the training manifest also come out too old, by 0.078 on average. With their true shape, their error falls from 47.8 to 41.6 millimetres, so 6.2 millimetres of it is shape. Only 2 percent of training people are children, so I tried a sampler that shows about 10 percent. In a 2-epoch fine-tune nothing changed, not for the training children and not on real photos: five small people still get the age of the holdout adults, 0.57 to 0.67 in the sampler and the control run. So I compare with the holdout adults rather than give years: 0.57 to 0.67 is about 14 to 16 years on Anny's calibration and 21 to 25 on our code's labels; either way far too old for people 0.6 to 1.1 metres tall. That is a short run on few people, so it shows no effect, not that there can be none. My best guess is a gap between synthetic and real images, plus an old-age bias that shows even on training children; neither is tested. There are no labelled real children, and the 3DPW labels fix age at one adult value. The next step is a 10-epoch balanced-sampler run; if that also shows nothing, it goes into the thesis as a limitation. The holdout has no children, so every synthetic child number is in-sample.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result of the week. The model attaches the mesh to the detected pixel by its head joint and reports the head as its position. The training code built the position, distance, heat-map and offset targets at joint 0, the root joint at the pelvis. Those two can never agree. The cause is confirmed: with targets at the head the bodies are drawn much closer to the right size, and a control run with the same schedule does not improve; after 10 epochs its drawn size is 0.59 and its root error 1.44 metres. The likely mechanism is that the 2D losses solve the conflict by pushing the body farther away, so it is drawn smaller. Measured on the holdout for v5: predicted depth is 0.33 times the true depth plus 2.36 metres, all 222 people too far, and the bodies are drawn at about two thirds of their true size in the image, a size ratio of 0.63. Their 3D height is right, 1.405 against 1.409 metres; they are only placed too far away. Our standard error is pelvis-centred, so it never saw this. That is why the thesis numbers looked normal. The real-photo demos did not show it either, because they place each body from its detection box. The synthetic demo and the trace panels use the model's own depth, and there you can see it, as on the next slide. The bug is in the training code, so v9 and v10 have it too: the same kind of depth fit and size ratio, and v10 is slightly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bug on a synthetic holdout image, using the model's own depth, not the box placement of the real-photo demos. Left is the truth. In the middle, the old model: the bodies are drawn too small, the real man's head sticks out above the mesh, and the mesh floats. On the right, the fix with the depth loss five times stronger, trained for 10 epochs. The blue mesh is now 95 percent of the true height; the woman's mesh is closer to her size but still narrower. I chose this image because no person with a ground-truth mesh is missed, so it is a good case, not a typical one; the arm at the bottom left has no ground-truth mesh, so it is not counted as a miss. On the whole holdout the median drawn size is 84 percent of the truth, so bodies are still about 16 percent too small, and near and far people still get similar depths: in the slope, 1 means perfect and 0 means the same depth for everyone. All 12 holdout images we rendered, in all three prediction settings, show the same change. In 4 of them both models miss people very close to the camera; since both miss them, the fix did not cause it. It is likely a detection problem, but not yet counted. Mesh colours follow detection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one switch, gt_center_joint person_center: build the training targets at the head, the joint the model anchors. Each fix run has a control with the same schedule and the switch off; the stronger-loss runs have no control at the same weight. I report the 3D root error: the distance between the predicted and the true root joint, at the pelvis. Drawn size is the predicted over the true head-to-pelvis distance in pixels. The mean signed depth offset fell from 1.08 to 0.39 metres, but after the fix near people are too far and far people too near, and these cancel in that mean, so it flatters the fix. The head now lands within about 7 to 10 pixels, as expected, because the target moved to the head. With the depth loss five times stronger for 10 epochs, the root error falls from 1.21 to 0.54 metres and bodies are drawn at 84 percent of their true size; twenty times for 2 epochs ties with it, and the controls stay at 1.11 to 1.44. But the slope is 0.30 with the switch alone and 0.38 to 0.44 with the stronger depth loss. Predictions are pulled toward about 2.5 to 2.9 metres, close to the estimated training average; holdout people are nearer, 1.9 metres on average, so this pull becomes a large error here. Why the model cannot separate near from far, I do not know. Longer training is not clearly better: with five times, going from 2 to 10 epochs lowered the root error from 0.66 to 0.54 metres but did not improve the slope; with the switch alone neither improved, the root error went from 0.69 to 0.73 metres, and the control also got worse, from 1.11 to 1.44 metres. Root error has no measured noise floor, so I do not read a trend into this. Every fix run is worse than its control in PVE and recall. The PVE gaps, 2.6 to 4.9 millimetres, are inside pilot noise; the recall drops, 1.6 to 2.4 points, are at the edge of what one pilot can detect; and the five fix runs share only two controls, so they are not five independent tests. I count it as a likely cost. The pelvis 2D error clearly got worse, from about 23 pixels to between 31 and 39 pixels; probably because the body is still drawn too small while the head is now pinned, but I have not checked that. The twenty-times 10-epoch run has no result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experiments are done. Each ran next to a control with the main switch off, on the same 100-image holdout and manifest, with helper bones masked. The stronger age loss and the stronger depth loss were not separately controlled: both children arms used the same age and height weights, and the depth runs at five and twenty times have no control at the same weight. Depth: by its own success rule the experiment failed. The slope did not move toward 1: it is 0.30 with the switch alone and 0.38 with the five-times depth loss. PVE is 74.8, against 72.2 for the control and 70.5 for v5. What clearly improved is outside the rule: the root error went from 1.21 to 0.54 metres and the drawn size from 0.63 to 0.84. I say that openly instead of changing the rule afterwards. Children, neck and fingers: no measurable effect. The neck loss gave 11.3 degrees of head error, which passes the rule of below 12, but the two controls gave 11.7 and 13.6, so that is inside the noise. The experiments also have a safety limit: PVE at most 71.5 millimetres and recall at least 89.2 percent. The neck run just missed it, with 71.8 millimetres and 89.0 percent, but all five control runs miss it too, mostly because of the restart cost; its PVE is even 4.5 millimetres better than its own control, which is also inside the noise. Its neck bones stayed at 62.5 degrees. For the fingers, the rest-pose floor is 15.2 degrees in this evaluation and 15.1 on slide 6; the difference is only which people are matched. There is no fixed random seed: two identical runs differed by 7.6 millimetres PVE and 1.9 degrees of head error, so one pilot only detects about 10 millimetres, 3 degrees or 2 recall points. Restarting the fine-tune alone costs about 2.4 millimetres. A 2-epoch pilot trains in about 12 minutes, a 10-epoch run in about one hour. No new architecture, because the diagnostics do not justify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corrections are already in. The headline AnnyOne number is 70.5 millimetres, measured with the helper bones masked, as in the demos. That is the evaluation setting V1, not the demo's own number: the demo setting gives 68.5 at a lower recall. The 74 millimetres in the thesis draft came from the unmasked evaluation; on the same people that adds 3.8 millimetres. The README already uses 70.5; the thesis draft I still have to change. The demos now say that the fingers are the rest pose. The text no longer blames the rig. The Known-defects section in the README documents the depth bug. But the README, the findings and the handover documents still carry last week's neck story, that the long neck comes from weak supervision and from the depth bug, and some old depth wording, for example that the overlays look wrong and that no improvement is claimed yet. I will correct them next week. The repository is reorganised with everything scripted, so any of these numbers can be produced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things are still open. First, the neck: the error of each neck bone, split into twist and swing, an error on the neck skin only, and traces of checkpoint 299 and of v3, to see when the offset appeared. Second, the depth slope, stuck at 0.3 to 0.4: why near and far are not separated is unknown. The training depths so far come from small samples, batch means of about 2.5 to 3.2 metres, so I will measure them properly, and measure the fix run's slope on training images; for v5 it was just as low there. Third, the cost of the fix: paired PVE on the same people, recall over people whose head is visible, the fix on 3DPW, and the root error next to PVE in the thesis. The twenty-times 10-epoch run has no result yet. Fourth, pilot noise: fix the seed or repeat the key run. Fifth, people very close to the camera: both models miss them in 4 of the 12 rendered images; likely a detection problem, not yet counted. Sixth, children and fingers: one 2-epoch test is not enough to close them. Next is a 10-epoch balanced-sampler run, and for the fingers training on larger hand crops. If those show nothing too, both go into the thesis as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measured: the failures are not rig or decoding problems. A training-target bug puts people too far away in v5, v9 and v10; in v5 it is all 222 holdout people. The fix draws the bodies much closer to their true size, but near and far are still not separated well, and it likely has a cost: every fix run is worse than its control, by 2.6 to 4.9 millimetres PVE and 1.6 to 2.4 recall points. The PVE gaps are inside pilot noise, the recall drops are at the edge of what one pilot can detect, and the five runs share two controls, but all point the same way. I do not claim any improvement in the neck, the fingers or the children. My question: should I fine-tune v9, our best model on 3DPW, with the corrected targets and the depth loss five times stronger, before the thesis numbers are final? That is about one hour of training. From v5 I expect a drawn size of about 0.84 and a root error of about half a metre; on v5 that run cost 2.6 millimetres PVE and 1.6 recall points against its control. Five, not twenty, because the twenty-times 10-epoch run has no result yet. A v9 fine-tune keeps the stuck neck; v10 learns the neck but has worse shoulders and arms. Either fine-tune should also mask the 3DPW finger labels, which are set to the rest pose, with mask_3dpw_hands. The ViT-S students use the same training code and are probably affected too; not measured. On the AnnyOne holdout v9 is not the best: 77.0 against 70.5.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holdout example, in case there is a question. Before the fix the boy's real head sticks out above a shrunken mesh that floats. After the fix the top of the head is level with the truth; the after mesh is cut off at the bottom of the image, so I cannot measure its full height. Here the fixed mesh is a little larger and wider than the ground truth, so I do not call it an exact fit. The two large people in front have no ground-truth mesh, so they are not counted as misses.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46304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CLOSE">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1371600"/>
            <a:ext cx="8046720" cy="1783080"/>
          </a:xfrm>
          <a:prstGeom prst="rect">
            <a:avLst/>
          </a:prstGeom>
          <a:noFill/>
          <a:ln/>
        </p:spPr>
        <p:txBody>
          <a:bodyPr wrap="square" rtlCol="0"/>
          <a:lstStyle>
            <a:lvl1pPr algn="l" indent="0" marL="0">
              <a:buNone/>
              <a:defRPr lang="en-US" sz="1700" dirty="0">
                <a:solidFill>
                  <a:schemeClr val="bg2"/>
                </a:solidFill>
              </a:defRPr>
            </a:lvl1pPr>
          </a:lstStyle>
          <a:p>
            <a:pPr algn="l" indent="0" marL="0">
              <a:buNone/>
            </a:pPr>
            <a:endParaRPr lang="en-US" sz="17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rtlCol="0"/>
          <a:lstStyle>
            <a:lvl1pPr algn="l" indent="0" marL="0">
              <a:buNone/>
              <a:defRPr lang="en-US" sz="2700" b="1" dirty="0">
                <a:solidFill>
                  <a:schemeClr val="tx1"/>
                </a:solidFill>
              </a:defRPr>
            </a:lvl1pPr>
          </a:lstStyle>
          <a:p>
            <a:pPr algn="l" indent="0" marL="0">
              <a:buNone/>
            </a:pPr>
            <a:endParaRPr lang="en-US" sz="27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5"/>
                </a:solidFill>
              </a:rPr>
              <a:t>Supervisor update, 16 Oct 2026</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lIns="0" tIns="0" rIns="0" bIns="0" rtlCol="0"/>
          <a:lstStyle/>
          <a:p>
            <a:pPr algn="l" indent="0" marL="0">
              <a:buNone/>
            </a:pPr>
            <a:r>
              <a:rPr lang="en-US" sz="4000" b="1" dirty="0">
                <a:solidFill>
                  <a:schemeClr val="bg1"/>
                </a:solidFill>
              </a:rPr>
              <a:t>Multi-HMR with Anny: what this week found</a:t>
            </a:r>
            <a:endParaRPr lang="en-US" sz="4000" dirty="0"/>
          </a:p>
        </p:txBody>
      </p:sp>
      <p:sp>
        <p:nvSpPr>
          <p:cNvPr id="3" name="Text 0"/>
          <p:cNvSpPr/>
          <p:nvPr>
            <p:ph idx="101" type="body" hasCustomPrompt="1"/>
          </p:nvPr>
        </p:nvSpPr>
        <p:spPr>
          <a:xfrm>
            <a:off x="548640" y="2834640"/>
            <a:ext cx="8046720" cy="1463040"/>
          </a:xfrm>
          <a:prstGeom prst="rect">
            <a:avLst/>
          </a:prstGeom>
          <a:noFill/>
          <a:ln/>
        </p:spPr>
        <p:txBody>
          <a:bodyPr wrap="square" lIns="0" tIns="0" rIns="0" bIns="0" rtlCol="0"/>
          <a:lstStyle/>
          <a:p>
            <a:pPr algn="l" indent="0" marL="0">
              <a:buNone/>
            </a:pPr>
            <a:r>
              <a:rPr lang="en-US" sz="1800" dirty="0">
                <a:solidFill>
                  <a:schemeClr val="bg2"/>
                </a:solidFill>
              </a:rPr>
              <a:t>One hidden depth bug found and partly fixed.</a:t>
            </a:r>
            <a:endParaRPr lang="en-US" sz="1800" dirty="0"/>
          </a:p>
          <a:p>
            <a:pPr algn="l" indent="0" marL="0">
              <a:buNone/>
            </a:pPr>
            <a:r>
              <a:rPr lang="en-US" sz="1800" dirty="0">
                <a:solidFill>
                  <a:schemeClr val="bg2"/>
                </a:solidFill>
              </a:rPr>
              <a:t>Neck, fingers and children: measured, still open.</a:t>
            </a:r>
            <a:endParaRPr lang="en-US" sz="1800" dirty="0"/>
          </a:p>
          <a:p>
            <a:pPr algn="l" indent="0" marL="0">
              <a:buNone/>
            </a:pPr>
            <a:r>
              <a:rPr lang="en-US" sz="1800" dirty="0">
                <a:solidFill>
                  <a:schemeClr val="bg2"/>
                </a:solidFill>
              </a:rPr>
              <a:t>Saad Najib, supervisor update, 16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Where we started: three visible failures</a:t>
            </a:r>
            <a:endParaRPr lang="en-US" sz="2700" dirty="0"/>
          </a:p>
        </p:txBody>
      </p:sp>
      <p:sp>
        <p:nvSpPr>
          <p:cNvPr id="3" name="Neck"/>
          <p:cNvSpPr/>
          <p:nvPr/>
        </p:nvSpPr>
        <p:spPr>
          <a:xfrm>
            <a:off x="457200" y="1280160"/>
            <a:ext cx="2651760" cy="3017520"/>
          </a:xfrm>
          <a:prstGeom prst="roundRect">
            <a:avLst>
              <a:gd name="adj" fmla="val 2759"/>
            </a:avLst>
          </a:prstGeom>
          <a:solidFill>
            <a:schemeClr val="bg2"/>
          </a:solidFill>
          <a:ln w="12700">
            <a:solidFill>
              <a:schemeClr val="bg2"/>
            </a:solidFill>
            <a:prstDash val="solid"/>
          </a:ln>
        </p:spPr>
      </p:sp>
      <p:sp>
        <p:nvSpPr>
          <p:cNvPr id="4" name="Neck dot"/>
          <p:cNvSpPr/>
          <p:nvPr/>
        </p:nvSpPr>
        <p:spPr>
          <a:xfrm>
            <a:off x="640080" y="1463040"/>
            <a:ext cx="384048" cy="384048"/>
          </a:xfrm>
          <a:prstGeom prst="ellipse">
            <a:avLst/>
          </a:prstGeom>
          <a:solidFill>
            <a:srgbClr val="0E7C86"/>
          </a:solidFill>
          <a:ln w="12700">
            <a:solidFill>
              <a:srgbClr val="0E7C86"/>
            </a:solidFill>
            <a:prstDash val="solid"/>
          </a:ln>
        </p:spPr>
      </p:sp>
      <p:sp>
        <p:nvSpPr>
          <p:cNvPr id="5" name="Neck head"/>
          <p:cNvSpPr txBox="1"/>
          <p:nvPr/>
        </p:nvSpPr>
        <p:spPr>
          <a:xfrm>
            <a:off x="114300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Neck</a:t>
            </a:r>
            <a:endParaRPr lang="en-US" sz="1600" dirty="0"/>
          </a:p>
        </p:txBody>
      </p:sp>
      <p:sp>
        <p:nvSpPr>
          <p:cNvPr id="6" name="Neck body"/>
          <p:cNvSpPr txBox="1"/>
          <p:nvPr/>
        </p:nvSpPr>
        <p:spPr>
          <a:xfrm>
            <a:off x="64008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Necks looked too long or bent wrong in the overlays.
Thesis assumption so far: a rig or body-model problem.
</a:t>
            </a:r>
            <a:r>
              <a:rPr lang="en-US" sz="1300" b="1" dirty="0">
                <a:solidFill>
                  <a:srgbClr val="1B2233"/>
                </a:solidFill>
              </a:rPr>
              <a:t>This week: </a:t>
            </a:r>
            <a:r>
              <a:rPr lang="en-US" sz="1300" dirty="0">
                <a:solidFill>
                  <a:schemeClr val="tx2"/>
                </a:solidFill>
              </a:rPr>
              <a:t>the rig is fine. The v5 models are stuck at a fixed neck-bone rotation error. Whether that causes the look is not yet shown.</a:t>
            </a:r>
            <a:endParaRPr lang="en-US" sz="1300" dirty="0"/>
          </a:p>
        </p:txBody>
      </p:sp>
      <p:sp>
        <p:nvSpPr>
          <p:cNvPr id="7" name="Fingers"/>
          <p:cNvSpPr/>
          <p:nvPr/>
        </p:nvSpPr>
        <p:spPr>
          <a:xfrm>
            <a:off x="3246120" y="1280160"/>
            <a:ext cx="2651760" cy="3017520"/>
          </a:xfrm>
          <a:prstGeom prst="roundRect">
            <a:avLst>
              <a:gd name="adj" fmla="val 2759"/>
            </a:avLst>
          </a:prstGeom>
          <a:solidFill>
            <a:schemeClr val="bg2"/>
          </a:solidFill>
          <a:ln w="12700">
            <a:solidFill>
              <a:schemeClr val="bg2"/>
            </a:solidFill>
            <a:prstDash val="solid"/>
          </a:ln>
        </p:spPr>
      </p:sp>
      <p:sp>
        <p:nvSpPr>
          <p:cNvPr id="8" name="Fingers dot"/>
          <p:cNvSpPr/>
          <p:nvPr/>
        </p:nvSpPr>
        <p:spPr>
          <a:xfrm>
            <a:off x="3429000" y="1463040"/>
            <a:ext cx="384048" cy="384048"/>
          </a:xfrm>
          <a:prstGeom prst="ellipse">
            <a:avLst/>
          </a:prstGeom>
          <a:solidFill>
            <a:srgbClr val="E8792B"/>
          </a:solidFill>
          <a:ln w="12700">
            <a:solidFill>
              <a:srgbClr val="E8792B"/>
            </a:solidFill>
            <a:prstDash val="solid"/>
          </a:ln>
        </p:spPr>
      </p:sp>
      <p:sp>
        <p:nvSpPr>
          <p:cNvPr id="9" name="Fingers head"/>
          <p:cNvSpPr txBox="1"/>
          <p:nvPr/>
        </p:nvSpPr>
        <p:spPr>
          <a:xfrm>
            <a:off x="393192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Fingers</a:t>
            </a:r>
            <a:endParaRPr lang="en-US" sz="1600" dirty="0"/>
          </a:p>
        </p:txBody>
      </p:sp>
      <p:sp>
        <p:nvSpPr>
          <p:cNvPr id="10" name="Fingers body"/>
          <p:cNvSpPr txBox="1"/>
          <p:nvPr/>
        </p:nvSpPr>
        <p:spPr>
          <a:xfrm>
            <a:off x="342900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Fingers came out claw-like; demos already zero them.
Assumption so far: a hand-resolution or hand-branch problem.
</a:t>
            </a:r>
            <a:r>
              <a:rPr lang="en-US" sz="1300" b="1" dirty="0">
                <a:solidFill>
                  <a:srgbClr val="1B2233"/>
                </a:solidFill>
              </a:rPr>
              <a:t>This week: </a:t>
            </a:r>
            <a:r>
              <a:rPr lang="en-US" sz="1300" dirty="0">
                <a:solidFill>
                  <a:schemeClr val="tx2"/>
                </a:solidFill>
              </a:rPr>
              <a:t>test-time zoom and a loss rebalance did not help.</a:t>
            </a:r>
            <a:endParaRPr lang="en-US" sz="1300" dirty="0"/>
          </a:p>
        </p:txBody>
      </p:sp>
      <p:sp>
        <p:nvSpPr>
          <p:cNvPr id="11" name="Children"/>
          <p:cNvSpPr/>
          <p:nvPr/>
        </p:nvSpPr>
        <p:spPr>
          <a:xfrm>
            <a:off x="6035040" y="1280160"/>
            <a:ext cx="2651760" cy="3017520"/>
          </a:xfrm>
          <a:prstGeom prst="roundRect">
            <a:avLst>
              <a:gd name="adj" fmla="val 2759"/>
            </a:avLst>
          </a:prstGeom>
          <a:solidFill>
            <a:schemeClr val="bg2"/>
          </a:solidFill>
          <a:ln w="12700">
            <a:solidFill>
              <a:schemeClr val="bg2"/>
            </a:solidFill>
            <a:prstDash val="solid"/>
          </a:ln>
        </p:spPr>
      </p:sp>
      <p:sp>
        <p:nvSpPr>
          <p:cNvPr id="12" name="Children dot"/>
          <p:cNvSpPr/>
          <p:nvPr/>
        </p:nvSpPr>
        <p:spPr>
          <a:xfrm>
            <a:off x="6217920" y="1463040"/>
            <a:ext cx="384048" cy="384048"/>
          </a:xfrm>
          <a:prstGeom prst="ellipse">
            <a:avLst/>
          </a:prstGeom>
          <a:solidFill>
            <a:srgbClr val="F4C95D"/>
          </a:solidFill>
          <a:ln w="12700">
            <a:solidFill>
              <a:srgbClr val="F4C95D"/>
            </a:solidFill>
            <a:prstDash val="solid"/>
          </a:ln>
        </p:spPr>
      </p:sp>
      <p:sp>
        <p:nvSpPr>
          <p:cNvPr id="13" name="Children head"/>
          <p:cNvSpPr txBox="1"/>
          <p:nvPr/>
        </p:nvSpPr>
        <p:spPr>
          <a:xfrm>
            <a:off x="672084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Children</a:t>
            </a:r>
            <a:endParaRPr lang="en-US" sz="1600" dirty="0"/>
          </a:p>
        </p:txBody>
      </p:sp>
      <p:sp>
        <p:nvSpPr>
          <p:cNvPr id="14" name="Children body"/>
          <p:cNvSpPr txBox="1"/>
          <p:nvPr/>
        </p:nvSpPr>
        <p:spPr>
          <a:xfrm>
            <a:off x="621792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Children reconstructed with adult proportions.
Assumption so far: age is not learned.
</a:t>
            </a:r>
            <a:r>
              <a:rPr lang="en-US" sz="1300" b="1" dirty="0">
                <a:solidFill>
                  <a:srgbClr val="1B2233"/>
                </a:solidFill>
              </a:rPr>
              <a:t>This week: </a:t>
            </a:r>
            <a:r>
              <a:rPr lang="en-US" sz="1300" dirty="0">
                <a:solidFill>
                  <a:schemeClr val="tx2"/>
                </a:solidFill>
              </a:rPr>
              <a:t>child-like on training images, adult on real photos.</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 did: test each stage on its own</a:t>
            </a:r>
            <a:endParaRPr lang="en-US" sz="2700" dirty="0"/>
          </a:p>
        </p:txBody>
      </p:sp>
      <p:sp>
        <p:nvSpPr>
          <p:cNvPr id="3" name="step 1"/>
          <p:cNvSpPr/>
          <p:nvPr/>
        </p:nvSpPr>
        <p:spPr>
          <a:xfrm>
            <a:off x="457200" y="1344168"/>
            <a:ext cx="502920" cy="502920"/>
          </a:xfrm>
          <a:prstGeom prst="ellipse">
            <a:avLst/>
          </a:prstGeom>
          <a:solidFill>
            <a:schemeClr val="accent1"/>
          </a:solidFill>
          <a:ln w="12700">
            <a:solidFill>
              <a:schemeClr val="accent1"/>
            </a:solidFill>
            <a:prstDash val="solid"/>
          </a:ln>
        </p:spPr>
      </p:sp>
      <p:sp>
        <p:nvSpPr>
          <p:cNvPr id="4" name="num 1"/>
          <p:cNvSpPr txBox="1"/>
          <p:nvPr/>
        </p:nvSpPr>
        <p:spPr>
          <a:xfrm>
            <a:off x="45720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head 1"/>
          <p:cNvSpPr txBox="1"/>
          <p:nvPr/>
        </p:nvSpPr>
        <p:spPr>
          <a:xfrm>
            <a:off x="109728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Ground truth</a:t>
            </a:r>
            <a:endParaRPr lang="en-US" sz="1500" dirty="0"/>
          </a:p>
        </p:txBody>
      </p:sp>
      <p:sp>
        <p:nvSpPr>
          <p:cNvPr id="6" name="body 1"/>
          <p:cNvSpPr txBox="1"/>
          <p:nvPr/>
        </p:nvSpPr>
        <p:spPr>
          <a:xfrm>
            <a:off x="109728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Render the dataset's own parameters, no network. Does the label sit on the person?</a:t>
            </a:r>
            <a:endParaRPr lang="en-US" sz="1200" dirty="0"/>
          </a:p>
        </p:txBody>
      </p:sp>
      <p:sp>
        <p:nvSpPr>
          <p:cNvPr id="7" name="step 2"/>
          <p:cNvSpPr/>
          <p:nvPr/>
        </p:nvSpPr>
        <p:spPr>
          <a:xfrm>
            <a:off x="4709160" y="1344168"/>
            <a:ext cx="502920" cy="502920"/>
          </a:xfrm>
          <a:prstGeom prst="ellipse">
            <a:avLst/>
          </a:prstGeom>
          <a:solidFill>
            <a:schemeClr val="accent1"/>
          </a:solidFill>
          <a:ln w="12700">
            <a:solidFill>
              <a:schemeClr val="accent1"/>
            </a:solidFill>
            <a:prstDash val="solid"/>
          </a:ln>
        </p:spPr>
      </p:sp>
      <p:sp>
        <p:nvSpPr>
          <p:cNvPr id="8" name="num 2"/>
          <p:cNvSpPr txBox="1"/>
          <p:nvPr/>
        </p:nvSpPr>
        <p:spPr>
          <a:xfrm>
            <a:off x="470916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head 2"/>
          <p:cNvSpPr txBox="1"/>
          <p:nvPr/>
        </p:nvSpPr>
        <p:spPr>
          <a:xfrm>
            <a:off x="534924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Body model</a:t>
            </a:r>
            <a:endParaRPr lang="en-US" sz="1500" dirty="0"/>
          </a:p>
        </p:txBody>
      </p:sp>
      <p:sp>
        <p:nvSpPr>
          <p:cNvPr id="10" name="body 2"/>
          <p:cNvSpPr txBox="1"/>
          <p:nvPr/>
        </p:nvSpPr>
        <p:spPr>
          <a:xfrm>
            <a:off x="534924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Sweep age; move one neck or finger joint at a time. Does the mesh react correctly?</a:t>
            </a:r>
            <a:endParaRPr lang="en-US" sz="1200" dirty="0"/>
          </a:p>
        </p:txBody>
      </p:sp>
      <p:sp>
        <p:nvSpPr>
          <p:cNvPr id="11" name="step 3"/>
          <p:cNvSpPr/>
          <p:nvPr/>
        </p:nvSpPr>
        <p:spPr>
          <a:xfrm>
            <a:off x="457200" y="2487168"/>
            <a:ext cx="502920" cy="502920"/>
          </a:xfrm>
          <a:prstGeom prst="ellipse">
            <a:avLst/>
          </a:prstGeom>
          <a:solidFill>
            <a:schemeClr val="accent1"/>
          </a:solidFill>
          <a:ln w="12700">
            <a:solidFill>
              <a:schemeClr val="accent1"/>
            </a:solidFill>
            <a:prstDash val="solid"/>
          </a:ln>
        </p:spPr>
      </p:sp>
      <p:sp>
        <p:nvSpPr>
          <p:cNvPr id="12" name="num 3"/>
          <p:cNvSpPr txBox="1"/>
          <p:nvPr/>
        </p:nvSpPr>
        <p:spPr>
          <a:xfrm>
            <a:off x="45720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head 3"/>
          <p:cNvSpPr txBox="1"/>
          <p:nvPr/>
        </p:nvSpPr>
        <p:spPr>
          <a:xfrm>
            <a:off x="109728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Training signal</a:t>
            </a:r>
            <a:endParaRPr lang="en-US" sz="1500" dirty="0"/>
          </a:p>
        </p:txBody>
      </p:sp>
      <p:sp>
        <p:nvSpPr>
          <p:cNvPr id="14" name="body 3"/>
          <p:cNvSpPr txBox="1"/>
          <p:nvPr/>
        </p:nvSpPr>
        <p:spPr>
          <a:xfrm>
            <a:off x="109728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Do all prediction heads receive gradients? Does the mesh respond to them?</a:t>
            </a:r>
            <a:endParaRPr lang="en-US" sz="1200" dirty="0"/>
          </a:p>
        </p:txBody>
      </p:sp>
      <p:sp>
        <p:nvSpPr>
          <p:cNvPr id="15" name="step 4"/>
          <p:cNvSpPr/>
          <p:nvPr/>
        </p:nvSpPr>
        <p:spPr>
          <a:xfrm>
            <a:off x="4709160" y="2487168"/>
            <a:ext cx="502920" cy="502920"/>
          </a:xfrm>
          <a:prstGeom prst="ellipse">
            <a:avLst/>
          </a:prstGeom>
          <a:solidFill>
            <a:schemeClr val="accent1"/>
          </a:solidFill>
          <a:ln w="12700">
            <a:solidFill>
              <a:schemeClr val="accent1"/>
            </a:solidFill>
            <a:prstDash val="solid"/>
          </a:ln>
        </p:spPr>
      </p:sp>
      <p:sp>
        <p:nvSpPr>
          <p:cNvPr id="16" name="num 4"/>
          <p:cNvSpPr txBox="1"/>
          <p:nvPr/>
        </p:nvSpPr>
        <p:spPr>
          <a:xfrm>
            <a:off x="470916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head 4"/>
          <p:cNvSpPr txBox="1"/>
          <p:nvPr/>
        </p:nvSpPr>
        <p:spPr>
          <a:xfrm>
            <a:off x="534924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Predictions vs truth</a:t>
            </a:r>
            <a:endParaRPr lang="en-US" sz="1500" dirty="0"/>
          </a:p>
        </p:txBody>
      </p:sp>
      <p:sp>
        <p:nvSpPr>
          <p:cNvPr id="18" name="body 4"/>
          <p:cNvSpPr txBox="1"/>
          <p:nvPr/>
        </p:nvSpPr>
        <p:spPr>
          <a:xfrm>
            <a:off x="534924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Fixed 100-image holdout plus a fixed set of adults, children, hands, hard necks.</a:t>
            </a:r>
            <a:endParaRPr lang="en-US" sz="1200" dirty="0"/>
          </a:p>
        </p:txBody>
      </p:sp>
      <p:sp>
        <p:nvSpPr>
          <p:cNvPr id="19" name="step 5"/>
          <p:cNvSpPr/>
          <p:nvPr/>
        </p:nvSpPr>
        <p:spPr>
          <a:xfrm>
            <a:off x="457200" y="3630168"/>
            <a:ext cx="502920" cy="502920"/>
          </a:xfrm>
          <a:prstGeom prst="ellipse">
            <a:avLst/>
          </a:prstGeom>
          <a:solidFill>
            <a:schemeClr val="accent1"/>
          </a:solidFill>
          <a:ln w="12700">
            <a:solidFill>
              <a:schemeClr val="accent1"/>
            </a:solidFill>
            <a:prstDash val="solid"/>
          </a:ln>
        </p:spPr>
      </p:sp>
      <p:sp>
        <p:nvSpPr>
          <p:cNvPr id="20" name="num 5"/>
          <p:cNvSpPr txBox="1"/>
          <p:nvPr/>
        </p:nvSpPr>
        <p:spPr>
          <a:xfrm>
            <a:off x="45720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head 5"/>
          <p:cNvSpPr txBox="1"/>
          <p:nvPr/>
        </p:nvSpPr>
        <p:spPr>
          <a:xfrm>
            <a:off x="109728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Shape swap</a:t>
            </a:r>
            <a:endParaRPr lang="en-US" sz="1500" dirty="0"/>
          </a:p>
        </p:txBody>
      </p:sp>
      <p:sp>
        <p:nvSpPr>
          <p:cNvPr id="22" name="body 5"/>
          <p:cNvSpPr txBox="1"/>
          <p:nvPr/>
        </p:nvSpPr>
        <p:spPr>
          <a:xfrm>
            <a:off x="109728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Keep the predicted pose, put in the true shape. How much error is shape?</a:t>
            </a:r>
            <a:endParaRPr lang="en-US" sz="1200" dirty="0"/>
          </a:p>
        </p:txBody>
      </p:sp>
      <p:sp>
        <p:nvSpPr>
          <p:cNvPr id="23" name="step 6"/>
          <p:cNvSpPr/>
          <p:nvPr/>
        </p:nvSpPr>
        <p:spPr>
          <a:xfrm>
            <a:off x="4709160" y="3630168"/>
            <a:ext cx="502920" cy="502920"/>
          </a:xfrm>
          <a:prstGeom prst="ellipse">
            <a:avLst/>
          </a:prstGeom>
          <a:solidFill>
            <a:schemeClr val="accent1"/>
          </a:solidFill>
          <a:ln w="12700">
            <a:solidFill>
              <a:schemeClr val="accent1"/>
            </a:solidFill>
            <a:prstDash val="solid"/>
          </a:ln>
        </p:spPr>
      </p:sp>
      <p:sp>
        <p:nvSpPr>
          <p:cNvPr id="24" name="num 6"/>
          <p:cNvSpPr txBox="1"/>
          <p:nvPr/>
        </p:nvSpPr>
        <p:spPr>
          <a:xfrm>
            <a:off x="470916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head 6"/>
          <p:cNvSpPr txBox="1"/>
          <p:nvPr/>
        </p:nvSpPr>
        <p:spPr>
          <a:xfrm>
            <a:off x="534924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Overfit test</a:t>
            </a:r>
            <a:endParaRPr lang="en-US" sz="1500" dirty="0"/>
          </a:p>
        </p:txBody>
      </p:sp>
      <p:sp>
        <p:nvSpPr>
          <p:cNvPr id="26" name="body 6"/>
          <p:cNvSpPr txBox="1"/>
          <p:nvPr/>
        </p:nvSpPr>
        <p:spPr>
          <a:xfrm>
            <a:off x="534924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Can 40 images be memorised? Checks the optimiser only; not a test result.</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is not the cause: the structural checks pass</a:t>
            </a:r>
            <a:endParaRPr lang="en-US" sz="2700" dirty="0"/>
          </a:p>
        </p:txBody>
      </p:sp>
      <p:sp>
        <p:nvSpPr>
          <p:cNvPr id="3" name="ok 0"/>
          <p:cNvSpPr/>
          <p:nvPr/>
        </p:nvSpPr>
        <p:spPr>
          <a:xfrm>
            <a:off x="457200" y="1280160"/>
            <a:ext cx="457200" cy="457200"/>
          </a:xfrm>
          <a:prstGeom prst="ellipse">
            <a:avLst/>
          </a:prstGeom>
          <a:solidFill>
            <a:schemeClr val="accent3"/>
          </a:solidFill>
          <a:ln w="12700">
            <a:solidFill>
              <a:schemeClr val="accent3"/>
            </a:solidFill>
            <a:prstDash val="solid"/>
          </a:ln>
        </p:spPr>
      </p:sp>
      <p:sp>
        <p:nvSpPr>
          <p:cNvPr id="4" name="tick 0"/>
          <p:cNvSpPr txBox="1"/>
          <p:nvPr/>
        </p:nvSpPr>
        <p:spPr>
          <a:xfrm>
            <a:off x="457200" y="12801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5" name="okh 0"/>
          <p:cNvSpPr txBox="1"/>
          <p:nvPr/>
        </p:nvSpPr>
        <p:spPr>
          <a:xfrm>
            <a:off x="1097280" y="118872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Ground truth decodes correctly</a:t>
            </a:r>
            <a:endParaRPr lang="en-US" sz="1600" dirty="0"/>
          </a:p>
        </p:txBody>
      </p:sp>
      <p:sp>
        <p:nvSpPr>
          <p:cNvPr id="6" name="okb 0"/>
          <p:cNvSpPr txBox="1"/>
          <p:nvPr/>
        </p:nvSpPr>
        <p:spPr>
          <a:xfrm>
            <a:off x="1097280" y="1536192"/>
            <a:ext cx="7589520" cy="411480"/>
          </a:xfrm>
          <a:prstGeom prst="rect">
            <a:avLst/>
          </a:prstGeom>
          <a:noFill/>
          <a:ln/>
        </p:spPr>
        <p:txBody>
          <a:bodyPr wrap="square" lIns="0" tIns="0" rIns="0" bIns="0" rtlCol="0" anchor="t"/>
          <a:lstStyle/>
          <a:p>
            <a:pPr indent="0" marL="0">
              <a:buNone/>
            </a:pPr>
            <a:r>
              <a:rPr lang="en-US" sz="1300" dirty="0">
                <a:solidFill>
                  <a:schemeClr val="tx2"/>
                </a:solidFill>
              </a:rPr>
              <a:t>Labels render onto the people; camera matches on 100% of images.</a:t>
            </a:r>
            <a:endParaRPr lang="en-US" sz="1300" dirty="0"/>
          </a:p>
        </p:txBody>
      </p:sp>
      <p:sp>
        <p:nvSpPr>
          <p:cNvPr id="7" name="ok 1"/>
          <p:cNvSpPr/>
          <p:nvPr/>
        </p:nvSpPr>
        <p:spPr>
          <a:xfrm>
            <a:off x="457200" y="2103120"/>
            <a:ext cx="457200" cy="457200"/>
          </a:xfrm>
          <a:prstGeom prst="ellipse">
            <a:avLst/>
          </a:prstGeom>
          <a:solidFill>
            <a:schemeClr val="accent3"/>
          </a:solidFill>
          <a:ln w="12700">
            <a:solidFill>
              <a:schemeClr val="accent3"/>
            </a:solidFill>
            <a:prstDash val="solid"/>
          </a:ln>
        </p:spPr>
      </p:sp>
      <p:sp>
        <p:nvSpPr>
          <p:cNvPr id="8" name="tick 1"/>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9" name="okh 1"/>
          <p:cNvSpPr txBox="1"/>
          <p:nvPr/>
        </p:nvSpPr>
        <p:spPr>
          <a:xfrm>
            <a:off x="1097280" y="201168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Body model is fine</a:t>
            </a:r>
            <a:endParaRPr lang="en-US" sz="1600" dirty="0"/>
          </a:p>
        </p:txBody>
      </p:sp>
      <p:sp>
        <p:nvSpPr>
          <p:cNvPr id="10" name="okb 1"/>
          <p:cNvSpPr txBox="1"/>
          <p:nvPr/>
        </p:nvSpPr>
        <p:spPr>
          <a:xfrm>
            <a:off x="1097280" y="235915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16 single-joint moves hit the intended part. Age 0 to 1: skeletal height 0.53 m to 1.54 m.</a:t>
            </a:r>
            <a:endParaRPr lang="en-US" sz="1300" dirty="0"/>
          </a:p>
        </p:txBody>
      </p:sp>
      <p:sp>
        <p:nvSpPr>
          <p:cNvPr id="11" name="ok 2"/>
          <p:cNvSpPr/>
          <p:nvPr/>
        </p:nvSpPr>
        <p:spPr>
          <a:xfrm>
            <a:off x="457200" y="2926080"/>
            <a:ext cx="457200" cy="457200"/>
          </a:xfrm>
          <a:prstGeom prst="ellipse">
            <a:avLst/>
          </a:prstGeom>
          <a:solidFill>
            <a:schemeClr val="accent3"/>
          </a:solidFill>
          <a:ln w="12700">
            <a:solidFill>
              <a:schemeClr val="accent3"/>
            </a:solidFill>
            <a:prstDash val="solid"/>
          </a:ln>
        </p:spPr>
      </p:sp>
      <p:sp>
        <p:nvSpPr>
          <p:cNvPr id="12" name="tick 2"/>
          <p:cNvSpPr txBox="1"/>
          <p:nvPr/>
        </p:nvSpPr>
        <p:spPr>
          <a:xfrm>
            <a:off x="457200" y="29260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3" name="okh 2"/>
          <p:cNvSpPr txBox="1"/>
          <p:nvPr/>
        </p:nvSpPr>
        <p:spPr>
          <a:xfrm>
            <a:off x="1097280" y="283464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Gradients reach every bone and shape output</a:t>
            </a:r>
            <a:endParaRPr lang="en-US" sz="1600" dirty="0"/>
          </a:p>
        </p:txBody>
      </p:sp>
      <p:sp>
        <p:nvSpPr>
          <p:cNvPr id="14" name="okb 2"/>
          <p:cNvSpPr txBox="1"/>
          <p:nvPr/>
        </p:nvSpPr>
        <p:spPr>
          <a:xfrm>
            <a:off x="1097280" y="318211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75 active bones and all 11 shape outputs get gradient; the mesh responds.</a:t>
            </a:r>
            <a:endParaRPr lang="en-US" sz="1300" dirty="0"/>
          </a:p>
        </p:txBody>
      </p:sp>
      <p:sp>
        <p:nvSpPr>
          <p:cNvPr id="15" name="ok 3"/>
          <p:cNvSpPr/>
          <p:nvPr/>
        </p:nvSpPr>
        <p:spPr>
          <a:xfrm>
            <a:off x="457200" y="3749040"/>
            <a:ext cx="457200" cy="457200"/>
          </a:xfrm>
          <a:prstGeom prst="ellipse">
            <a:avLst/>
          </a:prstGeom>
          <a:solidFill>
            <a:schemeClr val="accent2"/>
          </a:solidFill>
          <a:ln w="12700">
            <a:solidFill>
              <a:schemeClr val="accent2"/>
            </a:solidFill>
            <a:prstDash val="solid"/>
          </a:ln>
        </p:spPr>
      </p:sp>
      <p:sp>
        <p:nvSpPr>
          <p:cNvPr id="16" name="tick 3"/>
          <p:cNvSpPr txBox="1"/>
          <p:nvPr/>
        </p:nvSpPr>
        <p:spPr>
          <a:xfrm>
            <a:off x="457200" y="3749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7" name="okh 3"/>
          <p:cNvSpPr txBox="1"/>
          <p:nvPr/>
        </p:nvSpPr>
        <p:spPr>
          <a:xfrm>
            <a:off x="1097280" y="365760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Optimiser works for shape and 3D joints, with two warnings</a:t>
            </a:r>
            <a:endParaRPr lang="en-US" sz="1600" dirty="0"/>
          </a:p>
        </p:txBody>
      </p:sp>
      <p:sp>
        <p:nvSpPr>
          <p:cNvPr id="18" name="okb 3"/>
          <p:cNvSpPr txBox="1"/>
          <p:nvPr/>
        </p:nvSpPr>
        <p:spPr>
          <a:xfrm>
            <a:off x="1097280" y="4005072"/>
            <a:ext cx="7589520" cy="603504"/>
          </a:xfrm>
          <a:prstGeom prst="rect">
            <a:avLst/>
          </a:prstGeom>
          <a:noFill/>
          <a:ln/>
        </p:spPr>
        <p:txBody>
          <a:bodyPr wrap="square" lIns="0" tIns="0" rIns="0" bIns="0" rtlCol="0" anchor="t"/>
          <a:lstStyle/>
          <a:p>
            <a:pPr indent="0" marL="0">
              <a:buNone/>
            </a:pPr>
            <a:r>
              <a:rPr lang="en-US" sz="1300" dirty="0">
                <a:solidFill>
                  <a:schemeClr val="tx2"/>
                </a:solidFill>
              </a:rPr>
              <a:t>40 training images: error falls 36%; holdout error rises, as expected when memorising. But the translation and 2D losses rose while memorising (1.67 → 1.89; 58 → 75), probably the first sign of the depth bug (slide 8). The summed rotation loss over all bones barely moved (44.6 → 40.8).</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right length, but the v5 models are stuck</a:t>
            </a:r>
            <a:endParaRPr lang="en-US" sz="2700" dirty="0"/>
          </a:p>
        </p:txBody>
      </p:sp>
      <p:sp>
        <p:nvSpPr>
          <p:cNvPr id="3" name="stat predicted neck length vs truth (holdout); with the true shape it is exact"/>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1"/>
                </a:solidFill>
              </a:rPr>
              <a:t>99%</a:t>
            </a:r>
            <a:endParaRPr lang="en-US" sz="4000" dirty="0"/>
          </a:p>
        </p:txBody>
      </p:sp>
      <p:sp>
        <p:nvSpPr>
          <p:cNvPr id="4" name="label predicted neck length vs truth (holdout); with the true shape it is exact"/>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predicted neck length vs truth (holdout); with the true shape it is exact</a:t>
            </a:r>
            <a:endParaRPr lang="en-US" sz="1300" dirty="0"/>
          </a:p>
        </p:txBody>
      </p:sp>
      <p:sp>
        <p:nvSpPr>
          <p:cNvPr id="5" name="stat neck bones / head + jaw vs parent bone (v5, v9, all pilots); in v5 the same for every person (±1.5°)"/>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4"/>
                </a:solidFill>
              </a:rPr>
              <a:t>63° / 90°</a:t>
            </a:r>
            <a:endParaRPr lang="en-US" sz="4000" dirty="0"/>
          </a:p>
        </p:txBody>
      </p:sp>
      <p:sp>
        <p:nvSpPr>
          <p:cNvPr id="6" name="label neck bones / head + jaw vs parent bone (v5, v9, all pilots); in v5 the same for every person (±1.5°)"/>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neck bones / head + jaw vs parent bone (v5, v9, all pilots); in v5 the same for every person (±1.5°)</a:t>
            </a:r>
            <a:endParaRPr lang="en-US" sz="1300" dirty="0"/>
          </a:p>
        </p:txBody>
      </p:sp>
      <p:sp>
        <p:nvSpPr>
          <p:cNvPr id="7" name="stat v10 learns them, but is worse elsewhere (v10 vs v5): PVE 74.1 vs 70.5 mm, shoulders 50° vs 11°"/>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1"/>
                </a:solidFill>
              </a:rPr>
              <a:t>5° / 4°</a:t>
            </a:r>
            <a:endParaRPr lang="en-US" sz="4000" dirty="0"/>
          </a:p>
        </p:txBody>
      </p:sp>
      <p:sp>
        <p:nvSpPr>
          <p:cNvPr id="8" name="label v10 learns them, but is worse elsewhere (v10 vs v5): PVE 74.1 vs 70.5 mm, shoulders 50° vs 11°"/>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v10 learns them, but is worse elsewhere (v10 vs v5): PVE 74.1 vs 70.5 mm, shoulders 50° vs 11°</a:t>
            </a:r>
            <a:endParaRPr lang="en-US" sz="1300" dirty="0"/>
          </a:p>
        </p:txBody>
      </p:sp>
      <p:sp>
        <p:nvSpPr>
          <p:cNvPr id="9" name="neck box"/>
          <p:cNvSpPr/>
          <p:nvPr/>
        </p:nvSpPr>
        <p:spPr>
          <a:xfrm>
            <a:off x="457200" y="2880360"/>
            <a:ext cx="8229600" cy="1783080"/>
          </a:xfrm>
          <a:prstGeom prst="roundRect">
            <a:avLst>
              <a:gd name="adj" fmla="val 4103"/>
            </a:avLst>
          </a:prstGeom>
          <a:solidFill>
            <a:schemeClr val="bg2"/>
          </a:solidFill>
          <a:ln w="12700">
            <a:solidFill>
              <a:schemeClr val="bg2"/>
            </a:solidFill>
            <a:prstDash val="solid"/>
          </a:ln>
        </p:spPr>
      </p:sp>
      <p:sp>
        <p:nvSpPr>
          <p:cNvPr id="10" name="neck text"/>
          <p:cNvSpPr txBox="1"/>
          <p:nvPr/>
        </p:nvSpPr>
        <p:spPr>
          <a:xfrm>
            <a:off x="640080" y="2926080"/>
            <a:ext cx="7863840" cy="1691640"/>
          </a:xfrm>
          <a:prstGeom prst="rect">
            <a:avLst/>
          </a:prstGeom>
          <a:noFill/>
          <a:ln/>
        </p:spPr>
        <p:txBody>
          <a:bodyPr wrap="square" lIns="0" tIns="0" rIns="0" bIns="0" rtlCol="0" anchor="ctr"/>
          <a:lstStyle/>
          <a:p>
            <a:pPr marL="177800" indent="-177800">
              <a:spcAft>
                <a:spcPts val="300"/>
              </a:spcAft>
              <a:buSzPct val="100000"/>
              <a:buChar char="•"/>
            </a:pPr>
            <a:r>
              <a:rPr lang="en-US" sz="1200" b="1" dirty="0">
                <a:solidFill>
                  <a:schemeClr val="tx1"/>
                </a:solidFill>
              </a:rPr>
              <a:t>v10 learns these bones with the same loss function: </a:t>
            </a:r>
            <a:r>
              <a:rPr lang="en-US" sz="1200" dirty="0">
                <a:solidFill>
                  <a:schemeClr val="tx1"/>
                </a:solidFill>
              </a:rPr>
              <a:t>it was trained masked from the start, with no ×4 neck boost and with 3DPW. v5 started from a frozen backbone; masking and the ×4 boost were added later.</a:t>
            </a:r>
            <a:endParaRPr lang="en-US" sz="1200" dirty="0"/>
          </a:p>
          <a:p>
            <a:pPr marL="177800" indent="-177800">
              <a:spcAft>
                <a:spcPts val="300"/>
              </a:spcAft>
              <a:buSzPct val="100000"/>
              <a:buChar char="•"/>
            </a:pPr>
            <a:r>
              <a:rPr lang="en-US" sz="1200" b="1" dirty="0">
                <a:solidFill>
                  <a:schemeClr val="tx1"/>
                </a:solidFill>
              </a:rPr>
              <a:t>v5 and its fine-tunes are stuck: </a:t>
            </a:r>
            <a:r>
              <a:rPr lang="en-US" sz="1200" dirty="0">
                <a:solidFill>
                  <a:schemeClr val="tx1"/>
                </a:solidFill>
              </a:rPr>
              <a:t>150,000 more steps in v9 changed nothing, nor did a pilot that gave head and neck a third of the rotation loss. Yet the whole head still points only 12° off (holdout).</a:t>
            </a:r>
            <a:endParaRPr lang="en-US" sz="1200" dirty="0"/>
          </a:p>
          <a:p>
            <a:pPr marL="177800" indent="-177800">
              <a:spcAft>
                <a:spcPts val="300"/>
              </a:spcAft>
              <a:buSzPct val="100000"/>
              <a:buChar char="•"/>
            </a:pPr>
            <a:r>
              <a:rPr lang="en-US" sz="1200" b="1" dirty="0">
                <a:solidFill>
                  <a:schemeClr val="tx1"/>
                </a:solidFill>
              </a:rPr>
              <a:t>Cause unknown. Best guess, not tested: </a:t>
            </a:r>
            <a:r>
              <a:rPr lang="en-US" sz="1200" dirty="0">
                <a:solidFill>
                  <a:schemeClr val="tx1"/>
                </a:solidFill>
              </a:rPr>
              <a:t>the loss compares rotation matrices number by number and can stick near a 180° flip (one of 3 neck bones flipped: mean near 63°; head or jaw flipped: near 90°).</a:t>
            </a:r>
            <a:endParaRPr lang="en-US" sz="1200" dirty="0"/>
          </a:p>
          <a:p>
            <a:pPr marL="177800" indent="-177800">
              <a:spcAft>
                <a:spcPts val="300"/>
              </a:spcAft>
              <a:buSzPct val="100000"/>
              <a:buChar char="•"/>
            </a:pPr>
            <a:r>
              <a:rPr lang="en-US" sz="1200" b="1" dirty="0">
                <a:solidFill>
                  <a:schemeClr val="tx1"/>
                </a:solidFill>
              </a:rPr>
              <a:t>Not yet shown </a:t>
            </a:r>
            <a:r>
              <a:rPr lang="en-US" sz="1200" dirty="0">
                <a:solidFill>
                  <a:schemeClr val="tx1"/>
                </a:solidFill>
              </a:rPr>
              <a:t>that this offset makes necks look wrong. Not the depth bug: the neck montage and the real-photo demos place each body from its detection box.</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Fingers: test-time zoom and a loss rebalance do not help</a:t>
            </a:r>
            <a:endParaRPr lang="en-US" sz="2700" dirty="0"/>
          </a:p>
        </p:txBody>
      </p:sp>
      <p:sp>
        <p:nvSpPr>
          <p:cNvPr id="3" name="stat finger error with predicted fingers"/>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4"/>
                </a:solidFill>
              </a:rPr>
              <a:t>17.3°</a:t>
            </a:r>
            <a:endParaRPr lang="en-US" sz="4000" dirty="0"/>
          </a:p>
        </p:txBody>
      </p:sp>
      <p:sp>
        <p:nvSpPr>
          <p:cNvPr id="4" name="label finger error with predicted fingers"/>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finger error with predicted fingers</a:t>
            </a:r>
            <a:endParaRPr lang="en-US" sz="1300" dirty="0"/>
          </a:p>
        </p:txBody>
      </p:sp>
      <p:sp>
        <p:nvSpPr>
          <p:cNvPr id="5" name="stat finger error with fingers set to rest pose"/>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3"/>
                </a:solidFill>
              </a:rPr>
              <a:t>15.1°</a:t>
            </a:r>
            <a:endParaRPr lang="en-US" sz="4000" dirty="0"/>
          </a:p>
        </p:txBody>
      </p:sp>
      <p:sp>
        <p:nvSpPr>
          <p:cNvPr id="6" name="label finger error with fingers set to rest pose"/>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finger error with fingers set to rest pose</a:t>
            </a:r>
            <a:endParaRPr lang="en-US" sz="1300" dirty="0"/>
          </a:p>
        </p:txBody>
      </p:sp>
      <p:sp>
        <p:nvSpPr>
          <p:cNvPr id="7" name="stat change when the person is magnified at test time (no retraining)"/>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5"/>
                </a:solidFill>
              </a:rPr>
              <a:t>0.1°</a:t>
            </a:r>
            <a:endParaRPr lang="en-US" sz="4000" dirty="0"/>
          </a:p>
        </p:txBody>
      </p:sp>
      <p:sp>
        <p:nvSpPr>
          <p:cNvPr id="8" name="label change when the person is magnified at test time (no retraining)"/>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change when the person is magnified at test time (no retraining)</a:t>
            </a:r>
            <a:endParaRPr lang="en-US" sz="1300" dirty="0"/>
          </a:p>
        </p:txBody>
      </p:sp>
      <p:graphicFrame>
        <p:nvGraphicFramePr>
          <p:cNvPr id="7" name="hand table"/>
          <p:cNvGraphicFramePr>
            <a:graphicFrameLocks noGrp="1"/>
          </p:cNvGraphicFramePr>
          <p:nvPr>
            <p:extLst>
              <p:ext uri="{D42A27DB-BD31-4B8C-83A1-F6EECF244321}">
                <p14:modId xmlns:p14="http://schemas.microsoft.com/office/powerpoint/2010/main" val="1579011935"/>
              </p:ext>
            </p:extLst>
          </p:nvPr>
        </p:nvGraphicFramePr>
        <p:xfrm>
          <a:off x="457200" y="2971800"/>
          <a:ext cx="5120640" cy="914400"/>
        </p:xfrm>
        <a:graphic>
          <a:graphicData uri="http://schemas.openxmlformats.org/drawingml/2006/table">
            <a:tbl>
              <a:tblPr/>
              <a:tblGrid>
                <a:gridCol w="2560320"/>
                <a:gridCol w="1280160"/>
                <a:gridCol w="1280160"/>
              </a:tblGrid>
              <a:tr h="329184">
                <a:tc>
                  <a:txBody>
                    <a:bodyPr/>
                    <a:lstStyle/>
                    <a:p>
                      <a:pPr algn="l" indent="0" marL="0">
                        <a:buNone/>
                      </a:pPr>
                      <a:r>
                        <a:rPr lang="en-US" sz="1200" b="1" dirty="0">
                          <a:solidFill>
                            <a:srgbClr val="FFFFFF"/>
                          </a:solidFill>
                        </a:rPr>
                        <a:t>hand size at the network input</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median</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under 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29184">
                <a:tc>
                  <a:txBody>
                    <a:bodyPr/>
                    <a:lstStyle/>
                    <a:p>
                      <a:pPr algn="l" indent="0" marL="0">
                        <a:buNone/>
                      </a:pPr>
                      <a:r>
                        <a:rPr lang="en-US" sz="1200" b="1" dirty="0">
                          <a:solidFill>
                            <a:srgbClr val="1B2233"/>
                          </a:solidFill>
                        </a:rPr>
                        <a:t>full image, 672 px</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2.3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41%</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233"/>
                          </a:solidFill>
                        </a:rPr>
                        <a:t>person crop (box ×1.3), test time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4.2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29184">
                <a:tc>
                  <a:txBody>
                    <a:bodyPr/>
                    <a:lstStyle/>
                    <a:p>
                      <a:pPr algn="l" indent="0" marL="0">
                        <a:buNone/>
                      </a:pPr>
                      <a:r>
                        <a:rPr lang="en-US" sz="1200" b="1" dirty="0">
                          <a:solidFill>
                            <a:srgbClr val="1B2233"/>
                          </a:solidFill>
                        </a:rPr>
                        <a:t>children's hands, full image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0.7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10" name="hand table note"/>
          <p:cNvSpPr txBox="1"/>
          <p:nvPr/>
        </p:nvSpPr>
        <p:spPr>
          <a:xfrm>
            <a:off x="457200" y="4334256"/>
            <a:ext cx="5120640" cy="365760"/>
          </a:xfrm>
          <a:prstGeom prst="rect">
            <a:avLst/>
          </a:prstGeom>
          <a:noFill/>
          <a:ln/>
        </p:spPr>
        <p:txBody>
          <a:bodyPr wrap="square" lIns="0" tIns="0" rIns="0" bIns="0" rtlCol="0" anchor="t"/>
          <a:lstStyle/>
          <a:p>
            <a:pPr indent="0" marL="0">
              <a:buNone/>
            </a:pPr>
            <a:r>
              <a:rPr lang="en-US" sz="1100" dirty="0">
                <a:solidFill>
                  <a:schemeClr val="tx2"/>
                </a:solidFill>
              </a:rPr>
              <a:t>Table: median hand size (2.3 → 4.2 tokens). Per person the median gain is 1.6×; 26% of people get no magnification, a quarter 2.5× or more.</a:t>
            </a:r>
            <a:endParaRPr lang="en-US" sz="1100" dirty="0"/>
          </a:p>
        </p:txBody>
      </p:sp>
      <p:sp>
        <p:nvSpPr>
          <p:cNvPr id="11" name="finger text"/>
          <p:cNvSpPr txBox="1"/>
          <p:nvPr/>
        </p:nvSpPr>
        <p:spPr>
          <a:xfrm>
            <a:off x="5852160" y="2971800"/>
            <a:ext cx="2834640" cy="1737360"/>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What it means: </a:t>
            </a:r>
            <a:r>
              <a:rPr lang="en-US" sz="1200" dirty="0">
                <a:solidFill>
                  <a:schemeClr val="tx1"/>
                </a:solidFill>
              </a:rPr>
              <a:t>predicting fingers is worse than leaving them at rest.</a:t>
            </a:r>
            <a:endParaRPr lang="en-US" sz="1200" dirty="0"/>
          </a:p>
          <a:p>
            <a:pPr indent="0" marL="0">
              <a:spcAft>
                <a:spcPts val="600"/>
              </a:spcAft>
              <a:buNone/>
            </a:pPr>
            <a:r>
              <a:rPr lang="en-US" sz="1200" b="1" dirty="0">
                <a:solidFill>
                  <a:schemeClr val="tx1"/>
                </a:solidFill>
              </a:rPr>
              <a:t>Test-time zoom: </a:t>
            </a:r>
            <a:r>
              <a:rPr lang="en-US" sz="1200" dirty="0">
                <a:solidFill>
                  <a:schemeClr val="tx1"/>
                </a:solidFill>
              </a:rPr>
              <a:t>17.2° vs 17.3°; body error nearly doubles.</a:t>
            </a:r>
            <a:endParaRPr lang="en-US" sz="1200" dirty="0"/>
          </a:p>
          <a:p>
            <a:pPr indent="0" marL="0">
              <a:buNone/>
            </a:pPr>
            <a:r>
              <a:rPr lang="en-US" sz="1200" b="1" dirty="0">
                <a:solidFill>
                  <a:schemeClr val="tx1"/>
                </a:solidFill>
              </a:rPr>
              <a:t>Loss rebalance </a:t>
            </a:r>
            <a:r>
              <a:rPr lang="en-US" sz="1200" dirty="0">
                <a:solidFill>
                  <a:schemeClr val="tx1"/>
                </a:solidFill>
              </a:rPr>
              <a:t>(hands 33% of the rotation loss): 17.5° vs 17.4°. It gave fingers less weight; more weight and training on larger hand crops are still untested.</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Children: child-like in training, adult on real photos</a:t>
            </a:r>
            <a:endParaRPr lang="en-US" sz="2700" dirty="0"/>
          </a:p>
        </p:txBody>
      </p:sp>
      <p:sp>
        <p:nvSpPr>
          <p:cNvPr id="3" name="stat children in supervised training with the balanced sampler: no effect"/>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5"/>
                </a:solidFill>
              </a:rPr>
              <a:t>2% → 10%</a:t>
            </a:r>
            <a:endParaRPr lang="en-US" sz="4000" dirty="0"/>
          </a:p>
        </p:txBody>
      </p:sp>
      <p:sp>
        <p:nvSpPr>
          <p:cNvPr id="4" name="label children in supervised training with the balanced sampler: no effect"/>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children in supervised training with the balanced sampler: no effect</a:t>
            </a:r>
            <a:endParaRPr lang="en-US" sz="1300" dirty="0"/>
          </a:p>
        </p:txBody>
      </p:sp>
      <p:sp>
        <p:nvSpPr>
          <p:cNvPr id="5" name="stat predicted age of training babies; true 0.015 (child-like, but too old)"/>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tx2"/>
                </a:solidFill>
              </a:rPr>
              <a:t>0.10</a:t>
            </a:r>
            <a:endParaRPr lang="en-US" sz="4000" dirty="0"/>
          </a:p>
        </p:txBody>
      </p:sp>
      <p:sp>
        <p:nvSpPr>
          <p:cNvPr id="6" name="label predicted age of training babies; true 0.015 (child-like, but too old)"/>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training babies; true 0.015 (child-like, but too old)</a:t>
            </a:r>
            <a:endParaRPr lang="en-US" sz="1300" dirty="0"/>
          </a:p>
        </p:txBody>
      </p:sp>
      <p:sp>
        <p:nvSpPr>
          <p:cNvPr id="7" name="stat predicted age of 5 small people in real photos (sampler and control runs): same as the holdout adults"/>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4"/>
                </a:solidFill>
              </a:rPr>
              <a:t>0.57–0.67</a:t>
            </a:r>
            <a:endParaRPr lang="en-US" sz="4000" dirty="0"/>
          </a:p>
        </p:txBody>
      </p:sp>
      <p:sp>
        <p:nvSpPr>
          <p:cNvPr id="8" name="label predicted age of 5 small people in real photos (sampler and control runs): same as the holdout adults"/>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5 small people in real photos (sampler and control runs): same as the holdout adults</a:t>
            </a:r>
            <a:endParaRPr lang="en-US" sz="1300" dirty="0"/>
          </a:p>
        </p:txBody>
      </p:sp>
      <p:sp>
        <p:nvSpPr>
          <p:cNvPr id="9" name="child box"/>
          <p:cNvSpPr/>
          <p:nvPr/>
        </p:nvSpPr>
        <p:spPr>
          <a:xfrm>
            <a:off x="457200" y="2880360"/>
            <a:ext cx="8229600" cy="1783080"/>
          </a:xfrm>
          <a:prstGeom prst="roundRect">
            <a:avLst>
              <a:gd name="adj" fmla="val 4103"/>
            </a:avLst>
          </a:prstGeom>
          <a:solidFill>
            <a:schemeClr val="bg2"/>
          </a:solidFill>
          <a:ln w="12700">
            <a:solidFill>
              <a:schemeClr val="bg2"/>
            </a:solidFill>
            <a:prstDash val="solid"/>
          </a:ln>
        </p:spPr>
      </p:sp>
      <p:sp>
        <p:nvSpPr>
          <p:cNvPr id="10" name="child text"/>
          <p:cNvSpPr txBox="1"/>
          <p:nvPr/>
        </p:nvSpPr>
        <p:spPr>
          <a:xfrm>
            <a:off x="640080" y="2926080"/>
            <a:ext cx="7863840" cy="1691640"/>
          </a:xfrm>
          <a:prstGeom prst="rect">
            <a:avLst/>
          </a:prstGeom>
          <a:noFill/>
          <a:ln/>
        </p:spPr>
        <p:txBody>
          <a:bodyPr wrap="square" lIns="0" tIns="0" rIns="0" bIns="0" rtlCol="0" anchor="ctr"/>
          <a:lstStyle/>
          <a:p>
            <a:pPr marL="177800" indent="-177800">
              <a:spcAft>
                <a:spcPts val="300"/>
              </a:spcAft>
              <a:buSzPct val="100000"/>
              <a:buChar char="•"/>
            </a:pPr>
            <a:r>
              <a:rPr lang="en-US" sz="1200" b="1" dirty="0">
                <a:solidFill>
                  <a:schemeClr val="tx1"/>
                </a:solidFill>
              </a:rPr>
              <a:t>The model can make a child: </a:t>
            </a:r>
            <a:r>
              <a:rPr lang="en-US" sz="1200" dirty="0">
                <a:solidFill>
                  <a:schemeClr val="tx1"/>
                </a:solidFill>
              </a:rPr>
              <a:t>all eleven shape outputs are trained, none is clamped to an adult; training babies come out child-like, but too old. With the true shape, the 10 training children's error falls 47.8 → 41.6 mm.</a:t>
            </a:r>
            <a:endParaRPr lang="en-US" sz="1200" dirty="0"/>
          </a:p>
          <a:p>
            <a:pPr marL="177800" indent="-177800">
              <a:spcAft>
                <a:spcPts val="300"/>
              </a:spcAft>
              <a:buSzPct val="100000"/>
              <a:buChar char="•"/>
            </a:pPr>
            <a:r>
              <a:rPr lang="en-US" sz="1200" b="1" dirty="0">
                <a:solidFill>
                  <a:schemeClr val="tx1"/>
                </a:solidFill>
              </a:rPr>
              <a:t>More children did not help in a 2-epoch fine-tune: </a:t>
            </a:r>
            <a:r>
              <a:rPr lang="en-US" sz="1200" dirty="0">
                <a:solidFill>
                  <a:schemeClr val="tx1"/>
                </a:solidFill>
              </a:rPr>
              <a:t>about 5 times more in training; no change on the 10 training children or on the real photos (no age labels).</a:t>
            </a:r>
            <a:endParaRPr lang="en-US" sz="1200" dirty="0"/>
          </a:p>
          <a:p>
            <a:pPr marL="177800" indent="-177800">
              <a:spcAft>
                <a:spcPts val="300"/>
              </a:spcAft>
              <a:buSzPct val="100000"/>
              <a:buChar char="•"/>
            </a:pPr>
            <a:r>
              <a:rPr lang="en-US" sz="1200" b="1" dirty="0">
                <a:solidFill>
                  <a:schemeClr val="tx1"/>
                </a:solidFill>
              </a:rPr>
              <a:t>Best guess: </a:t>
            </a:r>
            <a:r>
              <a:rPr lang="en-US" sz="1200" dirty="0">
                <a:solidFill>
                  <a:schemeClr val="tx1"/>
                </a:solidFill>
              </a:rPr>
              <a:t>a synthetic-to-real gap, plus an old-age bias even on training children. One 2-epoch test is not enough to call it a limitation.</a:t>
            </a:r>
            <a:endParaRPr lang="en-US" sz="1200" dirty="0"/>
          </a:p>
          <a:p>
            <a:pPr marL="177800" indent="-177800">
              <a:spcAft>
                <a:spcPts val="300"/>
              </a:spcAft>
              <a:buSzPct val="100000"/>
              <a:buChar char="•"/>
            </a:pPr>
            <a:r>
              <a:rPr lang="en-US" sz="1200" b="1" dirty="0">
                <a:solidFill>
                  <a:schemeClr val="tx1"/>
                </a:solidFill>
              </a:rPr>
              <a:t>Caveat: </a:t>
            </a:r>
            <a:r>
              <a:rPr lang="en-US" sz="1200" dirty="0">
                <a:solidFill>
                  <a:schemeClr val="tx1"/>
                </a:solidFill>
              </a:rPr>
              <a:t>every synthetic child number is in-sample; the holdout has no children. Ages are Anny's 0–1 value (holdout adults: mostly 0.4–0.8). Ages are not converted to years, because Anny's calibration and the labels in our code disagree.</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hidden bug: head anchored, pelvis targeted</a:t>
            </a:r>
            <a:endParaRPr lang="en-US" sz="2700" dirty="0"/>
          </a:p>
        </p:txBody>
      </p:sp>
      <p:sp>
        <p:nvSpPr>
          <p:cNvPr id="3" name="Model: anchor = head head"/>
          <p:cNvSpPr/>
          <p:nvPr/>
        </p:nvSpPr>
        <p:spPr>
          <a:xfrm>
            <a:off x="1234440" y="1234440"/>
            <a:ext cx="457200" cy="457200"/>
          </a:xfrm>
          <a:prstGeom prst="ellipse">
            <a:avLst/>
          </a:prstGeom>
          <a:solidFill>
            <a:schemeClr val="bg2"/>
          </a:solidFill>
          <a:ln w="19050">
            <a:solidFill>
              <a:schemeClr val="tx2"/>
            </a:solidFill>
            <a:prstDash val="solid"/>
          </a:ln>
        </p:spPr>
      </p:sp>
      <p:sp>
        <p:nvSpPr>
          <p:cNvPr id="4" name="Model: anchor = head body"/>
          <p:cNvSpPr/>
          <p:nvPr/>
        </p:nvSpPr>
        <p:spPr>
          <a:xfrm>
            <a:off x="1463040" y="1691640"/>
            <a:ext cx="0" cy="1188720"/>
          </a:xfrm>
          <a:prstGeom prst="line">
            <a:avLst/>
          </a:prstGeom>
          <a:noFill/>
          <a:ln w="25400">
            <a:solidFill>
              <a:schemeClr val="tx2"/>
            </a:solidFill>
            <a:prstDash val="solid"/>
          </a:ln>
        </p:spPr>
      </p:sp>
      <p:sp>
        <p:nvSpPr>
          <p:cNvPr id="5" name="Model: anchor = head arms"/>
          <p:cNvSpPr/>
          <p:nvPr/>
        </p:nvSpPr>
        <p:spPr>
          <a:xfrm>
            <a:off x="1005840" y="1947672"/>
            <a:ext cx="914400" cy="27432"/>
          </a:xfrm>
          <a:prstGeom prst="rect">
            <a:avLst/>
          </a:prstGeom>
          <a:solidFill>
            <a:schemeClr val="tx2"/>
          </a:solidFill>
          <a:ln w="12700">
            <a:solidFill>
              <a:schemeClr val="tx2"/>
            </a:solidFill>
            <a:prstDash val="solid"/>
          </a:ln>
        </p:spPr>
      </p:sp>
      <p:sp>
        <p:nvSpPr>
          <p:cNvPr id="6" name="Model: anchor = head legL"/>
          <p:cNvSpPr/>
          <p:nvPr/>
        </p:nvSpPr>
        <p:spPr>
          <a:xfrm flipH="1">
            <a:off x="1051560" y="2880360"/>
            <a:ext cx="411480" cy="822960"/>
          </a:xfrm>
          <a:prstGeom prst="line">
            <a:avLst/>
          </a:prstGeom>
          <a:noFill/>
          <a:ln w="25400">
            <a:solidFill>
              <a:schemeClr val="tx2"/>
            </a:solidFill>
            <a:prstDash val="solid"/>
          </a:ln>
        </p:spPr>
      </p:sp>
      <p:sp>
        <p:nvSpPr>
          <p:cNvPr id="7" name="Model: anchor = head legR"/>
          <p:cNvSpPr/>
          <p:nvPr/>
        </p:nvSpPr>
        <p:spPr>
          <a:xfrm>
            <a:off x="1463040" y="2880360"/>
            <a:ext cx="411480" cy="822960"/>
          </a:xfrm>
          <a:prstGeom prst="line">
            <a:avLst/>
          </a:prstGeom>
          <a:noFill/>
          <a:ln w="25400">
            <a:solidFill>
              <a:schemeClr val="tx2"/>
            </a:solidFill>
            <a:prstDash val="solid"/>
          </a:ln>
        </p:spPr>
      </p:sp>
      <p:sp>
        <p:nvSpPr>
          <p:cNvPr id="8" name="Model: anchor = head anchor"/>
          <p:cNvSpPr/>
          <p:nvPr/>
        </p:nvSpPr>
        <p:spPr>
          <a:xfrm>
            <a:off x="1353312" y="1353312"/>
            <a:ext cx="219456" cy="219456"/>
          </a:xfrm>
          <a:prstGeom prst="ellipse">
            <a:avLst/>
          </a:prstGeom>
          <a:solidFill>
            <a:srgbClr val="0E7C86"/>
          </a:solidFill>
          <a:ln w="12700">
            <a:solidFill>
              <a:srgbClr val="0E7C86"/>
            </a:solidFill>
            <a:prstDash val="solid"/>
          </a:ln>
        </p:spPr>
      </p:sp>
      <p:sp>
        <p:nvSpPr>
          <p:cNvPr id="9" name="Model: anchor = head cap"/>
          <p:cNvSpPr txBox="1"/>
          <p:nvPr/>
        </p:nvSpPr>
        <p:spPr>
          <a:xfrm>
            <a:off x="45720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Model: anchor = head</a:t>
            </a:r>
            <a:endParaRPr lang="en-US" sz="1200" dirty="0"/>
          </a:p>
        </p:txBody>
      </p:sp>
      <p:sp>
        <p:nvSpPr>
          <p:cNvPr id="10" name="Model: anchor = head note"/>
          <p:cNvSpPr txBox="1"/>
          <p:nvPr/>
        </p:nvSpPr>
        <p:spPr>
          <a:xfrm>
            <a:off x="45720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model.py places the mesh by its head joint</a:t>
            </a:r>
            <a:endParaRPr lang="en-US" sz="1100" dirty="0"/>
          </a:p>
        </p:txBody>
      </p:sp>
      <p:sp>
        <p:nvSpPr>
          <p:cNvPr id="11" name="Training target = pelvis head"/>
          <p:cNvSpPr/>
          <p:nvPr/>
        </p:nvSpPr>
        <p:spPr>
          <a:xfrm>
            <a:off x="3703320" y="1234440"/>
            <a:ext cx="457200" cy="457200"/>
          </a:xfrm>
          <a:prstGeom prst="ellipse">
            <a:avLst/>
          </a:prstGeom>
          <a:solidFill>
            <a:schemeClr val="bg2"/>
          </a:solidFill>
          <a:ln w="19050">
            <a:solidFill>
              <a:schemeClr val="tx2"/>
            </a:solidFill>
            <a:prstDash val="solid"/>
          </a:ln>
        </p:spPr>
      </p:sp>
      <p:sp>
        <p:nvSpPr>
          <p:cNvPr id="12" name="Training target = pelvis body"/>
          <p:cNvSpPr/>
          <p:nvPr/>
        </p:nvSpPr>
        <p:spPr>
          <a:xfrm>
            <a:off x="3931920" y="1691640"/>
            <a:ext cx="0" cy="1188720"/>
          </a:xfrm>
          <a:prstGeom prst="line">
            <a:avLst/>
          </a:prstGeom>
          <a:noFill/>
          <a:ln w="25400">
            <a:solidFill>
              <a:schemeClr val="tx2"/>
            </a:solidFill>
            <a:prstDash val="solid"/>
          </a:ln>
        </p:spPr>
      </p:sp>
      <p:sp>
        <p:nvSpPr>
          <p:cNvPr id="13" name="Training target = pelvis arms"/>
          <p:cNvSpPr/>
          <p:nvPr/>
        </p:nvSpPr>
        <p:spPr>
          <a:xfrm>
            <a:off x="3474720" y="1947672"/>
            <a:ext cx="914400" cy="27432"/>
          </a:xfrm>
          <a:prstGeom prst="rect">
            <a:avLst/>
          </a:prstGeom>
          <a:solidFill>
            <a:schemeClr val="tx2"/>
          </a:solidFill>
          <a:ln w="12700">
            <a:solidFill>
              <a:schemeClr val="tx2"/>
            </a:solidFill>
            <a:prstDash val="solid"/>
          </a:ln>
        </p:spPr>
      </p:sp>
      <p:sp>
        <p:nvSpPr>
          <p:cNvPr id="14" name="Training target = pelvis legL"/>
          <p:cNvSpPr/>
          <p:nvPr/>
        </p:nvSpPr>
        <p:spPr>
          <a:xfrm flipH="1">
            <a:off x="3520440" y="2880360"/>
            <a:ext cx="411480" cy="822960"/>
          </a:xfrm>
          <a:prstGeom prst="line">
            <a:avLst/>
          </a:prstGeom>
          <a:noFill/>
          <a:ln w="25400">
            <a:solidFill>
              <a:schemeClr val="tx2"/>
            </a:solidFill>
            <a:prstDash val="solid"/>
          </a:ln>
        </p:spPr>
      </p:sp>
      <p:sp>
        <p:nvSpPr>
          <p:cNvPr id="15" name="Training target = pelvis legR"/>
          <p:cNvSpPr/>
          <p:nvPr/>
        </p:nvSpPr>
        <p:spPr>
          <a:xfrm>
            <a:off x="3931920" y="2880360"/>
            <a:ext cx="411480" cy="822960"/>
          </a:xfrm>
          <a:prstGeom prst="line">
            <a:avLst/>
          </a:prstGeom>
          <a:noFill/>
          <a:ln w="25400">
            <a:solidFill>
              <a:schemeClr val="tx2"/>
            </a:solidFill>
            <a:prstDash val="solid"/>
          </a:ln>
        </p:spPr>
      </p:sp>
      <p:sp>
        <p:nvSpPr>
          <p:cNvPr id="16" name="Training target = pelvis anchor"/>
          <p:cNvSpPr/>
          <p:nvPr/>
        </p:nvSpPr>
        <p:spPr>
          <a:xfrm>
            <a:off x="3822192" y="2770632"/>
            <a:ext cx="219456" cy="219456"/>
          </a:xfrm>
          <a:prstGeom prst="ellipse">
            <a:avLst/>
          </a:prstGeom>
          <a:solidFill>
            <a:srgbClr val="E8792B"/>
          </a:solidFill>
          <a:ln w="12700">
            <a:solidFill>
              <a:srgbClr val="E8792B"/>
            </a:solidFill>
            <a:prstDash val="solid"/>
          </a:ln>
        </p:spPr>
      </p:sp>
      <p:sp>
        <p:nvSpPr>
          <p:cNvPr id="17" name="Training target = pelvis cap"/>
          <p:cNvSpPr txBox="1"/>
          <p:nvPr/>
        </p:nvSpPr>
        <p:spPr>
          <a:xfrm>
            <a:off x="292608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Training target = pelvis</a:t>
            </a:r>
            <a:endParaRPr lang="en-US" sz="1200" dirty="0"/>
          </a:p>
        </p:txBody>
      </p:sp>
      <p:sp>
        <p:nvSpPr>
          <p:cNvPr id="18" name="Training target = pelvis note"/>
          <p:cNvSpPr txBox="1"/>
          <p:nvPr/>
        </p:nvSpPr>
        <p:spPr>
          <a:xfrm>
            <a:off x="292608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train.py built transl / dist / heatmap / offset at joint 0</a:t>
            </a:r>
            <a:endParaRPr lang="en-US" sz="1100" dirty="0"/>
          </a:p>
        </p:txBody>
      </p:sp>
      <p:sp>
        <p:nvSpPr>
          <p:cNvPr id="19" name="stat depth"/>
          <p:cNvSpPr txBox="1"/>
          <p:nvPr/>
        </p:nvSpPr>
        <p:spPr>
          <a:xfrm>
            <a:off x="5943600" y="1280160"/>
            <a:ext cx="2743200" cy="731520"/>
          </a:xfrm>
          <a:prstGeom prst="rect">
            <a:avLst/>
          </a:prstGeom>
          <a:noFill/>
          <a:ln/>
        </p:spPr>
        <p:txBody>
          <a:bodyPr wrap="square" lIns="0" tIns="0" rIns="0" bIns="0" rtlCol="0" anchor="t"/>
          <a:lstStyle/>
          <a:p>
            <a:pPr indent="0" marL="0">
              <a:buNone/>
            </a:pPr>
            <a:r>
              <a:rPr lang="en-US" sz="1600" b="1" dirty="0">
                <a:solidFill>
                  <a:schemeClr val="accent4"/>
                </a:solidFill>
              </a:rPr>
              <a:t>predicted depth =</a:t>
            </a:r>
            <a:endParaRPr lang="en-US" sz="1600" dirty="0"/>
          </a:p>
          <a:p>
            <a:pPr indent="0" marL="0">
              <a:buNone/>
            </a:pPr>
            <a:r>
              <a:rPr lang="en-US" sz="2400" b="1" dirty="0">
                <a:solidFill>
                  <a:schemeClr val="accent4"/>
                </a:solidFill>
              </a:rPr>
              <a:t>0.33 × true + 2.36 m</a:t>
            </a:r>
            <a:endParaRPr lang="en-US" sz="1600" dirty="0"/>
          </a:p>
        </p:txBody>
      </p:sp>
      <p:sp>
        <p:nvSpPr>
          <p:cNvPr id="20" name="label depth"/>
          <p:cNvSpPr txBox="1"/>
          <p:nvPr/>
        </p:nvSpPr>
        <p:spPr>
          <a:xfrm>
            <a:off x="5943600" y="2011680"/>
            <a:ext cx="2743200" cy="548640"/>
          </a:xfrm>
          <a:prstGeom prst="rect">
            <a:avLst/>
          </a:prstGeom>
          <a:noFill/>
          <a:ln/>
        </p:spPr>
        <p:txBody>
          <a:bodyPr wrap="square" lIns="0" tIns="0" rIns="0" bIns="0" rtlCol="0" anchor="t"/>
          <a:lstStyle/>
          <a:p>
            <a:pPr indent="0" marL="0">
              <a:buNone/>
            </a:pPr>
            <a:r>
              <a:rPr lang="en-US" sz="1300" dirty="0">
                <a:solidFill>
                  <a:schemeClr val="tx2"/>
                </a:solidFill>
              </a:rPr>
              <a:t>v5: predicted vs true depth; all 222 holdout people too far</a:t>
            </a:r>
            <a:endParaRPr lang="en-US" sz="1300" dirty="0"/>
          </a:p>
        </p:txBody>
      </p:sp>
      <p:sp>
        <p:nvSpPr>
          <p:cNvPr id="21" name="bug text"/>
          <p:cNvSpPr txBox="1"/>
          <p:nvPr/>
        </p:nvSpPr>
        <p:spPr>
          <a:xfrm>
            <a:off x="5943600" y="2697480"/>
            <a:ext cx="2743200" cy="1965960"/>
          </a:xfrm>
          <a:prstGeom prst="rect">
            <a:avLst/>
          </a:prstGeom>
          <a:noFill/>
          <a:ln/>
        </p:spPr>
        <p:txBody>
          <a:bodyPr wrap="square" lIns="0" tIns="0" rIns="0" bIns="0" rtlCol="0" anchor="t"/>
          <a:lstStyle/>
          <a:p>
            <a:pPr marL="177800" indent="-177800">
              <a:spcAft>
                <a:spcPts val="400"/>
              </a:spcAft>
              <a:buSzPct val="100000"/>
              <a:buChar char="•"/>
            </a:pPr>
            <a:r>
              <a:rPr lang="en-US" sz="1200" b="1" dirty="0">
                <a:solidFill>
                  <a:schemeClr val="tx1"/>
                </a:solidFill>
              </a:rPr>
              <a:t>Confirmed: </a:t>
            </a:r>
            <a:r>
              <a:rPr lang="en-US" sz="1200" dirty="0">
                <a:solidFill>
                  <a:schemeClr val="tx1"/>
                </a:solidFill>
              </a:rPr>
              <a:t>with targets at the head, bodies are drawn much closer to the right size; a same-schedule control does not improve (10 epochs: size 0.59, root error 1.44 m).</a:t>
            </a:r>
            <a:endParaRPr lang="en-US" sz="1200" dirty="0"/>
          </a:p>
          <a:p>
            <a:pPr marL="177800" indent="-177800">
              <a:spcAft>
                <a:spcPts val="400"/>
              </a:spcAft>
              <a:buSzPct val="100000"/>
              <a:buChar char="•"/>
            </a:pPr>
            <a:r>
              <a:rPr lang="en-US" sz="1200" b="1" dirty="0">
                <a:solidFill>
                  <a:schemeClr val="tx1"/>
                </a:solidFill>
              </a:rPr>
              <a:t>Size: </a:t>
            </a:r>
            <a:r>
              <a:rPr lang="en-US" sz="1200" dirty="0">
                <a:solidFill>
                  <a:schemeClr val="tx1"/>
                </a:solidFill>
              </a:rPr>
              <a:t>3D height right, but drawn at 0.63 of true size; head 64 px off.</a:t>
            </a:r>
            <a:endParaRPr lang="en-US" sz="1200" dirty="0"/>
          </a:p>
          <a:p>
            <a:pPr marL="177800" indent="-177800">
              <a:spcAft>
                <a:spcPts val="400"/>
              </a:spcAft>
              <a:buSzPct val="100000"/>
              <a:buChar char="•"/>
            </a:pPr>
            <a:r>
              <a:rPr lang="en-US" sz="1200" b="1" dirty="0">
                <a:solidFill>
                  <a:schemeClr val="tx1"/>
                </a:solidFill>
              </a:rPr>
              <a:t>Hidden </a:t>
            </a:r>
            <a:r>
              <a:rPr lang="en-US" sz="1200" dirty="0">
                <a:solidFill>
                  <a:schemeClr val="tx1"/>
                </a:solidFill>
              </a:rPr>
              <a:t>from pelvis-centred PVE and from the box-placed demos. v9 and v10 have it too.</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bodies drawn much closer to true size</a:t>
            </a:r>
            <a:endParaRPr lang="en-US" sz="2700" dirty="0"/>
          </a:p>
        </p:txBody>
      </p:sp>
      <p:pic>
        <p:nvPicPr>
          <p:cNvPr id="3" name="figure depth_before_after_579862.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579862, model's own depth (no box placement).</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whole holdout: root error 1.21 m, median drawn size 0.63</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whole holdout: root error 0.54 m, median drawn size 0.84</a:t>
            </a:r>
            <a:endParaRPr lang="en-US" sz="1100" dirty="0"/>
          </a:p>
        </p:txBody>
      </p:sp>
      <p:sp>
        <p:nvSpPr>
          <p:cNvPr id="7" name="figure footnote"/>
          <p:cNvSpPr txBox="1"/>
          <p:nvPr/>
        </p:nvSpPr>
        <p:spPr>
          <a:xfrm>
            <a:off x="914400" y="4218997"/>
            <a:ext cx="7315200" cy="512064"/>
          </a:xfrm>
          <a:prstGeom prst="rect">
            <a:avLst/>
          </a:prstGeom>
          <a:noFill/>
          <a:ln/>
        </p:spPr>
        <p:txBody>
          <a:bodyPr wrap="square" lIns="0" tIns="0" rIns="0" bIns="0" rtlCol="0" anchor="t"/>
          <a:lstStyle/>
          <a:p>
            <a:pPr indent="0" marL="0">
              <a:buNone/>
            </a:pPr>
            <a:r>
              <a:rPr lang="en-US" sz="1100" b="1" dirty="0">
                <a:solidFill>
                  <a:srgbClr val="1B2233"/>
                </a:solidFill>
              </a:rPr>
              <a:t>Not fully fixed: </a:t>
            </a:r>
            <a:r>
              <a:rPr lang="en-US" sz="1100" dirty="0">
                <a:solidFill>
                  <a:schemeClr val="tx2"/>
                </a:solidFill>
              </a:rPr>
              <a:t>near and far people still get similar depths (depth slope 0.38; 1 = perfect, 0 = same depth for everyone), and bodies are still drawn about 16% too small (median). All 12 rendered images show the same change; I picked this one because no ground-truth person is missed. After the fix the blue mesh is 0.95 of its true height (before: 0.76).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much better size, near vs far still weak</a:t>
            </a:r>
            <a:endParaRPr lang="en-US" sz="2700" dirty="0"/>
          </a:p>
        </p:txBody>
      </p:sp>
      <p:graphicFrame>
        <p:nvGraphicFramePr>
          <p:cNvPr id="11" name="fix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731520"/>
                <a:gridCol w="809897"/>
                <a:gridCol w="809897"/>
                <a:gridCol w="809897"/>
                <a:gridCol w="809897"/>
                <a:gridCol w="809897"/>
                <a:gridCol w="809897"/>
                <a:gridCol w="809897"/>
              </a:tblGrid>
              <a:tr h="228600">
                <a:tc gridSpan="2">
                  <a:txBody>
                    <a:bodyPr/>
                    <a:lstStyle/>
                    <a:p>
                      <a:pPr indent="0" marL="0">
                        <a:buNone/>
                      </a:pPr>
                      <a:endParaRPr lang="en-US" sz="1100" dirty="0"/>
                    </a:p>
                  </a:txBody>
                  <a:tcPr marL="45720" marR="45720" marT="18288" marB="18288" anchor="ctr">
                    <a:lnL w="0" cap="flat" cmpd="sng" algn="ctr">
                      <a:noFill/>
                    </a:lnL>
                    <a:lnR w="38100" cap="flat" cmpd="sng" algn="ctr">
                      <a:solidFill>
                        <a:srgbClr val="FFFFFF"/>
                      </a:solidFill>
                      <a:prstDash val="solid"/>
                      <a:round/>
                      <a:headEnd type="none" w="med" len="med"/>
                      <a:tailEnd type="none" w="med" len="med"/>
                    </a:lnR>
                    <a:lnT w="0" cap="flat" cmpd="sng" algn="ctr">
                      <a:noFill/>
                    </a:lnT>
                    <a:lnB w="12700" cap="flat" cmpd="sng" algn="ctr">
                      <a:solidFill>
                        <a:srgbClr val="FFFFFF"/>
                      </a:solidFill>
                      <a:prstDash val="solid"/>
                      <a:round/>
                      <a:headEnd type="none" w="med" len="med"/>
                      <a:tailEnd type="none" w="med" len="med"/>
                    </a:lnB>
                    <a:solidFill>
                      <a:srgbClr val="FFFFFF"/>
                    </a:solidFill>
                  </a:tcPr>
                </a:tc>
                <a:tc hMerge="1">
                  <a:tcPr/>
                </a:tc>
                <a:tc gridSpan="3">
                  <a:txBody>
                    <a:bodyPr/>
                    <a:lstStyle/>
                    <a:p>
                      <a:pPr algn="ctr" indent="0" marL="0">
                        <a:buNone/>
                      </a:pPr>
                      <a:r>
                        <a:rPr lang="en-US" sz="1100" b="1" dirty="0">
                          <a:solidFill>
                            <a:srgbClr val="FFFFFF"/>
                          </a:solidFill>
                        </a:rPr>
                        <a:t>10-epoch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gridSpan="4">
                  <a:txBody>
                    <a:bodyPr/>
                    <a:lstStyle/>
                    <a:p>
                      <a:pPr algn="ctr" indent="0" marL="0">
                        <a:buNone/>
                      </a:pPr>
                      <a:r>
                        <a:rPr lang="en-US" sz="1100" b="1" dirty="0">
                          <a:solidFill>
                            <a:srgbClr val="FFFFFF"/>
                          </a:solidFill>
                        </a:rPr>
                        <a:t>2-epoch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hMerge="1">
                  <a:tcPr/>
                </a:tc>
              </a:tr>
              <a:tr h="246888">
                <a:tc>
                  <a:txBody>
                    <a:bodyPr/>
                    <a:lstStyle/>
                    <a:p>
                      <a:pPr algn="l" indent="0" marL="0">
                        <a:buNone/>
                      </a:pPr>
                      <a:r>
                        <a:rPr lang="en-US" sz="1100" b="1" dirty="0">
                          <a:solidFill>
                            <a:srgbClr val="FFFFFF"/>
                          </a:solidFill>
                        </a:rPr>
                        <a:t>holdout, 100 images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19456">
                <a:tc>
                  <a:txBody>
                    <a:bodyPr/>
                    <a:lstStyle/>
                    <a:p>
                      <a:pPr algn="l" indent="0" marL="0">
                        <a:buNone/>
                      </a:pPr>
                      <a:r>
                        <a:rPr lang="en-US" sz="1100" b="1" dirty="0">
                          <a:solidFill>
                            <a:srgbClr val="1B2233"/>
                          </a:solidFill>
                        </a:rPr>
                        <a:t>root error, 3D (pelvis)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1.21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1.44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0.54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1.11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0.69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0.66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depth slope (1 = perfect)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drawn size (1 = right)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0.59</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0.66</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0.87</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head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64.0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58.1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9.6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8.8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pelvis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23.4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24.3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33.1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23.3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37.3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31.4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PVE (pelvis-centred)</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70.5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72.2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74.8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72.3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77.3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75.7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recall</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90.2%</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89.4%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89.8%</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fix table note"/>
          <p:cNvSpPr txBox="1"/>
          <p:nvPr/>
        </p:nvSpPr>
        <p:spPr>
          <a:xfrm>
            <a:off x="457200" y="3154680"/>
            <a:ext cx="8229600" cy="201168"/>
          </a:xfrm>
          <a:prstGeom prst="rect">
            <a:avLst/>
          </a:prstGeom>
          <a:noFill/>
          <a:ln/>
        </p:spPr>
        <p:txBody>
          <a:bodyPr wrap="square" lIns="0" tIns="0" rIns="0" bIns="0" rtlCol="0" anchor="t"/>
          <a:lstStyle/>
          <a:p>
            <a:pPr indent="0" marL="0">
              <a:buNone/>
            </a:pPr>
            <a:r>
              <a:rPr lang="en-US" sz="1100" dirty="0">
                <a:solidFill>
                  <a:schemeClr val="tx2"/>
                </a:solidFill>
              </a:rPr>
              <a:t>Fix: targets at the head; ×5 / ×20 = depth loss weight. Controls: root targets, depth ×1, same schedule. No control was run at ×5 or ×20.</a:t>
            </a:r>
            <a:endParaRPr lang="en-US" sz="1100" dirty="0"/>
          </a:p>
        </p:txBody>
      </p:sp>
      <p:sp>
        <p:nvSpPr>
          <p:cNvPr id="5" name="fix text"/>
          <p:cNvSpPr txBox="1"/>
          <p:nvPr/>
        </p:nvSpPr>
        <p:spPr>
          <a:xfrm>
            <a:off x="457200" y="3456432"/>
            <a:ext cx="8229600" cy="1225296"/>
          </a:xfrm>
          <a:prstGeom prst="rect">
            <a:avLst/>
          </a:prstGeom>
          <a:noFill/>
          <a:ln/>
        </p:spPr>
        <p:txBody>
          <a:bodyPr wrap="square" lIns="0" tIns="0" rIns="0" bIns="0" rtlCol="0" anchor="t"/>
          <a:lstStyle/>
          <a:p>
            <a:pPr marL="177800" indent="-177800">
              <a:spcAft>
                <a:spcPts val="300"/>
              </a:spcAft>
              <a:buSzPct val="100000"/>
              <a:buChar char="•"/>
            </a:pPr>
            <a:r>
              <a:rPr lang="en-US" sz="1200" b="1" dirty="0">
                <a:solidFill>
                  <a:schemeClr val="tx1"/>
                </a:solidFill>
              </a:rPr>
              <a:t>Not fixed: </a:t>
            </a:r>
            <a:r>
              <a:rPr lang="en-US" sz="1200" dirty="0">
                <a:solidFill>
                  <a:schemeClr val="tx1"/>
                </a:solidFill>
              </a:rPr>
              <a:t>depth slope 0.30 with the switch alone, 0.38–0.44 with a stronger depth loss; predictions are pulled toward 2.5–2.9 m, cause unknown. With ×5, 10 epochs gave a lower root error than 2 epochs (0.66 → 0.54 m) but no better slope (0.44 → 0.38); with the switch alone neither improved (0.69 → 0.73 m, slope 0.30 → 0.30).</a:t>
            </a:r>
            <a:endParaRPr lang="en-US" sz="1200" dirty="0"/>
          </a:p>
          <a:p>
            <a:pPr marL="177800" indent="-177800">
              <a:spcAft>
                <a:spcPts val="300"/>
              </a:spcAft>
              <a:buSzPct val="100000"/>
              <a:buChar char="•"/>
            </a:pPr>
            <a:r>
              <a:rPr lang="en-US" sz="1200" b="1" dirty="0">
                <a:solidFill>
                  <a:schemeClr val="tx1"/>
                </a:solidFill>
              </a:rPr>
              <a:t>Likely cost: </a:t>
            </a:r>
            <a:r>
              <a:rPr lang="en-US" sz="1200" dirty="0">
                <a:solidFill>
                  <a:schemeClr val="tx1"/>
                </a:solidFill>
              </a:rPr>
              <a:t>every fix run is worse than its control: PVE +2.6 to +4.9 mm (inside noise, ~10 mm), recall −1.6 to −2.4 points (about the 2-point noise limit). The five runs share two controls.</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Four experiments: results</a:t>
            </a:r>
            <a:endParaRPr lang="en-US" sz="2700" dirty="0"/>
          </a:p>
        </p:txBody>
      </p:sp>
      <p:graphicFrame>
        <p:nvGraphicFramePr>
          <p:cNvPr id="12" name="exp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97280"/>
                <a:gridCol w="1600200"/>
                <a:gridCol w="1600200"/>
                <a:gridCol w="3931920"/>
              </a:tblGrid>
              <a:tr h="274320">
                <a:tc>
                  <a:txBody>
                    <a:bodyPr/>
                    <a:lstStyle/>
                    <a:p>
                      <a:pPr algn="l" indent="0" marL="0">
                        <a:buNone/>
                      </a:pPr>
                      <a:r>
                        <a:rPr lang="en-US" sz="1100" b="1" dirty="0">
                          <a:solidFill>
                            <a:srgbClr val="FFFFFF"/>
                          </a:solidFill>
                        </a:rPr>
                        <a:t>experiment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what it changes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success rule</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result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66928">
                <a:tc>
                  <a:txBody>
                    <a:bodyPr/>
                    <a:lstStyle/>
                    <a:p>
                      <a:pPr algn="l" indent="0" marL="0">
                        <a:buNone/>
                      </a:pPr>
                      <a:r>
                        <a:rPr lang="en-US" sz="1100" b="1" dirty="0">
                          <a:solidFill>
                            <a:srgbClr val="1B2233"/>
                          </a:solidFill>
                        </a:rPr>
                        <a:t>1  depth anchor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targets at the head joint (+ depth loss ×5 or ×20)</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depth slope toward 1, PVE stays near v5 (70.5 mm)</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Rule not met: slope 0.30 (switch alone) / 0.38 (×5), not near 1; PVE 74.8 mm (control 72.2, v5 70.5). Outside the rule, clearly better: root error 1.21 → 0.54 m, drawn size 0.63 → 0.84</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2  children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age-balanced sampler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child error on the manifest, adults unchanged</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in a 2-epoch fine-tune: training children and real photos unchanged. Pilot and control both use age loss ×3, height ×2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11480">
                <a:tc>
                  <a:txBody>
                    <a:bodyPr/>
                    <a:lstStyle/>
                    <a:p>
                      <a:pPr algn="l" indent="0" marL="0">
                        <a:buNone/>
                      </a:pPr>
                      <a:r>
                        <a:rPr lang="en-US" sz="1100" b="1" dirty="0">
                          <a:solidFill>
                            <a:srgbClr val="1B2233"/>
                          </a:solidFill>
                        </a:rPr>
                        <a:t>3  neck</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loss on the global head orientation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global head error below 12°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11.3° passes, but the controls give 11.7–13.6° (inside the ~3° noise). Safety limit (PVE ≤ 71.5 mm, recall ≥ 89.2%) just missed: 71.8 mm, 89.0%. All five control runs miss it too.</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4  fingers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region-normalised rotation loss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finger error vs rest pose (about 15°)</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17.5° vs 17.4° for the control</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oise box"/>
          <p:cNvSpPr/>
          <p:nvPr/>
        </p:nvSpPr>
        <p:spPr>
          <a:xfrm>
            <a:off x="457200" y="3813048"/>
            <a:ext cx="8229600" cy="868680"/>
          </a:xfrm>
          <a:prstGeom prst="roundRect">
            <a:avLst>
              <a:gd name="adj" fmla="val 8421"/>
            </a:avLst>
          </a:prstGeom>
          <a:solidFill>
            <a:schemeClr val="bg2"/>
          </a:solidFill>
          <a:ln w="12700">
            <a:solidFill>
              <a:schemeClr val="bg2"/>
            </a:solidFill>
            <a:prstDash val="solid"/>
          </a:ln>
        </p:spPr>
      </p:sp>
      <p:sp>
        <p:nvSpPr>
          <p:cNvPr id="5" name="noise text"/>
          <p:cNvSpPr txBox="1"/>
          <p:nvPr/>
        </p:nvSpPr>
        <p:spPr>
          <a:xfrm>
            <a:off x="640080" y="3840480"/>
            <a:ext cx="7863840" cy="813816"/>
          </a:xfrm>
          <a:prstGeom prst="rect">
            <a:avLst/>
          </a:prstGeom>
          <a:noFill/>
          <a:ln/>
        </p:spPr>
        <p:txBody>
          <a:bodyPr wrap="square" lIns="0" tIns="0" rIns="0" bIns="0" rtlCol="0" anchor="ctr"/>
          <a:lstStyle/>
          <a:p>
            <a:pPr indent="0" marL="0">
              <a:buNone/>
            </a:pPr>
            <a:r>
              <a:rPr lang="en-US" sz="1200" b="1" dirty="0">
                <a:solidFill>
                  <a:schemeClr val="tx1"/>
                </a:solidFill>
              </a:rPr>
              <a:t>Pilot noise. </a:t>
            </a:r>
            <a:r>
              <a:rPr lang="en-US" sz="1200" dirty="0">
                <a:solidFill>
                  <a:schemeClr val="tx1"/>
                </a:solidFill>
              </a:rPr>
              <a:t>No fixed random seed: two identical runs differed by 7.6 mm PVE and 1.9° head error, so one pilot only detects about 10 mm PVE, 3° head error or 2 recall points. Restarting the fine-tune alone costs about 2.4 mm (controls average 72.9 vs 70.5 mm). Root error has no measured noise floor, but every fix run (0.53–0.73 m) is below every control (1.11–1.44 m). All runs: same holdout and manifest, helper bones masked.</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Corrections made, and still to make</a:t>
            </a:r>
            <a:endParaRPr lang="en-US" sz="2700" dirty="0"/>
          </a:p>
        </p:txBody>
      </p:sp>
      <p:sp>
        <p:nvSpPr>
          <p:cNvPr id="3" name="Headline number"/>
          <p:cNvSpPr/>
          <p:nvPr/>
        </p:nvSpPr>
        <p:spPr>
          <a:xfrm>
            <a:off x="457200" y="1234440"/>
            <a:ext cx="4023360" cy="1600200"/>
          </a:xfrm>
          <a:prstGeom prst="roundRect">
            <a:avLst>
              <a:gd name="adj" fmla="val 4571"/>
            </a:avLst>
          </a:prstGeom>
          <a:solidFill>
            <a:schemeClr val="bg2"/>
          </a:solidFill>
          <a:ln w="12700">
            <a:solidFill>
              <a:schemeClr val="bg2"/>
            </a:solidFill>
            <a:prstDash val="solid"/>
          </a:ln>
        </p:spPr>
      </p:sp>
      <p:sp>
        <p:nvSpPr>
          <p:cNvPr id="4" name="Headline number dot"/>
          <p:cNvSpPr/>
          <p:nvPr/>
        </p:nvSpPr>
        <p:spPr>
          <a:xfrm>
            <a:off x="640080" y="1417320"/>
            <a:ext cx="384048" cy="384048"/>
          </a:xfrm>
          <a:prstGeom prst="ellipse">
            <a:avLst/>
          </a:prstGeom>
          <a:solidFill>
            <a:srgbClr val="E8792B"/>
          </a:solidFill>
          <a:ln w="12700">
            <a:solidFill>
              <a:srgbClr val="E8792B"/>
            </a:solidFill>
            <a:prstDash val="solid"/>
          </a:ln>
        </p:spPr>
      </p:sp>
      <p:sp>
        <p:nvSpPr>
          <p:cNvPr id="5" name="Headline number head"/>
          <p:cNvSpPr txBox="1"/>
          <p:nvPr/>
        </p:nvSpPr>
        <p:spPr>
          <a:xfrm>
            <a:off x="114300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Headline number</a:t>
            </a:r>
            <a:endParaRPr lang="en-US" sz="1600" dirty="0"/>
          </a:p>
        </p:txBody>
      </p:sp>
      <p:sp>
        <p:nvSpPr>
          <p:cNvPr id="6" name="Headline number body"/>
          <p:cNvSpPr txBox="1"/>
          <p:nvPr/>
        </p:nvSpPr>
        <p:spPr>
          <a:xfrm>
            <a:off x="64008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the README gives AnnyOne holdout PVE 70.5 mm, helper bones masked, as in the demos.</a:t>
            </a:r>
            <a:endParaRPr lang="en-US" sz="1200" dirty="0"/>
          </a:p>
          <a:p>
            <a:pPr indent="0" marL="0">
              <a:buNone/>
            </a:pPr>
            <a:r>
              <a:rPr lang="en-US" sz="1200" b="1" dirty="0">
                <a:solidFill>
                  <a:srgbClr val="1B2233"/>
                </a:solidFill>
              </a:rPr>
              <a:t>To do: </a:t>
            </a:r>
            <a:r>
              <a:rPr lang="en-US" sz="1200" dirty="0">
                <a:solidFill>
                  <a:schemeClr val="tx2"/>
                </a:solidFill>
              </a:rPr>
              <a:t>replace the thesis draft's 74 mm, the unmasked evaluation (+3.8 mm on the same people).</a:t>
            </a:r>
            <a:endParaRPr lang="en-US" sz="1200" dirty="0"/>
          </a:p>
        </p:txBody>
      </p:sp>
      <p:sp>
        <p:nvSpPr>
          <p:cNvPr id="7" name="Demos"/>
          <p:cNvSpPr/>
          <p:nvPr/>
        </p:nvSpPr>
        <p:spPr>
          <a:xfrm>
            <a:off x="4663440" y="1234440"/>
            <a:ext cx="4023360" cy="1600200"/>
          </a:xfrm>
          <a:prstGeom prst="roundRect">
            <a:avLst>
              <a:gd name="adj" fmla="val 4571"/>
            </a:avLst>
          </a:prstGeom>
          <a:solidFill>
            <a:schemeClr val="bg2"/>
          </a:solidFill>
          <a:ln w="12700">
            <a:solidFill>
              <a:schemeClr val="bg2"/>
            </a:solidFill>
            <a:prstDash val="solid"/>
          </a:ln>
        </p:spPr>
      </p:sp>
      <p:sp>
        <p:nvSpPr>
          <p:cNvPr id="8" name="Demos dot"/>
          <p:cNvSpPr/>
          <p:nvPr/>
        </p:nvSpPr>
        <p:spPr>
          <a:xfrm>
            <a:off x="4846320" y="1417320"/>
            <a:ext cx="384048" cy="384048"/>
          </a:xfrm>
          <a:prstGeom prst="ellipse">
            <a:avLst/>
          </a:prstGeom>
          <a:solidFill>
            <a:srgbClr val="3BA55D"/>
          </a:solidFill>
          <a:ln w="12700">
            <a:solidFill>
              <a:srgbClr val="3BA55D"/>
            </a:solidFill>
            <a:prstDash val="solid"/>
          </a:ln>
        </p:spPr>
      </p:sp>
      <p:sp>
        <p:nvSpPr>
          <p:cNvPr id="9" name="Demos head"/>
          <p:cNvSpPr txBox="1"/>
          <p:nvPr/>
        </p:nvSpPr>
        <p:spPr>
          <a:xfrm>
            <a:off x="534924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Demos</a:t>
            </a:r>
            <a:endParaRPr lang="en-US" sz="1600" dirty="0"/>
          </a:p>
        </p:txBody>
      </p:sp>
      <p:sp>
        <p:nvSpPr>
          <p:cNvPr id="10" name="Demos body"/>
          <p:cNvSpPr txBox="1"/>
          <p:nvPr/>
        </p:nvSpPr>
        <p:spPr>
          <a:xfrm>
            <a:off x="484632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all demo scripts zero the fingers and the README says so: finger renders are the rest pose, not predictions.</a:t>
            </a:r>
            <a:endParaRPr lang="en-US" sz="1200" dirty="0"/>
          </a:p>
        </p:txBody>
      </p:sp>
      <p:sp>
        <p:nvSpPr>
          <p:cNvPr id="11" name="Wording"/>
          <p:cNvSpPr/>
          <p:nvPr/>
        </p:nvSpPr>
        <p:spPr>
          <a:xfrm>
            <a:off x="457200" y="2999232"/>
            <a:ext cx="4023360" cy="1664208"/>
          </a:xfrm>
          <a:prstGeom prst="roundRect">
            <a:avLst>
              <a:gd name="adj" fmla="val 4396"/>
            </a:avLst>
          </a:prstGeom>
          <a:solidFill>
            <a:schemeClr val="bg2"/>
          </a:solidFill>
          <a:ln w="12700">
            <a:solidFill>
              <a:schemeClr val="bg2"/>
            </a:solidFill>
            <a:prstDash val="solid"/>
          </a:ln>
        </p:spPr>
      </p:sp>
      <p:sp>
        <p:nvSpPr>
          <p:cNvPr id="12" name="Wording dot"/>
          <p:cNvSpPr/>
          <p:nvPr/>
        </p:nvSpPr>
        <p:spPr>
          <a:xfrm>
            <a:off x="640080" y="3182112"/>
            <a:ext cx="384048" cy="384048"/>
          </a:xfrm>
          <a:prstGeom prst="ellipse">
            <a:avLst/>
          </a:prstGeom>
          <a:solidFill>
            <a:srgbClr val="E8792B"/>
          </a:solidFill>
          <a:ln w="12700">
            <a:solidFill>
              <a:srgbClr val="E8792B"/>
            </a:solidFill>
            <a:prstDash val="solid"/>
          </a:ln>
        </p:spPr>
      </p:sp>
      <p:sp>
        <p:nvSpPr>
          <p:cNvPr id="13" name="Wording head"/>
          <p:cNvSpPr txBox="1"/>
          <p:nvPr/>
        </p:nvSpPr>
        <p:spPr>
          <a:xfrm>
            <a:off x="114300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Wording</a:t>
            </a:r>
            <a:endParaRPr lang="en-US" sz="1600" dirty="0"/>
          </a:p>
        </p:txBody>
      </p:sp>
      <p:sp>
        <p:nvSpPr>
          <p:cNvPr id="14" name="Wording body"/>
          <p:cNvSpPr txBox="1"/>
          <p:nvPr/>
        </p:nvSpPr>
        <p:spPr>
          <a:xfrm>
            <a:off x="640080" y="3685032"/>
            <a:ext cx="3657600" cy="841248"/>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neck, fingers, children no longer called rig or decoding problems; the README's Known-defects section documents the depth bug.</a:t>
            </a:r>
            <a:endParaRPr lang="en-US" sz="1200" dirty="0"/>
          </a:p>
          <a:p>
            <a:pPr indent="0" marL="0">
              <a:buNone/>
            </a:pPr>
            <a:r>
              <a:rPr lang="en-US" sz="1200" b="1" dirty="0">
                <a:solidFill>
                  <a:srgbClr val="1B2233"/>
                </a:solidFill>
              </a:rPr>
              <a:t>To do: </a:t>
            </a:r>
            <a:r>
              <a:rPr lang="en-US" sz="1200" dirty="0">
                <a:solidFill>
                  <a:schemeClr val="tx2"/>
                </a:solidFill>
              </a:rPr>
              <a:t>README, findings and handover still carry last week's neck story; I will fix them next week.</a:t>
            </a:r>
            <a:endParaRPr lang="en-US" sz="1200" dirty="0"/>
          </a:p>
        </p:txBody>
      </p:sp>
      <p:sp>
        <p:nvSpPr>
          <p:cNvPr id="15" name="Repository"/>
          <p:cNvSpPr/>
          <p:nvPr/>
        </p:nvSpPr>
        <p:spPr>
          <a:xfrm>
            <a:off x="4663440" y="2999232"/>
            <a:ext cx="4023360" cy="1664208"/>
          </a:xfrm>
          <a:prstGeom prst="roundRect">
            <a:avLst>
              <a:gd name="adj" fmla="val 4396"/>
            </a:avLst>
          </a:prstGeom>
          <a:solidFill>
            <a:schemeClr val="bg2"/>
          </a:solidFill>
          <a:ln w="12700">
            <a:solidFill>
              <a:schemeClr val="bg2"/>
            </a:solidFill>
            <a:prstDash val="solid"/>
          </a:ln>
        </p:spPr>
      </p:sp>
      <p:sp>
        <p:nvSpPr>
          <p:cNvPr id="16" name="Repository dot"/>
          <p:cNvSpPr/>
          <p:nvPr/>
        </p:nvSpPr>
        <p:spPr>
          <a:xfrm>
            <a:off x="4846320" y="3182112"/>
            <a:ext cx="384048" cy="384048"/>
          </a:xfrm>
          <a:prstGeom prst="ellipse">
            <a:avLst/>
          </a:prstGeom>
          <a:solidFill>
            <a:srgbClr val="3BA55D"/>
          </a:solidFill>
          <a:ln w="12700">
            <a:solidFill>
              <a:srgbClr val="3BA55D"/>
            </a:solidFill>
            <a:prstDash val="solid"/>
          </a:ln>
        </p:spPr>
      </p:sp>
      <p:sp>
        <p:nvSpPr>
          <p:cNvPr id="17" name="Repository head"/>
          <p:cNvSpPr txBox="1"/>
          <p:nvPr/>
        </p:nvSpPr>
        <p:spPr>
          <a:xfrm>
            <a:off x="534924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Repository</a:t>
            </a:r>
            <a:endParaRPr lang="en-US" sz="1600" dirty="0"/>
          </a:p>
        </p:txBody>
      </p:sp>
      <p:sp>
        <p:nvSpPr>
          <p:cNvPr id="18" name="Repository body"/>
          <p:cNvSpPr txBox="1"/>
          <p:nvPr/>
        </p:nvSpPr>
        <p:spPr>
          <a:xfrm>
            <a:off x="4846320" y="3685032"/>
            <a:ext cx="3657600" cy="841248"/>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reorganised, one shared cluster setup, diagnostics and experiments documented so the work can be rerun.</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Still open, and what I test next</a:t>
            </a:r>
            <a:endParaRPr lang="en-US" sz="2700" dirty="0"/>
          </a:p>
        </p:txBody>
      </p:sp>
      <p:sp>
        <p:nvSpPr>
          <p:cNvPr id="3" name="open 1"/>
          <p:cNvSpPr/>
          <p:nvPr/>
        </p:nvSpPr>
        <p:spPr>
          <a:xfrm>
            <a:off x="457200" y="1216152"/>
            <a:ext cx="457200" cy="457200"/>
          </a:xfrm>
          <a:prstGeom prst="ellipse">
            <a:avLst/>
          </a:prstGeom>
          <a:solidFill>
            <a:schemeClr val="accent1"/>
          </a:solidFill>
          <a:ln w="12700">
            <a:solidFill>
              <a:schemeClr val="accent1"/>
            </a:solidFill>
            <a:prstDash val="solid"/>
          </a:ln>
        </p:spPr>
      </p:sp>
      <p:sp>
        <p:nvSpPr>
          <p:cNvPr id="4" name="open num 1"/>
          <p:cNvSpPr txBox="1"/>
          <p:nvPr/>
        </p:nvSpPr>
        <p:spPr>
          <a:xfrm>
            <a:off x="457200" y="121615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open head 1"/>
          <p:cNvSpPr txBox="1"/>
          <p:nvPr/>
        </p:nvSpPr>
        <p:spPr>
          <a:xfrm>
            <a:off x="1097280" y="1170432"/>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Neck offset in the v5 models</a:t>
            </a:r>
            <a:endParaRPr lang="en-US" sz="1500" dirty="0"/>
          </a:p>
        </p:txBody>
      </p:sp>
      <p:sp>
        <p:nvSpPr>
          <p:cNvPr id="6" name="open body 1"/>
          <p:cNvSpPr txBox="1"/>
          <p:nvPr/>
        </p:nvSpPr>
        <p:spPr>
          <a:xfrm>
            <a:off x="1097280" y="1499616"/>
            <a:ext cx="3337560" cy="777240"/>
          </a:xfrm>
          <a:prstGeom prst="rect">
            <a:avLst/>
          </a:prstGeom>
          <a:noFill/>
          <a:ln/>
        </p:spPr>
        <p:txBody>
          <a:bodyPr wrap="square" lIns="0" tIns="0" rIns="0" bIns="0" rtlCol="0" anchor="t"/>
          <a:lstStyle/>
          <a:p>
            <a:pPr indent="0" marL="0">
              <a:buNone/>
            </a:pPr>
            <a:r>
              <a:rPr lang="en-US" sz="1200" dirty="0">
                <a:solidFill>
                  <a:schemeClr val="tx2"/>
                </a:solidFill>
              </a:rPr>
              <a:t>Next: error per bone, split into twist and swing; find when the offset first appeared (earlier checkpoints).</a:t>
            </a:r>
            <a:endParaRPr lang="en-US" sz="1200" dirty="0"/>
          </a:p>
        </p:txBody>
      </p:sp>
      <p:sp>
        <p:nvSpPr>
          <p:cNvPr id="7" name="open 2"/>
          <p:cNvSpPr/>
          <p:nvPr/>
        </p:nvSpPr>
        <p:spPr>
          <a:xfrm>
            <a:off x="4709160" y="1216152"/>
            <a:ext cx="457200" cy="457200"/>
          </a:xfrm>
          <a:prstGeom prst="ellipse">
            <a:avLst/>
          </a:prstGeom>
          <a:solidFill>
            <a:schemeClr val="accent1"/>
          </a:solidFill>
          <a:ln w="12700">
            <a:solidFill>
              <a:schemeClr val="accent1"/>
            </a:solidFill>
            <a:prstDash val="solid"/>
          </a:ln>
        </p:spPr>
      </p:sp>
      <p:sp>
        <p:nvSpPr>
          <p:cNvPr id="8" name="open num 2"/>
          <p:cNvSpPr txBox="1"/>
          <p:nvPr/>
        </p:nvSpPr>
        <p:spPr>
          <a:xfrm>
            <a:off x="4709160" y="121615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open head 2"/>
          <p:cNvSpPr txBox="1"/>
          <p:nvPr/>
        </p:nvSpPr>
        <p:spPr>
          <a:xfrm>
            <a:off x="5349240" y="1170432"/>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slope stuck at 0.3–0.4</a:t>
            </a:r>
            <a:endParaRPr lang="en-US" sz="1500" dirty="0"/>
          </a:p>
        </p:txBody>
      </p:sp>
      <p:sp>
        <p:nvSpPr>
          <p:cNvPr id="10" name="open body 2"/>
          <p:cNvSpPr txBox="1"/>
          <p:nvPr/>
        </p:nvSpPr>
        <p:spPr>
          <a:xfrm>
            <a:off x="5349240" y="1499616"/>
            <a:ext cx="3337560" cy="777240"/>
          </a:xfrm>
          <a:prstGeom prst="rect">
            <a:avLst/>
          </a:prstGeom>
          <a:noFill/>
          <a:ln/>
        </p:spPr>
        <p:txBody>
          <a:bodyPr wrap="square" lIns="0" tIns="0" rIns="0" bIns="0" rtlCol="0" anchor="t"/>
          <a:lstStyle/>
          <a:p>
            <a:pPr indent="0" marL="0">
              <a:buNone/>
            </a:pPr>
            <a:r>
              <a:rPr lang="en-US" sz="1200" dirty="0">
                <a:solidFill>
                  <a:schemeClr val="tx2"/>
                </a:solidFill>
              </a:rPr>
              <a:t>Cause unknown. Next: measure training depths properly, and the fix run's slope on training images.</a:t>
            </a:r>
            <a:endParaRPr lang="en-US" sz="1200" dirty="0"/>
          </a:p>
        </p:txBody>
      </p:sp>
      <p:sp>
        <p:nvSpPr>
          <p:cNvPr id="11" name="open 3"/>
          <p:cNvSpPr/>
          <p:nvPr/>
        </p:nvSpPr>
        <p:spPr>
          <a:xfrm>
            <a:off x="457200" y="2368296"/>
            <a:ext cx="457200" cy="457200"/>
          </a:xfrm>
          <a:prstGeom prst="ellipse">
            <a:avLst/>
          </a:prstGeom>
          <a:solidFill>
            <a:schemeClr val="accent1"/>
          </a:solidFill>
          <a:ln w="12700">
            <a:solidFill>
              <a:schemeClr val="accent1"/>
            </a:solidFill>
            <a:prstDash val="solid"/>
          </a:ln>
        </p:spPr>
      </p:sp>
      <p:sp>
        <p:nvSpPr>
          <p:cNvPr id="12" name="open num 3"/>
          <p:cNvSpPr txBox="1"/>
          <p:nvPr/>
        </p:nvSpPr>
        <p:spPr>
          <a:xfrm>
            <a:off x="457200" y="236829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open head 3"/>
          <p:cNvSpPr txBox="1"/>
          <p:nvPr/>
        </p:nvSpPr>
        <p:spPr>
          <a:xfrm>
            <a:off x="1097280" y="2322576"/>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fix: cost and the ×20 run</a:t>
            </a:r>
            <a:endParaRPr lang="en-US" sz="1500" dirty="0"/>
          </a:p>
        </p:txBody>
      </p:sp>
      <p:sp>
        <p:nvSpPr>
          <p:cNvPr id="14" name="open body 3"/>
          <p:cNvSpPr txBox="1"/>
          <p:nvPr/>
        </p:nvSpPr>
        <p:spPr>
          <a:xfrm>
            <a:off x="1097280" y="2651760"/>
            <a:ext cx="3337560" cy="777240"/>
          </a:xfrm>
          <a:prstGeom prst="rect">
            <a:avLst/>
          </a:prstGeom>
          <a:noFill/>
          <a:ln/>
        </p:spPr>
        <p:txBody>
          <a:bodyPr wrap="square" lIns="0" tIns="0" rIns="0" bIns="0" rtlCol="0" anchor="t"/>
          <a:lstStyle/>
          <a:p>
            <a:pPr indent="0" marL="0">
              <a:buNone/>
            </a:pPr>
            <a:r>
              <a:rPr lang="en-US" sz="1200" dirty="0">
                <a:solidFill>
                  <a:schemeClr val="tx2"/>
                </a:solidFill>
              </a:rPr>
              <a:t>Paired PVE on the same people; recall over people whose head is visible; test the fix on 3DPW. No result yet for the ×20 run at 10 epochs.</a:t>
            </a:r>
            <a:endParaRPr lang="en-US" sz="1200" dirty="0"/>
          </a:p>
        </p:txBody>
      </p:sp>
      <p:sp>
        <p:nvSpPr>
          <p:cNvPr id="15" name="open 4"/>
          <p:cNvSpPr/>
          <p:nvPr/>
        </p:nvSpPr>
        <p:spPr>
          <a:xfrm>
            <a:off x="4709160" y="2368296"/>
            <a:ext cx="457200" cy="457200"/>
          </a:xfrm>
          <a:prstGeom prst="ellipse">
            <a:avLst/>
          </a:prstGeom>
          <a:solidFill>
            <a:schemeClr val="accent1"/>
          </a:solidFill>
          <a:ln w="12700">
            <a:solidFill>
              <a:schemeClr val="accent1"/>
            </a:solidFill>
            <a:prstDash val="solid"/>
          </a:ln>
        </p:spPr>
      </p:sp>
      <p:sp>
        <p:nvSpPr>
          <p:cNvPr id="16" name="open num 4"/>
          <p:cNvSpPr txBox="1"/>
          <p:nvPr/>
        </p:nvSpPr>
        <p:spPr>
          <a:xfrm>
            <a:off x="4709160" y="236829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open head 4"/>
          <p:cNvSpPr txBox="1"/>
          <p:nvPr/>
        </p:nvSpPr>
        <p:spPr>
          <a:xfrm>
            <a:off x="5349240" y="2322576"/>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Pilot noise</a:t>
            </a:r>
            <a:endParaRPr lang="en-US" sz="1500" dirty="0"/>
          </a:p>
        </p:txBody>
      </p:sp>
      <p:sp>
        <p:nvSpPr>
          <p:cNvPr id="18" name="open body 4"/>
          <p:cNvSpPr txBox="1"/>
          <p:nvPr/>
        </p:nvSpPr>
        <p:spPr>
          <a:xfrm>
            <a:off x="5349240" y="2651760"/>
            <a:ext cx="3337560" cy="777240"/>
          </a:xfrm>
          <a:prstGeom prst="rect">
            <a:avLst/>
          </a:prstGeom>
          <a:noFill/>
          <a:ln/>
        </p:spPr>
        <p:txBody>
          <a:bodyPr wrap="square" lIns="0" tIns="0" rIns="0" bIns="0" rtlCol="0" anchor="t"/>
          <a:lstStyle/>
          <a:p>
            <a:pPr indent="0" marL="0">
              <a:buNone/>
            </a:pPr>
            <a:r>
              <a:rPr lang="en-US" sz="1200" dirty="0">
                <a:solidFill>
                  <a:schemeClr val="tx2"/>
                </a:solidFill>
              </a:rPr>
              <a:t>No fixed seed. Fix it, or repeat the key run, before trusting differences under about 10 mm.</a:t>
            </a:r>
            <a:endParaRPr lang="en-US" sz="1200" dirty="0"/>
          </a:p>
        </p:txBody>
      </p:sp>
      <p:sp>
        <p:nvSpPr>
          <p:cNvPr id="19" name="open 5"/>
          <p:cNvSpPr/>
          <p:nvPr/>
        </p:nvSpPr>
        <p:spPr>
          <a:xfrm>
            <a:off x="457200" y="3520440"/>
            <a:ext cx="457200" cy="457200"/>
          </a:xfrm>
          <a:prstGeom prst="ellipse">
            <a:avLst/>
          </a:prstGeom>
          <a:solidFill>
            <a:schemeClr val="accent1"/>
          </a:solidFill>
          <a:ln w="12700">
            <a:solidFill>
              <a:schemeClr val="accent1"/>
            </a:solidFill>
            <a:prstDash val="solid"/>
          </a:ln>
        </p:spPr>
      </p:sp>
      <p:sp>
        <p:nvSpPr>
          <p:cNvPr id="20" name="open num 5"/>
          <p:cNvSpPr txBox="1"/>
          <p:nvPr/>
        </p:nvSpPr>
        <p:spPr>
          <a:xfrm>
            <a:off x="457200" y="35204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open head 5"/>
          <p:cNvSpPr txBox="1"/>
          <p:nvPr/>
        </p:nvSpPr>
        <p:spPr>
          <a:xfrm>
            <a:off x="1097280" y="347472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People very close to the camera</a:t>
            </a:r>
            <a:endParaRPr lang="en-US" sz="1500" dirty="0"/>
          </a:p>
        </p:txBody>
      </p:sp>
      <p:sp>
        <p:nvSpPr>
          <p:cNvPr id="22" name="open body 5"/>
          <p:cNvSpPr txBox="1"/>
          <p:nvPr/>
        </p:nvSpPr>
        <p:spPr>
          <a:xfrm>
            <a:off x="1097280" y="3803904"/>
            <a:ext cx="3337560" cy="777240"/>
          </a:xfrm>
          <a:prstGeom prst="rect">
            <a:avLst/>
          </a:prstGeom>
          <a:noFill/>
          <a:ln/>
        </p:spPr>
        <p:txBody>
          <a:bodyPr wrap="square" lIns="0" tIns="0" rIns="0" bIns="0" rtlCol="0" anchor="t"/>
          <a:lstStyle/>
          <a:p>
            <a:pPr indent="0" marL="0">
              <a:buNone/>
            </a:pPr>
            <a:r>
              <a:rPr lang="en-US" sz="1200" dirty="0">
                <a:solidFill>
                  <a:schemeClr val="tx2"/>
                </a:solidFill>
              </a:rPr>
              <a:t>Both models miss them (4 of 12 rendered images), so not caused by the fix. Likely a detection problem; not yet counted.</a:t>
            </a:r>
            <a:endParaRPr lang="en-US" sz="1200" dirty="0"/>
          </a:p>
        </p:txBody>
      </p:sp>
      <p:sp>
        <p:nvSpPr>
          <p:cNvPr id="23" name="open 6"/>
          <p:cNvSpPr/>
          <p:nvPr/>
        </p:nvSpPr>
        <p:spPr>
          <a:xfrm>
            <a:off x="4709160" y="3520440"/>
            <a:ext cx="457200" cy="457200"/>
          </a:xfrm>
          <a:prstGeom prst="ellipse">
            <a:avLst/>
          </a:prstGeom>
          <a:solidFill>
            <a:schemeClr val="accent1"/>
          </a:solidFill>
          <a:ln w="12700">
            <a:solidFill>
              <a:schemeClr val="accent1"/>
            </a:solidFill>
            <a:prstDash val="solid"/>
          </a:ln>
        </p:spPr>
      </p:sp>
      <p:sp>
        <p:nvSpPr>
          <p:cNvPr id="24" name="open num 6"/>
          <p:cNvSpPr txBox="1"/>
          <p:nvPr/>
        </p:nvSpPr>
        <p:spPr>
          <a:xfrm>
            <a:off x="4709160" y="35204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open head 6"/>
          <p:cNvSpPr txBox="1"/>
          <p:nvPr/>
        </p:nvSpPr>
        <p:spPr>
          <a:xfrm>
            <a:off x="5349240" y="347472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Children and fingers</a:t>
            </a:r>
            <a:endParaRPr lang="en-US" sz="1500" dirty="0"/>
          </a:p>
        </p:txBody>
      </p:sp>
      <p:sp>
        <p:nvSpPr>
          <p:cNvPr id="26" name="open body 6"/>
          <p:cNvSpPr txBox="1"/>
          <p:nvPr/>
        </p:nvSpPr>
        <p:spPr>
          <a:xfrm>
            <a:off x="5349240" y="3803904"/>
            <a:ext cx="3337560" cy="777240"/>
          </a:xfrm>
          <a:prstGeom prst="rect">
            <a:avLst/>
          </a:prstGeom>
          <a:noFill/>
          <a:ln/>
        </p:spPr>
        <p:txBody>
          <a:bodyPr wrap="square" lIns="0" tIns="0" rIns="0" bIns="0" rtlCol="0" anchor="t"/>
          <a:lstStyle/>
          <a:p>
            <a:pPr indent="0" marL="0">
              <a:buNone/>
            </a:pPr>
            <a:r>
              <a:rPr lang="en-US" sz="1200" dirty="0">
                <a:solidFill>
                  <a:schemeClr val="tx2"/>
                </a:solidFill>
              </a:rPr>
              <a:t>Next: a 10-epoch balanced-sampler run; for fingers, training on larger hand crops. Otherwise: thesis limitations.</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822960"/>
          </a:xfrm>
          <a:prstGeom prst="rect">
            <a:avLst/>
          </a:prstGeom>
          <a:noFill/>
          <a:ln/>
        </p:spPr>
        <p:txBody>
          <a:bodyPr wrap="square" lIns="0" tIns="0" rIns="0" bIns="0" rtlCol="0"/>
          <a:lstStyle/>
          <a:p>
            <a:pPr algn="l" indent="0" marL="0">
              <a:buNone/>
            </a:pPr>
            <a:r>
              <a:rPr lang="en-US" sz="3600" b="1" dirty="0">
                <a:solidFill>
                  <a:schemeClr val="bg1"/>
                </a:solidFill>
              </a:rPr>
              <a:t>What I claim today, and what I do not</a:t>
            </a:r>
            <a:endParaRPr lang="en-US" sz="3600" dirty="0"/>
          </a:p>
        </p:txBody>
      </p:sp>
      <p:sp>
        <p:nvSpPr>
          <p:cNvPr id="3" name="Text 0"/>
          <p:cNvSpPr/>
          <p:nvPr>
            <p:ph idx="101" type="body" hasCustomPrompt="1"/>
          </p:nvPr>
        </p:nvSpPr>
        <p:spPr>
          <a:xfrm>
            <a:off x="548640" y="1371600"/>
            <a:ext cx="8046720" cy="1783080"/>
          </a:xfrm>
          <a:prstGeom prst="rect">
            <a:avLst/>
          </a:prstGeom>
          <a:noFill/>
          <a:ln/>
        </p:spPr>
        <p:txBody>
          <a:bodyPr wrap="square" lIns="0" tIns="0" rIns="0" bIns="0" rtlCol="0" anchor="t"/>
          <a:lstStyle/>
          <a:p>
            <a:pPr algn="l" indent="0" marL="0">
              <a:buNone/>
            </a:pPr>
            <a:r>
              <a:rPr lang="en-US" sz="1700" b="1" dirty="0">
                <a:solidFill>
                  <a:srgbClr val="F4C95D"/>
                </a:solidFill>
              </a:rPr>
              <a:t>Claimed, measured: </a:t>
            </a:r>
            <a:r>
              <a:rPr lang="en-US" sz="1700" dirty="0">
                <a:solidFill>
                  <a:schemeClr val="bg2"/>
                </a:solidFill>
              </a:rPr>
              <a:t>the failures are not rig or decoding problems. A training-target bug puts people too far away in v5, v9 and v10 (v5: all 222 holdout people); the fix draws bodies much closer to their true size.</a:t>
            </a:r>
            <a:endParaRPr lang="en-US" sz="1700" dirty="0"/>
          </a:p>
          <a:p>
            <a:pPr algn="l" indent="0" marL="0">
              <a:buNone/>
            </a:pPr>
            <a:r>
              <a:rPr lang="en-US" sz="1700" b="1" dirty="0">
                <a:solidFill>
                  <a:srgbClr val="F4C95D"/>
                </a:solidFill>
              </a:rPr>
              <a:t>Not claimed: </a:t>
            </a:r>
            <a:r>
              <a:rPr lang="en-US" sz="1700" dirty="0">
                <a:solidFill>
                  <a:schemeClr val="bg2"/>
                </a:solidFill>
              </a:rPr>
              <a:t>any improvement in neck, fingers or children; correct depths for both near and far people; a fix without cost (likely 2.6–4.9 mm PVE and 1.6–2.4 recall points worse, not yet confirmed).</a:t>
            </a:r>
            <a:endParaRPr lang="en-US" sz="1700" dirty="0"/>
          </a:p>
        </p:txBody>
      </p:sp>
      <p:sp>
        <p:nvSpPr>
          <p:cNvPr id="4" name="question box"/>
          <p:cNvSpPr/>
          <p:nvPr/>
        </p:nvSpPr>
        <p:spPr>
          <a:xfrm>
            <a:off x="548640" y="3291840"/>
            <a:ext cx="8046720" cy="1325880"/>
          </a:xfrm>
          <a:prstGeom prst="rect">
            <a:avLst/>
          </a:prstGeom>
          <a:solidFill>
            <a:srgbClr val="2B3550"/>
          </a:solidFill>
          <a:ln w="12700">
            <a:solidFill>
              <a:srgbClr val="2B3550"/>
            </a:solidFill>
            <a:prstDash val="solid"/>
          </a:ln>
        </p:spPr>
      </p:sp>
      <p:sp>
        <p:nvSpPr>
          <p:cNvPr id="5" name="question bar"/>
          <p:cNvSpPr/>
          <p:nvPr/>
        </p:nvSpPr>
        <p:spPr>
          <a:xfrm>
            <a:off x="548640" y="3291840"/>
            <a:ext cx="73152" cy="1325880"/>
          </a:xfrm>
          <a:prstGeom prst="rect">
            <a:avLst/>
          </a:prstGeom>
          <a:solidFill>
            <a:srgbClr val="F4C95D"/>
          </a:solidFill>
          <a:ln w="12700">
            <a:solidFill>
              <a:srgbClr val="F4C95D"/>
            </a:solidFill>
            <a:prstDash val="solid"/>
          </a:ln>
        </p:spPr>
      </p:sp>
      <p:sp>
        <p:nvSpPr>
          <p:cNvPr id="6" name="question text"/>
          <p:cNvSpPr txBox="1"/>
          <p:nvPr/>
        </p:nvSpPr>
        <p:spPr>
          <a:xfrm>
            <a:off x="822960" y="3364992"/>
            <a:ext cx="7635240" cy="1188720"/>
          </a:xfrm>
          <a:prstGeom prst="rect">
            <a:avLst/>
          </a:prstGeom>
          <a:noFill/>
          <a:ln/>
        </p:spPr>
        <p:txBody>
          <a:bodyPr wrap="square" lIns="0" tIns="0" rIns="0" bIns="0" rtlCol="0" anchor="ctr"/>
          <a:lstStyle/>
          <a:p>
            <a:pPr indent="0" marL="0">
              <a:spcAft>
                <a:spcPts val="400"/>
              </a:spcAft>
              <a:buNone/>
            </a:pPr>
            <a:r>
              <a:rPr lang="en-US" sz="1600" b="1" dirty="0">
                <a:solidFill>
                  <a:srgbClr val="F4C95D"/>
                </a:solidFill>
              </a:rPr>
              <a:t>Question for you</a:t>
            </a:r>
            <a:endParaRPr lang="en-US" sz="1600" dirty="0"/>
          </a:p>
          <a:p>
            <a:pPr indent="0" marL="0">
              <a:buNone/>
            </a:pPr>
            <a:r>
              <a:rPr lang="en-US" sz="1600" dirty="0">
                <a:solidFill>
                  <a:srgbClr val="EEF2F7"/>
                </a:solidFill>
              </a:rPr>
              <a:t>Fine-tune v9 (best on 3DPW) with the fixed targets and depth ×5? From v5 (×5, 10 epochs): drawn size 0.84, root error 0.54 m, at +2.6 mm PVE and −1.6 recall points vs its control. v9 keeps the stuck neck; v10 learns the neck but has worse shoulders and arms.</a:t>
            </a:r>
            <a:endParaRPr lang="en-US" sz="16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Backup: before and after, holdout image 579860</a:t>
            </a:r>
            <a:endParaRPr lang="en-US" sz="2700" dirty="0"/>
          </a:p>
        </p:txBody>
      </p:sp>
      <p:pic>
        <p:nvPicPr>
          <p:cNvPr id="3" name="figure depth_before_after_579860.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579860. Predictions use the model's own depth.</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the real head sticks out above a shrunken mesh</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head level with the truth; mesh cut off at the image edge</a:t>
            </a:r>
            <a:endParaRPr lang="en-US" sz="1100" dirty="0"/>
          </a:p>
        </p:txBody>
      </p:sp>
      <p:sp>
        <p:nvSpPr>
          <p:cNvPr id="7" name="figure footnote"/>
          <p:cNvSpPr txBox="1"/>
          <p:nvPr/>
        </p:nvSpPr>
        <p:spPr>
          <a:xfrm>
            <a:off x="914400" y="4218997"/>
            <a:ext cx="7315200" cy="365760"/>
          </a:xfrm>
          <a:prstGeom prst="rect">
            <a:avLst/>
          </a:prstGeom>
          <a:noFill/>
          <a:ln/>
        </p:spPr>
        <p:txBody>
          <a:bodyPr wrap="square" lIns="0" tIns="0" rIns="0" bIns="0" rtlCol="0" anchor="t"/>
          <a:lstStyle/>
          <a:p>
            <a:pPr indent="0" marL="0">
              <a:buNone/>
            </a:pPr>
            <a:r>
              <a:rPr lang="en-US" sz="1100" b="1" dirty="0">
                <a:solidFill>
                  <a:srgbClr val="1B2233"/>
                </a:solidFill>
              </a:rPr>
              <a:t>Not an exact fit: </a:t>
            </a:r>
            <a:r>
              <a:rPr lang="en-US" sz="1100" dirty="0">
                <a:solidFill>
                  <a:schemeClr val="tx2"/>
                </a:solidFill>
              </a:rPr>
              <a:t>here the fixed mesh is a little larger and wider than the ground truth. The two people in front have no ground-truth mesh, so they are not counted as misses.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MeshDiag">
  <a:themeElements>
    <a:clrScheme name="MeshDiag">
      <a:dk1>
        <a:srgbClr val="1B2233"/>
      </a:dk1>
      <a:lt1>
        <a:srgbClr val="FFFFFF"/>
      </a:lt1>
      <a:dk2>
        <a:srgbClr val="4A5568"/>
      </a:dk2>
      <a:lt2>
        <a:srgbClr val="EEF2F7"/>
      </a:lt2>
      <a:accent1>
        <a:srgbClr val="0E7C86"/>
      </a:accent1>
      <a:accent2>
        <a:srgbClr val="E8792B"/>
      </a:accent2>
      <a:accent3>
        <a:srgbClr val="3BA55D"/>
      </a:accent3>
      <a:accent4>
        <a:srgbClr val="C0392B"/>
      </a:accent4>
      <a:accent5>
        <a:srgbClr val="7B8794"/>
      </a:accent5>
      <a:accent6>
        <a:srgbClr val="F4C95D"/>
      </a:accent6>
      <a:hlink>
        <a:srgbClr val="0E7C86"/>
      </a:hlink>
      <a:folHlink>
        <a:srgbClr val="7B8794"/>
      </a:folHlink>
    </a:clrScheme>
    <a:fontScheme name="MeshDi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Multi-HMR with Anny: diagnostics and fixes</dc:title>
  <dc:subject>PptxGenJS Presentation</dc:subject>
  <dc:creator>Saad Najib</dc:creator>
  <cp:lastModifiedBy>Saad Najib</cp:lastModifiedBy>
  <cp:revision>1</cp:revision>
  <dcterms:created xsi:type="dcterms:W3CDTF">2026-10-14T22:51:27Z</dcterms:created>
  <dcterms:modified xsi:type="dcterms:W3CDTF">2026-10-14T22:51:27Z</dcterms:modified>
</cp:coreProperties>
</file>