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11ac6ad-d168-f72e-c8a6-5e09215fe341}">
          <p14:sldIdLst>
            <p14:sldId id="256"/>
            <p14:sldId id="257"/>
            <p14:sldId id="258"/>
            <p14:sldId id="259"/>
          </p14:sldIdLst>
        </p14:section>
        <p14:section name="Findings" id="{eb439692-77bf-eb95-4cc7-5922b8ea262a}">
          <p14:sldIdLst>
            <p14:sldId id="260"/>
            <p14:sldId id="261"/>
            <p14:sldId id="262"/>
          </p14:sldIdLst>
        </p14:section>
        <p14:section name="Bug" id="{209c6b04-c928-b23d-978c-68147d55c63a}">
          <p14:sldIdLst>
            <p14:sldId id="263"/>
            <p14:sldId id="264"/>
            <p14:sldId id="265"/>
          </p14:sldIdLst>
        </p14:section>
        <p14:section name="Next" id="{e4ab9d55-57b6-c468-18bf-d518cc113d96}">
          <p14:sldIdLst>
            <p14:sldId id="266"/>
            <p14:sldId id="267"/>
            <p14:sldId id="268"/>
            <p14:sldId id="269"/>
          </p14:sldIdLst>
        </p14:section>
        <p14:section name="Appendix" id="{5d03344e-044c-2ec1-6ab2-59303d80276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what I measured about the neck, the fingers and the children, one bug nobody was looking for and its fix, and what is still open. I will say clearly what is measured and what is only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I found a fixed rotation error in the v5 models, but I have not yet shown that it causes the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Only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8; I have not repeated the overfit test with the fix. Second, the rotation loss barely moved, from 44.6 to 40.8. That is a sum over all 75 bones, so it does not isolate the neck; it may be related to the stuck neck on the next slide,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neck length is right, 99 percent of the truth, and with the true shape it is exact. The problem is the rotation of each neck bone relative to its parent. In v5, v9 and all six pilot runs, the three neck bones are on average 63 degrees off, head and jaw 90. In v5 that is the same for every person, within about 1.5 degrees: a fixed offset, not noise. 150 thousand more steps in v9 did not change it, and neither did a pilot that gave head and neck a third of the rotation loss. v10 gets these bones right, 5 and 4 degrees, so the loss can teach the neck, but v10 is worse elsewhere. Its history differs: v5 first trained on a frozen backbone with the helper bones unmasked; masking and the neck boost came later. The head points 12 degrees off on the holdout, 8.6 on the held-out test cases and about 20 on the 40 training test cases. I do not know the cause. My guess: the loss compares rotation matrices number by number and can stick near a 180-degree flip; a neck bone and the head flipped about the same axis would cancel, so the head can still point within 12 degrees. The depth bug cannot cause the neck look: the demos place each body from its detection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Per person that magnifies the hands by 1.6 times on median, and by 2.5 times or more for a quarter of the people; 26 percent of the people are not magnified at all. The table compares median hand sizes, so it shows a slightly larger factor.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percent, which includes the four-times hand boost, to 33 percent; without the boost the share would be 40. So it does not test giving the fingers more weight, and the earlier four-times hand boost did not help either. My best guess is supervision or model capacity, but that is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If Anny's default age scale holds, that is about 4 years instead of about 1.5, so too old but still clearly a child. I have not yet checked that scale against the installed Anny, so the years are approximate. The ten children in the training manifest also come out too old, by 0.078 on average. With their true shape, their error falls from 47.8 to 41.6 millimetres, so 6.2 millimetres of it is shape. Only 2 percent of training people are children, so I tried a sampler that shows about 10 percent. In a 2-epoch fine-tune nothing changed, not for the training children and not on real photos: five small people still get an adult age, 0.57 to 0.67 across the two arms, which would be about 21 to 25 years. That is a short run on few people, so it shows no effect, not that there can be none. My best guess is a gap between synthetic and real images, plus an old-age bias that shows even on training children; neither is tested. There are no labelled real children, and the 3DPW labels fix age at one adult value. The next step is a 10-epoch balanced-sampler run; if that also shows nothing, it goes into the thesis as a limitation. The holdout has no children, so every synthetic child number is in-sample.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either.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gt_center_joint person_center: build the training targets at the head, the joint the model anchors. Each fix run has a control with the same schedule and the switch off; the stronger-loss runs have no control at the same weight. I report the 3D root error. The mean signed depth offset fell from 1.08 to 0.39 metres, but after the fix near people are too far and far people too near, and these cancel in that mean, so it flatters the fix. The head now lands within about 8 pixels, as expected, because the target moved to the head. With the depth loss five times stronger for 10 epochs, the root error falls from 1.21 to 0.54 metres and bodies are drawn at 84 percent of their true size; twenty times for 2 epochs ties with it, and the controls stay at 1.11 to 1.44. But the slope stays near 0.4: predictions are pulled toward about 2.5 metres, and why the model cannot separate near from far, I do not know. Every fix run is worse than its control in PVE and recall, and the pelvis 2D error got worse too. Each difference is inside pilot noise, but all point the same way, so I count it as a likely cost. The twenty-times 10-epoch run has no result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on the same 100-image holdout and manifest, with helper bones masked. The stronger age loss and the stronger depth loss were not separately controlled: both children arms used the same age and height weights, and the depth runs at five and twenty times have no control at the same weight. Depth: by its own success rule the experiment failed. The slope did not move toward 1: it is 0.30 with the switch alone and 0.38 with the five-times depth loss. PVE is 74.8, against 72.2 for the control and 70.5 for v5.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and its PVE and recall guard failed. There is no fixed random seed: two identical runs differed by 7.6 millimetres PVE and 1.9 degrees of head error, so one pilot only detects about 10 millimetres, 3 degrees or 2 recall points. Restarting the fine-tune alone costs about 2.4 millimetres. A 2-epoch pilot trains in about 12 minutes, a 10-epoch run in about one hour. No new architecture, because the diagnostics do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74.3 in the thesis draft came from the unmasked evaluation.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this week. The repository is reorganised with everything scripted, so any of these numbers can be produced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are still open. First, the neck: the error of each neck bone, split into twist and swing, an error on the neck skin only, and traces of checkpoint 299 and of v3, to see when the offset appeared. Second, the depth slope: why near and far are not separated is unknown. The training depths so far come from small samples, batch means of about 2.5 to 3.2 metres, so I will measure them properly, and measure the fix run's slope on training images; for v5 it was just as low there. Third, the cost of the fix: paired PVE on the same people, recall over people whose head is visible, the fix on 3DPW, and the root error next to PVE in the thesis. The twenty-times 10-epoch run has no result yet. Fourth, pilot noise: fix the seed or repeat the key run. Fifth, people very close to the camera: both models miss them in 4 of the 12 rendered images; likely a detection problem, not yet counted. Sixth, children and fingers: one 2-epoch test is not enough to close them. Next is a 10-epoch balanced-sampler run, and for the fingers training on larger hand crops. If those show nothing too, both go into the thesis as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measured: the failures are not rig or decoding problems. A training-target bug puts people too far away in v5, v9 and v10; in v5 it is all 222 holdout people. The fix draws the bodies much closer to their true size, but near and far are still not separated well, and it likely costs 3 to 5 millimetres PVE and about 2 points of recall: each run alone is inside the noise, but all point the same way. I do not claim any improvement in the neck, the fingers or the children. My question: should I fine-tune v9, our best model on 3DPW, with the corrected targets and the depth loss five times stronger, before the thesis numbers are final? That is about one hour of training. From v5 I expect a drawn size of about 0.84 and a root error of about half a metre. Five, not twenty, because the twenty-times 10-epoch run has no result yet. A v9 fine-tune keeps the stuck neck; v10 learns the neck but has worse shoulders and arms. Either fine-tune should also mask the 3DPW finger labels, which are set to the rest pose, with mask_3dpw_hands. The ViT-S students use the same training code and are probably affected too; not measured. On the AnnyOne holdout v9 is not the best: 77.0 against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mesh is close to his height, slightly larger; the after mesh is cut off at the bottom of the image, so I cannot measure its full height. Here the fixed mesh is a little larger and wider than the ground truth, so I do not call it an exact fit. The two large people in front have no ground-truth mesh either, so they are not counted as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371600"/>
            <a:ext cx="8046720" cy="1783080"/>
          </a:xfrm>
          <a:prstGeom prst="rect">
            <a:avLst/>
          </a:prstGeom>
          <a:noFill/>
          <a:ln/>
        </p:spPr>
        <p:txBody>
          <a:bodyPr wrap="square" rtlCol="0"/>
          <a:lstStyle>
            <a:lvl1pPr algn="l" indent="0" marL="0">
              <a:buNone/>
              <a:defRPr lang="en-US" sz="1700" dirty="0">
                <a:solidFill>
                  <a:schemeClr val="bg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Neck, 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The v5 models are stuck at a fixed neck-bone rotation error. Whether that causes the look is not yet shown.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new loss weighting did not help.</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Labels render onto the people; camera matches on 100% of images.</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8).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right length, but the v5 models are stuck</a:t>
            </a:r>
            <a:endParaRPr lang="en-US" sz="2700" dirty="0"/>
          </a:p>
        </p:txBody>
      </p:sp>
      <p:sp>
        <p:nvSpPr>
          <p:cNvPr id="3" name="stat predicted neck length vs truth (holdout); with the true shape it is exa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1"/>
                </a:solidFill>
              </a:rPr>
              <a:t>99%</a:t>
            </a:r>
            <a:endParaRPr lang="en-US" sz="4000" dirty="0"/>
          </a:p>
        </p:txBody>
      </p:sp>
      <p:sp>
        <p:nvSpPr>
          <p:cNvPr id="4" name="label predicted neck length vs truth (holdout); with the true shape it is exa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neck length vs truth (holdout); with the true shape it is exact</a:t>
            </a:r>
            <a:endParaRPr lang="en-US" sz="1300" dirty="0"/>
          </a:p>
        </p:txBody>
      </p:sp>
      <p:sp>
        <p:nvSpPr>
          <p:cNvPr id="5" name="stat neck bones / head + jaw, rotation vs parent bone: v5, v9, all pilots (±1.5° per person)"/>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63° / 90°</a:t>
            </a:r>
            <a:endParaRPr lang="en-US" sz="4000" dirty="0"/>
          </a:p>
        </p:txBody>
      </p:sp>
      <p:sp>
        <p:nvSpPr>
          <p:cNvPr id="6" name="label neck bones / head + jaw, rotation vs parent bone: v5, v9, all pilots (±1.5° per person)"/>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neck bones / head + jaw, rotation vs parent bone: v5, v9, all pilots (±1.5° per person)</a:t>
            </a:r>
            <a:endParaRPr lang="en-US" sz="1300" dirty="0"/>
          </a:p>
        </p:txBody>
      </p:sp>
      <p:sp>
        <p:nvSpPr>
          <p:cNvPr id="7" name="stat v10, same bones; but holdout PVE 74.1 vs 70.5 mm, shoulders 50°, arms 36°"/>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1"/>
                </a:solidFill>
              </a:rPr>
              <a:t>5° / 4°</a:t>
            </a:r>
            <a:endParaRPr lang="en-US" sz="4000" dirty="0"/>
          </a:p>
        </p:txBody>
      </p:sp>
      <p:sp>
        <p:nvSpPr>
          <p:cNvPr id="8" name="label v10, same bones; but holdout PVE 74.1 vs 70.5 mm, shoulders 50°, arms 36°"/>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v10, same bones; but holdout PVE 74.1 vs 70.5 mm, shoulders 50°, arms 36°</a:t>
            </a:r>
            <a:endParaRPr lang="en-US" sz="1300" dirty="0"/>
          </a:p>
        </p:txBody>
      </p:sp>
      <p:sp>
        <p:nvSpPr>
          <p:cNvPr id="9" name="neck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neck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v10 learns these bones with the same loss: </a:t>
            </a:r>
            <a:r>
              <a:rPr lang="en-US" sz="1200" dirty="0">
                <a:solidFill>
                  <a:schemeClr val="tx1"/>
                </a:solidFill>
              </a:rPr>
              <a:t>it used the final recipe from the start (masked, no boost, 3DPW); v5 went through a frozen-backbone stage first.</a:t>
            </a:r>
            <a:endParaRPr lang="en-US" sz="1200" dirty="0"/>
          </a:p>
          <a:p>
            <a:pPr marL="177800" indent="-177800">
              <a:spcAft>
                <a:spcPts val="300"/>
              </a:spcAft>
              <a:buSzPct val="100000"/>
              <a:buChar char="•"/>
            </a:pPr>
            <a:r>
              <a:rPr lang="en-US" sz="1200" b="1" dirty="0">
                <a:solidFill>
                  <a:schemeClr val="tx1"/>
                </a:solidFill>
              </a:rPr>
              <a:t>v5 and its fine-tunes are stuck: </a:t>
            </a:r>
            <a:r>
              <a:rPr lang="en-US" sz="1200" dirty="0">
                <a:solidFill>
                  <a:schemeClr val="tx1"/>
                </a:solidFill>
              </a:rPr>
              <a:t>150,000 more steps in v9 changed nothing, nor did a pilot that gave head and neck a third of the rotation loss. Head direction: 12° off on the holdout.</a:t>
            </a:r>
            <a:endParaRPr lang="en-US" sz="1200" dirty="0"/>
          </a:p>
          <a:p>
            <a:pPr marL="177800" indent="-177800">
              <a:spcAft>
                <a:spcPts val="300"/>
              </a:spcAft>
              <a:buSzPct val="100000"/>
              <a:buChar char="•"/>
            </a:pPr>
            <a:r>
              <a:rPr lang="en-US" sz="1200" b="1" dirty="0">
                <a:solidFill>
                  <a:schemeClr val="tx1"/>
                </a:solidFill>
              </a:rPr>
              <a:t>Not the depth bug: </a:t>
            </a:r>
            <a:r>
              <a:rPr lang="en-US" sz="1200" dirty="0">
                <a:solidFill>
                  <a:schemeClr val="tx1"/>
                </a:solidFill>
              </a:rPr>
              <a:t>the neck montage and real-photo demos place each body from its detection box (--anchor_to_box 1).</a:t>
            </a:r>
            <a:endParaRPr lang="en-US" sz="1200" dirty="0"/>
          </a:p>
          <a:p>
            <a:pPr marL="177800" indent="-177800">
              <a:spcAft>
                <a:spcPts val="300"/>
              </a:spcAft>
              <a:buSzPct val="100000"/>
              <a:buChar char="•"/>
            </a:pPr>
            <a:r>
              <a:rPr lang="en-US" sz="1200" b="1" dirty="0">
                <a:solidFill>
                  <a:schemeClr val="tx1"/>
                </a:solidFill>
              </a:rPr>
              <a:t>Cause unknown. Best guess, not tested: </a:t>
            </a:r>
            <a:r>
              <a:rPr lang="en-US" sz="1200" dirty="0">
                <a:solidFill>
                  <a:schemeClr val="tx1"/>
                </a:solidFill>
              </a:rPr>
              <a:t>the loss compares rotation matrices number by number and can stick near a 180° flip (one of 3 neck bones flipped: mean near 63°; head or jaw flipped: near 90°).</a:t>
            </a:r>
            <a:endParaRPr lang="en-US" sz="1200" dirty="0"/>
          </a:p>
          <a:p>
            <a:pPr marL="177800" indent="-177800">
              <a:spcAft>
                <a:spcPts val="300"/>
              </a:spcAft>
              <a:buSzPct val="100000"/>
              <a:buChar char="•"/>
            </a:pPr>
            <a:r>
              <a:rPr lang="en-US" sz="1200" b="1" dirty="0">
                <a:solidFill>
                  <a:schemeClr val="tx1"/>
                </a:solidFill>
              </a:rPr>
              <a:t>Not yet shown </a:t>
            </a:r>
            <a:r>
              <a:rPr lang="en-US" sz="1200" dirty="0">
                <a:solidFill>
                  <a:schemeClr val="tx1"/>
                </a:solidFill>
              </a:rPr>
              <a:t>that this offset makes necks look wrong; PVE_hn cannot tell (91% of its vertices are on the head).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new loss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(no retraining)</a:t>
            </a:r>
            <a:endParaRPr lang="en-US" sz="1300" dirty="0"/>
          </a:p>
        </p:txBody>
      </p:sp>
      <p:graphicFrame>
        <p:nvGraphicFramePr>
          <p:cNvPr id="7"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buNone/>
            </a:pPr>
            <a:r>
              <a:rPr lang="en-US" sz="1200" b="1" dirty="0">
                <a:solidFill>
                  <a:schemeClr val="tx1"/>
                </a:solidFill>
              </a:rPr>
              <a:t>Reading. </a:t>
            </a:r>
            <a:r>
              <a:rPr lang="en-US" sz="1200" dirty="0">
                <a:solidFill>
                  <a:schemeClr val="tx1"/>
                </a:solidFill>
              </a:rPr>
              <a:t>Predicting fingers is worse than not predicting them. Test-time zoom, no retraining: 17.2° vs 17.3°, while body error nearly doubles on these crops. A loss that cut the hands' share of the rotation loss from about 70% (with the ×4 hand boost; 40% without) to 33%: 17.5° vs 17.4° for its control. Not tested: a model trained on larger hands.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both arms: adult range"/>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both arms: adult range"/>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both arms: adult range</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is not enough to call it a limitation.</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Years, if Anny's default age scale holds (not yet checked): 0 = 1 y, 0.33 = 11 y, 0.67 = 25 y.</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ctr"/>
          <a:lstStyle/>
          <a:p>
            <a:pPr indent="0" marL="0">
              <a:buNone/>
            </a:pPr>
            <a:r>
              <a:rPr lang="en-US" sz="2400" b="1" dirty="0">
                <a:solidFill>
                  <a:schemeClr val="accent4"/>
                </a:solidFill>
              </a:rPr>
              <a:t>0.33 × true + 2.36 m</a:t>
            </a:r>
            <a:endParaRPr lang="en-US" sz="24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targets at the head make the bodies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2"/>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640080" y="4218997"/>
            <a:ext cx="786384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this one has no missed ground-truth person. Blue mesh: 0.95 of true height. Colours follow detection order.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1"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1051560"/>
                <a:gridCol w="1051560"/>
                <a:gridCol w="1051560"/>
                <a:gridCol w="1051560"/>
                <a:gridCol w="1051560"/>
                <a:gridCol w="1051560"/>
              </a:tblGrid>
              <a:tr h="210312">
                <a:tc gridSpan="2">
                  <a:txBody>
                    <a:bodyPr/>
                    <a:lstStyle/>
                    <a:p>
                      <a:pPr indent="0" marL="0">
                        <a:buNone/>
                      </a:pPr>
                      <a:endParaRPr lang="en-US" sz="1100" dirty="0"/>
                    </a:p>
                  </a:txBody>
                  <a:tcPr marL="54864" marR="54864"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000" b="1" dirty="0">
                          <a:solidFill>
                            <a:srgbClr val="FFFFFF"/>
                          </a:solidFill>
                        </a:rPr>
                        <a:t>10-epoch fine-tunes</a:t>
                      </a:r>
                      <a:endParaRPr lang="en-US" sz="1000" dirty="0"/>
                    </a:p>
                  </a:txBody>
                  <a:tcPr marL="54864" marR="54864"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2">
                  <a:txBody>
                    <a:bodyPr/>
                    <a:lstStyle/>
                    <a:p>
                      <a:pPr algn="ctr" indent="0" marL="0">
                        <a:buNone/>
                      </a:pPr>
                      <a:r>
                        <a:rPr lang="en-US" sz="1000" b="1" dirty="0">
                          <a:solidFill>
                            <a:srgbClr val="FFFFFF"/>
                          </a:solidFill>
                        </a:rPr>
                        <a:t>2-epoch fine-tunes</a:t>
                      </a:r>
                      <a:endParaRPr lang="en-US" sz="1000" dirty="0"/>
                    </a:p>
                  </a:txBody>
                  <a:tcPr marL="54864" marR="54864"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baseline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0312">
                <a:tc>
                  <a:txBody>
                    <a:bodyPr/>
                    <a:lstStyle/>
                    <a:p>
                      <a:pPr algn="l" indent="0" marL="0">
                        <a:buNone/>
                      </a:pPr>
                      <a:r>
                        <a:rPr lang="en-US" sz="1100" b="1" dirty="0">
                          <a:solidFill>
                            <a:srgbClr val="1B2233"/>
                          </a:solidFill>
                        </a:rPr>
                        <a:t>root error (3D)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0312">
                <a:tc>
                  <a:txBody>
                    <a:bodyPr/>
                    <a:lstStyle/>
                    <a:p>
                      <a:pPr algn="l" indent="0" marL="0">
                        <a:buNone/>
                      </a:pPr>
                      <a:r>
                        <a:rPr lang="en-US" sz="1100" b="1" dirty="0">
                          <a:solidFill>
                            <a:srgbClr val="1B2233"/>
                          </a:solidFill>
                        </a:rPr>
                        <a:t>depth slope (1 = perfect)</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0312">
                <a:tc>
                  <a:txBody>
                    <a:bodyPr/>
                    <a:lstStyle/>
                    <a:p>
                      <a:pPr algn="l" indent="0" marL="0">
                        <a:buNone/>
                      </a:pPr>
                      <a:r>
                        <a:rPr lang="en-US" sz="1100" b="1" dirty="0">
                          <a:solidFill>
                            <a:srgbClr val="1B2233"/>
                          </a:solidFill>
                        </a:rPr>
                        <a:t>drawn size (1 = right)</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0312">
                <a:tc>
                  <a:txBody>
                    <a:bodyPr/>
                    <a:lstStyle/>
                    <a:p>
                      <a:pPr algn="l" indent="0" marL="0">
                        <a:buNone/>
                      </a:pPr>
                      <a:r>
                        <a:rPr lang="en-US" sz="1100" b="1" dirty="0">
                          <a:solidFill>
                            <a:srgbClr val="1B2233"/>
                          </a:solidFill>
                        </a:rPr>
                        <a:t>head pixel error</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0312">
                <a:tc>
                  <a:txBody>
                    <a:bodyPr/>
                    <a:lstStyle/>
                    <a:p>
                      <a:pPr algn="l" indent="0" marL="0">
                        <a:buNone/>
                      </a:pPr>
                      <a:r>
                        <a:rPr lang="en-US" sz="1100" b="1" dirty="0">
                          <a:solidFill>
                            <a:srgbClr val="1B2233"/>
                          </a:solidFill>
                        </a:rPr>
                        <a:t>pelvis pixel error</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0312">
                <a:tc>
                  <a:txBody>
                    <a:bodyPr/>
                    <a:lstStyle/>
                    <a:p>
                      <a:pPr algn="l" indent="0" marL="0">
                        <a:buNone/>
                      </a:pPr>
                      <a:r>
                        <a:rPr lang="en-US" sz="1100" b="1" dirty="0">
                          <a:solidFill>
                            <a:srgbClr val="1B2233"/>
                          </a:solidFill>
                        </a:rPr>
                        <a:t>PVE (pelvis-centred)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0312">
                <a:tc>
                  <a:txBody>
                    <a:bodyPr/>
                    <a:lstStyle/>
                    <a:p>
                      <a:pPr algn="l" indent="0" marL="0">
                        <a:buNone/>
                      </a:pPr>
                      <a:r>
                        <a:rPr lang="en-US" sz="1100" b="1" dirty="0">
                          <a:solidFill>
                            <a:srgbClr val="1B2233"/>
                          </a:solidFill>
                        </a:rPr>
                        <a:t>recall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54864" marR="54864"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072384"/>
            <a:ext cx="8229600" cy="347472"/>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depth loss weight. Controls: root targets, depth ×1, same schedule (none at ×5 / ×20). Root error: 3D distance of the predicted to the true root joint (pelvis). Drawn size: predicted / true head-to-pelvis px.</a:t>
            </a:r>
            <a:endParaRPr lang="en-US" sz="1100" dirty="0"/>
          </a:p>
        </p:txBody>
      </p:sp>
      <p:sp>
        <p:nvSpPr>
          <p:cNvPr id="5" name="fix text"/>
          <p:cNvSpPr txBox="1"/>
          <p:nvPr/>
        </p:nvSpPr>
        <p:spPr>
          <a:xfrm>
            <a:off x="457200" y="3474720"/>
            <a:ext cx="8229600" cy="1207008"/>
          </a:xfrm>
          <a:prstGeom prst="rect">
            <a:avLst/>
          </a:prstGeom>
          <a:noFill/>
          <a:ln/>
        </p:spPr>
        <p:txBody>
          <a:bodyPr wrap="square" lIns="0" tIns="0" rIns="0" bIns="0" rtlCol="0" anchor="t"/>
          <a:lstStyle/>
          <a:p>
            <a:pPr marL="177800" indent="-177800">
              <a:spcAft>
                <a:spcPts val="200"/>
              </a:spcAft>
              <a:buSzPct val="100000"/>
              <a:buChar char="•"/>
            </a:pPr>
            <a:r>
              <a:rPr lang="en-US" sz="1200" b="1" dirty="0">
                <a:solidFill>
                  <a:schemeClr val="tx1"/>
                </a:solidFill>
              </a:rPr>
              <a:t>Works: </a:t>
            </a:r>
            <a:r>
              <a:rPr lang="en-US" sz="1200" dirty="0">
                <a:solidFill>
                  <a:schemeClr val="tx1"/>
                </a:solidFill>
              </a:rPr>
              <a:t>head error 7–9 px (controls 58–64); root error 0.53–0.73 m in all five fix runs vs 1.11–1.44 m for the controls.</a:t>
            </a:r>
            <a:endParaRPr lang="en-US" sz="1200" dirty="0"/>
          </a:p>
          <a:p>
            <a:pPr marL="177800" indent="-177800">
              <a:spcAft>
                <a:spcPts val="200"/>
              </a:spcAft>
              <a:buSzPct val="100000"/>
              <a:buChar char="•"/>
            </a:pPr>
            <a:r>
              <a:rPr lang="en-US" sz="1200" b="1" dirty="0">
                <a:solidFill>
                  <a:schemeClr val="tx1"/>
                </a:solidFill>
              </a:rPr>
              <a:t>Not fixed: </a:t>
            </a:r>
            <a:r>
              <a:rPr lang="en-US" sz="1200" dirty="0">
                <a:solidFill>
                  <a:schemeClr val="tx1"/>
                </a:solidFill>
              </a:rPr>
              <a:t>slope about 0.4: predictions are pulled toward about 2.5 m, near the estimated training average, while holdout people are nearer (1.9 m). Why near and far are not separated is unknown. Longer training lowers root error (×5: 0.66 → 0.54 m), not the slope (0.44 → 0.38).</a:t>
            </a:r>
            <a:endParaRPr lang="en-US" sz="1200" dirty="0"/>
          </a:p>
          <a:p>
            <a:pPr marL="177800" indent="-177800">
              <a:spcAft>
                <a:spcPts val="2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recall −1.6 to −2.4 points). Each alone is inside pilot noise, but all point the same way.</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2"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stays near v5 (70.5 mm)</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slope 0.30 (switch alone) / 0.38 (×5), not near 1; PVE 74.8 mm (control 72.2, v5 70.5). Outside the rule, clearly better: root error 1.21 → 0.54 m, drawn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and the PVE / recall guard fails. Neck bones unchanged (62.5°)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(15.2° in this evaluation)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767328"/>
            <a:ext cx="8229600" cy="896112"/>
          </a:xfrm>
          <a:prstGeom prst="roundRect">
            <a:avLst>
              <a:gd name="adj" fmla="val 8163"/>
            </a:avLst>
          </a:prstGeom>
          <a:solidFill>
            <a:schemeClr val="bg2"/>
          </a:solidFill>
          <a:ln w="12700">
            <a:solidFill>
              <a:schemeClr val="bg2"/>
            </a:solidFill>
            <a:prstDash val="solid"/>
          </a:ln>
        </p:spPr>
      </p:sp>
      <p:sp>
        <p:nvSpPr>
          <p:cNvPr id="5" name="noise text"/>
          <p:cNvSpPr txBox="1"/>
          <p:nvPr/>
        </p:nvSpPr>
        <p:spPr>
          <a:xfrm>
            <a:off x="640080" y="3803904"/>
            <a:ext cx="7863840" cy="822960"/>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of the fix runs (0.53–0.73 m vs 1.11–1.44 m for the controls) is far outside this noise.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0E7C86"/>
          </a:solidFill>
          <a:ln w="12700">
            <a:solidFill>
              <a:srgbClr val="0E7C86"/>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dirty="0">
                <a:solidFill>
                  <a:schemeClr val="tx2"/>
                </a:solidFill>
              </a:rPr>
              <a:t>AnnyOne holdout PVE is 70.5 mm with helper bones masked, as in the demos (V1). The 74.3 mm in the thesis draft is the unmasked evaluation (+3.8 mm paired).</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841248"/>
          </a:xfrm>
          <a:prstGeom prst="rect">
            <a:avLst/>
          </a:prstGeom>
          <a:noFill/>
          <a:ln/>
        </p:spPr>
        <p:txBody>
          <a:bodyPr wrap="square" lIns="0" tIns="0" rIns="0" bIns="0" rtlCol="0" anchor="t"/>
          <a:lstStyle/>
          <a:p>
            <a:pPr indent="0" marL="0">
              <a:buNone/>
            </a:pPr>
            <a:r>
              <a:rPr lang="en-US" sz="1200" dirty="0">
                <a:solidFill>
                  <a:schemeClr val="tx2"/>
                </a:solidFill>
              </a:rPr>
              <a:t>Neck, fingers, children: no longer called rig or decoding problems. The README's Known-defects section documents the depth bug. README, findings and handover still carry last week's neck story; I correct them this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7B8794"/>
          </a:solidFill>
          <a:ln w="12700">
            <a:solidFill>
              <a:srgbClr val="7B8794"/>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216152"/>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2161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70432"/>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offset in the v5 models</a:t>
            </a:r>
            <a:endParaRPr lang="en-US" sz="1500" dirty="0"/>
          </a:p>
        </p:txBody>
      </p:sp>
      <p:sp>
        <p:nvSpPr>
          <p:cNvPr id="6" name="open body 1"/>
          <p:cNvSpPr txBox="1"/>
          <p:nvPr/>
        </p:nvSpPr>
        <p:spPr>
          <a:xfrm>
            <a:off x="1097280" y="1499616"/>
            <a:ext cx="3337560" cy="777240"/>
          </a:xfrm>
          <a:prstGeom prst="rect">
            <a:avLst/>
          </a:prstGeom>
          <a:noFill/>
          <a:ln/>
        </p:spPr>
        <p:txBody>
          <a:bodyPr wrap="square" lIns="0" tIns="0" rIns="0" bIns="0" rtlCol="0" anchor="t"/>
          <a:lstStyle/>
          <a:p>
            <a:pPr indent="0" marL="0">
              <a:buNone/>
            </a:pPr>
            <a:r>
              <a:rPr lang="en-US" sz="1200" dirty="0">
                <a:solidFill>
                  <a:schemeClr val="tx2"/>
                </a:solidFill>
              </a:rPr>
              <a:t>Why stuck at 63° / 90°? Next: error per bone (neck01–03, head, jaw; twist and swing), a neck-skin error, traces of checkpoint 00299 (before masking) and v3 (probably before the boost).</a:t>
            </a:r>
            <a:endParaRPr lang="en-US" sz="1200" dirty="0"/>
          </a:p>
        </p:txBody>
      </p:sp>
      <p:sp>
        <p:nvSpPr>
          <p:cNvPr id="7" name="open 2"/>
          <p:cNvSpPr/>
          <p:nvPr/>
        </p:nvSpPr>
        <p:spPr>
          <a:xfrm>
            <a:off x="4709160" y="1216152"/>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2161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70432"/>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near 0.4</a:t>
            </a:r>
            <a:endParaRPr lang="en-US" sz="1500" dirty="0"/>
          </a:p>
        </p:txBody>
      </p:sp>
      <p:sp>
        <p:nvSpPr>
          <p:cNvPr id="10" name="open body 2"/>
          <p:cNvSpPr txBox="1"/>
          <p:nvPr/>
        </p:nvSpPr>
        <p:spPr>
          <a:xfrm>
            <a:off x="5349240" y="1499616"/>
            <a:ext cx="3337560" cy="777240"/>
          </a:xfrm>
          <a:prstGeom prst="rect">
            <a:avLst/>
          </a:prstGeom>
          <a:noFill/>
          <a:ln/>
        </p:spPr>
        <p:txBody>
          <a:bodyPr wrap="square" lIns="0" tIns="0" rIns="0" bIns="0" rtlCol="0" anchor="t"/>
          <a:lstStyle/>
          <a:p>
            <a:pPr indent="0" marL="0">
              <a:buNone/>
            </a:pPr>
            <a:r>
              <a:rPr lang="en-US" sz="1200" dirty="0">
                <a:solidFill>
                  <a:schemeClr val="tx2"/>
                </a:solidFill>
              </a:rPr>
              <a:t>Why near and far are not separated is unknown. Measure training depths properly (small samples so far: about 2.5–3.2 m) and the fix run's slope on training images (v5: just as low there).</a:t>
            </a:r>
            <a:endParaRPr lang="en-US" sz="1200" dirty="0"/>
          </a:p>
        </p:txBody>
      </p:sp>
      <p:sp>
        <p:nvSpPr>
          <p:cNvPr id="11" name="open 3"/>
          <p:cNvSpPr/>
          <p:nvPr/>
        </p:nvSpPr>
        <p:spPr>
          <a:xfrm>
            <a:off x="457200" y="2368296"/>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3682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322576"/>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651760"/>
            <a:ext cx="3337560" cy="7772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over head-visible people; the fix on 3DPW; root error next to PVE in the thesis. The ×20 10-epoch run: no result yet.</a:t>
            </a:r>
            <a:endParaRPr lang="en-US" sz="1200" dirty="0"/>
          </a:p>
        </p:txBody>
      </p:sp>
      <p:sp>
        <p:nvSpPr>
          <p:cNvPr id="15" name="open 4"/>
          <p:cNvSpPr/>
          <p:nvPr/>
        </p:nvSpPr>
        <p:spPr>
          <a:xfrm>
            <a:off x="4709160" y="2368296"/>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3682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322576"/>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651760"/>
            <a:ext cx="3337560" cy="7772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52044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3474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803904"/>
            <a:ext cx="3337560" cy="777240"/>
          </a:xfrm>
          <a:prstGeom prst="rect">
            <a:avLst/>
          </a:prstGeom>
          <a:noFill/>
          <a:ln/>
        </p:spPr>
        <p:txBody>
          <a:bodyPr wrap="square" lIns="0" tIns="0" rIns="0" bIns="0" rtlCol="0" anchor="t"/>
          <a:lstStyle/>
          <a:p>
            <a:pPr indent="0" marL="0">
              <a:buNone/>
            </a:pPr>
            <a:r>
              <a:rPr lang="en-US" sz="1200" dirty="0">
                <a:solidFill>
                  <a:schemeClr val="tx2"/>
                </a:solidFill>
              </a:rPr>
              <a:t>Both models miss them (seen in 4 of 12 rendered images, not yet counted), so the fix did not cause it. Likely a detection problem.</a:t>
            </a:r>
            <a:endParaRPr lang="en-US" sz="1200" dirty="0"/>
          </a:p>
        </p:txBody>
      </p:sp>
      <p:sp>
        <p:nvSpPr>
          <p:cNvPr id="23" name="open 6"/>
          <p:cNvSpPr/>
          <p:nvPr/>
        </p:nvSpPr>
        <p:spPr>
          <a:xfrm>
            <a:off x="4709160" y="352044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3474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803904"/>
            <a:ext cx="3337560" cy="777240"/>
          </a:xfrm>
          <a:prstGeom prst="rect">
            <a:avLst/>
          </a:prstGeom>
          <a:noFill/>
          <a:ln/>
        </p:spPr>
        <p:txBody>
          <a:bodyPr wrap="square" lIns="0" tIns="0" rIns="0" bIns="0" rtlCol="0" anchor="t"/>
          <a:lstStyle/>
          <a:p>
            <a:pPr indent="0" marL="0">
              <a:buNone/>
            </a:pPr>
            <a:r>
              <a:rPr lang="en-US" sz="1200" dirty="0">
                <a:solidFill>
                  <a:schemeClr val="tx2"/>
                </a:solidFill>
              </a:rPr>
              <a:t>One 2-epoch test is not enough. Next: a 10-epoch balanced-sampler run; for fingers, training on larger hand crops. Otherwise both go into the thesis as limitations.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371600"/>
            <a:ext cx="8046720" cy="1783080"/>
          </a:xfrm>
          <a:prstGeom prst="rect">
            <a:avLst/>
          </a:prstGeom>
          <a:noFill/>
          <a:ln/>
        </p:spPr>
        <p:txBody>
          <a:bodyPr wrap="square" lIns="0" tIns="0" rIns="0" bIns="0" rtlCol="0" anchor="t"/>
          <a:lstStyle/>
          <a:p>
            <a:pPr algn="l" indent="0" marL="0">
              <a:buNone/>
            </a:pPr>
            <a:r>
              <a:rPr lang="en-US" sz="1700" b="1" dirty="0">
                <a:solidFill>
                  <a:srgbClr val="F4C95D"/>
                </a:solidFill>
              </a:rPr>
              <a:t>Claimed, measured: </a:t>
            </a:r>
            <a:r>
              <a:rPr lang="en-US" sz="1700" dirty="0">
                <a:solidFill>
                  <a:schemeClr val="bg2"/>
                </a:solidFill>
              </a:rPr>
              <a:t>the failures are not rig or decoding problems. A training-target bug puts people too far away in v5, v9 and v10 (v5: all 222 holdout people); the fix draws bodies much closer to their true size.</a:t>
            </a:r>
            <a:endParaRPr lang="en-US" sz="1700" dirty="0"/>
          </a:p>
          <a:p>
            <a:pPr algn="l" indent="0" marL="0">
              <a:buNone/>
            </a:pPr>
            <a:r>
              <a:rPr lang="en-US" sz="1700" b="1" dirty="0">
                <a:solidFill>
                  <a:srgbClr val="F4C95D"/>
                </a:solidFill>
              </a:rPr>
              <a:t>Not claimed: </a:t>
            </a:r>
            <a:r>
              <a:rPr lang="en-US" sz="1700" dirty="0">
                <a:solidFill>
                  <a:schemeClr val="bg2"/>
                </a:solidFill>
              </a:rPr>
              <a:t>any improvement in neck, fingers or children; good near vs far depth; a fix without cost (likely 3–5 mm PVE and about 2 recall points worse, not yet confirmed).</a:t>
            </a:r>
            <a:endParaRPr lang="en-US" sz="1700" dirty="0"/>
          </a:p>
        </p:txBody>
      </p:sp>
      <p:sp>
        <p:nvSpPr>
          <p:cNvPr id="4" name="question box"/>
          <p:cNvSpPr/>
          <p:nvPr/>
        </p:nvSpPr>
        <p:spPr>
          <a:xfrm>
            <a:off x="548640" y="3291840"/>
            <a:ext cx="8046720" cy="1325880"/>
          </a:xfrm>
          <a:prstGeom prst="rect">
            <a:avLst/>
          </a:prstGeom>
          <a:solidFill>
            <a:srgbClr val="2B3550"/>
          </a:solidFill>
          <a:ln w="12700">
            <a:solidFill>
              <a:srgbClr val="2B3550"/>
            </a:solidFill>
            <a:prstDash val="solid"/>
          </a:ln>
        </p:spPr>
      </p:sp>
      <p:sp>
        <p:nvSpPr>
          <p:cNvPr id="5" name="question bar"/>
          <p:cNvSpPr/>
          <p:nvPr/>
        </p:nvSpPr>
        <p:spPr>
          <a:xfrm>
            <a:off x="548640" y="3291840"/>
            <a:ext cx="73152" cy="1325880"/>
          </a:xfrm>
          <a:prstGeom prst="rect">
            <a:avLst/>
          </a:prstGeom>
          <a:solidFill>
            <a:srgbClr val="F4C95D"/>
          </a:solidFill>
          <a:ln w="12700">
            <a:solidFill>
              <a:srgbClr val="F4C95D"/>
            </a:solidFill>
            <a:prstDash val="solid"/>
          </a:ln>
        </p:spPr>
      </p:sp>
      <p:sp>
        <p:nvSpPr>
          <p:cNvPr id="6" name="question text"/>
          <p:cNvSpPr txBox="1"/>
          <p:nvPr/>
        </p:nvSpPr>
        <p:spPr>
          <a:xfrm>
            <a:off x="822960" y="3364992"/>
            <a:ext cx="7635240" cy="1188720"/>
          </a:xfrm>
          <a:prstGeom prst="rect">
            <a:avLst/>
          </a:prstGeom>
          <a:noFill/>
          <a:ln/>
        </p:spPr>
        <p:txBody>
          <a:bodyPr wrap="square" lIns="0" tIns="0" rIns="0" bIns="0" rtlCol="0" anchor="ctr"/>
          <a:lstStyle/>
          <a:p>
            <a:pPr indent="0" marL="0">
              <a:spcAft>
                <a:spcPts val="400"/>
              </a:spcAft>
              <a:buNone/>
            </a:pPr>
            <a:r>
              <a:rPr lang="en-US" sz="1600" b="1" dirty="0">
                <a:solidFill>
                  <a:srgbClr val="F4C95D"/>
                </a:solidFill>
              </a:rPr>
              <a:t>Question for you</a:t>
            </a:r>
            <a:endParaRPr lang="en-US" sz="1600" dirty="0"/>
          </a:p>
          <a:p>
            <a:pPr indent="0" marL="0">
              <a:buNone/>
            </a:pPr>
            <a:r>
              <a:rPr lang="en-US" sz="1600" dirty="0">
                <a:solidFill>
                  <a:srgbClr val="EEF2F7"/>
                </a:solidFill>
              </a:rPr>
              <a:t>Fine-tune v9 (best on 3DPW) with the fixed targets and depth ×5? Expected from v5: drawn size about 0.84, root error about 0.5 m; likely cost 3–5 mm PVE and 2 recall points. v9 keeps the stuck neck; v10 is the alternative.</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2"/>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loss ×5, 10 epochs: mesh height close to the truth (slightly larger)</a:t>
            </a:r>
            <a:endParaRPr lang="en-US" sz="1100" dirty="0"/>
          </a:p>
        </p:txBody>
      </p:sp>
      <p:sp>
        <p:nvSpPr>
          <p:cNvPr id="7" name="figure footnote"/>
          <p:cNvSpPr txBox="1"/>
          <p:nvPr/>
        </p:nvSpPr>
        <p:spPr>
          <a:xfrm>
            <a:off x="640080" y="4218997"/>
            <a:ext cx="786384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either, so they are not counted as misses. Colours follow detection order.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2026-10-14T22:07:54Z</dcterms:created>
  <dcterms:modified xsi:type="dcterms:W3CDTF">2026-10-14T22:07:54Z</dcterms:modified>
</cp:coreProperties>
</file>