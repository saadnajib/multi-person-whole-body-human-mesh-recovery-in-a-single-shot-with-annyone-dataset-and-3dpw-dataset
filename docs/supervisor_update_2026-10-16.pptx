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26521b96-4ffa-dd44-1c90-8aaf95ef36b4}">
          <p14:sldIdLst>
            <p14:sldId id="256"/>
            <p14:sldId id="257"/>
            <p14:sldId id="258"/>
            <p14:sldId id="259"/>
          </p14:sldIdLst>
        </p14:section>
        <p14:section name="Findings" id="{de024711-7e90-87ce-bfee-28bd698646f4}">
          <p14:sldIdLst>
            <p14:sldId id="260"/>
            <p14:sldId id="261"/>
            <p14:sldId id="262"/>
          </p14:sldIdLst>
        </p14:section>
        <p14:section name="Bug" id="{9b3fb9db-4681-d2ed-1144-a934ce8e7b1e}">
          <p14:sldIdLst>
            <p14:sldId id="263"/>
            <p14:sldId id="264"/>
            <p14:sldId id="265"/>
          </p14:sldIdLst>
        </p14:section>
        <p14:section name="Next" id="{044b9324-fb2b-7df7-7332-88adf2d9e751}">
          <p14:sldIdLst>
            <p14:sldId id="266"/>
            <p14:sldId id="267"/>
            <p14:sldId id="268"/>
            <p14:sldId id="269"/>
          </p14:sldIdLst>
        </p14:section>
        <p14:section name="Appendix" id="{c03c02c6-5e4b-66f0-f675-3e248793b042}">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last Friday I measured each stage of the pipeline separately. I will show what is not the cause, what I measured about the neck, the fingers and the children, one bug nobody was looking for and its fix, and what is still open. I will say clearly what is measured and what is only a guess.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three failures we discussed last time. Until this week they were explained by guesses: a rig problem, too few pixels on the hands, or a shape head that does not learn age. None of these guesses had been tested on its own. That is what I did first. The last line on each card is what this week showed; the details follow.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built six checks, each testing one stage. I use a fixed holdout of 100 images that were never used in training, and a fixed set of test cases: 40 training images with adults, children, visible hands and hard necks, and 15 held-out images with no children. Most numbers in this talk come from these sets with the same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changes the story. The rig, the decoding and the body model are correct, and gradients reach every output. The overfit test shows the optimiser works for shape and 3D joints: on 40 training images the error falls by 36 percent. But the rotation loss barely moves there, from 44.6 to 40.8, which fits the stuck neck on the next slide. So the three failures are not rig or decoding problems, which is how the thesis described them until now, but training can still get stuck. One caveat on the ground-truth check: people who fill the frame lose joints at the image border. That is truncation, not a decoding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neck length is right, 99 percent of the truth. The problem is the rotation of the neck bones. In v5, in v9 and in all six children, neck and finger pilots, the three neck bones are on average 63 degrees off, and head and jaw together average 90 degrees. For v5 I checked every person: the offset is the same, plus or minus about 1.5 degrees, so it is fixed, not noise. The depth runs were not measured for this. Even 149 thousand more training steps in v9 did not change it. v10, which trained its heads from scratch, gets these bones right: 5 and 4 degrees. So the same loss can teach the neck. But v10 is not the answer: its shoulders are 50 degrees off, its arms 36, and its fingers are worse too. v10 also differs from v5 in three ways: it never had the four-times neck boost, its heads started fresh, and it saw 3DPW from the start. So I cannot yet say which of these matters, and large fixed offsets may simply land in different bones in different runs. I do not know the cause yet. My best guess is that the rotation loss compares the matrix numbers one by one and can get stuck near a 180-degree flip. 62.7 is a mean over three bones: one bone flipped by about 180 degrees and two almost right would give it. 89.5 is the mean of head and jaw: one of them flipped would give it. That fits, but I have not tested it. An idea that the rotation outputs were frozen was checked and is ruled out. The head still points roughly the right way, 12 degrees off. Last week I said the long-neck look comes from the depth bug. That is wrong: the neck montage and the real-photo demos place each body from its detection box, so the depth bug cannot reach them. It is likely, but not shown, that this offset is what makes the necks look wrong. v10's neck looks right in the demo montage, but that is one photo, and the head-neck surface error and the head direction are about the same for v5 and v10. The head-neck error cannot see the neck anyway, because 91 percent of its vertices are on the head. The next test is the error of each neck bone, split into twist and swing, an error on the neck skin only, and a trace of v3, which was trained before the neck boost, to see when the offset appeared.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predicted fingers the error is 17.3 degrees. With the fingers simply left in the rest pose it is 15.1. So the hand prediction is worse than no prediction, which is why the demos zero the fingers and now say so. Hands are small: about two tokens at 672 pixels. I cropped around the person at test time, without retraining. That magnifies the hands by 1.6 times on median, and by 2.5 times or more for a quarter of the people. The finger error does not change: 17.2 against 17.3, and from 17.7 to 17.5 for the most magnified quarter. The body error nearly doubles on these crops, because the model never saw such a camera in training. So test-time magnification does not help; a model trained on larger hands is not tested. A rebalanced loss also changed nothing: 17.5 against 17.4 for its control. That loss cut the hands' share of the rotation loss from about 70 to 33 percent, so it does not test giving the fingers more weight; the earlier four-times hand boost did not help either. My best guess is supervision or model capacity, but that is not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checked in the code that the shape head is complete: all eleven shape values go into the body model and are trained, with no adult default. The model can make a child: for the youngest training people it predicts age 0.10 for a true 0.015. On Anny's age scale that is about 4 years instead of about 1.5, so too old but still clearly a child. The ten children in the training manifest also come out too old, by 0.078 on average. Only 2 percent of training people are children, so I tried a sampler that shows about 10 percent. In a 2-epoch fine-tune nothing changed, not for the training children and not on real photos, where five small people still get an adult age of about 0.6, which is about 22 years. That is a short run on few people, so it shows no effect, not that there can be none. My best guess is a gap between synthetic and real images, but that is not tested. There are no labelled real children, and the 3DPW labels fix age at one adult value, so this is a limitation for the thesis, not a fix for this week. The holdout has no children, so every synthetic child number is in-sample. The years assume Anny's default age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main result of the week. The model attaches the mesh to the detected pixel by its head joint and reports the head as its position. The training code built the position, distance, heat-map and offset targets at joint 0, the root joint at the pelvis. Those two can never agree. The cause is confirmed: with consistent targets the bodies grow back, and a control run with the same schedule does not. The likely mechanism is that the 2D losses solve the conflict by shrinking the body, which means predicting it farther away. Measured on the holdout for v5: predicted depth is 0.33 times the true depth plus 2.36 metres, all 222 people too far, and bodies about two thirds of their true size, a size ratio of 0.63. Our standard error is pelvis-centred, so it never saw this. That is why the thesis numbers looked normal. The real-photo demos did not show it either, because they place each body from its detection box. The synthetic demo and the trace panels use the model's own depth, and there you can see it, as on the next slide. The bug is in the training code, so v9 and v10 have it too: the same kind of depth fit and size ratio, and v10 is slightly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the bug looks like on a synthetic holdout image, using the model's own depth. On the left is the truth. In the middle is the old model: the bodies are too small, the real man's head sticks out above the mesh, and the mesh floats. On the right is the model after the fix, with the depth loss five times stronger, trained for 10 epochs. On this image the meshes cover the people at about their real size; the blue mesh is 95 percent of the true height. I chose this image because it has no people very close to the camera, so it is a good case, not a typical one. On the whole holdout the median body size is 84 percent of the truth, so bodies are still about 16 percent too small, and near and far people are still not separated well. I checked all 12 holdout images we rendered, and all three prediction settings show the same change, not only this one. Both models also miss people who stand very close to the camera and fill much of the image. That is a separate detection problem; the fix did not cause it and did not fix it. The mesh colours follow detection order, so they differ from the ground truth.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fix is one switch: build the training targets at the head, the joint the model anchors. I compared it with a control run that has the same schedule, the switch off and the normal depth weight. In the slope row, 1 means perfect and 0 means everyone gets the same depth. After 10 epochs the head lands within 8 to 9 pixels on average, against 64 for the control; that is expected, because the target moved to the head. The depth error is nearly halved. The control does not improve; it drifts slightly worse, to 1.30 metres. With the depth loss five times stronger, depth error goes from 1.08 to 0.39 metres, and bodies are 84 percent of their true size instead of 63. The remaining shrinkage now shows at the pelvis, 31 to 38 pixels off. But the slope stays at about 0.4: near and far people still get almost the same depth. The stronger-loss runs have no control with the same weight, so that part is read against the plain fix. My best guess is that the model pulls everyone toward a typical training distance, about 2.5 to 2.8 metres, while the holdout people stand nearer, about 1.9 metres. The cost: in every fix run PVE is about 3 millimetres above the control and 4 to 5 above v5, and recall is 2 to 3 points below v5, or 1.6 to 2.4 below the control. A single pilot cannot resolve differences this small, so a small cost is not ruled out. Part of the recall drop may be a counting effect: the test counts people whose pelvis is visible, while training's own head-based count gives 92 to 94 percent. That is not tested. The run with the depth loss twenty times stronger for 10 epochs has no result yet, so I quote no number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experiments are done. Each ran next to a control with the main switch off, and all are evaluated on the same 100-image holdout and the same manifest, with helper bones masked. The stronger age loss and the stronger depth loss were not separately controlled: both children arms used the same age and height weights, and the depth runs at five and twenty times have no control at the same weight. Depth: the switch alone nearly halves the depth error; with the stronger depth loss it reaches 0.39 metres and a size of 0.84. But the slope is stuck, and PVE did not recover: 74.8 against 70.5. Children, neck and fingers: no measurable effect. The neck loss gave 11.3 degrees of head error, which passes the rule of below 12, but the two control runs gave 11.7 and 13.6, so that is inside the noise, and its PVE and recall guard failed. One warning: there is no fixed random seed, and two runs with identical settings differed by 7.6 millimetres PVE and 1.9 degrees of head error. So one pilot can only detect a difference of about 10 millimetres PVE, 3 degrees of head error or 2 points of recall. Restarting the fine-tune alone costs about 2.4 millimetres. A 2-epoch pilot trains in about 12 minutes, a 10-epoch run in about one hour. No new architecture, because the diagnostics do not justify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corrections are already in. The headline AnnyOne number is 70.5 millimetres, measured with the helper bones masked as in the demos; the 74.3 in the thesis draft came from the unmasked evaluation. The demos now say that the fingers are the rest pose. The text no longer blames the rig. The Known-defects section in the README documents the depth bug, but its neck part still tells last week's story, that the long neck comes from weak supervision and from the depth bug. I will correct that, and the same text in the findings and handover documents. The repository is reorganised with everything scripted, so any of these numbers can be produced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things are still open. First, why the v5 models are stuck on the neck. The next test is the error of each neck bone, split into twist and swing, an error on the neck skin only, and a trace of v3, trained before the neck boost, to see when the offset appeared. Second, why the depth slope stays near 0.4. The pull toward the typical training depth is only my guess; I will check whether the holdout depths match training, because the holdout is the last 100 images, not a random draw. Third, the cost of the depth fix: I will recount recall over people whose head is visible, measure the fix on 3DPW, and report the root depth error next to PVE in the thesis, because PVE cannot see placement. Fourth, pilot noise: I will fix the random seed or repeat the key run. Fifth, people very close to the camera who fill much of the image are missed by both the old and the fixed model. That is a separate detection problem. Sixth, the run with the depth loss twenty times stronger for 10 epochs has no result yet, so I do not quote any number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is measured: the failures are not rig or decoding problems. A training-target bug puts people too far away in v5, v9 and v10; in v5 it is every one of the 222 holdout people. The fix brings the bodies much closer to their true size, but near and far people are still not separated well, and PVE and recall may be slightly worse. Test-time magnification does not help the fingers. In a short fine-tune, more synthetic children did not help on real photos. The neck is stuck in the v5 models, but v10 learns it, so the cause is still open. What I do not claim: any improvement in the neck, the fingers or the children. My question: should I fine-tune v9, our best model on 3DPW, with the corrected targets and the depth loss five times stronger, before the thesis numbers are final? That is a 10-epoch fine-tune like the pilots, about one hour of training. I expect bodies near their true size, at a possible cost of 3 to 5 millimetres PVE and 2 to 3 points of recall, and I do not know the effect on 3DPW yet. On the AnnyOne holdout v9 is not the best, 77.0 against 70.5 millimetres.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second holdout example, in case there is a question. Before the fix the boy's real head sticks out above a shrunken mesh that floats. After the fix the mesh has his height. Here the fixed mesh is a little larger than the ground truth, so I do not call it an exact 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B22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2801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2834640"/>
            <a:ext cx="8046720" cy="1463040"/>
          </a:xfrm>
          <a:prstGeom prst="rect">
            <a:avLst/>
          </a:prstGeom>
          <a:noFill/>
          <a:ln/>
        </p:spPr>
        <p:txBody>
          <a:bodyPr wrap="square" rtlCol="0"/>
          <a:lstStyle>
            <a:lvl1pPr algn="l" indent="0" marL="0">
              <a:buNone/>
              <a:defRPr lang="en-US" sz="1800" dirty="0">
                <a:solidFill>
                  <a:schemeClr val="bg2"/>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_CLOSE">
    <p:bg>
      <p:bgPr>
        <a:solidFill>
          <a:srgbClr val="1B22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48640"/>
            <a:ext cx="8046720" cy="91440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548640" y="1645920"/>
            <a:ext cx="8046720" cy="3017520"/>
          </a:xfrm>
          <a:prstGeom prst="rect">
            <a:avLst/>
          </a:prstGeom>
          <a:noFill/>
          <a:ln/>
        </p:spPr>
        <p:txBody>
          <a:bodyPr wrap="square" rtlCol="0"/>
          <a:lstStyle>
            <a:lvl1pPr algn="l" indent="0" marL="0">
              <a:buNone/>
              <a:defRPr lang="en-US" sz="1700" dirty="0">
                <a:solidFill>
                  <a:schemeClr val="bg2"/>
                </a:solidFill>
              </a:defRPr>
            </a:lvl1pPr>
          </a:lstStyle>
          <a:p>
            <a:pPr algn="l" indent="0" marL="0">
              <a:buNone/>
            </a:pPr>
            <a:endParaRPr lang="en-US" sz="17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rtlCol="0"/>
          <a:lstStyle>
            <a:lvl1pPr algn="l" indent="0" marL="0">
              <a:buNone/>
              <a:defRPr lang="en-US" sz="2700" b="1" dirty="0">
                <a:solidFill>
                  <a:schemeClr val="tx1"/>
                </a:solidFill>
              </a:defRPr>
            </a:lvl1pPr>
          </a:lstStyle>
          <a:p>
            <a:pPr algn="l" indent="0" marL="0">
              <a:buNone/>
            </a:pPr>
            <a:endParaRPr lang="en-US" sz="2700" dirty="0"/>
          </a:p>
        </p:txBody>
      </p:sp>
      <p:sp>
        <p:nvSpPr>
          <p:cNvPr id="3" name="Text 0"/>
          <p:cNvSpPr/>
          <p:nvPr/>
        </p:nvSpPr>
        <p:spPr>
          <a:xfrm>
            <a:off x="457200" y="4754880"/>
            <a:ext cx="4572000" cy="274320"/>
          </a:xfrm>
          <a:prstGeom prst="rect">
            <a:avLst/>
          </a:prstGeom>
          <a:noFill/>
          <a:ln/>
        </p:spPr>
        <p:txBody>
          <a:bodyPr wrap="square" lIns="0" tIns="0" rIns="0" bIns="0" rtlCol="0" anchor="ctr"/>
          <a:lstStyle/>
          <a:p>
            <a:pPr indent="0" marL="0">
              <a:buNone/>
            </a:pPr>
            <a:r>
              <a:rPr lang="en-US" sz="1000" dirty="0">
                <a:solidFill>
                  <a:schemeClr val="accent5"/>
                </a:solidFill>
              </a:rPr>
              <a:t>Supervisor update, 16 Oct 2026</a:t>
            </a:r>
            <a:endParaRPr lang="en-US" sz="10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280160"/>
          </a:xfrm>
          <a:prstGeom prst="rect">
            <a:avLst/>
          </a:prstGeom>
          <a:noFill/>
          <a:ln/>
        </p:spPr>
        <p:txBody>
          <a:bodyPr wrap="square" lIns="0" tIns="0" rIns="0" bIns="0" rtlCol="0"/>
          <a:lstStyle/>
          <a:p>
            <a:pPr algn="l" indent="0" marL="0">
              <a:buNone/>
            </a:pPr>
            <a:r>
              <a:rPr lang="en-US" sz="4000" b="1" dirty="0">
                <a:solidFill>
                  <a:schemeClr val="bg1"/>
                </a:solidFill>
              </a:rPr>
              <a:t>Multi-HMR with Anny: what this week found</a:t>
            </a:r>
            <a:endParaRPr lang="en-US" sz="4000" dirty="0"/>
          </a:p>
        </p:txBody>
      </p:sp>
      <p:sp>
        <p:nvSpPr>
          <p:cNvPr id="3" name="Text 0"/>
          <p:cNvSpPr/>
          <p:nvPr>
            <p:ph idx="101" type="body" hasCustomPrompt="1"/>
          </p:nvPr>
        </p:nvSpPr>
        <p:spPr>
          <a:xfrm>
            <a:off x="548640" y="2834640"/>
            <a:ext cx="8046720" cy="1463040"/>
          </a:xfrm>
          <a:prstGeom prst="rect">
            <a:avLst/>
          </a:prstGeom>
          <a:noFill/>
          <a:ln/>
        </p:spPr>
        <p:txBody>
          <a:bodyPr wrap="square" lIns="0" tIns="0" rIns="0" bIns="0" rtlCol="0"/>
          <a:lstStyle/>
          <a:p>
            <a:pPr algn="l" indent="0" marL="0">
              <a:buNone/>
            </a:pPr>
            <a:r>
              <a:rPr lang="en-US" sz="1800" dirty="0">
                <a:solidFill>
                  <a:schemeClr val="bg2"/>
                </a:solidFill>
              </a:rPr>
              <a:t>One hidden depth bug found and partly fixed.</a:t>
            </a:r>
            <a:endParaRPr lang="en-US" sz="1800" dirty="0"/>
          </a:p>
          <a:p>
            <a:pPr algn="l" indent="0" marL="0">
              <a:buNone/>
            </a:pPr>
            <a:r>
              <a:rPr lang="en-US" sz="1800" dirty="0">
                <a:solidFill>
                  <a:schemeClr val="bg2"/>
                </a:solidFill>
              </a:rPr>
              <a:t>Neck, fingers and children: measured, still open.</a:t>
            </a:r>
            <a:endParaRPr lang="en-US" sz="1800" dirty="0"/>
          </a:p>
          <a:p>
            <a:pPr algn="l" indent="0" marL="0">
              <a:buNone/>
            </a:pPr>
            <a:r>
              <a:rPr lang="en-US" sz="1800" dirty="0">
                <a:solidFill>
                  <a:schemeClr val="bg2"/>
                </a:solidFill>
              </a:rPr>
              <a:t>Saad Najib, supervisor update, 16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Where we started: three visible failures</a:t>
            </a:r>
            <a:endParaRPr lang="en-US" sz="2700" dirty="0"/>
          </a:p>
        </p:txBody>
      </p:sp>
      <p:sp>
        <p:nvSpPr>
          <p:cNvPr id="3" name="Neck"/>
          <p:cNvSpPr/>
          <p:nvPr/>
        </p:nvSpPr>
        <p:spPr>
          <a:xfrm>
            <a:off x="457200" y="1280160"/>
            <a:ext cx="2651760" cy="2743200"/>
          </a:xfrm>
          <a:prstGeom prst="roundRect">
            <a:avLst>
              <a:gd name="adj" fmla="val 2759"/>
            </a:avLst>
          </a:prstGeom>
          <a:solidFill>
            <a:schemeClr val="bg2"/>
          </a:solidFill>
          <a:ln w="12700">
            <a:solidFill>
              <a:schemeClr val="bg2"/>
            </a:solidFill>
            <a:prstDash val="solid"/>
          </a:ln>
        </p:spPr>
      </p:sp>
      <p:sp>
        <p:nvSpPr>
          <p:cNvPr id="4" name="Neck dot"/>
          <p:cNvSpPr/>
          <p:nvPr/>
        </p:nvSpPr>
        <p:spPr>
          <a:xfrm>
            <a:off x="640080" y="1463040"/>
            <a:ext cx="384048" cy="384048"/>
          </a:xfrm>
          <a:prstGeom prst="ellipse">
            <a:avLst/>
          </a:prstGeom>
          <a:solidFill>
            <a:srgbClr val="0E7C86"/>
          </a:solidFill>
          <a:ln w="12700">
            <a:solidFill>
              <a:srgbClr val="0E7C86"/>
            </a:solidFill>
            <a:prstDash val="solid"/>
          </a:ln>
        </p:spPr>
      </p:sp>
      <p:sp>
        <p:nvSpPr>
          <p:cNvPr id="5" name="Neck head"/>
          <p:cNvSpPr txBox="1"/>
          <p:nvPr/>
        </p:nvSpPr>
        <p:spPr>
          <a:xfrm>
            <a:off x="1143000" y="1417320"/>
            <a:ext cx="1828800" cy="457200"/>
          </a:xfrm>
          <a:prstGeom prst="rect">
            <a:avLst/>
          </a:prstGeom>
          <a:noFill/>
          <a:ln/>
        </p:spPr>
        <p:txBody>
          <a:bodyPr wrap="square" lIns="0" tIns="0" rIns="0" bIns="0" rtlCol="0" anchor="ctr"/>
          <a:lstStyle/>
          <a:p>
            <a:pPr indent="0" marL="0">
              <a:buNone/>
            </a:pPr>
            <a:r>
              <a:rPr lang="en-US" sz="1600" b="1" dirty="0">
                <a:solidFill>
                  <a:schemeClr val="tx1"/>
                </a:solidFill>
              </a:rPr>
              <a:t>Neck</a:t>
            </a:r>
            <a:endParaRPr lang="en-US" sz="1600" dirty="0"/>
          </a:p>
        </p:txBody>
      </p:sp>
      <p:sp>
        <p:nvSpPr>
          <p:cNvPr id="6" name="Neck body"/>
          <p:cNvSpPr txBox="1"/>
          <p:nvPr/>
        </p:nvSpPr>
        <p:spPr>
          <a:xfrm>
            <a:off x="640080" y="1965960"/>
            <a:ext cx="2286000" cy="1920240"/>
          </a:xfrm>
          <a:prstGeom prst="rect">
            <a:avLst/>
          </a:prstGeom>
          <a:noFill/>
          <a:ln/>
        </p:spPr>
        <p:txBody>
          <a:bodyPr wrap="square" lIns="0" tIns="0" rIns="0" bIns="0" rtlCol="0" anchor="t"/>
          <a:lstStyle/>
          <a:p>
            <a:pPr indent="0" marL="0">
              <a:buNone/>
            </a:pPr>
            <a:r>
              <a:rPr lang="en-US" sz="1300" dirty="0">
                <a:solidFill>
                  <a:schemeClr val="tx2"/>
                </a:solidFill>
              </a:rPr>
              <a:t>Necks looked too long or bent wrong in the overlays.
Thesis assumption so far: a rig or body-model problem.
</a:t>
            </a:r>
            <a:r>
              <a:rPr lang="en-US" sz="1300" b="1" dirty="0">
                <a:solidFill>
                  <a:srgbClr val="1B2233"/>
                </a:solidFill>
              </a:rPr>
              <a:t>This week: </a:t>
            </a:r>
            <a:r>
              <a:rPr lang="en-US" sz="1300" dirty="0">
                <a:solidFill>
                  <a:schemeClr val="tx2"/>
                </a:solidFill>
              </a:rPr>
              <a:t>the rig is fine; the v5 models are stuck at a fixed neck-bone rotation error.</a:t>
            </a:r>
            <a:endParaRPr lang="en-US" sz="1300" dirty="0"/>
          </a:p>
        </p:txBody>
      </p:sp>
      <p:sp>
        <p:nvSpPr>
          <p:cNvPr id="7" name="Fingers"/>
          <p:cNvSpPr/>
          <p:nvPr/>
        </p:nvSpPr>
        <p:spPr>
          <a:xfrm>
            <a:off x="3246120" y="1280160"/>
            <a:ext cx="2651760" cy="2743200"/>
          </a:xfrm>
          <a:prstGeom prst="roundRect">
            <a:avLst>
              <a:gd name="adj" fmla="val 2759"/>
            </a:avLst>
          </a:prstGeom>
          <a:solidFill>
            <a:schemeClr val="bg2"/>
          </a:solidFill>
          <a:ln w="12700">
            <a:solidFill>
              <a:schemeClr val="bg2"/>
            </a:solidFill>
            <a:prstDash val="solid"/>
          </a:ln>
        </p:spPr>
      </p:sp>
      <p:sp>
        <p:nvSpPr>
          <p:cNvPr id="8" name="Fingers dot"/>
          <p:cNvSpPr/>
          <p:nvPr/>
        </p:nvSpPr>
        <p:spPr>
          <a:xfrm>
            <a:off x="3429000" y="1463040"/>
            <a:ext cx="384048" cy="384048"/>
          </a:xfrm>
          <a:prstGeom prst="ellipse">
            <a:avLst/>
          </a:prstGeom>
          <a:solidFill>
            <a:srgbClr val="E8792B"/>
          </a:solidFill>
          <a:ln w="12700">
            <a:solidFill>
              <a:srgbClr val="E8792B"/>
            </a:solidFill>
            <a:prstDash val="solid"/>
          </a:ln>
        </p:spPr>
      </p:sp>
      <p:sp>
        <p:nvSpPr>
          <p:cNvPr id="9" name="Fingers head"/>
          <p:cNvSpPr txBox="1"/>
          <p:nvPr/>
        </p:nvSpPr>
        <p:spPr>
          <a:xfrm>
            <a:off x="3931920" y="1417320"/>
            <a:ext cx="1828800" cy="457200"/>
          </a:xfrm>
          <a:prstGeom prst="rect">
            <a:avLst/>
          </a:prstGeom>
          <a:noFill/>
          <a:ln/>
        </p:spPr>
        <p:txBody>
          <a:bodyPr wrap="square" lIns="0" tIns="0" rIns="0" bIns="0" rtlCol="0" anchor="ctr"/>
          <a:lstStyle/>
          <a:p>
            <a:pPr indent="0" marL="0">
              <a:buNone/>
            </a:pPr>
            <a:r>
              <a:rPr lang="en-US" sz="1600" b="1" dirty="0">
                <a:solidFill>
                  <a:schemeClr val="tx1"/>
                </a:solidFill>
              </a:rPr>
              <a:t>Fingers</a:t>
            </a:r>
            <a:endParaRPr lang="en-US" sz="1600" dirty="0"/>
          </a:p>
        </p:txBody>
      </p:sp>
      <p:sp>
        <p:nvSpPr>
          <p:cNvPr id="10" name="Fingers body"/>
          <p:cNvSpPr txBox="1"/>
          <p:nvPr/>
        </p:nvSpPr>
        <p:spPr>
          <a:xfrm>
            <a:off x="3429000" y="1965960"/>
            <a:ext cx="2286000" cy="1920240"/>
          </a:xfrm>
          <a:prstGeom prst="rect">
            <a:avLst/>
          </a:prstGeom>
          <a:noFill/>
          <a:ln/>
        </p:spPr>
        <p:txBody>
          <a:bodyPr wrap="square" lIns="0" tIns="0" rIns="0" bIns="0" rtlCol="0" anchor="t"/>
          <a:lstStyle/>
          <a:p>
            <a:pPr indent="0" marL="0">
              <a:buNone/>
            </a:pPr>
            <a:r>
              <a:rPr lang="en-US" sz="1300" dirty="0">
                <a:solidFill>
                  <a:schemeClr val="tx2"/>
                </a:solidFill>
              </a:rPr>
              <a:t>Fingers came out claw-like; demos already zero them.
Assumption so far: a hand-resolution or hand-branch problem.
</a:t>
            </a:r>
            <a:r>
              <a:rPr lang="en-US" sz="1300" b="1" dirty="0">
                <a:solidFill>
                  <a:srgbClr val="1B2233"/>
                </a:solidFill>
              </a:rPr>
              <a:t>This week: </a:t>
            </a:r>
            <a:r>
              <a:rPr lang="en-US" sz="1300" dirty="0">
                <a:solidFill>
                  <a:schemeClr val="tx2"/>
                </a:solidFill>
              </a:rPr>
              <a:t>test-time zoom and a new loss weighting did not help.</a:t>
            </a:r>
            <a:endParaRPr lang="en-US" sz="1300" dirty="0"/>
          </a:p>
        </p:txBody>
      </p:sp>
      <p:sp>
        <p:nvSpPr>
          <p:cNvPr id="11" name="Children"/>
          <p:cNvSpPr/>
          <p:nvPr/>
        </p:nvSpPr>
        <p:spPr>
          <a:xfrm>
            <a:off x="6035040" y="1280160"/>
            <a:ext cx="2651760" cy="2743200"/>
          </a:xfrm>
          <a:prstGeom prst="roundRect">
            <a:avLst>
              <a:gd name="adj" fmla="val 2759"/>
            </a:avLst>
          </a:prstGeom>
          <a:solidFill>
            <a:schemeClr val="bg2"/>
          </a:solidFill>
          <a:ln w="12700">
            <a:solidFill>
              <a:schemeClr val="bg2"/>
            </a:solidFill>
            <a:prstDash val="solid"/>
          </a:ln>
        </p:spPr>
      </p:sp>
      <p:sp>
        <p:nvSpPr>
          <p:cNvPr id="12" name="Children dot"/>
          <p:cNvSpPr/>
          <p:nvPr/>
        </p:nvSpPr>
        <p:spPr>
          <a:xfrm>
            <a:off x="6217920" y="1463040"/>
            <a:ext cx="384048" cy="384048"/>
          </a:xfrm>
          <a:prstGeom prst="ellipse">
            <a:avLst/>
          </a:prstGeom>
          <a:solidFill>
            <a:srgbClr val="F4C95D"/>
          </a:solidFill>
          <a:ln w="12700">
            <a:solidFill>
              <a:srgbClr val="F4C95D"/>
            </a:solidFill>
            <a:prstDash val="solid"/>
          </a:ln>
        </p:spPr>
      </p:sp>
      <p:sp>
        <p:nvSpPr>
          <p:cNvPr id="13" name="Children head"/>
          <p:cNvSpPr txBox="1"/>
          <p:nvPr/>
        </p:nvSpPr>
        <p:spPr>
          <a:xfrm>
            <a:off x="6720840" y="1417320"/>
            <a:ext cx="1828800" cy="457200"/>
          </a:xfrm>
          <a:prstGeom prst="rect">
            <a:avLst/>
          </a:prstGeom>
          <a:noFill/>
          <a:ln/>
        </p:spPr>
        <p:txBody>
          <a:bodyPr wrap="square" lIns="0" tIns="0" rIns="0" bIns="0" rtlCol="0" anchor="ctr"/>
          <a:lstStyle/>
          <a:p>
            <a:pPr indent="0" marL="0">
              <a:buNone/>
            </a:pPr>
            <a:r>
              <a:rPr lang="en-US" sz="1600" b="1" dirty="0">
                <a:solidFill>
                  <a:schemeClr val="tx1"/>
                </a:solidFill>
              </a:rPr>
              <a:t>Children</a:t>
            </a:r>
            <a:endParaRPr lang="en-US" sz="1600" dirty="0"/>
          </a:p>
        </p:txBody>
      </p:sp>
      <p:sp>
        <p:nvSpPr>
          <p:cNvPr id="14" name="Children body"/>
          <p:cNvSpPr txBox="1"/>
          <p:nvPr/>
        </p:nvSpPr>
        <p:spPr>
          <a:xfrm>
            <a:off x="6217920" y="1965960"/>
            <a:ext cx="2286000" cy="1920240"/>
          </a:xfrm>
          <a:prstGeom prst="rect">
            <a:avLst/>
          </a:prstGeom>
          <a:noFill/>
          <a:ln/>
        </p:spPr>
        <p:txBody>
          <a:bodyPr wrap="square" lIns="0" tIns="0" rIns="0" bIns="0" rtlCol="0" anchor="t"/>
          <a:lstStyle/>
          <a:p>
            <a:pPr indent="0" marL="0">
              <a:buNone/>
            </a:pPr>
            <a:r>
              <a:rPr lang="en-US" sz="1300" dirty="0">
                <a:solidFill>
                  <a:schemeClr val="tx2"/>
                </a:solidFill>
              </a:rPr>
              <a:t>Children reconstructed with adult proportions.
Assumption so far: age is not learned.
</a:t>
            </a:r>
            <a:r>
              <a:rPr lang="en-US" sz="1300" b="1" dirty="0">
                <a:solidFill>
                  <a:srgbClr val="1B2233"/>
                </a:solidFill>
              </a:rPr>
              <a:t>This week: </a:t>
            </a:r>
            <a:r>
              <a:rPr lang="en-US" sz="1300" dirty="0">
                <a:solidFill>
                  <a:schemeClr val="tx2"/>
                </a:solidFill>
              </a:rPr>
              <a:t>child-like on training images, adult on real photos.</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What I did: test each stage on its own</a:t>
            </a:r>
            <a:endParaRPr lang="en-US" sz="2700" dirty="0"/>
          </a:p>
        </p:txBody>
      </p:sp>
      <p:sp>
        <p:nvSpPr>
          <p:cNvPr id="3" name="step 1"/>
          <p:cNvSpPr/>
          <p:nvPr/>
        </p:nvSpPr>
        <p:spPr>
          <a:xfrm>
            <a:off x="457200" y="1344168"/>
            <a:ext cx="502920" cy="502920"/>
          </a:xfrm>
          <a:prstGeom prst="ellipse">
            <a:avLst/>
          </a:prstGeom>
          <a:solidFill>
            <a:schemeClr val="accent1"/>
          </a:solidFill>
          <a:ln w="12700">
            <a:solidFill>
              <a:schemeClr val="accent1"/>
            </a:solidFill>
            <a:prstDash val="solid"/>
          </a:ln>
        </p:spPr>
      </p:sp>
      <p:sp>
        <p:nvSpPr>
          <p:cNvPr id="4" name="num 1"/>
          <p:cNvSpPr txBox="1"/>
          <p:nvPr/>
        </p:nvSpPr>
        <p:spPr>
          <a:xfrm>
            <a:off x="457200" y="1344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head 1"/>
          <p:cNvSpPr txBox="1"/>
          <p:nvPr/>
        </p:nvSpPr>
        <p:spPr>
          <a:xfrm>
            <a:off x="1097280" y="1234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Ground truth</a:t>
            </a:r>
            <a:endParaRPr lang="en-US" sz="1500" dirty="0"/>
          </a:p>
        </p:txBody>
      </p:sp>
      <p:sp>
        <p:nvSpPr>
          <p:cNvPr id="6" name="body 1"/>
          <p:cNvSpPr txBox="1"/>
          <p:nvPr/>
        </p:nvSpPr>
        <p:spPr>
          <a:xfrm>
            <a:off x="1097280" y="1563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Render the dataset's own parameters, no network. Does the label sit on the person?</a:t>
            </a:r>
            <a:endParaRPr lang="en-US" sz="1200" dirty="0"/>
          </a:p>
        </p:txBody>
      </p:sp>
      <p:sp>
        <p:nvSpPr>
          <p:cNvPr id="7" name="step 2"/>
          <p:cNvSpPr/>
          <p:nvPr/>
        </p:nvSpPr>
        <p:spPr>
          <a:xfrm>
            <a:off x="4709160" y="1344168"/>
            <a:ext cx="502920" cy="502920"/>
          </a:xfrm>
          <a:prstGeom prst="ellipse">
            <a:avLst/>
          </a:prstGeom>
          <a:solidFill>
            <a:schemeClr val="accent1"/>
          </a:solidFill>
          <a:ln w="12700">
            <a:solidFill>
              <a:schemeClr val="accent1"/>
            </a:solidFill>
            <a:prstDash val="solid"/>
          </a:ln>
        </p:spPr>
      </p:sp>
      <p:sp>
        <p:nvSpPr>
          <p:cNvPr id="8" name="num 2"/>
          <p:cNvSpPr txBox="1"/>
          <p:nvPr/>
        </p:nvSpPr>
        <p:spPr>
          <a:xfrm>
            <a:off x="4709160" y="1344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head 2"/>
          <p:cNvSpPr txBox="1"/>
          <p:nvPr/>
        </p:nvSpPr>
        <p:spPr>
          <a:xfrm>
            <a:off x="5349240" y="1234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Body model</a:t>
            </a:r>
            <a:endParaRPr lang="en-US" sz="1500" dirty="0"/>
          </a:p>
        </p:txBody>
      </p:sp>
      <p:sp>
        <p:nvSpPr>
          <p:cNvPr id="10" name="body 2"/>
          <p:cNvSpPr txBox="1"/>
          <p:nvPr/>
        </p:nvSpPr>
        <p:spPr>
          <a:xfrm>
            <a:off x="5349240" y="1563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Sweep age; move one neck or finger joint at a time. Does the mesh react correctly?</a:t>
            </a:r>
            <a:endParaRPr lang="en-US" sz="1200" dirty="0"/>
          </a:p>
        </p:txBody>
      </p:sp>
      <p:sp>
        <p:nvSpPr>
          <p:cNvPr id="11" name="step 3"/>
          <p:cNvSpPr/>
          <p:nvPr/>
        </p:nvSpPr>
        <p:spPr>
          <a:xfrm>
            <a:off x="457200" y="2487168"/>
            <a:ext cx="502920" cy="502920"/>
          </a:xfrm>
          <a:prstGeom prst="ellipse">
            <a:avLst/>
          </a:prstGeom>
          <a:solidFill>
            <a:schemeClr val="accent1"/>
          </a:solidFill>
          <a:ln w="12700">
            <a:solidFill>
              <a:schemeClr val="accent1"/>
            </a:solidFill>
            <a:prstDash val="solid"/>
          </a:ln>
        </p:spPr>
      </p:sp>
      <p:sp>
        <p:nvSpPr>
          <p:cNvPr id="12" name="num 3"/>
          <p:cNvSpPr txBox="1"/>
          <p:nvPr/>
        </p:nvSpPr>
        <p:spPr>
          <a:xfrm>
            <a:off x="457200" y="2487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head 3"/>
          <p:cNvSpPr txBox="1"/>
          <p:nvPr/>
        </p:nvSpPr>
        <p:spPr>
          <a:xfrm>
            <a:off x="1097280" y="2377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Training signal</a:t>
            </a:r>
            <a:endParaRPr lang="en-US" sz="1500" dirty="0"/>
          </a:p>
        </p:txBody>
      </p:sp>
      <p:sp>
        <p:nvSpPr>
          <p:cNvPr id="14" name="body 3"/>
          <p:cNvSpPr txBox="1"/>
          <p:nvPr/>
        </p:nvSpPr>
        <p:spPr>
          <a:xfrm>
            <a:off x="1097280" y="2706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Do all prediction heads receive gradients? Does the mesh respond to them?</a:t>
            </a:r>
            <a:endParaRPr lang="en-US" sz="1200" dirty="0"/>
          </a:p>
        </p:txBody>
      </p:sp>
      <p:sp>
        <p:nvSpPr>
          <p:cNvPr id="15" name="step 4"/>
          <p:cNvSpPr/>
          <p:nvPr/>
        </p:nvSpPr>
        <p:spPr>
          <a:xfrm>
            <a:off x="4709160" y="2487168"/>
            <a:ext cx="502920" cy="502920"/>
          </a:xfrm>
          <a:prstGeom prst="ellipse">
            <a:avLst/>
          </a:prstGeom>
          <a:solidFill>
            <a:schemeClr val="accent1"/>
          </a:solidFill>
          <a:ln w="12700">
            <a:solidFill>
              <a:schemeClr val="accent1"/>
            </a:solidFill>
            <a:prstDash val="solid"/>
          </a:ln>
        </p:spPr>
      </p:sp>
      <p:sp>
        <p:nvSpPr>
          <p:cNvPr id="16" name="num 4"/>
          <p:cNvSpPr txBox="1"/>
          <p:nvPr/>
        </p:nvSpPr>
        <p:spPr>
          <a:xfrm>
            <a:off x="4709160" y="2487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7" name="head 4"/>
          <p:cNvSpPr txBox="1"/>
          <p:nvPr/>
        </p:nvSpPr>
        <p:spPr>
          <a:xfrm>
            <a:off x="5349240" y="2377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Predictions vs truth</a:t>
            </a:r>
            <a:endParaRPr lang="en-US" sz="1500" dirty="0"/>
          </a:p>
        </p:txBody>
      </p:sp>
      <p:sp>
        <p:nvSpPr>
          <p:cNvPr id="18" name="body 4"/>
          <p:cNvSpPr txBox="1"/>
          <p:nvPr/>
        </p:nvSpPr>
        <p:spPr>
          <a:xfrm>
            <a:off x="5349240" y="2706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Fixed 100-image holdout plus a fixed set of adults, children, hands, hard necks.</a:t>
            </a:r>
            <a:endParaRPr lang="en-US" sz="1200" dirty="0"/>
          </a:p>
        </p:txBody>
      </p:sp>
      <p:sp>
        <p:nvSpPr>
          <p:cNvPr id="19" name="step 5"/>
          <p:cNvSpPr/>
          <p:nvPr/>
        </p:nvSpPr>
        <p:spPr>
          <a:xfrm>
            <a:off x="457200" y="3630168"/>
            <a:ext cx="502920" cy="502920"/>
          </a:xfrm>
          <a:prstGeom prst="ellipse">
            <a:avLst/>
          </a:prstGeom>
          <a:solidFill>
            <a:schemeClr val="accent1"/>
          </a:solidFill>
          <a:ln w="12700">
            <a:solidFill>
              <a:schemeClr val="accent1"/>
            </a:solidFill>
            <a:prstDash val="solid"/>
          </a:ln>
        </p:spPr>
      </p:sp>
      <p:sp>
        <p:nvSpPr>
          <p:cNvPr id="20" name="num 5"/>
          <p:cNvSpPr txBox="1"/>
          <p:nvPr/>
        </p:nvSpPr>
        <p:spPr>
          <a:xfrm>
            <a:off x="457200" y="3630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1" name="head 5"/>
          <p:cNvSpPr txBox="1"/>
          <p:nvPr/>
        </p:nvSpPr>
        <p:spPr>
          <a:xfrm>
            <a:off x="1097280" y="3520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Shape swap</a:t>
            </a:r>
            <a:endParaRPr lang="en-US" sz="1500" dirty="0"/>
          </a:p>
        </p:txBody>
      </p:sp>
      <p:sp>
        <p:nvSpPr>
          <p:cNvPr id="22" name="body 5"/>
          <p:cNvSpPr txBox="1"/>
          <p:nvPr/>
        </p:nvSpPr>
        <p:spPr>
          <a:xfrm>
            <a:off x="1097280" y="3849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Keep the predicted pose, put in the true shape. How much error is shape?</a:t>
            </a:r>
            <a:endParaRPr lang="en-US" sz="1200" dirty="0"/>
          </a:p>
        </p:txBody>
      </p:sp>
      <p:sp>
        <p:nvSpPr>
          <p:cNvPr id="23" name="step 6"/>
          <p:cNvSpPr/>
          <p:nvPr/>
        </p:nvSpPr>
        <p:spPr>
          <a:xfrm>
            <a:off x="4709160" y="3630168"/>
            <a:ext cx="502920" cy="502920"/>
          </a:xfrm>
          <a:prstGeom prst="ellipse">
            <a:avLst/>
          </a:prstGeom>
          <a:solidFill>
            <a:schemeClr val="accent1"/>
          </a:solidFill>
          <a:ln w="12700">
            <a:solidFill>
              <a:schemeClr val="accent1"/>
            </a:solidFill>
            <a:prstDash val="solid"/>
          </a:ln>
        </p:spPr>
      </p:sp>
      <p:sp>
        <p:nvSpPr>
          <p:cNvPr id="24" name="num 6"/>
          <p:cNvSpPr txBox="1"/>
          <p:nvPr/>
        </p:nvSpPr>
        <p:spPr>
          <a:xfrm>
            <a:off x="4709160" y="3630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25" name="head 6"/>
          <p:cNvSpPr txBox="1"/>
          <p:nvPr/>
        </p:nvSpPr>
        <p:spPr>
          <a:xfrm>
            <a:off x="5349240" y="3520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Overfit test</a:t>
            </a:r>
            <a:endParaRPr lang="en-US" sz="1500" dirty="0"/>
          </a:p>
        </p:txBody>
      </p:sp>
      <p:sp>
        <p:nvSpPr>
          <p:cNvPr id="26" name="body 6"/>
          <p:cNvSpPr txBox="1"/>
          <p:nvPr/>
        </p:nvSpPr>
        <p:spPr>
          <a:xfrm>
            <a:off x="5349240" y="3849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Can 40 images be memorised? Checks the optimiser only; not a test result.</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What is not the cause: every structural check passes</a:t>
            </a:r>
            <a:endParaRPr lang="en-US" sz="2700" dirty="0"/>
          </a:p>
        </p:txBody>
      </p:sp>
      <p:sp>
        <p:nvSpPr>
          <p:cNvPr id="3" name="ok 0"/>
          <p:cNvSpPr/>
          <p:nvPr/>
        </p:nvSpPr>
        <p:spPr>
          <a:xfrm>
            <a:off x="457200" y="1325880"/>
            <a:ext cx="457200" cy="457200"/>
          </a:xfrm>
          <a:prstGeom prst="ellipse">
            <a:avLst/>
          </a:prstGeom>
          <a:solidFill>
            <a:schemeClr val="accent3"/>
          </a:solidFill>
          <a:ln w="12700">
            <a:solidFill>
              <a:schemeClr val="accent3"/>
            </a:solidFill>
            <a:prstDash val="solid"/>
          </a:ln>
        </p:spPr>
      </p:sp>
      <p:sp>
        <p:nvSpPr>
          <p:cNvPr id="4" name="tick 0"/>
          <p:cNvSpPr txBox="1"/>
          <p:nvPr/>
        </p:nvSpPr>
        <p:spPr>
          <a:xfrm>
            <a:off x="457200" y="132588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5" name="okh 0"/>
          <p:cNvSpPr txBox="1"/>
          <p:nvPr/>
        </p:nvSpPr>
        <p:spPr>
          <a:xfrm>
            <a:off x="1097280" y="1234440"/>
            <a:ext cx="7589520" cy="320040"/>
          </a:xfrm>
          <a:prstGeom prst="rect">
            <a:avLst/>
          </a:prstGeom>
          <a:noFill/>
          <a:ln/>
        </p:spPr>
        <p:txBody>
          <a:bodyPr wrap="square" lIns="0" tIns="0" rIns="0" bIns="0" rtlCol="0" anchor="ctr"/>
          <a:lstStyle/>
          <a:p>
            <a:pPr indent="0" marL="0">
              <a:buNone/>
            </a:pPr>
            <a:r>
              <a:rPr lang="en-US" sz="1600" b="1" dirty="0">
                <a:solidFill>
                  <a:schemeClr val="tx1"/>
                </a:solidFill>
              </a:rPr>
              <a:t>Ground truth decodes correctly</a:t>
            </a:r>
            <a:endParaRPr lang="en-US" sz="1600" dirty="0"/>
          </a:p>
        </p:txBody>
      </p:sp>
      <p:sp>
        <p:nvSpPr>
          <p:cNvPr id="6" name="okb 0"/>
          <p:cNvSpPr txBox="1"/>
          <p:nvPr/>
        </p:nvSpPr>
        <p:spPr>
          <a:xfrm>
            <a:off x="1097280" y="1581912"/>
            <a:ext cx="7589520" cy="457200"/>
          </a:xfrm>
          <a:prstGeom prst="rect">
            <a:avLst/>
          </a:prstGeom>
          <a:noFill/>
          <a:ln/>
        </p:spPr>
        <p:txBody>
          <a:bodyPr wrap="square" lIns="0" tIns="0" rIns="0" bIns="0" rtlCol="0" anchor="t"/>
          <a:lstStyle/>
          <a:p>
            <a:pPr indent="0" marL="0">
              <a:buNone/>
            </a:pPr>
            <a:r>
              <a:rPr lang="en-US" sz="1300" dirty="0">
                <a:solidFill>
                  <a:schemeClr val="tx2"/>
                </a:solidFill>
              </a:rPr>
              <a:t>Labels render onto the people; camera matches on 100% of images.</a:t>
            </a:r>
            <a:endParaRPr lang="en-US" sz="1300" dirty="0"/>
          </a:p>
        </p:txBody>
      </p:sp>
      <p:sp>
        <p:nvSpPr>
          <p:cNvPr id="7" name="ok 1"/>
          <p:cNvSpPr/>
          <p:nvPr/>
        </p:nvSpPr>
        <p:spPr>
          <a:xfrm>
            <a:off x="457200" y="2194560"/>
            <a:ext cx="457200" cy="457200"/>
          </a:xfrm>
          <a:prstGeom prst="ellipse">
            <a:avLst/>
          </a:prstGeom>
          <a:solidFill>
            <a:schemeClr val="accent3"/>
          </a:solidFill>
          <a:ln w="12700">
            <a:solidFill>
              <a:schemeClr val="accent3"/>
            </a:solidFill>
            <a:prstDash val="solid"/>
          </a:ln>
        </p:spPr>
      </p:sp>
      <p:sp>
        <p:nvSpPr>
          <p:cNvPr id="8" name="tick 1"/>
          <p:cNvSpPr txBox="1"/>
          <p:nvPr/>
        </p:nvSpPr>
        <p:spPr>
          <a:xfrm>
            <a:off x="457200" y="21945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9" name="okh 1"/>
          <p:cNvSpPr txBox="1"/>
          <p:nvPr/>
        </p:nvSpPr>
        <p:spPr>
          <a:xfrm>
            <a:off x="1097280" y="2103120"/>
            <a:ext cx="7589520" cy="320040"/>
          </a:xfrm>
          <a:prstGeom prst="rect">
            <a:avLst/>
          </a:prstGeom>
          <a:noFill/>
          <a:ln/>
        </p:spPr>
        <p:txBody>
          <a:bodyPr wrap="square" lIns="0" tIns="0" rIns="0" bIns="0" rtlCol="0" anchor="ctr"/>
          <a:lstStyle/>
          <a:p>
            <a:pPr indent="0" marL="0">
              <a:buNone/>
            </a:pPr>
            <a:r>
              <a:rPr lang="en-US" sz="1600" b="1" dirty="0">
                <a:solidFill>
                  <a:schemeClr val="tx1"/>
                </a:solidFill>
              </a:rPr>
              <a:t>Body model is fine</a:t>
            </a:r>
            <a:endParaRPr lang="en-US" sz="1600" dirty="0"/>
          </a:p>
        </p:txBody>
      </p:sp>
      <p:sp>
        <p:nvSpPr>
          <p:cNvPr id="10" name="okb 1"/>
          <p:cNvSpPr txBox="1"/>
          <p:nvPr/>
        </p:nvSpPr>
        <p:spPr>
          <a:xfrm>
            <a:off x="1097280" y="2450592"/>
            <a:ext cx="7589520" cy="457200"/>
          </a:xfrm>
          <a:prstGeom prst="rect">
            <a:avLst/>
          </a:prstGeom>
          <a:noFill/>
          <a:ln/>
        </p:spPr>
        <p:txBody>
          <a:bodyPr wrap="square" lIns="0" tIns="0" rIns="0" bIns="0" rtlCol="0" anchor="t"/>
          <a:lstStyle/>
          <a:p>
            <a:pPr indent="0" marL="0">
              <a:buNone/>
            </a:pPr>
            <a:r>
              <a:rPr lang="en-US" sz="1300" dirty="0">
                <a:solidFill>
                  <a:schemeClr val="tx2"/>
                </a:solidFill>
              </a:rPr>
              <a:t>All 16 single-joint moves hit the intended part. Age 0 to 1: skeletal height 0.53 m to 1.54 m.</a:t>
            </a:r>
            <a:endParaRPr lang="en-US" sz="1300" dirty="0"/>
          </a:p>
        </p:txBody>
      </p:sp>
      <p:sp>
        <p:nvSpPr>
          <p:cNvPr id="11" name="ok 2"/>
          <p:cNvSpPr/>
          <p:nvPr/>
        </p:nvSpPr>
        <p:spPr>
          <a:xfrm>
            <a:off x="457200" y="3063240"/>
            <a:ext cx="457200" cy="457200"/>
          </a:xfrm>
          <a:prstGeom prst="ellipse">
            <a:avLst/>
          </a:prstGeom>
          <a:solidFill>
            <a:schemeClr val="accent3"/>
          </a:solidFill>
          <a:ln w="12700">
            <a:solidFill>
              <a:schemeClr val="accent3"/>
            </a:solidFill>
            <a:prstDash val="solid"/>
          </a:ln>
        </p:spPr>
      </p:sp>
      <p:sp>
        <p:nvSpPr>
          <p:cNvPr id="12" name="tick 2"/>
          <p:cNvSpPr txBox="1"/>
          <p:nvPr/>
        </p:nvSpPr>
        <p:spPr>
          <a:xfrm>
            <a:off x="457200" y="30632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13" name="okh 2"/>
          <p:cNvSpPr txBox="1"/>
          <p:nvPr/>
        </p:nvSpPr>
        <p:spPr>
          <a:xfrm>
            <a:off x="1097280" y="2971800"/>
            <a:ext cx="7589520" cy="320040"/>
          </a:xfrm>
          <a:prstGeom prst="rect">
            <a:avLst/>
          </a:prstGeom>
          <a:noFill/>
          <a:ln/>
        </p:spPr>
        <p:txBody>
          <a:bodyPr wrap="square" lIns="0" tIns="0" rIns="0" bIns="0" rtlCol="0" anchor="ctr"/>
          <a:lstStyle/>
          <a:p>
            <a:pPr indent="0" marL="0">
              <a:buNone/>
            </a:pPr>
            <a:r>
              <a:rPr lang="en-US" sz="1600" b="1" dirty="0">
                <a:solidFill>
                  <a:schemeClr val="tx1"/>
                </a:solidFill>
              </a:rPr>
              <a:t>Gradients reach every head</a:t>
            </a:r>
            <a:endParaRPr lang="en-US" sz="1600" dirty="0"/>
          </a:p>
        </p:txBody>
      </p:sp>
      <p:sp>
        <p:nvSpPr>
          <p:cNvPr id="14" name="okb 2"/>
          <p:cNvSpPr txBox="1"/>
          <p:nvPr/>
        </p:nvSpPr>
        <p:spPr>
          <a:xfrm>
            <a:off x="1097280" y="3319272"/>
            <a:ext cx="7589520" cy="457200"/>
          </a:xfrm>
          <a:prstGeom prst="rect">
            <a:avLst/>
          </a:prstGeom>
          <a:noFill/>
          <a:ln/>
        </p:spPr>
        <p:txBody>
          <a:bodyPr wrap="square" lIns="0" tIns="0" rIns="0" bIns="0" rtlCol="0" anchor="t"/>
          <a:lstStyle/>
          <a:p>
            <a:pPr indent="0" marL="0">
              <a:buNone/>
            </a:pPr>
            <a:r>
              <a:rPr lang="en-US" sz="1300" dirty="0">
                <a:solidFill>
                  <a:schemeClr val="tx2"/>
                </a:solidFill>
              </a:rPr>
              <a:t>All 75 active bones and all 11 shape outputs get gradient; the mesh responds.</a:t>
            </a:r>
            <a:endParaRPr lang="en-US" sz="1300" dirty="0"/>
          </a:p>
        </p:txBody>
      </p:sp>
      <p:sp>
        <p:nvSpPr>
          <p:cNvPr id="15" name="ok 3"/>
          <p:cNvSpPr/>
          <p:nvPr/>
        </p:nvSpPr>
        <p:spPr>
          <a:xfrm>
            <a:off x="457200" y="3931920"/>
            <a:ext cx="457200" cy="457200"/>
          </a:xfrm>
          <a:prstGeom prst="ellipse">
            <a:avLst/>
          </a:prstGeom>
          <a:solidFill>
            <a:schemeClr val="accent3"/>
          </a:solidFill>
          <a:ln w="12700">
            <a:solidFill>
              <a:schemeClr val="accent3"/>
            </a:solidFill>
            <a:prstDash val="solid"/>
          </a:ln>
        </p:spPr>
      </p:sp>
      <p:sp>
        <p:nvSpPr>
          <p:cNvPr id="16" name="tick 3"/>
          <p:cNvSpPr txBox="1"/>
          <p:nvPr/>
        </p:nvSpPr>
        <p:spPr>
          <a:xfrm>
            <a:off x="457200" y="393192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17" name="okh 3"/>
          <p:cNvSpPr txBox="1"/>
          <p:nvPr/>
        </p:nvSpPr>
        <p:spPr>
          <a:xfrm>
            <a:off x="1097280" y="3840480"/>
            <a:ext cx="7589520" cy="320040"/>
          </a:xfrm>
          <a:prstGeom prst="rect">
            <a:avLst/>
          </a:prstGeom>
          <a:noFill/>
          <a:ln/>
        </p:spPr>
        <p:txBody>
          <a:bodyPr wrap="square" lIns="0" tIns="0" rIns="0" bIns="0" rtlCol="0" anchor="ctr"/>
          <a:lstStyle/>
          <a:p>
            <a:pPr indent="0" marL="0">
              <a:buNone/>
            </a:pPr>
            <a:r>
              <a:rPr lang="en-US" sz="1600" b="1" dirty="0">
                <a:solidFill>
                  <a:schemeClr val="tx1"/>
                </a:solidFill>
              </a:rPr>
              <a:t>Optimiser works for shape and 3D joints</a:t>
            </a:r>
            <a:endParaRPr lang="en-US" sz="1600" dirty="0"/>
          </a:p>
        </p:txBody>
      </p:sp>
      <p:sp>
        <p:nvSpPr>
          <p:cNvPr id="18" name="okb 3"/>
          <p:cNvSpPr txBox="1"/>
          <p:nvPr/>
        </p:nvSpPr>
        <p:spPr>
          <a:xfrm>
            <a:off x="1097280" y="4187952"/>
            <a:ext cx="7589520" cy="457200"/>
          </a:xfrm>
          <a:prstGeom prst="rect">
            <a:avLst/>
          </a:prstGeom>
          <a:noFill/>
          <a:ln/>
        </p:spPr>
        <p:txBody>
          <a:bodyPr wrap="square" lIns="0" tIns="0" rIns="0" bIns="0" rtlCol="0" anchor="t"/>
          <a:lstStyle/>
          <a:p>
            <a:pPr indent="0" marL="0">
              <a:buNone/>
            </a:pPr>
            <a:r>
              <a:rPr lang="en-US" sz="1300" dirty="0">
                <a:solidFill>
                  <a:schemeClr val="tx2"/>
                </a:solidFill>
              </a:rPr>
              <a:t>40 training images: error falls 36%; holdout error rises, as expected when memorising. But the rotation loss barely moves (44.6 → 40.8), which fits the stuck neck.</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Neck: right length, but the v5 models are stuck</a:t>
            </a:r>
            <a:endParaRPr lang="en-US" sz="2700" dirty="0"/>
          </a:p>
        </p:txBody>
      </p:sp>
      <p:sp>
        <p:nvSpPr>
          <p:cNvPr id="3" name="stat predicted neck length vs truth (holdout)"/>
          <p:cNvSpPr txBox="1"/>
          <p:nvPr/>
        </p:nvSpPr>
        <p:spPr>
          <a:xfrm>
            <a:off x="457200" y="1188720"/>
            <a:ext cx="2560320" cy="685800"/>
          </a:xfrm>
          <a:prstGeom prst="rect">
            <a:avLst/>
          </a:prstGeom>
          <a:noFill/>
          <a:ln/>
        </p:spPr>
        <p:txBody>
          <a:bodyPr wrap="square" lIns="0" tIns="0" rIns="0" bIns="0" rtlCol="0" anchor="ctr"/>
          <a:lstStyle/>
          <a:p>
            <a:pPr algn="l" indent="0" marL="0">
              <a:buNone/>
            </a:pPr>
            <a:r>
              <a:rPr lang="en-US" sz="4000" b="1" dirty="0">
                <a:solidFill>
                  <a:schemeClr val="accent1"/>
                </a:solidFill>
              </a:rPr>
              <a:t>99%</a:t>
            </a:r>
            <a:endParaRPr lang="en-US" sz="4000" dirty="0"/>
          </a:p>
        </p:txBody>
      </p:sp>
      <p:sp>
        <p:nvSpPr>
          <p:cNvPr id="4" name="label predicted neck length vs truth (holdout)"/>
          <p:cNvSpPr txBox="1"/>
          <p:nvPr/>
        </p:nvSpPr>
        <p:spPr>
          <a:xfrm>
            <a:off x="457200" y="1874520"/>
            <a:ext cx="2560320" cy="566928"/>
          </a:xfrm>
          <a:prstGeom prst="rect">
            <a:avLst/>
          </a:prstGeom>
          <a:noFill/>
          <a:ln/>
        </p:spPr>
        <p:txBody>
          <a:bodyPr wrap="square" lIns="0" tIns="0" rIns="0" bIns="0" rtlCol="0" anchor="t"/>
          <a:lstStyle/>
          <a:p>
            <a:pPr algn="l" indent="0" marL="0">
              <a:buNone/>
            </a:pPr>
            <a:r>
              <a:rPr lang="en-US" sz="1200" dirty="0">
                <a:solidFill>
                  <a:schemeClr val="tx2"/>
                </a:solidFill>
              </a:rPr>
              <a:t>predicted neck length vs truth (holdout)</a:t>
            </a:r>
            <a:endParaRPr lang="en-US" sz="1200" dirty="0"/>
          </a:p>
        </p:txBody>
      </p:sp>
      <p:sp>
        <p:nvSpPr>
          <p:cNvPr id="5" name="stat mean error, neck bones / head + jaw: v5, v9 and 6 pilots (v5: ±1.5° per person)"/>
          <p:cNvSpPr txBox="1"/>
          <p:nvPr/>
        </p:nvSpPr>
        <p:spPr>
          <a:xfrm>
            <a:off x="3200400" y="1188720"/>
            <a:ext cx="2560320" cy="685800"/>
          </a:xfrm>
          <a:prstGeom prst="rect">
            <a:avLst/>
          </a:prstGeom>
          <a:noFill/>
          <a:ln/>
        </p:spPr>
        <p:txBody>
          <a:bodyPr wrap="square" lIns="0" tIns="0" rIns="0" bIns="0" rtlCol="0" anchor="ctr"/>
          <a:lstStyle/>
          <a:p>
            <a:pPr algn="l" indent="0" marL="0">
              <a:buNone/>
            </a:pPr>
            <a:r>
              <a:rPr lang="en-US" sz="4000" b="1" dirty="0">
                <a:solidFill>
                  <a:schemeClr val="accent4"/>
                </a:solidFill>
              </a:rPr>
              <a:t>63° / 90°</a:t>
            </a:r>
            <a:endParaRPr lang="en-US" sz="4000" dirty="0"/>
          </a:p>
        </p:txBody>
      </p:sp>
      <p:sp>
        <p:nvSpPr>
          <p:cNvPr id="6" name="label mean error, neck bones / head + jaw: v5, v9 and 6 pilots (v5: ±1.5° per person)"/>
          <p:cNvSpPr txBox="1"/>
          <p:nvPr/>
        </p:nvSpPr>
        <p:spPr>
          <a:xfrm>
            <a:off x="3200400" y="1874520"/>
            <a:ext cx="2560320" cy="566928"/>
          </a:xfrm>
          <a:prstGeom prst="rect">
            <a:avLst/>
          </a:prstGeom>
          <a:noFill/>
          <a:ln/>
        </p:spPr>
        <p:txBody>
          <a:bodyPr wrap="square" lIns="0" tIns="0" rIns="0" bIns="0" rtlCol="0" anchor="t"/>
          <a:lstStyle/>
          <a:p>
            <a:pPr algn="l" indent="0" marL="0">
              <a:buNone/>
            </a:pPr>
            <a:r>
              <a:rPr lang="en-US" sz="1200" dirty="0">
                <a:solidFill>
                  <a:schemeClr val="tx2"/>
                </a:solidFill>
              </a:rPr>
              <a:t>mean error, neck bones / head + jaw: v5, v9 and 6 pilots (v5: ±1.5° per person)</a:t>
            </a:r>
            <a:endParaRPr lang="en-US" sz="1200" dirty="0"/>
          </a:p>
        </p:txBody>
      </p:sp>
      <p:sp>
        <p:nvSpPr>
          <p:cNvPr id="7" name="stat v10: neck right, but shoulders 50° and arms 36° off"/>
          <p:cNvSpPr txBox="1"/>
          <p:nvPr/>
        </p:nvSpPr>
        <p:spPr>
          <a:xfrm>
            <a:off x="6035040" y="1188720"/>
            <a:ext cx="2651760" cy="685800"/>
          </a:xfrm>
          <a:prstGeom prst="rect">
            <a:avLst/>
          </a:prstGeom>
          <a:noFill/>
          <a:ln/>
        </p:spPr>
        <p:txBody>
          <a:bodyPr wrap="square" lIns="0" tIns="0" rIns="0" bIns="0" rtlCol="0" anchor="ctr"/>
          <a:lstStyle/>
          <a:p>
            <a:pPr algn="l" indent="0" marL="0">
              <a:buNone/>
            </a:pPr>
            <a:r>
              <a:rPr lang="en-US" sz="4000" b="1" dirty="0">
                <a:solidFill>
                  <a:schemeClr val="accent1"/>
                </a:solidFill>
              </a:rPr>
              <a:t>5° / 4°</a:t>
            </a:r>
            <a:endParaRPr lang="en-US" sz="4000" dirty="0"/>
          </a:p>
        </p:txBody>
      </p:sp>
      <p:sp>
        <p:nvSpPr>
          <p:cNvPr id="8" name="label v10: neck right, but shoulders 50° and arms 36° off"/>
          <p:cNvSpPr txBox="1"/>
          <p:nvPr/>
        </p:nvSpPr>
        <p:spPr>
          <a:xfrm>
            <a:off x="6035040" y="1874520"/>
            <a:ext cx="2651760" cy="566928"/>
          </a:xfrm>
          <a:prstGeom prst="rect">
            <a:avLst/>
          </a:prstGeom>
          <a:noFill/>
          <a:ln/>
        </p:spPr>
        <p:txBody>
          <a:bodyPr wrap="square" lIns="0" tIns="0" rIns="0" bIns="0" rtlCol="0" anchor="t"/>
          <a:lstStyle/>
          <a:p>
            <a:pPr algn="l" indent="0" marL="0">
              <a:buNone/>
            </a:pPr>
            <a:r>
              <a:rPr lang="en-US" sz="1200" dirty="0">
                <a:solidFill>
                  <a:schemeClr val="tx2"/>
                </a:solidFill>
              </a:rPr>
              <a:t>v10: neck right, but shoulders 50° and arms 36° off</a:t>
            </a:r>
            <a:endParaRPr lang="en-US" sz="1200" dirty="0"/>
          </a:p>
        </p:txBody>
      </p:sp>
      <p:sp>
        <p:nvSpPr>
          <p:cNvPr id="9" name="neck box"/>
          <p:cNvSpPr/>
          <p:nvPr/>
        </p:nvSpPr>
        <p:spPr>
          <a:xfrm>
            <a:off x="457200" y="2560320"/>
            <a:ext cx="8229600" cy="2103120"/>
          </a:xfrm>
          <a:prstGeom prst="roundRect">
            <a:avLst>
              <a:gd name="adj" fmla="val 3478"/>
            </a:avLst>
          </a:prstGeom>
          <a:solidFill>
            <a:schemeClr val="bg2"/>
          </a:solidFill>
          <a:ln w="12700">
            <a:solidFill>
              <a:schemeClr val="bg2"/>
            </a:solidFill>
            <a:prstDash val="solid"/>
          </a:ln>
        </p:spPr>
      </p:sp>
      <p:sp>
        <p:nvSpPr>
          <p:cNvPr id="10" name="neck text"/>
          <p:cNvSpPr txBox="1"/>
          <p:nvPr/>
        </p:nvSpPr>
        <p:spPr>
          <a:xfrm>
            <a:off x="640080" y="2651760"/>
            <a:ext cx="7863840" cy="1920240"/>
          </a:xfrm>
          <a:prstGeom prst="rect">
            <a:avLst/>
          </a:prstGeom>
          <a:noFill/>
          <a:ln/>
        </p:spPr>
        <p:txBody>
          <a:bodyPr wrap="square" lIns="0" tIns="0" rIns="0" bIns="0" rtlCol="0" anchor="ctr"/>
          <a:lstStyle/>
          <a:p>
            <a:pPr marL="177800" indent="-177800">
              <a:spcAft>
                <a:spcPts val="300"/>
              </a:spcAft>
              <a:buSzPct val="100000"/>
              <a:buChar char="•"/>
            </a:pPr>
            <a:r>
              <a:rPr lang="en-US" sz="1200" b="1" dirty="0">
                <a:solidFill>
                  <a:schemeClr val="tx1"/>
                </a:solidFill>
              </a:rPr>
              <a:t>v10 shows the loss can teach the neck, </a:t>
            </a:r>
            <a:r>
              <a:rPr lang="en-US" sz="1200" dirty="0">
                <a:solidFill>
                  <a:schemeClr val="tx1"/>
                </a:solidFill>
              </a:rPr>
              <a:t>but is no better overall (shoulders 50°, arms 36°) and differs in three ways: no ×4 neck boost, fresh heads, 3DPW from the start.</a:t>
            </a:r>
            <a:endParaRPr lang="en-US" sz="1200" dirty="0"/>
          </a:p>
          <a:p>
            <a:pPr marL="177800" indent="-177800">
              <a:spcAft>
                <a:spcPts val="300"/>
              </a:spcAft>
              <a:buSzPct val="100000"/>
              <a:buChar char="•"/>
            </a:pPr>
            <a:r>
              <a:rPr lang="en-US" sz="1200" b="1" dirty="0">
                <a:solidFill>
                  <a:schemeClr val="tx1"/>
                </a:solidFill>
              </a:rPr>
              <a:t>v5 and its fine-tunes (v9, pilots) are stuck: </a:t>
            </a:r>
            <a:r>
              <a:rPr lang="en-US" sz="1200" dirty="0">
                <a:solidFill>
                  <a:schemeClr val="tx1"/>
                </a:solidFill>
              </a:rPr>
              <a:t>149,000 more steps in v9 changed nothing. Head direction is only 12° off.</a:t>
            </a:r>
            <a:endParaRPr lang="en-US" sz="1200" dirty="0"/>
          </a:p>
          <a:p>
            <a:pPr marL="177800" indent="-177800">
              <a:spcAft>
                <a:spcPts val="300"/>
              </a:spcAft>
              <a:buSzPct val="100000"/>
              <a:buChar char="•"/>
            </a:pPr>
            <a:r>
              <a:rPr lang="en-US" sz="1200" b="1" dirty="0">
                <a:solidFill>
                  <a:schemeClr val="tx1"/>
                </a:solidFill>
              </a:rPr>
              <a:t>Not the depth bug: </a:t>
            </a:r>
            <a:r>
              <a:rPr lang="en-US" sz="1200" dirty="0">
                <a:solidFill>
                  <a:schemeClr val="tx1"/>
                </a:solidFill>
              </a:rPr>
              <a:t>the neck montage and real-photo demos place each body from its detection box (--anchor_to_box 1).</a:t>
            </a:r>
            <a:endParaRPr lang="en-US" sz="1200" dirty="0"/>
          </a:p>
          <a:p>
            <a:pPr marL="177800" indent="-177800">
              <a:spcAft>
                <a:spcPts val="300"/>
              </a:spcAft>
              <a:buSzPct val="100000"/>
              <a:buChar char="•"/>
            </a:pPr>
            <a:r>
              <a:rPr lang="en-US" sz="1200" b="1" dirty="0">
                <a:solidFill>
                  <a:schemeClr val="tx1"/>
                </a:solidFill>
              </a:rPr>
              <a:t>Cause unknown. Best guess, not tested: </a:t>
            </a:r>
            <a:r>
              <a:rPr lang="en-US" sz="1200" dirty="0">
                <a:solidFill>
                  <a:schemeClr val="tx1"/>
                </a:solidFill>
              </a:rPr>
              <a:t>the loss compares rotation matrices number by number and can stick near a 180° flip. One of 3 neck bones flipped and two almost right gives a mean near 63°; head or jaw flipped gives near 90°.</a:t>
            </a:r>
            <a:endParaRPr lang="en-US" sz="1200" dirty="0"/>
          </a:p>
          <a:p>
            <a:pPr marL="177800" indent="-177800">
              <a:spcAft>
                <a:spcPts val="300"/>
              </a:spcAft>
              <a:buSzPct val="100000"/>
              <a:buChar char="•"/>
            </a:pPr>
            <a:r>
              <a:rPr lang="en-US" sz="1200" b="1" dirty="0">
                <a:solidFill>
                  <a:schemeClr val="tx1"/>
                </a:solidFill>
              </a:rPr>
              <a:t>Not yet shown </a:t>
            </a:r>
            <a:r>
              <a:rPr lang="en-US" sz="1200" dirty="0">
                <a:solidFill>
                  <a:schemeClr val="tx1"/>
                </a:solidFill>
              </a:rPr>
              <a:t>that this offset makes necks look wrong. The head-neck surface error (PVE_hn) cannot tell: 91% of its vertices are on the head.</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Fingers: test-time zoom and a new loss do not help</a:t>
            </a:r>
            <a:endParaRPr lang="en-US" sz="2700" dirty="0"/>
          </a:p>
        </p:txBody>
      </p:sp>
      <p:sp>
        <p:nvSpPr>
          <p:cNvPr id="3" name="stat finger error with predicted fingers"/>
          <p:cNvSpPr txBox="1"/>
          <p:nvPr/>
        </p:nvSpPr>
        <p:spPr>
          <a:xfrm>
            <a:off x="45720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4"/>
                </a:solidFill>
              </a:rPr>
              <a:t>17.3°</a:t>
            </a:r>
            <a:endParaRPr lang="en-US" sz="4000" dirty="0"/>
          </a:p>
        </p:txBody>
      </p:sp>
      <p:sp>
        <p:nvSpPr>
          <p:cNvPr id="4" name="label finger error with predicted fingers"/>
          <p:cNvSpPr txBox="1"/>
          <p:nvPr/>
        </p:nvSpPr>
        <p:spPr>
          <a:xfrm>
            <a:off x="4572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finger error with predicted fingers</a:t>
            </a:r>
            <a:endParaRPr lang="en-US" sz="1300" dirty="0"/>
          </a:p>
        </p:txBody>
      </p:sp>
      <p:sp>
        <p:nvSpPr>
          <p:cNvPr id="5" name="stat finger error with fingers set to rest pose"/>
          <p:cNvSpPr txBox="1"/>
          <p:nvPr/>
        </p:nvSpPr>
        <p:spPr>
          <a:xfrm>
            <a:off x="320040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3"/>
                </a:solidFill>
              </a:rPr>
              <a:t>15.1°</a:t>
            </a:r>
            <a:endParaRPr lang="en-US" sz="4000" dirty="0"/>
          </a:p>
        </p:txBody>
      </p:sp>
      <p:sp>
        <p:nvSpPr>
          <p:cNvPr id="6" name="label finger error with fingers set to rest pose"/>
          <p:cNvSpPr txBox="1"/>
          <p:nvPr/>
        </p:nvSpPr>
        <p:spPr>
          <a:xfrm>
            <a:off x="32004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finger error with fingers set to rest pose</a:t>
            </a:r>
            <a:endParaRPr lang="en-US" sz="1300" dirty="0"/>
          </a:p>
        </p:txBody>
      </p:sp>
      <p:sp>
        <p:nvSpPr>
          <p:cNvPr id="7" name="stat change when the person is magnified at test time (median 1.6×, no retraining)"/>
          <p:cNvSpPr txBox="1"/>
          <p:nvPr/>
        </p:nvSpPr>
        <p:spPr>
          <a:xfrm>
            <a:off x="6035040" y="1280160"/>
            <a:ext cx="2651760" cy="822960"/>
          </a:xfrm>
          <a:prstGeom prst="rect">
            <a:avLst/>
          </a:prstGeom>
          <a:noFill/>
          <a:ln/>
        </p:spPr>
        <p:txBody>
          <a:bodyPr wrap="square" lIns="0" tIns="0" rIns="0" bIns="0" rtlCol="0" anchor="ctr"/>
          <a:lstStyle/>
          <a:p>
            <a:pPr algn="l" indent="0" marL="0">
              <a:buNone/>
            </a:pPr>
            <a:r>
              <a:rPr lang="en-US" sz="4000" b="1" dirty="0">
                <a:solidFill>
                  <a:schemeClr val="accent5"/>
                </a:solidFill>
              </a:rPr>
              <a:t>0.1°</a:t>
            </a:r>
            <a:endParaRPr lang="en-US" sz="4000" dirty="0"/>
          </a:p>
        </p:txBody>
      </p:sp>
      <p:sp>
        <p:nvSpPr>
          <p:cNvPr id="8" name="label change when the person is magnified at test time (median 1.6×, no retraining)"/>
          <p:cNvSpPr txBox="1"/>
          <p:nvPr/>
        </p:nvSpPr>
        <p:spPr>
          <a:xfrm>
            <a:off x="6035040" y="2103120"/>
            <a:ext cx="2651760" cy="640080"/>
          </a:xfrm>
          <a:prstGeom prst="rect">
            <a:avLst/>
          </a:prstGeom>
          <a:noFill/>
          <a:ln/>
        </p:spPr>
        <p:txBody>
          <a:bodyPr wrap="square" lIns="0" tIns="0" rIns="0" bIns="0" rtlCol="0" anchor="t"/>
          <a:lstStyle/>
          <a:p>
            <a:pPr algn="l" indent="0" marL="0">
              <a:buNone/>
            </a:pPr>
            <a:r>
              <a:rPr lang="en-US" sz="1300" dirty="0">
                <a:solidFill>
                  <a:schemeClr val="tx2"/>
                </a:solidFill>
              </a:rPr>
              <a:t>change when the person is magnified at test time (median 1.6×, no retraining)</a:t>
            </a:r>
            <a:endParaRPr lang="en-US" sz="1300" dirty="0"/>
          </a:p>
        </p:txBody>
      </p:sp>
      <p:graphicFrame>
        <p:nvGraphicFramePr>
          <p:cNvPr id="7" name="hand table"/>
          <p:cNvGraphicFramePr>
            <a:graphicFrameLocks noGrp="1"/>
          </p:cNvGraphicFramePr>
          <p:nvPr>
            <p:extLst>
              <p:ext uri="{D42A27DB-BD31-4B8C-83A1-F6EECF244321}">
                <p14:modId xmlns:p14="http://schemas.microsoft.com/office/powerpoint/2010/main" val="1579011935"/>
              </p:ext>
            </p:extLst>
          </p:nvPr>
        </p:nvGraphicFramePr>
        <p:xfrm>
          <a:off x="457200" y="2971800"/>
          <a:ext cx="5120640" cy="914400"/>
        </p:xfrm>
        <a:graphic>
          <a:graphicData uri="http://schemas.openxmlformats.org/drawingml/2006/table">
            <a:tbl>
              <a:tblPr/>
              <a:tblGrid>
                <a:gridCol w="2560320"/>
                <a:gridCol w="1280160"/>
                <a:gridCol w="1280160"/>
              </a:tblGrid>
              <a:tr h="329184">
                <a:tc>
                  <a:txBody>
                    <a:bodyPr/>
                    <a:lstStyle/>
                    <a:p>
                      <a:pPr algn="l" indent="0" marL="0">
                        <a:buNone/>
                      </a:pPr>
                      <a:r>
                        <a:rPr lang="en-US" sz="1200" b="1" dirty="0">
                          <a:solidFill>
                            <a:srgbClr val="FFFFFF"/>
                          </a:solidFill>
                        </a:rPr>
                        <a:t>hand size at the network input</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200" b="1" dirty="0">
                          <a:solidFill>
                            <a:srgbClr val="FFFFFF"/>
                          </a:solidFill>
                        </a:rPr>
                        <a:t>median</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200" b="1" dirty="0">
                          <a:solidFill>
                            <a:srgbClr val="FFFFFF"/>
                          </a:solidFill>
                        </a:rPr>
                        <a:t>under 2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329184">
                <a:tc>
                  <a:txBody>
                    <a:bodyPr/>
                    <a:lstStyle/>
                    <a:p>
                      <a:pPr algn="l" indent="0" marL="0">
                        <a:buNone/>
                      </a:pPr>
                      <a:r>
                        <a:rPr lang="en-US" sz="1200" b="1" dirty="0">
                          <a:solidFill>
                            <a:srgbClr val="1B2233"/>
                          </a:solidFill>
                        </a:rPr>
                        <a:t>full image, 672 px</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2.3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41%</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29184">
                <a:tc>
                  <a:txBody>
                    <a:bodyPr/>
                    <a:lstStyle/>
                    <a:p>
                      <a:pPr algn="l" indent="0" marL="0">
                        <a:buNone/>
                      </a:pPr>
                      <a:r>
                        <a:rPr lang="en-US" sz="1200" b="1" dirty="0">
                          <a:solidFill>
                            <a:srgbClr val="1B2233"/>
                          </a:solidFill>
                        </a:rPr>
                        <a:t>person crop (box ×1.3), test time</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4.2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0%</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329184">
                <a:tc>
                  <a:txBody>
                    <a:bodyPr/>
                    <a:lstStyle/>
                    <a:p>
                      <a:pPr algn="l" indent="0" marL="0">
                        <a:buNone/>
                      </a:pPr>
                      <a:r>
                        <a:rPr lang="en-US" sz="1200" b="1" dirty="0">
                          <a:solidFill>
                            <a:srgbClr val="1B2233"/>
                          </a:solidFill>
                        </a:rPr>
                        <a:t>children's hands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0.7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80%</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10" name="finger text"/>
          <p:cNvSpPr txBox="1"/>
          <p:nvPr/>
        </p:nvSpPr>
        <p:spPr>
          <a:xfrm>
            <a:off x="5852160" y="2971800"/>
            <a:ext cx="2834640" cy="1691640"/>
          </a:xfrm>
          <a:prstGeom prst="rect">
            <a:avLst/>
          </a:prstGeom>
          <a:noFill/>
          <a:ln/>
        </p:spPr>
        <p:txBody>
          <a:bodyPr wrap="square" lIns="0" tIns="0" rIns="0" bIns="0" rtlCol="0" anchor="t"/>
          <a:lstStyle/>
          <a:p>
            <a:pPr indent="0" marL="0">
              <a:buNone/>
            </a:pPr>
            <a:r>
              <a:rPr lang="en-US" sz="1200" b="1" dirty="0">
                <a:solidFill>
                  <a:schemeClr val="tx1"/>
                </a:solidFill>
              </a:rPr>
              <a:t>Reading. </a:t>
            </a:r>
            <a:r>
              <a:rPr lang="en-US" sz="1200" dirty="0">
                <a:solidFill>
                  <a:schemeClr val="tx1"/>
                </a:solidFill>
              </a:rPr>
              <a:t>Predicting fingers is worse than not predicting them. Test-time zoom, no retraining: 17.2° vs 17.3°, while body error nearly doubles on these crops. A loss that cut the hands' share of the rotation loss from about 70% to 33%: 17.5° vs 17.4° for its control. Not tested: a model trained on larger hands.</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Children: child-like in training, adult on real photos</a:t>
            </a:r>
            <a:endParaRPr lang="en-US" sz="2700" dirty="0"/>
          </a:p>
        </p:txBody>
      </p:sp>
      <p:sp>
        <p:nvSpPr>
          <p:cNvPr id="3" name="stat children among supervised training people, with the balanced sampler"/>
          <p:cNvSpPr txBox="1"/>
          <p:nvPr/>
        </p:nvSpPr>
        <p:spPr>
          <a:xfrm>
            <a:off x="45720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1"/>
                </a:solidFill>
              </a:rPr>
              <a:t>2% → 10%</a:t>
            </a:r>
            <a:endParaRPr lang="en-US" sz="4000" dirty="0"/>
          </a:p>
        </p:txBody>
      </p:sp>
      <p:sp>
        <p:nvSpPr>
          <p:cNvPr id="4" name="label children among supervised training people, with the balanced sampler"/>
          <p:cNvSpPr txBox="1"/>
          <p:nvPr/>
        </p:nvSpPr>
        <p:spPr>
          <a:xfrm>
            <a:off x="4572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children among supervised training people, with the balanced sampler</a:t>
            </a:r>
            <a:endParaRPr lang="en-US" sz="1300" dirty="0"/>
          </a:p>
        </p:txBody>
      </p:sp>
      <p:sp>
        <p:nvSpPr>
          <p:cNvPr id="5" name="stat predicted age of training babies (about 4 y); true 0.015 (about 1.5 y)"/>
          <p:cNvSpPr txBox="1"/>
          <p:nvPr/>
        </p:nvSpPr>
        <p:spPr>
          <a:xfrm>
            <a:off x="3200400" y="1280160"/>
            <a:ext cx="2560320" cy="822960"/>
          </a:xfrm>
          <a:prstGeom prst="rect">
            <a:avLst/>
          </a:prstGeom>
          <a:noFill/>
          <a:ln/>
        </p:spPr>
        <p:txBody>
          <a:bodyPr wrap="square" lIns="0" tIns="0" rIns="0" bIns="0" rtlCol="0" anchor="ctr"/>
          <a:lstStyle/>
          <a:p>
            <a:pPr algn="l" indent="0" marL="0">
              <a:buNone/>
            </a:pPr>
            <a:r>
              <a:rPr lang="en-US" sz="4000" b="1" dirty="0">
                <a:solidFill>
                  <a:schemeClr val="tx2"/>
                </a:solidFill>
              </a:rPr>
              <a:t>0.10</a:t>
            </a:r>
            <a:endParaRPr lang="en-US" sz="4000" dirty="0"/>
          </a:p>
        </p:txBody>
      </p:sp>
      <p:sp>
        <p:nvSpPr>
          <p:cNvPr id="6" name="label predicted age of training babies (about 4 y); true 0.015 (about 1.5 y)"/>
          <p:cNvSpPr txBox="1"/>
          <p:nvPr/>
        </p:nvSpPr>
        <p:spPr>
          <a:xfrm>
            <a:off x="32004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predicted age of training babies (about 4 y); true 0.015 (about 1.5 y)</a:t>
            </a:r>
            <a:endParaRPr lang="en-US" sz="1300" dirty="0"/>
          </a:p>
        </p:txBody>
      </p:sp>
      <p:sp>
        <p:nvSpPr>
          <p:cNvPr id="7" name="stat predicted age of 5 small people in real photos (21–25 y): adult"/>
          <p:cNvSpPr txBox="1"/>
          <p:nvPr/>
        </p:nvSpPr>
        <p:spPr>
          <a:xfrm>
            <a:off x="6035040" y="1280160"/>
            <a:ext cx="2651760" cy="822960"/>
          </a:xfrm>
          <a:prstGeom prst="rect">
            <a:avLst/>
          </a:prstGeom>
          <a:noFill/>
          <a:ln/>
        </p:spPr>
        <p:txBody>
          <a:bodyPr wrap="square" lIns="0" tIns="0" rIns="0" bIns="0" rtlCol="0" anchor="ctr"/>
          <a:lstStyle/>
          <a:p>
            <a:pPr algn="l" indent="0" marL="0">
              <a:buNone/>
            </a:pPr>
            <a:r>
              <a:rPr lang="en-US" sz="4000" b="1" dirty="0">
                <a:solidFill>
                  <a:schemeClr val="accent4"/>
                </a:solidFill>
              </a:rPr>
              <a:t>0.57–0.67</a:t>
            </a:r>
            <a:endParaRPr lang="en-US" sz="4000" dirty="0"/>
          </a:p>
        </p:txBody>
      </p:sp>
      <p:sp>
        <p:nvSpPr>
          <p:cNvPr id="8" name="label predicted age of 5 small people in real photos (21–25 y): adult"/>
          <p:cNvSpPr txBox="1"/>
          <p:nvPr/>
        </p:nvSpPr>
        <p:spPr>
          <a:xfrm>
            <a:off x="6035040" y="2103120"/>
            <a:ext cx="2651760" cy="640080"/>
          </a:xfrm>
          <a:prstGeom prst="rect">
            <a:avLst/>
          </a:prstGeom>
          <a:noFill/>
          <a:ln/>
        </p:spPr>
        <p:txBody>
          <a:bodyPr wrap="square" lIns="0" tIns="0" rIns="0" bIns="0" rtlCol="0" anchor="t"/>
          <a:lstStyle/>
          <a:p>
            <a:pPr algn="l" indent="0" marL="0">
              <a:buNone/>
            </a:pPr>
            <a:r>
              <a:rPr lang="en-US" sz="1300" dirty="0">
                <a:solidFill>
                  <a:schemeClr val="tx2"/>
                </a:solidFill>
              </a:rPr>
              <a:t>predicted age of 5 small people in real photos (21–25 y): adult</a:t>
            </a:r>
            <a:endParaRPr lang="en-US" sz="1300" dirty="0"/>
          </a:p>
        </p:txBody>
      </p:sp>
      <p:sp>
        <p:nvSpPr>
          <p:cNvPr id="9" name="child box"/>
          <p:cNvSpPr/>
          <p:nvPr/>
        </p:nvSpPr>
        <p:spPr>
          <a:xfrm>
            <a:off x="457200" y="3017520"/>
            <a:ext cx="8229600" cy="1600200"/>
          </a:xfrm>
          <a:prstGeom prst="roundRect">
            <a:avLst>
              <a:gd name="adj" fmla="val 4571"/>
            </a:avLst>
          </a:prstGeom>
          <a:solidFill>
            <a:schemeClr val="bg2"/>
          </a:solidFill>
          <a:ln w="12700">
            <a:solidFill>
              <a:schemeClr val="bg2"/>
            </a:solidFill>
            <a:prstDash val="solid"/>
          </a:ln>
        </p:spPr>
      </p:sp>
      <p:sp>
        <p:nvSpPr>
          <p:cNvPr id="10" name="child text"/>
          <p:cNvSpPr txBox="1"/>
          <p:nvPr/>
        </p:nvSpPr>
        <p:spPr>
          <a:xfrm>
            <a:off x="640080" y="3108960"/>
            <a:ext cx="7863840" cy="1417320"/>
          </a:xfrm>
          <a:prstGeom prst="rect">
            <a:avLst/>
          </a:prstGeom>
          <a:noFill/>
          <a:ln/>
        </p:spPr>
        <p:txBody>
          <a:bodyPr wrap="square" lIns="0" tIns="0" rIns="0" bIns="0" rtlCol="0" anchor="ctr"/>
          <a:lstStyle/>
          <a:p>
            <a:pPr marL="177800" indent="-177800">
              <a:spcAft>
                <a:spcPts val="300"/>
              </a:spcAft>
              <a:buSzPct val="100000"/>
              <a:buChar char="•"/>
            </a:pPr>
            <a:r>
              <a:rPr lang="en-US" sz="1200" b="1" dirty="0">
                <a:solidFill>
                  <a:schemeClr val="tx1"/>
                </a:solidFill>
              </a:rPr>
              <a:t>The model can make a child: </a:t>
            </a:r>
            <a:r>
              <a:rPr lang="en-US" sz="1200" dirty="0">
                <a:solidFill>
                  <a:schemeClr val="tx1"/>
                </a:solidFill>
              </a:rPr>
              <a:t>all eleven shape outputs are trained, none is clamped to an adult. Training babies come out child-like, but too old.</a:t>
            </a:r>
            <a:endParaRPr lang="en-US" sz="1200" dirty="0"/>
          </a:p>
          <a:p>
            <a:pPr marL="177800" indent="-177800">
              <a:spcAft>
                <a:spcPts val="300"/>
              </a:spcAft>
              <a:buSzPct val="100000"/>
              <a:buChar char="•"/>
            </a:pPr>
            <a:r>
              <a:rPr lang="en-US" sz="1200" b="1" dirty="0">
                <a:solidFill>
                  <a:schemeClr val="tx1"/>
                </a:solidFill>
              </a:rPr>
              <a:t>More children did not help in a 2-epoch fine-tune: </a:t>
            </a:r>
            <a:r>
              <a:rPr lang="en-US" sz="1200" dirty="0">
                <a:solidFill>
                  <a:schemeClr val="tx1"/>
                </a:solidFill>
              </a:rPr>
              <a:t>about 5 times more in training; no change on the 10 training children or on the real photos (no age labels).</a:t>
            </a:r>
            <a:endParaRPr lang="en-US" sz="1200" dirty="0"/>
          </a:p>
          <a:p>
            <a:pPr marL="177800" indent="-177800">
              <a:spcAft>
                <a:spcPts val="300"/>
              </a:spcAft>
              <a:buSzPct val="100000"/>
              <a:buChar char="•"/>
            </a:pPr>
            <a:r>
              <a:rPr lang="en-US" sz="1200" b="1" dirty="0">
                <a:solidFill>
                  <a:schemeClr val="tx1"/>
                </a:solidFill>
              </a:rPr>
              <a:t>Best guess: </a:t>
            </a:r>
            <a:r>
              <a:rPr lang="en-US" sz="1200" dirty="0">
                <a:solidFill>
                  <a:schemeClr val="tx1"/>
                </a:solidFill>
              </a:rPr>
              <a:t>a gap between synthetic and real images. No fix this week; a limitation for the thesis.</a:t>
            </a:r>
            <a:endParaRPr lang="en-US" sz="1200" dirty="0"/>
          </a:p>
          <a:p>
            <a:pPr marL="177800" indent="-177800">
              <a:spcAft>
                <a:spcPts val="300"/>
              </a:spcAft>
              <a:buSzPct val="100000"/>
              <a:buChar char="•"/>
            </a:pPr>
            <a:r>
              <a:rPr lang="en-US" sz="1200" b="1" dirty="0">
                <a:solidFill>
                  <a:schemeClr val="tx1"/>
                </a:solidFill>
              </a:rPr>
              <a:t>Caveat: </a:t>
            </a:r>
            <a:r>
              <a:rPr lang="en-US" sz="1200" dirty="0">
                <a:solidFill>
                  <a:schemeClr val="tx1"/>
                </a:solidFill>
              </a:rPr>
              <a:t>every synthetic child number is in-sample; the holdout has no children. Age scale (Anny default): 0 = 1 y, 0.33 = 11 y, 0.67 = 25 y.</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The hidden bug: head anchored, pelvis targeted</a:t>
            </a:r>
            <a:endParaRPr lang="en-US" sz="2700" dirty="0"/>
          </a:p>
        </p:txBody>
      </p:sp>
      <p:sp>
        <p:nvSpPr>
          <p:cNvPr id="3" name="Model: anchor = head head"/>
          <p:cNvSpPr/>
          <p:nvPr/>
        </p:nvSpPr>
        <p:spPr>
          <a:xfrm>
            <a:off x="1234440" y="1234440"/>
            <a:ext cx="457200" cy="457200"/>
          </a:xfrm>
          <a:prstGeom prst="ellipse">
            <a:avLst/>
          </a:prstGeom>
          <a:solidFill>
            <a:schemeClr val="bg2"/>
          </a:solidFill>
          <a:ln w="19050">
            <a:solidFill>
              <a:schemeClr val="tx2"/>
            </a:solidFill>
            <a:prstDash val="solid"/>
          </a:ln>
        </p:spPr>
      </p:sp>
      <p:sp>
        <p:nvSpPr>
          <p:cNvPr id="4" name="Model: anchor = head body"/>
          <p:cNvSpPr/>
          <p:nvPr/>
        </p:nvSpPr>
        <p:spPr>
          <a:xfrm>
            <a:off x="1463040" y="1691640"/>
            <a:ext cx="0" cy="1188720"/>
          </a:xfrm>
          <a:prstGeom prst="line">
            <a:avLst/>
          </a:prstGeom>
          <a:noFill/>
          <a:ln w="25400">
            <a:solidFill>
              <a:schemeClr val="tx2"/>
            </a:solidFill>
            <a:prstDash val="solid"/>
          </a:ln>
        </p:spPr>
      </p:sp>
      <p:sp>
        <p:nvSpPr>
          <p:cNvPr id="5" name="Model: anchor = head arms"/>
          <p:cNvSpPr/>
          <p:nvPr/>
        </p:nvSpPr>
        <p:spPr>
          <a:xfrm>
            <a:off x="1005840" y="1947672"/>
            <a:ext cx="914400" cy="27432"/>
          </a:xfrm>
          <a:prstGeom prst="rect">
            <a:avLst/>
          </a:prstGeom>
          <a:solidFill>
            <a:schemeClr val="tx2"/>
          </a:solidFill>
          <a:ln w="12700">
            <a:solidFill>
              <a:schemeClr val="tx2"/>
            </a:solidFill>
            <a:prstDash val="solid"/>
          </a:ln>
        </p:spPr>
      </p:sp>
      <p:sp>
        <p:nvSpPr>
          <p:cNvPr id="6" name="Model: anchor = head legL"/>
          <p:cNvSpPr/>
          <p:nvPr/>
        </p:nvSpPr>
        <p:spPr>
          <a:xfrm flipH="1">
            <a:off x="1051560" y="2880360"/>
            <a:ext cx="411480" cy="822960"/>
          </a:xfrm>
          <a:prstGeom prst="line">
            <a:avLst/>
          </a:prstGeom>
          <a:noFill/>
          <a:ln w="25400">
            <a:solidFill>
              <a:schemeClr val="tx2"/>
            </a:solidFill>
            <a:prstDash val="solid"/>
          </a:ln>
        </p:spPr>
      </p:sp>
      <p:sp>
        <p:nvSpPr>
          <p:cNvPr id="7" name="Model: anchor = head legR"/>
          <p:cNvSpPr/>
          <p:nvPr/>
        </p:nvSpPr>
        <p:spPr>
          <a:xfrm>
            <a:off x="1463040" y="2880360"/>
            <a:ext cx="411480" cy="822960"/>
          </a:xfrm>
          <a:prstGeom prst="line">
            <a:avLst/>
          </a:prstGeom>
          <a:noFill/>
          <a:ln w="25400">
            <a:solidFill>
              <a:schemeClr val="tx2"/>
            </a:solidFill>
            <a:prstDash val="solid"/>
          </a:ln>
        </p:spPr>
      </p:sp>
      <p:sp>
        <p:nvSpPr>
          <p:cNvPr id="8" name="Model: anchor = head anchor"/>
          <p:cNvSpPr/>
          <p:nvPr/>
        </p:nvSpPr>
        <p:spPr>
          <a:xfrm>
            <a:off x="1353312" y="1353312"/>
            <a:ext cx="219456" cy="219456"/>
          </a:xfrm>
          <a:prstGeom prst="ellipse">
            <a:avLst/>
          </a:prstGeom>
          <a:solidFill>
            <a:srgbClr val="0E7C86"/>
          </a:solidFill>
          <a:ln w="12700">
            <a:solidFill>
              <a:srgbClr val="0E7C86"/>
            </a:solidFill>
            <a:prstDash val="solid"/>
          </a:ln>
        </p:spPr>
      </p:sp>
      <p:sp>
        <p:nvSpPr>
          <p:cNvPr id="9" name="Model: anchor = head cap"/>
          <p:cNvSpPr txBox="1"/>
          <p:nvPr/>
        </p:nvSpPr>
        <p:spPr>
          <a:xfrm>
            <a:off x="457200" y="3794760"/>
            <a:ext cx="2011680" cy="274320"/>
          </a:xfrm>
          <a:prstGeom prst="rect">
            <a:avLst/>
          </a:prstGeom>
          <a:noFill/>
          <a:ln/>
        </p:spPr>
        <p:txBody>
          <a:bodyPr wrap="square" lIns="0" tIns="0" rIns="0" bIns="0" rtlCol="0" anchor="ctr"/>
          <a:lstStyle/>
          <a:p>
            <a:pPr algn="ctr" indent="0" marL="0">
              <a:buNone/>
            </a:pPr>
            <a:r>
              <a:rPr lang="en-US" sz="1200" b="1" dirty="0">
                <a:solidFill>
                  <a:schemeClr val="tx1"/>
                </a:solidFill>
              </a:rPr>
              <a:t>Model: anchor = head</a:t>
            </a:r>
            <a:endParaRPr lang="en-US" sz="1200" dirty="0"/>
          </a:p>
        </p:txBody>
      </p:sp>
      <p:sp>
        <p:nvSpPr>
          <p:cNvPr id="10" name="Model: anchor = head note"/>
          <p:cNvSpPr txBox="1"/>
          <p:nvPr/>
        </p:nvSpPr>
        <p:spPr>
          <a:xfrm>
            <a:off x="457200" y="4069080"/>
            <a:ext cx="2011680" cy="457200"/>
          </a:xfrm>
          <a:prstGeom prst="rect">
            <a:avLst/>
          </a:prstGeom>
          <a:noFill/>
          <a:ln/>
        </p:spPr>
        <p:txBody>
          <a:bodyPr wrap="square" lIns="0" tIns="0" rIns="0" bIns="0" rtlCol="0" anchor="ctr"/>
          <a:lstStyle/>
          <a:p>
            <a:pPr algn="ctr" indent="0" marL="0">
              <a:buNone/>
            </a:pPr>
            <a:r>
              <a:rPr lang="en-US" sz="1100" dirty="0">
                <a:solidFill>
                  <a:schemeClr val="tx2"/>
                </a:solidFill>
              </a:rPr>
              <a:t>model.py places the mesh by its head joint</a:t>
            </a:r>
            <a:endParaRPr lang="en-US" sz="1100" dirty="0"/>
          </a:p>
        </p:txBody>
      </p:sp>
      <p:sp>
        <p:nvSpPr>
          <p:cNvPr id="11" name="Training target = pelvis head"/>
          <p:cNvSpPr/>
          <p:nvPr/>
        </p:nvSpPr>
        <p:spPr>
          <a:xfrm>
            <a:off x="3703320" y="1234440"/>
            <a:ext cx="457200" cy="457200"/>
          </a:xfrm>
          <a:prstGeom prst="ellipse">
            <a:avLst/>
          </a:prstGeom>
          <a:solidFill>
            <a:schemeClr val="bg2"/>
          </a:solidFill>
          <a:ln w="19050">
            <a:solidFill>
              <a:schemeClr val="tx2"/>
            </a:solidFill>
            <a:prstDash val="solid"/>
          </a:ln>
        </p:spPr>
      </p:sp>
      <p:sp>
        <p:nvSpPr>
          <p:cNvPr id="12" name="Training target = pelvis body"/>
          <p:cNvSpPr/>
          <p:nvPr/>
        </p:nvSpPr>
        <p:spPr>
          <a:xfrm>
            <a:off x="3931920" y="1691640"/>
            <a:ext cx="0" cy="1188720"/>
          </a:xfrm>
          <a:prstGeom prst="line">
            <a:avLst/>
          </a:prstGeom>
          <a:noFill/>
          <a:ln w="25400">
            <a:solidFill>
              <a:schemeClr val="tx2"/>
            </a:solidFill>
            <a:prstDash val="solid"/>
          </a:ln>
        </p:spPr>
      </p:sp>
      <p:sp>
        <p:nvSpPr>
          <p:cNvPr id="13" name="Training target = pelvis arms"/>
          <p:cNvSpPr/>
          <p:nvPr/>
        </p:nvSpPr>
        <p:spPr>
          <a:xfrm>
            <a:off x="3474720" y="1947672"/>
            <a:ext cx="914400" cy="27432"/>
          </a:xfrm>
          <a:prstGeom prst="rect">
            <a:avLst/>
          </a:prstGeom>
          <a:solidFill>
            <a:schemeClr val="tx2"/>
          </a:solidFill>
          <a:ln w="12700">
            <a:solidFill>
              <a:schemeClr val="tx2"/>
            </a:solidFill>
            <a:prstDash val="solid"/>
          </a:ln>
        </p:spPr>
      </p:sp>
      <p:sp>
        <p:nvSpPr>
          <p:cNvPr id="14" name="Training target = pelvis legL"/>
          <p:cNvSpPr/>
          <p:nvPr/>
        </p:nvSpPr>
        <p:spPr>
          <a:xfrm flipH="1">
            <a:off x="3520440" y="2880360"/>
            <a:ext cx="411480" cy="822960"/>
          </a:xfrm>
          <a:prstGeom prst="line">
            <a:avLst/>
          </a:prstGeom>
          <a:noFill/>
          <a:ln w="25400">
            <a:solidFill>
              <a:schemeClr val="tx2"/>
            </a:solidFill>
            <a:prstDash val="solid"/>
          </a:ln>
        </p:spPr>
      </p:sp>
      <p:sp>
        <p:nvSpPr>
          <p:cNvPr id="15" name="Training target = pelvis legR"/>
          <p:cNvSpPr/>
          <p:nvPr/>
        </p:nvSpPr>
        <p:spPr>
          <a:xfrm>
            <a:off x="3931920" y="2880360"/>
            <a:ext cx="411480" cy="822960"/>
          </a:xfrm>
          <a:prstGeom prst="line">
            <a:avLst/>
          </a:prstGeom>
          <a:noFill/>
          <a:ln w="25400">
            <a:solidFill>
              <a:schemeClr val="tx2"/>
            </a:solidFill>
            <a:prstDash val="solid"/>
          </a:ln>
        </p:spPr>
      </p:sp>
      <p:sp>
        <p:nvSpPr>
          <p:cNvPr id="16" name="Training target = pelvis anchor"/>
          <p:cNvSpPr/>
          <p:nvPr/>
        </p:nvSpPr>
        <p:spPr>
          <a:xfrm>
            <a:off x="3822192" y="2770632"/>
            <a:ext cx="219456" cy="219456"/>
          </a:xfrm>
          <a:prstGeom prst="ellipse">
            <a:avLst/>
          </a:prstGeom>
          <a:solidFill>
            <a:srgbClr val="E8792B"/>
          </a:solidFill>
          <a:ln w="12700">
            <a:solidFill>
              <a:srgbClr val="E8792B"/>
            </a:solidFill>
            <a:prstDash val="solid"/>
          </a:ln>
        </p:spPr>
      </p:sp>
      <p:sp>
        <p:nvSpPr>
          <p:cNvPr id="17" name="Training target = pelvis cap"/>
          <p:cNvSpPr txBox="1"/>
          <p:nvPr/>
        </p:nvSpPr>
        <p:spPr>
          <a:xfrm>
            <a:off x="2926080" y="3794760"/>
            <a:ext cx="2011680" cy="274320"/>
          </a:xfrm>
          <a:prstGeom prst="rect">
            <a:avLst/>
          </a:prstGeom>
          <a:noFill/>
          <a:ln/>
        </p:spPr>
        <p:txBody>
          <a:bodyPr wrap="square" lIns="0" tIns="0" rIns="0" bIns="0" rtlCol="0" anchor="ctr"/>
          <a:lstStyle/>
          <a:p>
            <a:pPr algn="ctr" indent="0" marL="0">
              <a:buNone/>
            </a:pPr>
            <a:r>
              <a:rPr lang="en-US" sz="1200" b="1" dirty="0">
                <a:solidFill>
                  <a:schemeClr val="tx1"/>
                </a:solidFill>
              </a:rPr>
              <a:t>Training target = pelvis</a:t>
            </a:r>
            <a:endParaRPr lang="en-US" sz="1200" dirty="0"/>
          </a:p>
        </p:txBody>
      </p:sp>
      <p:sp>
        <p:nvSpPr>
          <p:cNvPr id="18" name="Training target = pelvis note"/>
          <p:cNvSpPr txBox="1"/>
          <p:nvPr/>
        </p:nvSpPr>
        <p:spPr>
          <a:xfrm>
            <a:off x="2926080" y="4069080"/>
            <a:ext cx="2011680" cy="457200"/>
          </a:xfrm>
          <a:prstGeom prst="rect">
            <a:avLst/>
          </a:prstGeom>
          <a:noFill/>
          <a:ln/>
        </p:spPr>
        <p:txBody>
          <a:bodyPr wrap="square" lIns="0" tIns="0" rIns="0" bIns="0" rtlCol="0" anchor="ctr"/>
          <a:lstStyle/>
          <a:p>
            <a:pPr algn="ctr" indent="0" marL="0">
              <a:buNone/>
            </a:pPr>
            <a:r>
              <a:rPr lang="en-US" sz="1100" dirty="0">
                <a:solidFill>
                  <a:schemeClr val="tx2"/>
                </a:solidFill>
              </a:rPr>
              <a:t>train.py built transl / dist / heatmap / offset at joint 0</a:t>
            </a:r>
            <a:endParaRPr lang="en-US" sz="1100" dirty="0"/>
          </a:p>
        </p:txBody>
      </p:sp>
      <p:sp>
        <p:nvSpPr>
          <p:cNvPr id="19" name="stat depth"/>
          <p:cNvSpPr txBox="1"/>
          <p:nvPr/>
        </p:nvSpPr>
        <p:spPr>
          <a:xfrm>
            <a:off x="6035040" y="1280160"/>
            <a:ext cx="2743200" cy="731520"/>
          </a:xfrm>
          <a:prstGeom prst="rect">
            <a:avLst/>
          </a:prstGeom>
          <a:noFill/>
          <a:ln/>
        </p:spPr>
        <p:txBody>
          <a:bodyPr wrap="square" lIns="0" tIns="0" rIns="0" bIns="0" rtlCol="0" anchor="ctr"/>
          <a:lstStyle/>
          <a:p>
            <a:pPr indent="0" marL="0">
              <a:buNone/>
            </a:pPr>
            <a:r>
              <a:rPr lang="en-US" sz="2600" b="1" dirty="0">
                <a:solidFill>
                  <a:schemeClr val="accent4"/>
                </a:solidFill>
              </a:rPr>
              <a:t>0.33 × true + 2.36 m</a:t>
            </a:r>
            <a:endParaRPr lang="en-US" sz="2600" dirty="0"/>
          </a:p>
        </p:txBody>
      </p:sp>
      <p:sp>
        <p:nvSpPr>
          <p:cNvPr id="20" name="label depth"/>
          <p:cNvSpPr txBox="1"/>
          <p:nvPr/>
        </p:nvSpPr>
        <p:spPr>
          <a:xfrm>
            <a:off x="6035040" y="2011680"/>
            <a:ext cx="2743200" cy="548640"/>
          </a:xfrm>
          <a:prstGeom prst="rect">
            <a:avLst/>
          </a:prstGeom>
          <a:noFill/>
          <a:ln/>
        </p:spPr>
        <p:txBody>
          <a:bodyPr wrap="square" lIns="0" tIns="0" rIns="0" bIns="0" rtlCol="0" anchor="t"/>
          <a:lstStyle/>
          <a:p>
            <a:pPr indent="0" marL="0">
              <a:buNone/>
            </a:pPr>
            <a:r>
              <a:rPr lang="en-US" sz="1300" dirty="0">
                <a:solidFill>
                  <a:schemeClr val="tx2"/>
                </a:solidFill>
              </a:rPr>
              <a:t>v5: predicted vs true depth; all 222 holdout people too far</a:t>
            </a:r>
            <a:endParaRPr lang="en-US" sz="1300" dirty="0"/>
          </a:p>
        </p:txBody>
      </p:sp>
      <p:sp>
        <p:nvSpPr>
          <p:cNvPr id="21" name="bug text"/>
          <p:cNvSpPr txBox="1"/>
          <p:nvPr/>
        </p:nvSpPr>
        <p:spPr>
          <a:xfrm>
            <a:off x="6035040" y="2697480"/>
            <a:ext cx="2743200" cy="1920240"/>
          </a:xfrm>
          <a:prstGeom prst="rect">
            <a:avLst/>
          </a:prstGeom>
          <a:noFill/>
          <a:ln/>
        </p:spPr>
        <p:txBody>
          <a:bodyPr wrap="square" lIns="0" tIns="0" rIns="0" bIns="0" rtlCol="0" anchor="t"/>
          <a:lstStyle/>
          <a:p>
            <a:pPr indent="0" marL="0">
              <a:buNone/>
            </a:pPr>
            <a:r>
              <a:rPr lang="en-US" sz="1200" b="1" dirty="0">
                <a:solidFill>
                  <a:schemeClr val="tx1"/>
                </a:solidFill>
              </a:rPr>
              <a:t>Effect. </a:t>
            </a:r>
            <a:r>
              <a:rPr lang="en-US" sz="1200" dirty="0">
                <a:solidFill>
                  <a:schemeClr val="tx1"/>
                </a:solidFill>
              </a:rPr>
              <a:t>Confirmed: with consistent targets the bodies grow back. Likely mechanism: the 2D losses reconcile the two anchors by shrinking the body, i.e. pushing it away. Bodies come out about two thirds of true size (0.63), head 64 px off. Pelvis-centred PVE cannot see this; the real-photo demos hid it too (box placement). v9 and v10 have the same bug.</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Depth fix: bodies much closer to their real size</a:t>
            </a:r>
            <a:endParaRPr lang="en-US" sz="2700" dirty="0"/>
          </a:p>
        </p:txBody>
      </p:sp>
      <p:pic>
        <p:nvPicPr>
          <p:cNvPr id="3" name="figure depth_before_after_579862.jpg" descr="Ground truth, before (v5) and after (fix) meshes on a synthetic holdout image">    </p:cNvPr>
          <p:cNvPicPr>
            <a:picLocks noChangeAspect="1"/>
          </p:cNvPicPr>
          <p:nvPr/>
        </p:nvPicPr>
        <p:blipFill>
          <a:blip r:embed="rId1"/>
          <a:stretch>
            <a:fillRect/>
          </a:stretch>
        </p:blipFill>
        <p:spPr>
          <a:xfrm>
            <a:off x="640080" y="1051560"/>
            <a:ext cx="7863840" cy="2864356"/>
          </a:xfrm>
          <a:prstGeom prst="rect">
            <a:avLst/>
          </a:prstGeom>
        </p:spPr>
      </p:pic>
      <p:sp>
        <p:nvSpPr>
          <p:cNvPr id="4" name="caption 0"/>
          <p:cNvSpPr txBox="1"/>
          <p:nvPr/>
        </p:nvSpPr>
        <p:spPr>
          <a:xfrm>
            <a:off x="640080" y="3970780"/>
            <a:ext cx="2595002" cy="365760"/>
          </a:xfrm>
          <a:prstGeom prst="rect">
            <a:avLst/>
          </a:prstGeom>
          <a:noFill/>
          <a:ln/>
        </p:spPr>
        <p:txBody>
          <a:bodyPr wrap="square" lIns="0" tIns="0" rIns="0" bIns="0" rtlCol="0" anchor="t"/>
          <a:lstStyle/>
          <a:p>
            <a:pPr indent="0" marL="0">
              <a:buNone/>
            </a:pPr>
            <a:r>
              <a:rPr lang="en-US" sz="1100" dirty="0">
                <a:solidFill>
                  <a:schemeClr val="tx2"/>
                </a:solidFill>
              </a:rPr>
              <a:t>Synthetic holdout image 579862. All 12 images checked show the same change.</a:t>
            </a:r>
            <a:endParaRPr lang="en-US" sz="1100" dirty="0"/>
          </a:p>
        </p:txBody>
      </p:sp>
      <p:sp>
        <p:nvSpPr>
          <p:cNvPr id="5" name="caption 1"/>
          <p:cNvSpPr txBox="1"/>
          <p:nvPr/>
        </p:nvSpPr>
        <p:spPr>
          <a:xfrm>
            <a:off x="3274499" y="3970780"/>
            <a:ext cx="2595002" cy="365760"/>
          </a:xfrm>
          <a:prstGeom prst="rect">
            <a:avLst/>
          </a:prstGeom>
          <a:noFill/>
          <a:ln/>
        </p:spPr>
        <p:txBody>
          <a:bodyPr wrap="square" lIns="0" tIns="0" rIns="0" bIns="0" rtlCol="0" anchor="t"/>
          <a:lstStyle/>
          <a:p>
            <a:pPr indent="0" marL="0">
              <a:buNone/>
            </a:pPr>
            <a:r>
              <a:rPr lang="en-US" sz="1100" dirty="0">
                <a:solidFill>
                  <a:schemeClr val="tx1"/>
                </a:solidFill>
              </a:rPr>
              <a:t>v5, whole holdout:</a:t>
            </a:r>
            <a:endParaRPr lang="en-US" sz="1100" dirty="0"/>
          </a:p>
          <a:p>
            <a:pPr indent="0" marL="0">
              <a:buNone/>
            </a:pPr>
            <a:r>
              <a:rPr lang="en-US" sz="1100" dirty="0">
                <a:solidFill>
                  <a:schemeClr val="tx1"/>
                </a:solidFill>
              </a:rPr>
              <a:t>depth error 1.08 m; median size 0.63</a:t>
            </a:r>
            <a:endParaRPr lang="en-US" sz="1100" dirty="0"/>
          </a:p>
        </p:txBody>
      </p:sp>
      <p:sp>
        <p:nvSpPr>
          <p:cNvPr id="6" name="caption 2"/>
          <p:cNvSpPr txBox="1"/>
          <p:nvPr/>
        </p:nvSpPr>
        <p:spPr>
          <a:xfrm>
            <a:off x="5908918" y="3970780"/>
            <a:ext cx="2595002" cy="365760"/>
          </a:xfrm>
          <a:prstGeom prst="rect">
            <a:avLst/>
          </a:prstGeom>
          <a:noFill/>
          <a:ln/>
        </p:spPr>
        <p:txBody>
          <a:bodyPr wrap="square" lIns="0" tIns="0" rIns="0" bIns="0" rtlCol="0" anchor="t"/>
          <a:lstStyle/>
          <a:p>
            <a:pPr indent="0" marL="0">
              <a:buNone/>
            </a:pPr>
            <a:r>
              <a:rPr lang="en-US" sz="1100" dirty="0">
                <a:solidFill>
                  <a:schemeClr val="tx1"/>
                </a:solidFill>
              </a:rPr>
              <a:t>Fix + depth ×5, 10 epochs, whole holdout:</a:t>
            </a:r>
            <a:endParaRPr lang="en-US" sz="1100" dirty="0"/>
          </a:p>
          <a:p>
            <a:pPr indent="0" marL="0">
              <a:buNone/>
            </a:pPr>
            <a:r>
              <a:rPr lang="en-US" sz="1100" dirty="0">
                <a:solidFill>
                  <a:schemeClr val="tx1"/>
                </a:solidFill>
              </a:rPr>
              <a:t>depth error 0.39 m; median size 0.84</a:t>
            </a:r>
            <a:endParaRPr lang="en-US" sz="1100" dirty="0"/>
          </a:p>
        </p:txBody>
      </p:sp>
      <p:sp>
        <p:nvSpPr>
          <p:cNvPr id="7" name="figure footnote"/>
          <p:cNvSpPr txBox="1"/>
          <p:nvPr/>
        </p:nvSpPr>
        <p:spPr>
          <a:xfrm>
            <a:off x="640080" y="4373116"/>
            <a:ext cx="7863840" cy="384048"/>
          </a:xfrm>
          <a:prstGeom prst="rect">
            <a:avLst/>
          </a:prstGeom>
          <a:noFill/>
          <a:ln/>
        </p:spPr>
        <p:txBody>
          <a:bodyPr wrap="square" lIns="0" tIns="0" rIns="0" bIns="0" rtlCol="0" anchor="t"/>
          <a:lstStyle/>
          <a:p>
            <a:pPr indent="0" marL="0">
              <a:buNone/>
            </a:pPr>
            <a:r>
              <a:rPr lang="en-US" sz="1100" b="1" dirty="0">
                <a:solidFill>
                  <a:srgbClr val="1B2233"/>
                </a:solidFill>
              </a:rPr>
              <a:t>Not fully fixed: </a:t>
            </a:r>
            <a:r>
              <a:rPr lang="en-US" sz="1100" dirty="0">
                <a:solidFill>
                  <a:schemeClr val="tx2"/>
                </a:solidFill>
              </a:rPr>
              <a:t>depth slope still about 0.4; bodies still about 16% too small (holdout median). Chosen because it has no near-camera people; here the fixed blue mesh is 0.95 of true height. Colours follow detection order.</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Depth fix: much better size, near vs far still weak</a:t>
            </a:r>
            <a:endParaRPr lang="en-US" sz="2700" dirty="0"/>
          </a:p>
        </p:txBody>
      </p:sp>
      <p:graphicFrame>
        <p:nvGraphicFramePr>
          <p:cNvPr id="11" name="fix table"/>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2057400"/>
                <a:gridCol w="1188720"/>
                <a:gridCol w="1188720"/>
                <a:gridCol w="1188720"/>
                <a:gridCol w="1325880"/>
                <a:gridCol w="1280160"/>
              </a:tblGrid>
              <a:tr h="420624">
                <a:tc>
                  <a:txBody>
                    <a:bodyPr/>
                    <a:lstStyle/>
                    <a:p>
                      <a:pPr algn="l" indent="0" marL="0">
                        <a:buNone/>
                      </a:pPr>
                      <a:r>
                        <a:rPr lang="en-US" sz="1200" b="1" dirty="0">
                          <a:solidFill>
                            <a:srgbClr val="FFFFFF"/>
                          </a:solidFill>
                        </a:rPr>
                        <a:t>holdout, 100 images</a:t>
                      </a:r>
                      <a:endParaRPr lang="en-US" sz="1200" dirty="0"/>
                    </a:p>
                  </a:txBody>
                  <a:tcPr marL="27432" marR="2743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200" b="1" dirty="0">
                          <a:solidFill>
                            <a:srgbClr val="FFFFFF"/>
                          </a:solidFill>
                        </a:rPr>
                        <a:t>v5</a:t>
                      </a:r>
                      <a:endParaRPr lang="en-US" sz="1200" dirty="0"/>
                    </a:p>
                    <a:p>
                      <a:pPr algn="ctr" indent="0" marL="0">
                        <a:buNone/>
                      </a:pPr>
                      <a:r>
                        <a:rPr lang="en-US" sz="1200" b="1" dirty="0">
                          <a:solidFill>
                            <a:srgbClr val="FFFFFF"/>
                          </a:solidFill>
                        </a:rPr>
                        <a:t>baseline</a:t>
                      </a:r>
                      <a:endParaRPr lang="en-US" sz="1200" dirty="0"/>
                    </a:p>
                  </a:txBody>
                  <a:tcPr marL="27432" marR="2743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200" b="1" dirty="0">
                          <a:solidFill>
                            <a:srgbClr val="FFFFFF"/>
                          </a:solidFill>
                        </a:rPr>
                        <a:t>control</a:t>
                      </a:r>
                      <a:endParaRPr lang="en-US" sz="1200" dirty="0"/>
                    </a:p>
                    <a:p>
                      <a:pPr algn="ctr" indent="0" marL="0">
                        <a:buNone/>
                      </a:pPr>
                      <a:r>
                        <a:rPr lang="en-US" sz="1200" b="1" dirty="0">
                          <a:solidFill>
                            <a:srgbClr val="FFFFFF"/>
                          </a:solidFill>
                        </a:rPr>
                        <a:t>10 epochs</a:t>
                      </a:r>
                      <a:endParaRPr lang="en-US" sz="1200" dirty="0"/>
                    </a:p>
                  </a:txBody>
                  <a:tcPr marL="27432" marR="2743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200" b="1" dirty="0">
                          <a:solidFill>
                            <a:srgbClr val="FFFFFF"/>
                          </a:solidFill>
                        </a:rPr>
                        <a:t>fix</a:t>
                      </a:r>
                      <a:endParaRPr lang="en-US" sz="1200" dirty="0"/>
                    </a:p>
                    <a:p>
                      <a:pPr algn="ctr" indent="0" marL="0">
                        <a:buNone/>
                      </a:pPr>
                      <a:r>
                        <a:rPr lang="en-US" sz="1200" b="1" dirty="0">
                          <a:solidFill>
                            <a:srgbClr val="FFFFFF"/>
                          </a:solidFill>
                        </a:rPr>
                        <a:t>10 epochs</a:t>
                      </a:r>
                      <a:endParaRPr lang="en-US" sz="1200" dirty="0"/>
                    </a:p>
                  </a:txBody>
                  <a:tcPr marL="27432" marR="2743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200" b="1" dirty="0">
                          <a:solidFill>
                            <a:srgbClr val="FFFFFF"/>
                          </a:solidFill>
                        </a:rPr>
                        <a:t>fix + depth ×5</a:t>
                      </a:r>
                      <a:endParaRPr lang="en-US" sz="1200" dirty="0"/>
                    </a:p>
                    <a:p>
                      <a:pPr algn="ctr" indent="0" marL="0">
                        <a:buNone/>
                      </a:pPr>
                      <a:r>
                        <a:rPr lang="en-US" sz="1200" b="1" dirty="0">
                          <a:solidFill>
                            <a:srgbClr val="FFFFFF"/>
                          </a:solidFill>
                        </a:rPr>
                        <a:t>10 epochs</a:t>
                      </a:r>
                      <a:endParaRPr lang="en-US" sz="1200" dirty="0"/>
                    </a:p>
                  </a:txBody>
                  <a:tcPr marL="27432" marR="2743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200" b="1" dirty="0">
                          <a:solidFill>
                            <a:srgbClr val="FFFFFF"/>
                          </a:solidFill>
                        </a:rPr>
                        <a:t>fix + depth ×20</a:t>
                      </a:r>
                      <a:endParaRPr lang="en-US" sz="1200" dirty="0"/>
                    </a:p>
                    <a:p>
                      <a:pPr algn="ctr" indent="0" marL="0">
                        <a:buNone/>
                      </a:pPr>
                      <a:r>
                        <a:rPr lang="en-US" sz="1200" b="1" dirty="0">
                          <a:solidFill>
                            <a:srgbClr val="FFFFFF"/>
                          </a:solidFill>
                        </a:rPr>
                        <a:t>2 epochs</a:t>
                      </a:r>
                      <a:endParaRPr lang="en-US" sz="1200" dirty="0"/>
                    </a:p>
                  </a:txBody>
                  <a:tcPr marL="27432" marR="2743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46888">
                <a:tc>
                  <a:txBody>
                    <a:bodyPr/>
                    <a:lstStyle/>
                    <a:p>
                      <a:pPr algn="l" indent="0" marL="0">
                        <a:buNone/>
                      </a:pPr>
                      <a:r>
                        <a:rPr lang="en-US" sz="1200" b="1" dirty="0">
                          <a:solidFill>
                            <a:srgbClr val="1B2233"/>
                          </a:solidFill>
                        </a:rPr>
                        <a:t>depth error</a:t>
                      </a:r>
                      <a:endParaRPr lang="en-US" sz="1200" dirty="0"/>
                    </a:p>
                  </a:txBody>
                  <a:tcPr marL="27432" marR="2743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1.08 m</a:t>
                      </a:r>
                      <a:endParaRPr lang="en-US" sz="1200" dirty="0"/>
                    </a:p>
                  </a:txBody>
                  <a:tcPr marL="27432" marR="2743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1.30 m</a:t>
                      </a:r>
                      <a:endParaRPr lang="en-US" sz="1200" dirty="0"/>
                    </a:p>
                  </a:txBody>
                  <a:tcPr marL="27432" marR="2743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0.62 m</a:t>
                      </a:r>
                      <a:endParaRPr lang="en-US" sz="1200" dirty="0"/>
                    </a:p>
                  </a:txBody>
                  <a:tcPr marL="27432" marR="2743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0.39 m</a:t>
                      </a:r>
                      <a:endParaRPr lang="en-US" sz="1200" dirty="0"/>
                    </a:p>
                  </a:txBody>
                  <a:tcPr marL="27432" marR="2743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0.34 m</a:t>
                      </a:r>
                      <a:endParaRPr lang="en-US" sz="1200" dirty="0"/>
                    </a:p>
                  </a:txBody>
                  <a:tcPr marL="27432" marR="2743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46888">
                <a:tc>
                  <a:txBody>
                    <a:bodyPr/>
                    <a:lstStyle/>
                    <a:p>
                      <a:pPr algn="l" indent="0" marL="0">
                        <a:buNone/>
                      </a:pPr>
                      <a:r>
                        <a:rPr lang="en-US" sz="1200" b="1" dirty="0">
                          <a:solidFill>
                            <a:srgbClr val="1B2233"/>
                          </a:solidFill>
                        </a:rPr>
                        <a:t>depth slope (1 = perfect)</a:t>
                      </a:r>
                      <a:endParaRPr lang="en-US" sz="1200" dirty="0"/>
                    </a:p>
                  </a:txBody>
                  <a:tcPr marL="27432" marR="2743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0.33</a:t>
                      </a:r>
                      <a:endParaRPr lang="en-US" sz="1200" dirty="0"/>
                    </a:p>
                  </a:txBody>
                  <a:tcPr marL="27432" marR="2743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0.34</a:t>
                      </a:r>
                      <a:endParaRPr lang="en-US" sz="1200" dirty="0"/>
                    </a:p>
                  </a:txBody>
                  <a:tcPr marL="27432" marR="2743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0.30</a:t>
                      </a:r>
                      <a:endParaRPr lang="en-US" sz="1200" dirty="0"/>
                    </a:p>
                  </a:txBody>
                  <a:tcPr marL="27432" marR="2743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0.38</a:t>
                      </a:r>
                      <a:endParaRPr lang="en-US" sz="1200" dirty="0"/>
                    </a:p>
                  </a:txBody>
                  <a:tcPr marL="27432" marR="2743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0.43</a:t>
                      </a:r>
                      <a:endParaRPr lang="en-US" sz="1200" dirty="0"/>
                    </a:p>
                  </a:txBody>
                  <a:tcPr marL="27432" marR="2743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46888">
                <a:tc>
                  <a:txBody>
                    <a:bodyPr/>
                    <a:lstStyle/>
                    <a:p>
                      <a:pPr algn="l" indent="0" marL="0">
                        <a:buNone/>
                      </a:pPr>
                      <a:r>
                        <a:rPr lang="en-US" sz="1200" b="1" dirty="0">
                          <a:solidFill>
                            <a:srgbClr val="1B2233"/>
                          </a:solidFill>
                        </a:rPr>
                        <a:t>body size (1 = right)</a:t>
                      </a:r>
                      <a:endParaRPr lang="en-US" sz="1200" dirty="0"/>
                    </a:p>
                  </a:txBody>
                  <a:tcPr marL="27432" marR="2743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0.63</a:t>
                      </a:r>
                      <a:endParaRPr lang="en-US" sz="1200" dirty="0"/>
                    </a:p>
                  </a:txBody>
                  <a:tcPr marL="27432" marR="2743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0.59</a:t>
                      </a:r>
                      <a:endParaRPr lang="en-US" sz="1200" dirty="0"/>
                    </a:p>
                  </a:txBody>
                  <a:tcPr marL="27432" marR="2743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0.78</a:t>
                      </a:r>
                      <a:endParaRPr lang="en-US" sz="1200" dirty="0"/>
                    </a:p>
                  </a:txBody>
                  <a:tcPr marL="27432" marR="2743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0.84</a:t>
                      </a:r>
                      <a:endParaRPr lang="en-US" sz="1200" dirty="0"/>
                    </a:p>
                  </a:txBody>
                  <a:tcPr marL="27432" marR="2743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0.87</a:t>
                      </a:r>
                      <a:endParaRPr lang="en-US" sz="1200" dirty="0"/>
                    </a:p>
                  </a:txBody>
                  <a:tcPr marL="27432" marR="2743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46888">
                <a:tc>
                  <a:txBody>
                    <a:bodyPr/>
                    <a:lstStyle/>
                    <a:p>
                      <a:pPr algn="l" indent="0" marL="0">
                        <a:buNone/>
                      </a:pPr>
                      <a:r>
                        <a:rPr lang="en-US" sz="1200" b="1" dirty="0">
                          <a:solidFill>
                            <a:srgbClr val="1B2233"/>
                          </a:solidFill>
                        </a:rPr>
                        <a:t>head pixel error</a:t>
                      </a:r>
                      <a:endParaRPr lang="en-US" sz="1200" dirty="0"/>
                    </a:p>
                  </a:txBody>
                  <a:tcPr marL="27432" marR="2743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64.5 px</a:t>
                      </a:r>
                      <a:endParaRPr lang="en-US" sz="1200" dirty="0"/>
                    </a:p>
                  </a:txBody>
                  <a:tcPr marL="27432" marR="2743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64.0 px</a:t>
                      </a:r>
                      <a:endParaRPr lang="en-US" sz="1200" dirty="0"/>
                    </a:p>
                  </a:txBody>
                  <a:tcPr marL="27432" marR="2743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7.6 px</a:t>
                      </a:r>
                      <a:endParaRPr lang="en-US" sz="1200" dirty="0"/>
                    </a:p>
                  </a:txBody>
                  <a:tcPr marL="27432" marR="2743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7.2 px</a:t>
                      </a:r>
                      <a:endParaRPr lang="en-US" sz="1200" dirty="0"/>
                    </a:p>
                  </a:txBody>
                  <a:tcPr marL="27432" marR="2743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8.8 px</a:t>
                      </a:r>
                      <a:endParaRPr lang="en-US" sz="1200" dirty="0"/>
                    </a:p>
                  </a:txBody>
                  <a:tcPr marL="27432" marR="2743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46888">
                <a:tc>
                  <a:txBody>
                    <a:bodyPr/>
                    <a:lstStyle/>
                    <a:p>
                      <a:pPr algn="l" indent="0" marL="0">
                        <a:buNone/>
                      </a:pPr>
                      <a:r>
                        <a:rPr lang="en-US" sz="1200" b="1" dirty="0">
                          <a:solidFill>
                            <a:srgbClr val="1B2233"/>
                          </a:solidFill>
                        </a:rPr>
                        <a:t>pelvis pixel error</a:t>
                      </a:r>
                      <a:endParaRPr lang="en-US" sz="1200" dirty="0"/>
                    </a:p>
                  </a:txBody>
                  <a:tcPr marL="27432" marR="2743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23.4 px</a:t>
                      </a:r>
                      <a:endParaRPr lang="en-US" sz="1200" dirty="0"/>
                    </a:p>
                  </a:txBody>
                  <a:tcPr marL="27432" marR="2743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24.3 px</a:t>
                      </a:r>
                      <a:endParaRPr lang="en-US" sz="1200" dirty="0"/>
                    </a:p>
                  </a:txBody>
                  <a:tcPr marL="27432" marR="2743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38.5 px</a:t>
                      </a:r>
                      <a:endParaRPr lang="en-US" sz="1200" dirty="0"/>
                    </a:p>
                  </a:txBody>
                  <a:tcPr marL="27432" marR="2743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33.1 px</a:t>
                      </a:r>
                      <a:endParaRPr lang="en-US" sz="1200" dirty="0"/>
                    </a:p>
                  </a:txBody>
                  <a:tcPr marL="27432" marR="2743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31.4 px</a:t>
                      </a:r>
                      <a:endParaRPr lang="en-US" sz="1200" dirty="0"/>
                    </a:p>
                  </a:txBody>
                  <a:tcPr marL="27432" marR="2743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46888">
                <a:tc>
                  <a:txBody>
                    <a:bodyPr/>
                    <a:lstStyle/>
                    <a:p>
                      <a:pPr algn="l" indent="0" marL="0">
                        <a:buNone/>
                      </a:pPr>
                      <a:r>
                        <a:rPr lang="en-US" sz="1200" b="1" dirty="0">
                          <a:solidFill>
                            <a:srgbClr val="1B2233"/>
                          </a:solidFill>
                        </a:rPr>
                        <a:t>PVE (pelvis-centred)</a:t>
                      </a:r>
                      <a:endParaRPr lang="en-US" sz="1200" dirty="0"/>
                    </a:p>
                  </a:txBody>
                  <a:tcPr marL="27432" marR="2743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70.5 mm</a:t>
                      </a:r>
                      <a:endParaRPr lang="en-US" sz="1200" dirty="0"/>
                    </a:p>
                  </a:txBody>
                  <a:tcPr marL="27432" marR="2743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72.2 mm</a:t>
                      </a:r>
                      <a:endParaRPr lang="en-US" sz="1200" dirty="0"/>
                    </a:p>
                  </a:txBody>
                  <a:tcPr marL="27432" marR="2743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75.5 mm</a:t>
                      </a:r>
                      <a:endParaRPr lang="en-US" sz="1200" dirty="0"/>
                    </a:p>
                  </a:txBody>
                  <a:tcPr marL="27432" marR="2743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74.8 mm</a:t>
                      </a:r>
                      <a:endParaRPr lang="en-US" sz="1200" dirty="0"/>
                    </a:p>
                  </a:txBody>
                  <a:tcPr marL="27432" marR="2743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75.7 mm</a:t>
                      </a:r>
                      <a:endParaRPr lang="en-US" sz="1200" dirty="0"/>
                    </a:p>
                  </a:txBody>
                  <a:tcPr marL="27432" marR="2743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46888">
                <a:tc>
                  <a:txBody>
                    <a:bodyPr/>
                    <a:lstStyle/>
                    <a:p>
                      <a:pPr algn="l" indent="0" marL="0">
                        <a:buNone/>
                      </a:pPr>
                      <a:r>
                        <a:rPr lang="en-US" sz="1200" b="1" dirty="0">
                          <a:solidFill>
                            <a:srgbClr val="1B2233"/>
                          </a:solidFill>
                        </a:rPr>
                        <a:t>recall</a:t>
                      </a:r>
                      <a:endParaRPr lang="en-US" sz="1200" dirty="0"/>
                    </a:p>
                  </a:txBody>
                  <a:tcPr marL="27432" marR="2743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90.2%</a:t>
                      </a:r>
                      <a:endParaRPr lang="en-US" sz="1200" dirty="0"/>
                    </a:p>
                  </a:txBody>
                  <a:tcPr marL="27432" marR="2743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89.4%</a:t>
                      </a:r>
                      <a:endParaRPr lang="en-US" sz="1200" dirty="0"/>
                    </a:p>
                  </a:txBody>
                  <a:tcPr marL="27432" marR="2743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87.0%</a:t>
                      </a:r>
                      <a:endParaRPr lang="en-US" sz="1200" dirty="0"/>
                    </a:p>
                  </a:txBody>
                  <a:tcPr marL="27432" marR="2743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87.8%</a:t>
                      </a:r>
                      <a:endParaRPr lang="en-US" sz="1200" dirty="0"/>
                    </a:p>
                  </a:txBody>
                  <a:tcPr marL="27432" marR="2743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87.4%</a:t>
                      </a:r>
                      <a:endParaRPr lang="en-US" sz="1200" dirty="0"/>
                    </a:p>
                  </a:txBody>
                  <a:tcPr marL="27432" marR="2743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4" name="fix text"/>
          <p:cNvSpPr txBox="1"/>
          <p:nvPr/>
        </p:nvSpPr>
        <p:spPr>
          <a:xfrm>
            <a:off x="457200" y="3364992"/>
            <a:ext cx="8229600" cy="1325880"/>
          </a:xfrm>
          <a:prstGeom prst="rect">
            <a:avLst/>
          </a:prstGeom>
          <a:noFill/>
          <a:ln/>
        </p:spPr>
        <p:txBody>
          <a:bodyPr wrap="square" lIns="0" tIns="0" rIns="0" bIns="0" rtlCol="0" anchor="t"/>
          <a:lstStyle/>
          <a:p>
            <a:pPr marL="177800" indent="-177800">
              <a:spcAft>
                <a:spcPts val="200"/>
              </a:spcAft>
              <a:buSzPct val="100000"/>
              <a:buChar char="•"/>
            </a:pPr>
            <a:r>
              <a:rPr lang="en-US" sz="1200" b="1" dirty="0">
                <a:solidFill>
                  <a:schemeClr val="tx1"/>
                </a:solidFill>
              </a:rPr>
              <a:t>Works: </a:t>
            </a:r>
            <a:r>
              <a:rPr lang="en-US" sz="1200" dirty="0">
                <a:solidFill>
                  <a:schemeClr val="tx1"/>
                </a:solidFill>
              </a:rPr>
              <a:t>mean head error 7–9 px vs 64 (expected after moving the target); depth error 0.34–0.39 m with a stronger depth loss. Remaining shrinkage shows at the pelvis (31–38 px).</a:t>
            </a:r>
            <a:endParaRPr lang="en-US" sz="1200" dirty="0"/>
          </a:p>
          <a:p>
            <a:pPr marL="177800" indent="-177800">
              <a:spcAft>
                <a:spcPts val="200"/>
              </a:spcAft>
              <a:buSzPct val="100000"/>
              <a:buChar char="•"/>
            </a:pPr>
            <a:r>
              <a:rPr lang="en-US" sz="1200" b="1" dirty="0">
                <a:solidFill>
                  <a:schemeClr val="tx1"/>
                </a:solidFill>
              </a:rPr>
              <a:t>Not fixed: </a:t>
            </a:r>
            <a:r>
              <a:rPr lang="en-US" sz="1200" dirty="0">
                <a:solidFill>
                  <a:schemeClr val="tx1"/>
                </a:solidFill>
              </a:rPr>
              <a:t>slope near 0.4, so near and far people get similar depths. Best guess: a pull toward the typical training depth (2.5 to 2.8 m); holdout people stand nearer (1.9 m).</a:t>
            </a:r>
            <a:endParaRPr lang="en-US" sz="1200" dirty="0"/>
          </a:p>
          <a:p>
            <a:pPr marL="177800" indent="-177800">
              <a:spcAft>
                <a:spcPts val="200"/>
              </a:spcAft>
              <a:buSzPct val="100000"/>
              <a:buChar char="•"/>
            </a:pPr>
            <a:r>
              <a:rPr lang="en-US" sz="1200" b="1" dirty="0">
                <a:solidFill>
                  <a:schemeClr val="tx1"/>
                </a:solidFill>
              </a:rPr>
              <a:t>Cost not ruled out: </a:t>
            </a:r>
            <a:r>
              <a:rPr lang="en-US" sz="1200" dirty="0">
                <a:solidFill>
                  <a:schemeClr val="tx1"/>
                </a:solidFill>
              </a:rPr>
              <a:t>every fix run has PVE about 3 mm above the control (4–5 above v5) and recall 2–3 points below v5. One pilot resolves only about 10 mm and 2 points.</a:t>
            </a:r>
            <a:endParaRPr lang="en-US" sz="1200" dirty="0"/>
          </a:p>
          <a:p>
            <a:pPr marL="177800" indent="-177800">
              <a:spcAft>
                <a:spcPts val="200"/>
              </a:spcAft>
              <a:buSzPct val="100000"/>
              <a:buChar char="•"/>
            </a:pPr>
            <a:r>
              <a:rPr lang="en-US" sz="1200" b="1" dirty="0">
                <a:solidFill>
                  <a:schemeClr val="tx1"/>
                </a:solidFill>
              </a:rPr>
              <a:t>Control </a:t>
            </a:r>
            <a:r>
              <a:rPr lang="en-US" sz="1200" dirty="0">
                <a:solidFill>
                  <a:schemeClr val="tx1"/>
                </a:solidFill>
              </a:rPr>
              <a:t>= same schedule, switch off, depth loss ×1; no control for ×5 / ×20. Depth ×20 for 10 epochs: no result yet.</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Four experiments: results</a:t>
            </a:r>
            <a:endParaRPr lang="en-US" sz="2700" dirty="0"/>
          </a:p>
        </p:txBody>
      </p:sp>
      <p:graphicFrame>
        <p:nvGraphicFramePr>
          <p:cNvPr id="12" name="exp table"/>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1188720"/>
                <a:gridCol w="1965960"/>
                <a:gridCol w="1783080"/>
                <a:gridCol w="3291840"/>
              </a:tblGrid>
              <a:tr h="292608">
                <a:tc>
                  <a:txBody>
                    <a:bodyPr/>
                    <a:lstStyle/>
                    <a:p>
                      <a:pPr algn="l" indent="0" marL="0">
                        <a:buNone/>
                      </a:pPr>
                      <a:r>
                        <a:rPr lang="en-US" sz="1100" b="1" dirty="0">
                          <a:solidFill>
                            <a:srgbClr val="FFFFFF"/>
                          </a:solidFill>
                        </a:rPr>
                        <a:t>experiment</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what it changes</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decides</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result</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713232">
                <a:tc>
                  <a:txBody>
                    <a:bodyPr/>
                    <a:lstStyle/>
                    <a:p>
                      <a:pPr algn="l" indent="0" marL="0">
                        <a:buNone/>
                      </a:pPr>
                      <a:r>
                        <a:rPr lang="en-US" sz="1100" b="1" dirty="0">
                          <a:solidFill>
                            <a:srgbClr val="1B2233"/>
                          </a:solidFill>
                        </a:rPr>
                        <a:t>1  depth anchor</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targets at the head joint (+ depth loss ×5 or ×20)</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depth slope toward 1, PVE recovers</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Partly. Switch alone: 1.08 → 0.62 m, size 0.78, slope 0.30. With depth ×5: 0.39 m, size 0.84, slope 0.38. PVE did not recover (74.8 vs 70.5 mm); recall −2.4</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57200">
                <a:tc>
                  <a:txBody>
                    <a:bodyPr/>
                    <a:lstStyle/>
                    <a:p>
                      <a:pPr algn="l" indent="0" marL="0">
                        <a:buNone/>
                      </a:pPr>
                      <a:r>
                        <a:rPr lang="en-US" sz="1100" b="1" dirty="0">
                          <a:solidFill>
                            <a:srgbClr val="1B2233"/>
                          </a:solidFill>
                        </a:rPr>
                        <a:t>2  children</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age-balanced sampler (both arms: age loss ×3, height ×2)</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child error on the manifest, adults unchanged</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No effect in a 2-epoch fine-tune: training children and real photos unchanged</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566928">
                <a:tc>
                  <a:txBody>
                    <a:bodyPr/>
                    <a:lstStyle/>
                    <a:p>
                      <a:pPr algn="l" indent="0" marL="0">
                        <a:buNone/>
                      </a:pPr>
                      <a:r>
                        <a:rPr lang="en-US" sz="1100" b="1" dirty="0">
                          <a:solidFill>
                            <a:srgbClr val="1B2233"/>
                          </a:solidFill>
                        </a:rPr>
                        <a:t>3  neck</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loss on the global head orientation</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global head error below 12°</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11.3° passes, but the controls give 11.7–13.6° (inside the ~3° noise) and the PVE / recall guard fails. Neck bones unchanged (62.5°)</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65760">
                <a:tc>
                  <a:txBody>
                    <a:bodyPr/>
                    <a:lstStyle/>
                    <a:p>
                      <a:pPr algn="l" indent="0" marL="0">
                        <a:buNone/>
                      </a:pPr>
                      <a:r>
                        <a:rPr lang="en-US" sz="1100" b="1" dirty="0">
                          <a:solidFill>
                            <a:srgbClr val="1B2233"/>
                          </a:solidFill>
                        </a:rPr>
                        <a:t>4  fingers</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region-normalised rotation loss</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finger error vs the 15.1° rest-pose floor</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No effect: 17.5° vs 17.4° for the control</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noise box"/>
          <p:cNvSpPr/>
          <p:nvPr/>
        </p:nvSpPr>
        <p:spPr>
          <a:xfrm>
            <a:off x="457200" y="3794760"/>
            <a:ext cx="8229600" cy="868680"/>
          </a:xfrm>
          <a:prstGeom prst="roundRect">
            <a:avLst>
              <a:gd name="adj" fmla="val 8421"/>
            </a:avLst>
          </a:prstGeom>
          <a:solidFill>
            <a:schemeClr val="bg2"/>
          </a:solidFill>
          <a:ln w="12700">
            <a:solidFill>
              <a:schemeClr val="bg2"/>
            </a:solidFill>
            <a:prstDash val="solid"/>
          </a:ln>
        </p:spPr>
      </p:sp>
      <p:sp>
        <p:nvSpPr>
          <p:cNvPr id="5" name="noise text"/>
          <p:cNvSpPr txBox="1"/>
          <p:nvPr/>
        </p:nvSpPr>
        <p:spPr>
          <a:xfrm>
            <a:off x="640080" y="3840480"/>
            <a:ext cx="7863840" cy="777240"/>
          </a:xfrm>
          <a:prstGeom prst="rect">
            <a:avLst/>
          </a:prstGeom>
          <a:noFill/>
          <a:ln/>
        </p:spPr>
        <p:txBody>
          <a:bodyPr wrap="square" lIns="0" tIns="0" rIns="0" bIns="0" rtlCol="0" anchor="ctr"/>
          <a:lstStyle/>
          <a:p>
            <a:pPr indent="0" marL="0">
              <a:buNone/>
            </a:pPr>
            <a:r>
              <a:rPr lang="en-US" sz="1200" b="1" dirty="0">
                <a:solidFill>
                  <a:schemeClr val="tx1"/>
                </a:solidFill>
              </a:rPr>
              <a:t>Pilot noise. </a:t>
            </a:r>
            <a:r>
              <a:rPr lang="en-US" sz="1200" dirty="0">
                <a:solidFill>
                  <a:schemeClr val="tx1"/>
                </a:solidFill>
              </a:rPr>
              <a:t>No fixed random seed: two identical runs differed by 7.6 mm PVE and 1.9° head error. One pilot can only detect a difference of about 10 mm PVE, 3° head error or 2 recall points. Restarting the fine-tune alone costs about 2.4 mm (controls average 72.9 vs 70.5 mm). All runs: same holdout and manifest, helper bones masked.</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Corrections already made to numbers and demos</a:t>
            </a:r>
            <a:endParaRPr lang="en-US" sz="2700" dirty="0"/>
          </a:p>
        </p:txBody>
      </p:sp>
      <p:sp>
        <p:nvSpPr>
          <p:cNvPr id="3" name="Headline number"/>
          <p:cNvSpPr/>
          <p:nvPr/>
        </p:nvSpPr>
        <p:spPr>
          <a:xfrm>
            <a:off x="457200" y="1280160"/>
            <a:ext cx="4023360" cy="1554480"/>
          </a:xfrm>
          <a:prstGeom prst="roundRect">
            <a:avLst>
              <a:gd name="adj" fmla="val 4706"/>
            </a:avLst>
          </a:prstGeom>
          <a:solidFill>
            <a:schemeClr val="bg2"/>
          </a:solidFill>
          <a:ln w="12700">
            <a:solidFill>
              <a:schemeClr val="bg2"/>
            </a:solidFill>
            <a:prstDash val="solid"/>
          </a:ln>
        </p:spPr>
      </p:sp>
      <p:sp>
        <p:nvSpPr>
          <p:cNvPr id="4" name="Headline number dot"/>
          <p:cNvSpPr/>
          <p:nvPr/>
        </p:nvSpPr>
        <p:spPr>
          <a:xfrm>
            <a:off x="640080" y="1463040"/>
            <a:ext cx="384048" cy="384048"/>
          </a:xfrm>
          <a:prstGeom prst="ellipse">
            <a:avLst/>
          </a:prstGeom>
          <a:solidFill>
            <a:srgbClr val="0E7C86"/>
          </a:solidFill>
          <a:ln w="12700">
            <a:solidFill>
              <a:srgbClr val="0E7C86"/>
            </a:solidFill>
            <a:prstDash val="solid"/>
          </a:ln>
        </p:spPr>
      </p:sp>
      <p:sp>
        <p:nvSpPr>
          <p:cNvPr id="5" name="Headline number head"/>
          <p:cNvSpPr txBox="1"/>
          <p:nvPr/>
        </p:nvSpPr>
        <p:spPr>
          <a:xfrm>
            <a:off x="1143000" y="1417320"/>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Headline number</a:t>
            </a:r>
            <a:endParaRPr lang="en-US" sz="1600" dirty="0"/>
          </a:p>
        </p:txBody>
      </p:sp>
      <p:sp>
        <p:nvSpPr>
          <p:cNvPr id="6" name="Headline number body"/>
          <p:cNvSpPr txBox="1"/>
          <p:nvPr/>
        </p:nvSpPr>
        <p:spPr>
          <a:xfrm>
            <a:off x="640080" y="1965960"/>
            <a:ext cx="3657600" cy="731520"/>
          </a:xfrm>
          <a:prstGeom prst="rect">
            <a:avLst/>
          </a:prstGeom>
          <a:noFill/>
          <a:ln/>
        </p:spPr>
        <p:txBody>
          <a:bodyPr wrap="square" lIns="0" tIns="0" rIns="0" bIns="0" rtlCol="0" anchor="t"/>
          <a:lstStyle/>
          <a:p>
            <a:pPr indent="0" marL="0">
              <a:buNone/>
            </a:pPr>
            <a:r>
              <a:rPr lang="en-US" sz="1200" dirty="0">
                <a:solidFill>
                  <a:schemeClr val="tx2"/>
                </a:solidFill>
              </a:rPr>
              <a:t>AnnyOne holdout PVE is 70.5 mm with helper bones masked, the setting the demos use. The 74.3 mm in the thesis draft is the unmasked evaluation (+3.8 mm paired).</a:t>
            </a:r>
            <a:endParaRPr lang="en-US" sz="1200" dirty="0"/>
          </a:p>
        </p:txBody>
      </p:sp>
      <p:sp>
        <p:nvSpPr>
          <p:cNvPr id="7" name="Demos"/>
          <p:cNvSpPr/>
          <p:nvPr/>
        </p:nvSpPr>
        <p:spPr>
          <a:xfrm>
            <a:off x="4663440" y="1280160"/>
            <a:ext cx="4023360" cy="1554480"/>
          </a:xfrm>
          <a:prstGeom prst="roundRect">
            <a:avLst>
              <a:gd name="adj" fmla="val 4706"/>
            </a:avLst>
          </a:prstGeom>
          <a:solidFill>
            <a:schemeClr val="bg2"/>
          </a:solidFill>
          <a:ln w="12700">
            <a:solidFill>
              <a:schemeClr val="bg2"/>
            </a:solidFill>
            <a:prstDash val="solid"/>
          </a:ln>
        </p:spPr>
      </p:sp>
      <p:sp>
        <p:nvSpPr>
          <p:cNvPr id="8" name="Demos dot"/>
          <p:cNvSpPr/>
          <p:nvPr/>
        </p:nvSpPr>
        <p:spPr>
          <a:xfrm>
            <a:off x="4846320" y="1463040"/>
            <a:ext cx="384048" cy="384048"/>
          </a:xfrm>
          <a:prstGeom prst="ellipse">
            <a:avLst/>
          </a:prstGeom>
          <a:solidFill>
            <a:srgbClr val="E8792B"/>
          </a:solidFill>
          <a:ln w="12700">
            <a:solidFill>
              <a:srgbClr val="E8792B"/>
            </a:solidFill>
            <a:prstDash val="solid"/>
          </a:ln>
        </p:spPr>
      </p:sp>
      <p:sp>
        <p:nvSpPr>
          <p:cNvPr id="9" name="Demos head"/>
          <p:cNvSpPr txBox="1"/>
          <p:nvPr/>
        </p:nvSpPr>
        <p:spPr>
          <a:xfrm>
            <a:off x="5349240" y="1417320"/>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Demos</a:t>
            </a:r>
            <a:endParaRPr lang="en-US" sz="1600" dirty="0"/>
          </a:p>
        </p:txBody>
      </p:sp>
      <p:sp>
        <p:nvSpPr>
          <p:cNvPr id="10" name="Demos body"/>
          <p:cNvSpPr txBox="1"/>
          <p:nvPr/>
        </p:nvSpPr>
        <p:spPr>
          <a:xfrm>
            <a:off x="4846320" y="1965960"/>
            <a:ext cx="3657600" cy="731520"/>
          </a:xfrm>
          <a:prstGeom prst="rect">
            <a:avLst/>
          </a:prstGeom>
          <a:noFill/>
          <a:ln/>
        </p:spPr>
        <p:txBody>
          <a:bodyPr wrap="square" lIns="0" tIns="0" rIns="0" bIns="0" rtlCol="0" anchor="t"/>
          <a:lstStyle/>
          <a:p>
            <a:pPr indent="0" marL="0">
              <a:buNone/>
            </a:pPr>
            <a:r>
              <a:rPr lang="en-US" sz="1200" dirty="0">
                <a:solidFill>
                  <a:schemeClr val="tx2"/>
                </a:solidFill>
              </a:rPr>
              <a:t>All demo scripts zero the fingers and the README says so: finger renders are the rest pose, not predictions.</a:t>
            </a:r>
            <a:endParaRPr lang="en-US" sz="1200" dirty="0"/>
          </a:p>
        </p:txBody>
      </p:sp>
      <p:sp>
        <p:nvSpPr>
          <p:cNvPr id="11" name="Wording"/>
          <p:cNvSpPr/>
          <p:nvPr/>
        </p:nvSpPr>
        <p:spPr>
          <a:xfrm>
            <a:off x="457200" y="3017520"/>
            <a:ext cx="4023360" cy="1554480"/>
          </a:xfrm>
          <a:prstGeom prst="roundRect">
            <a:avLst>
              <a:gd name="adj" fmla="val 4706"/>
            </a:avLst>
          </a:prstGeom>
          <a:solidFill>
            <a:schemeClr val="bg2"/>
          </a:solidFill>
          <a:ln w="12700">
            <a:solidFill>
              <a:schemeClr val="bg2"/>
            </a:solidFill>
            <a:prstDash val="solid"/>
          </a:ln>
        </p:spPr>
      </p:sp>
      <p:sp>
        <p:nvSpPr>
          <p:cNvPr id="12" name="Wording dot"/>
          <p:cNvSpPr/>
          <p:nvPr/>
        </p:nvSpPr>
        <p:spPr>
          <a:xfrm>
            <a:off x="640080" y="3200400"/>
            <a:ext cx="384048" cy="384048"/>
          </a:xfrm>
          <a:prstGeom prst="ellipse">
            <a:avLst/>
          </a:prstGeom>
          <a:solidFill>
            <a:srgbClr val="3BA55D"/>
          </a:solidFill>
          <a:ln w="12700">
            <a:solidFill>
              <a:srgbClr val="3BA55D"/>
            </a:solidFill>
            <a:prstDash val="solid"/>
          </a:ln>
        </p:spPr>
      </p:sp>
      <p:sp>
        <p:nvSpPr>
          <p:cNvPr id="13" name="Wording head"/>
          <p:cNvSpPr txBox="1"/>
          <p:nvPr/>
        </p:nvSpPr>
        <p:spPr>
          <a:xfrm>
            <a:off x="1143000" y="3154680"/>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Wording</a:t>
            </a:r>
            <a:endParaRPr lang="en-US" sz="1600" dirty="0"/>
          </a:p>
        </p:txBody>
      </p:sp>
      <p:sp>
        <p:nvSpPr>
          <p:cNvPr id="14" name="Wording body"/>
          <p:cNvSpPr txBox="1"/>
          <p:nvPr/>
        </p:nvSpPr>
        <p:spPr>
          <a:xfrm>
            <a:off x="640080" y="3703320"/>
            <a:ext cx="3657600" cy="731520"/>
          </a:xfrm>
          <a:prstGeom prst="rect">
            <a:avLst/>
          </a:prstGeom>
          <a:noFill/>
          <a:ln/>
        </p:spPr>
        <p:txBody>
          <a:bodyPr wrap="square" lIns="0" tIns="0" rIns="0" bIns="0" rtlCol="0" anchor="t"/>
          <a:lstStyle/>
          <a:p>
            <a:pPr indent="0" marL="0">
              <a:buNone/>
            </a:pPr>
            <a:r>
              <a:rPr lang="en-US" sz="1200" dirty="0">
                <a:solidFill>
                  <a:schemeClr val="tx2"/>
                </a:solidFill>
              </a:rPr>
              <a:t>Neck, fingers and children are no longer described as rig or decoding problems. A Known-defects section documents the depth bug; its neck text still has the old story and will be corrected.</a:t>
            </a:r>
            <a:endParaRPr lang="en-US" sz="1200" dirty="0"/>
          </a:p>
        </p:txBody>
      </p:sp>
      <p:sp>
        <p:nvSpPr>
          <p:cNvPr id="15" name="Repository"/>
          <p:cNvSpPr/>
          <p:nvPr/>
        </p:nvSpPr>
        <p:spPr>
          <a:xfrm>
            <a:off x="4663440" y="3017520"/>
            <a:ext cx="4023360" cy="1554480"/>
          </a:xfrm>
          <a:prstGeom prst="roundRect">
            <a:avLst>
              <a:gd name="adj" fmla="val 4706"/>
            </a:avLst>
          </a:prstGeom>
          <a:solidFill>
            <a:schemeClr val="bg2"/>
          </a:solidFill>
          <a:ln w="12700">
            <a:solidFill>
              <a:schemeClr val="bg2"/>
            </a:solidFill>
            <a:prstDash val="solid"/>
          </a:ln>
        </p:spPr>
      </p:sp>
      <p:sp>
        <p:nvSpPr>
          <p:cNvPr id="16" name="Repository dot"/>
          <p:cNvSpPr/>
          <p:nvPr/>
        </p:nvSpPr>
        <p:spPr>
          <a:xfrm>
            <a:off x="4846320" y="3200400"/>
            <a:ext cx="384048" cy="384048"/>
          </a:xfrm>
          <a:prstGeom prst="ellipse">
            <a:avLst/>
          </a:prstGeom>
          <a:solidFill>
            <a:srgbClr val="7B8794"/>
          </a:solidFill>
          <a:ln w="12700">
            <a:solidFill>
              <a:srgbClr val="7B8794"/>
            </a:solidFill>
            <a:prstDash val="solid"/>
          </a:ln>
        </p:spPr>
      </p:sp>
      <p:sp>
        <p:nvSpPr>
          <p:cNvPr id="17" name="Repository head"/>
          <p:cNvSpPr txBox="1"/>
          <p:nvPr/>
        </p:nvSpPr>
        <p:spPr>
          <a:xfrm>
            <a:off x="5349240" y="3154680"/>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Repository</a:t>
            </a:r>
            <a:endParaRPr lang="en-US" sz="1600" dirty="0"/>
          </a:p>
        </p:txBody>
      </p:sp>
      <p:sp>
        <p:nvSpPr>
          <p:cNvPr id="18" name="Repository body"/>
          <p:cNvSpPr txBox="1"/>
          <p:nvPr/>
        </p:nvSpPr>
        <p:spPr>
          <a:xfrm>
            <a:off x="4846320" y="3703320"/>
            <a:ext cx="3657600" cy="731520"/>
          </a:xfrm>
          <a:prstGeom prst="rect">
            <a:avLst/>
          </a:prstGeom>
          <a:noFill/>
          <a:ln/>
        </p:spPr>
        <p:txBody>
          <a:bodyPr wrap="square" lIns="0" tIns="0" rIns="0" bIns="0" rtlCol="0" anchor="t"/>
          <a:lstStyle/>
          <a:p>
            <a:pPr indent="0" marL="0">
              <a:buNone/>
            </a:pPr>
            <a:r>
              <a:rPr lang="en-US" sz="1200" dirty="0">
                <a:solidFill>
                  <a:schemeClr val="tx2"/>
                </a:solidFill>
              </a:rPr>
              <a:t>Reorganised, one shared cluster setup, diagnostics and experiments documented so the work can be rerun.</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Still open, and what I test next</a:t>
            </a:r>
            <a:endParaRPr lang="en-US" sz="2700" dirty="0"/>
          </a:p>
        </p:txBody>
      </p:sp>
      <p:sp>
        <p:nvSpPr>
          <p:cNvPr id="3" name="open 1"/>
          <p:cNvSpPr/>
          <p:nvPr/>
        </p:nvSpPr>
        <p:spPr>
          <a:xfrm>
            <a:off x="457200" y="1234440"/>
            <a:ext cx="457200" cy="457200"/>
          </a:xfrm>
          <a:prstGeom prst="ellipse">
            <a:avLst/>
          </a:prstGeom>
          <a:solidFill>
            <a:schemeClr val="accent1"/>
          </a:solidFill>
          <a:ln w="12700">
            <a:solidFill>
              <a:schemeClr val="accent1"/>
            </a:solidFill>
            <a:prstDash val="solid"/>
          </a:ln>
        </p:spPr>
      </p:sp>
      <p:sp>
        <p:nvSpPr>
          <p:cNvPr id="4" name="open num 1"/>
          <p:cNvSpPr txBox="1"/>
          <p:nvPr/>
        </p:nvSpPr>
        <p:spPr>
          <a:xfrm>
            <a:off x="457200" y="12344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open head 1"/>
          <p:cNvSpPr txBox="1"/>
          <p:nvPr/>
        </p:nvSpPr>
        <p:spPr>
          <a:xfrm>
            <a:off x="1097280" y="118872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Neck offset in the v5 models</a:t>
            </a:r>
            <a:endParaRPr lang="en-US" sz="1500" dirty="0"/>
          </a:p>
        </p:txBody>
      </p:sp>
      <p:sp>
        <p:nvSpPr>
          <p:cNvPr id="6" name="open body 1"/>
          <p:cNvSpPr txBox="1"/>
          <p:nvPr/>
        </p:nvSpPr>
        <p:spPr>
          <a:xfrm>
            <a:off x="1097280" y="1517904"/>
            <a:ext cx="3337560" cy="749808"/>
          </a:xfrm>
          <a:prstGeom prst="rect">
            <a:avLst/>
          </a:prstGeom>
          <a:noFill/>
          <a:ln/>
        </p:spPr>
        <p:txBody>
          <a:bodyPr wrap="square" lIns="0" tIns="0" rIns="0" bIns="0" rtlCol="0" anchor="t"/>
          <a:lstStyle/>
          <a:p>
            <a:pPr indent="0" marL="0">
              <a:buNone/>
            </a:pPr>
            <a:r>
              <a:rPr lang="en-US" sz="1200" dirty="0">
                <a:solidFill>
                  <a:schemeClr val="tx2"/>
                </a:solidFill>
              </a:rPr>
              <a:t>Why stuck at 63° / 90°? Next: error per bone (neck01–03, head, jaw; twist, swing), a neck-skin error, and a trace of v3 (before the ×4 neck boost).</a:t>
            </a:r>
            <a:endParaRPr lang="en-US" sz="1200" dirty="0"/>
          </a:p>
        </p:txBody>
      </p:sp>
      <p:sp>
        <p:nvSpPr>
          <p:cNvPr id="7" name="open 2"/>
          <p:cNvSpPr/>
          <p:nvPr/>
        </p:nvSpPr>
        <p:spPr>
          <a:xfrm>
            <a:off x="4709160" y="1234440"/>
            <a:ext cx="457200" cy="457200"/>
          </a:xfrm>
          <a:prstGeom prst="ellipse">
            <a:avLst/>
          </a:prstGeom>
          <a:solidFill>
            <a:schemeClr val="accent1"/>
          </a:solidFill>
          <a:ln w="12700">
            <a:solidFill>
              <a:schemeClr val="accent1"/>
            </a:solidFill>
            <a:prstDash val="solid"/>
          </a:ln>
        </p:spPr>
      </p:sp>
      <p:sp>
        <p:nvSpPr>
          <p:cNvPr id="8" name="open num 2"/>
          <p:cNvSpPr txBox="1"/>
          <p:nvPr/>
        </p:nvSpPr>
        <p:spPr>
          <a:xfrm>
            <a:off x="4709160" y="12344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open head 2"/>
          <p:cNvSpPr txBox="1"/>
          <p:nvPr/>
        </p:nvSpPr>
        <p:spPr>
          <a:xfrm>
            <a:off x="5349240" y="118872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Depth slope stuck near 0.4</a:t>
            </a:r>
            <a:endParaRPr lang="en-US" sz="1500" dirty="0"/>
          </a:p>
        </p:txBody>
      </p:sp>
      <p:sp>
        <p:nvSpPr>
          <p:cNvPr id="10" name="open body 2"/>
          <p:cNvSpPr txBox="1"/>
          <p:nvPr/>
        </p:nvSpPr>
        <p:spPr>
          <a:xfrm>
            <a:off x="5349240" y="1517904"/>
            <a:ext cx="3337560" cy="749808"/>
          </a:xfrm>
          <a:prstGeom prst="rect">
            <a:avLst/>
          </a:prstGeom>
          <a:noFill/>
          <a:ln/>
        </p:spPr>
        <p:txBody>
          <a:bodyPr wrap="square" lIns="0" tIns="0" rIns="0" bIns="0" rtlCol="0" anchor="t"/>
          <a:lstStyle/>
          <a:p>
            <a:pPr indent="0" marL="0">
              <a:buNone/>
            </a:pPr>
            <a:r>
              <a:rPr lang="en-US" sz="1200" dirty="0">
                <a:solidFill>
                  <a:schemeClr val="tx2"/>
                </a:solidFill>
              </a:rPr>
              <a:t>The training-depth pull is a guess. Check whether holdout depths (1.9 m) match training (2.5 to 2.8 m); the holdout is the last 100 images.</a:t>
            </a:r>
            <a:endParaRPr lang="en-US" sz="1200" dirty="0"/>
          </a:p>
        </p:txBody>
      </p:sp>
      <p:sp>
        <p:nvSpPr>
          <p:cNvPr id="11" name="open 3"/>
          <p:cNvSpPr/>
          <p:nvPr/>
        </p:nvSpPr>
        <p:spPr>
          <a:xfrm>
            <a:off x="457200" y="2377440"/>
            <a:ext cx="457200" cy="457200"/>
          </a:xfrm>
          <a:prstGeom prst="ellipse">
            <a:avLst/>
          </a:prstGeom>
          <a:solidFill>
            <a:schemeClr val="accent1"/>
          </a:solidFill>
          <a:ln w="12700">
            <a:solidFill>
              <a:schemeClr val="accent1"/>
            </a:solidFill>
            <a:prstDash val="solid"/>
          </a:ln>
        </p:spPr>
      </p:sp>
      <p:sp>
        <p:nvSpPr>
          <p:cNvPr id="12" name="open num 3"/>
          <p:cNvSpPr txBox="1"/>
          <p:nvPr/>
        </p:nvSpPr>
        <p:spPr>
          <a:xfrm>
            <a:off x="457200" y="23774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open head 3"/>
          <p:cNvSpPr txBox="1"/>
          <p:nvPr/>
        </p:nvSpPr>
        <p:spPr>
          <a:xfrm>
            <a:off x="1097280" y="233172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Cost of the depth fix</a:t>
            </a:r>
            <a:endParaRPr lang="en-US" sz="1500" dirty="0"/>
          </a:p>
        </p:txBody>
      </p:sp>
      <p:sp>
        <p:nvSpPr>
          <p:cNvPr id="14" name="open body 3"/>
          <p:cNvSpPr txBox="1"/>
          <p:nvPr/>
        </p:nvSpPr>
        <p:spPr>
          <a:xfrm>
            <a:off x="1097280" y="2660904"/>
            <a:ext cx="3337560" cy="749808"/>
          </a:xfrm>
          <a:prstGeom prst="rect">
            <a:avLst/>
          </a:prstGeom>
          <a:noFill/>
          <a:ln/>
        </p:spPr>
        <p:txBody>
          <a:bodyPr wrap="square" lIns="0" tIns="0" rIns="0" bIns="0" rtlCol="0" anchor="t"/>
          <a:lstStyle/>
          <a:p>
            <a:pPr indent="0" marL="0">
              <a:buNone/>
            </a:pPr>
            <a:r>
              <a:rPr lang="en-US" sz="1200" dirty="0">
                <a:solidFill>
                  <a:schemeClr val="tx2"/>
                </a:solidFill>
              </a:rPr>
              <a:t>Recount recall over head-visible people. Measure the fix on 3DPW. Report root depth error next to PVE, since PVE cannot see placement.</a:t>
            </a:r>
            <a:endParaRPr lang="en-US" sz="1200" dirty="0"/>
          </a:p>
        </p:txBody>
      </p:sp>
      <p:sp>
        <p:nvSpPr>
          <p:cNvPr id="15" name="open 4"/>
          <p:cNvSpPr/>
          <p:nvPr/>
        </p:nvSpPr>
        <p:spPr>
          <a:xfrm>
            <a:off x="4709160" y="2377440"/>
            <a:ext cx="457200" cy="457200"/>
          </a:xfrm>
          <a:prstGeom prst="ellipse">
            <a:avLst/>
          </a:prstGeom>
          <a:solidFill>
            <a:schemeClr val="accent1"/>
          </a:solidFill>
          <a:ln w="12700">
            <a:solidFill>
              <a:schemeClr val="accent1"/>
            </a:solidFill>
            <a:prstDash val="solid"/>
          </a:ln>
        </p:spPr>
      </p:sp>
      <p:sp>
        <p:nvSpPr>
          <p:cNvPr id="16" name="open num 4"/>
          <p:cNvSpPr txBox="1"/>
          <p:nvPr/>
        </p:nvSpPr>
        <p:spPr>
          <a:xfrm>
            <a:off x="4709160" y="23774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7" name="open head 4"/>
          <p:cNvSpPr txBox="1"/>
          <p:nvPr/>
        </p:nvSpPr>
        <p:spPr>
          <a:xfrm>
            <a:off x="5349240" y="233172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Pilot noise</a:t>
            </a:r>
            <a:endParaRPr lang="en-US" sz="1500" dirty="0"/>
          </a:p>
        </p:txBody>
      </p:sp>
      <p:sp>
        <p:nvSpPr>
          <p:cNvPr id="18" name="open body 4"/>
          <p:cNvSpPr txBox="1"/>
          <p:nvPr/>
        </p:nvSpPr>
        <p:spPr>
          <a:xfrm>
            <a:off x="5349240" y="2660904"/>
            <a:ext cx="3337560" cy="749808"/>
          </a:xfrm>
          <a:prstGeom prst="rect">
            <a:avLst/>
          </a:prstGeom>
          <a:noFill/>
          <a:ln/>
        </p:spPr>
        <p:txBody>
          <a:bodyPr wrap="square" lIns="0" tIns="0" rIns="0" bIns="0" rtlCol="0" anchor="t"/>
          <a:lstStyle/>
          <a:p>
            <a:pPr indent="0" marL="0">
              <a:buNone/>
            </a:pPr>
            <a:r>
              <a:rPr lang="en-US" sz="1200" dirty="0">
                <a:solidFill>
                  <a:schemeClr val="tx2"/>
                </a:solidFill>
              </a:rPr>
              <a:t>No fixed seed. Fix it, or repeat the key run, before trusting differences under about 10 mm.</a:t>
            </a:r>
            <a:endParaRPr lang="en-US" sz="1200" dirty="0"/>
          </a:p>
        </p:txBody>
      </p:sp>
      <p:sp>
        <p:nvSpPr>
          <p:cNvPr id="19" name="open 5"/>
          <p:cNvSpPr/>
          <p:nvPr/>
        </p:nvSpPr>
        <p:spPr>
          <a:xfrm>
            <a:off x="457200" y="3474720"/>
            <a:ext cx="457200" cy="457200"/>
          </a:xfrm>
          <a:prstGeom prst="ellipse">
            <a:avLst/>
          </a:prstGeom>
          <a:solidFill>
            <a:schemeClr val="accent1"/>
          </a:solidFill>
          <a:ln w="12700">
            <a:solidFill>
              <a:schemeClr val="accent1"/>
            </a:solidFill>
            <a:prstDash val="solid"/>
          </a:ln>
        </p:spPr>
      </p:sp>
      <p:sp>
        <p:nvSpPr>
          <p:cNvPr id="20" name="open num 5"/>
          <p:cNvSpPr txBox="1"/>
          <p:nvPr/>
        </p:nvSpPr>
        <p:spPr>
          <a:xfrm>
            <a:off x="457200" y="34747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1" name="open head 5"/>
          <p:cNvSpPr txBox="1"/>
          <p:nvPr/>
        </p:nvSpPr>
        <p:spPr>
          <a:xfrm>
            <a:off x="1097280" y="34290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People very close to the camera</a:t>
            </a:r>
            <a:endParaRPr lang="en-US" sz="1500" dirty="0"/>
          </a:p>
        </p:txBody>
      </p:sp>
      <p:sp>
        <p:nvSpPr>
          <p:cNvPr id="22" name="open body 5"/>
          <p:cNvSpPr txBox="1"/>
          <p:nvPr/>
        </p:nvSpPr>
        <p:spPr>
          <a:xfrm>
            <a:off x="1097280" y="3758184"/>
            <a:ext cx="3337560" cy="749808"/>
          </a:xfrm>
          <a:prstGeom prst="rect">
            <a:avLst/>
          </a:prstGeom>
          <a:noFill/>
          <a:ln/>
        </p:spPr>
        <p:txBody>
          <a:bodyPr wrap="square" lIns="0" tIns="0" rIns="0" bIns="0" rtlCol="0" anchor="t"/>
          <a:lstStyle/>
          <a:p>
            <a:pPr indent="0" marL="0">
              <a:buNone/>
            </a:pPr>
            <a:r>
              <a:rPr lang="en-US" sz="1200" dirty="0">
                <a:solidFill>
                  <a:schemeClr val="tx2"/>
                </a:solidFill>
              </a:rPr>
              <a:t>Both models miss people who fill much of the image. A detection problem, not caused or fixed by the depth fix.</a:t>
            </a:r>
            <a:endParaRPr lang="en-US" sz="1200" dirty="0"/>
          </a:p>
        </p:txBody>
      </p:sp>
      <p:sp>
        <p:nvSpPr>
          <p:cNvPr id="23" name="open 6"/>
          <p:cNvSpPr/>
          <p:nvPr/>
        </p:nvSpPr>
        <p:spPr>
          <a:xfrm>
            <a:off x="4709160" y="3474720"/>
            <a:ext cx="457200" cy="457200"/>
          </a:xfrm>
          <a:prstGeom prst="ellipse">
            <a:avLst/>
          </a:prstGeom>
          <a:solidFill>
            <a:schemeClr val="accent1"/>
          </a:solidFill>
          <a:ln w="12700">
            <a:solidFill>
              <a:schemeClr val="accent1"/>
            </a:solidFill>
            <a:prstDash val="solid"/>
          </a:ln>
        </p:spPr>
      </p:sp>
      <p:sp>
        <p:nvSpPr>
          <p:cNvPr id="24" name="open num 6"/>
          <p:cNvSpPr txBox="1"/>
          <p:nvPr/>
        </p:nvSpPr>
        <p:spPr>
          <a:xfrm>
            <a:off x="4709160" y="34747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25" name="open head 6"/>
          <p:cNvSpPr txBox="1"/>
          <p:nvPr/>
        </p:nvSpPr>
        <p:spPr>
          <a:xfrm>
            <a:off x="5349240" y="34290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Depth loss ×20 for 10 epochs</a:t>
            </a:r>
            <a:endParaRPr lang="en-US" sz="1500" dirty="0"/>
          </a:p>
        </p:txBody>
      </p:sp>
      <p:sp>
        <p:nvSpPr>
          <p:cNvPr id="26" name="open body 6"/>
          <p:cNvSpPr txBox="1"/>
          <p:nvPr/>
        </p:nvSpPr>
        <p:spPr>
          <a:xfrm>
            <a:off x="5349240" y="3758184"/>
            <a:ext cx="3337560" cy="749808"/>
          </a:xfrm>
          <a:prstGeom prst="rect">
            <a:avLst/>
          </a:prstGeom>
          <a:noFill/>
          <a:ln/>
        </p:spPr>
        <p:txBody>
          <a:bodyPr wrap="square" lIns="0" tIns="0" rIns="0" bIns="0" rtlCol="0" anchor="t"/>
          <a:lstStyle/>
          <a:p>
            <a:pPr indent="0" marL="0">
              <a:buNone/>
            </a:pPr>
            <a:r>
              <a:rPr lang="en-US" sz="1200" dirty="0">
                <a:solidFill>
                  <a:schemeClr val="tx2"/>
                </a:solidFill>
              </a:rPr>
              <a:t>No result yet, so no numbers quoted.</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548640"/>
            <a:ext cx="8046720" cy="914400"/>
          </a:xfrm>
          <a:prstGeom prst="rect">
            <a:avLst/>
          </a:prstGeom>
          <a:noFill/>
          <a:ln/>
        </p:spPr>
        <p:txBody>
          <a:bodyPr wrap="square" lIns="0" tIns="0" rIns="0" bIns="0" rtlCol="0"/>
          <a:lstStyle/>
          <a:p>
            <a:pPr algn="l" indent="0" marL="0">
              <a:buNone/>
            </a:pPr>
            <a:r>
              <a:rPr lang="en-US" sz="3600" b="1" dirty="0">
                <a:solidFill>
                  <a:schemeClr val="bg1"/>
                </a:solidFill>
              </a:rPr>
              <a:t>What I claim today, and what I do not</a:t>
            </a:r>
            <a:endParaRPr lang="en-US" sz="3600" dirty="0"/>
          </a:p>
        </p:txBody>
      </p:sp>
      <p:sp>
        <p:nvSpPr>
          <p:cNvPr id="3" name="Text 0"/>
          <p:cNvSpPr/>
          <p:nvPr>
            <p:ph idx="101" type="body" hasCustomPrompt="1"/>
          </p:nvPr>
        </p:nvSpPr>
        <p:spPr>
          <a:xfrm>
            <a:off x="548640" y="1645920"/>
            <a:ext cx="8046720" cy="3017520"/>
          </a:xfrm>
          <a:prstGeom prst="rect">
            <a:avLst/>
          </a:prstGeom>
          <a:noFill/>
          <a:ln/>
        </p:spPr>
        <p:txBody>
          <a:bodyPr wrap="square" lIns="0" tIns="0" rIns="0" bIns="0" rtlCol="0" anchor="t"/>
          <a:lstStyle/>
          <a:p>
            <a:pPr algn="l" indent="0" marL="0">
              <a:buNone/>
            </a:pPr>
            <a:r>
              <a:rPr lang="en-US" sz="1700" b="1" dirty="0">
                <a:solidFill>
                  <a:srgbClr val="F4C95D"/>
                </a:solidFill>
              </a:rPr>
              <a:t>Claimed, measured: </a:t>
            </a:r>
            <a:r>
              <a:rPr lang="en-US" sz="1700" dirty="0">
                <a:solidFill>
                  <a:schemeClr val="bg2"/>
                </a:solidFill>
              </a:rPr>
              <a:t>the failures are not rig or decoding problems. A training-target bug puts people too far away in v5, v9 and v10 (v5: all 222 holdout people); the fix brings bodies much closer to their true size.</a:t>
            </a:r>
            <a:endParaRPr lang="en-US" sz="1700" dirty="0"/>
          </a:p>
          <a:p>
            <a:pPr algn="l" indent="0" marL="0">
              <a:buNone/>
            </a:pPr>
            <a:r>
              <a:rPr lang="en-US" sz="1700" b="1" dirty="0">
                <a:solidFill>
                  <a:srgbClr val="F4C95D"/>
                </a:solidFill>
              </a:rPr>
              <a:t>Not claimed: </a:t>
            </a:r>
            <a:r>
              <a:rPr lang="en-US" sz="1700" dirty="0">
                <a:solidFill>
                  <a:schemeClr val="bg2"/>
                </a:solidFill>
              </a:rPr>
              <a:t>any improvement in neck, fingers or children; good near vs far depth; a fix without cost (PVE and recall may be slightly worse).</a:t>
            </a:r>
            <a:endParaRPr lang="en-US" sz="1700" dirty="0"/>
          </a:p>
          <a:p>
            <a:pPr algn="l" indent="0" marL="0">
              <a:buNone/>
            </a:pPr>
            <a:r>
              <a:rPr lang="en-US" sz="1700" b="1" dirty="0">
                <a:solidFill>
                  <a:srgbClr val="F4C95D"/>
                </a:solidFill>
              </a:rPr>
              <a:t>Question for you: </a:t>
            </a:r>
            <a:r>
              <a:rPr lang="en-US" sz="1700" dirty="0">
                <a:solidFill>
                  <a:schemeClr val="bg2"/>
                </a:solidFill>
              </a:rPr>
              <a:t>should I fine-tune v9 (our best on 3DPW) with the corrected targets and depth loss ×5, about one hour of training, before the thesis numbers are final? Expected: bodies near true size; possible cost 3–5 mm PVE and 2–3 recall points; 3DPW effect unknown.</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Backup: before and after, holdout image 579860</a:t>
            </a:r>
            <a:endParaRPr lang="en-US" sz="2700" dirty="0"/>
          </a:p>
        </p:txBody>
      </p:sp>
      <p:pic>
        <p:nvPicPr>
          <p:cNvPr id="3" name="figure depth_before_after_579860.jpg" descr="Ground truth, before (v5) and after (fix) meshes on a synthetic holdout image">    </p:cNvPr>
          <p:cNvPicPr>
            <a:picLocks noChangeAspect="1"/>
          </p:cNvPicPr>
          <p:nvPr/>
        </p:nvPicPr>
        <p:blipFill>
          <a:blip r:embed="rId1"/>
          <a:stretch>
            <a:fillRect/>
          </a:stretch>
        </p:blipFill>
        <p:spPr>
          <a:xfrm>
            <a:off x="640080" y="1051560"/>
            <a:ext cx="7863840" cy="2864356"/>
          </a:xfrm>
          <a:prstGeom prst="rect">
            <a:avLst/>
          </a:prstGeom>
        </p:spPr>
      </p:pic>
      <p:sp>
        <p:nvSpPr>
          <p:cNvPr id="4" name="caption 0"/>
          <p:cNvSpPr txBox="1"/>
          <p:nvPr/>
        </p:nvSpPr>
        <p:spPr>
          <a:xfrm>
            <a:off x="640080" y="3970780"/>
            <a:ext cx="2595002" cy="365760"/>
          </a:xfrm>
          <a:prstGeom prst="rect">
            <a:avLst/>
          </a:prstGeom>
          <a:noFill/>
          <a:ln/>
        </p:spPr>
        <p:txBody>
          <a:bodyPr wrap="square" lIns="0" tIns="0" rIns="0" bIns="0" rtlCol="0" anchor="t"/>
          <a:lstStyle/>
          <a:p>
            <a:pPr indent="0" marL="0">
              <a:buNone/>
            </a:pPr>
            <a:r>
              <a:rPr lang="en-US" sz="1100" dirty="0">
                <a:solidFill>
                  <a:schemeClr val="tx2"/>
                </a:solidFill>
              </a:rPr>
              <a:t>Synthetic holdout image 579860. Predictions use the model's own depth.</a:t>
            </a:r>
            <a:endParaRPr lang="en-US" sz="1100" dirty="0"/>
          </a:p>
        </p:txBody>
      </p:sp>
      <p:sp>
        <p:nvSpPr>
          <p:cNvPr id="5" name="caption 1"/>
          <p:cNvSpPr txBox="1"/>
          <p:nvPr/>
        </p:nvSpPr>
        <p:spPr>
          <a:xfrm>
            <a:off x="3274499" y="3970780"/>
            <a:ext cx="2595002" cy="365760"/>
          </a:xfrm>
          <a:prstGeom prst="rect">
            <a:avLst/>
          </a:prstGeom>
          <a:noFill/>
          <a:ln/>
        </p:spPr>
        <p:txBody>
          <a:bodyPr wrap="square" lIns="0" tIns="0" rIns="0" bIns="0" rtlCol="0" anchor="t"/>
          <a:lstStyle/>
          <a:p>
            <a:pPr indent="0" marL="0">
              <a:buNone/>
            </a:pPr>
            <a:r>
              <a:rPr lang="en-US" sz="1100" dirty="0">
                <a:solidFill>
                  <a:schemeClr val="tx1"/>
                </a:solidFill>
              </a:rPr>
              <a:t>v5: the real head sticks out above a shrunken mesh</a:t>
            </a:r>
            <a:endParaRPr lang="en-US" sz="1100" dirty="0"/>
          </a:p>
        </p:txBody>
      </p:sp>
      <p:sp>
        <p:nvSpPr>
          <p:cNvPr id="6" name="caption 2"/>
          <p:cNvSpPr txBox="1"/>
          <p:nvPr/>
        </p:nvSpPr>
        <p:spPr>
          <a:xfrm>
            <a:off x="5908918" y="3970780"/>
            <a:ext cx="2595002" cy="365760"/>
          </a:xfrm>
          <a:prstGeom prst="rect">
            <a:avLst/>
          </a:prstGeom>
          <a:noFill/>
          <a:ln/>
        </p:spPr>
        <p:txBody>
          <a:bodyPr wrap="square" lIns="0" tIns="0" rIns="0" bIns="0" rtlCol="0" anchor="t"/>
          <a:lstStyle/>
          <a:p>
            <a:pPr indent="0" marL="0">
              <a:buNone/>
            </a:pPr>
            <a:r>
              <a:rPr lang="en-US" sz="1100" dirty="0">
                <a:solidFill>
                  <a:schemeClr val="tx1"/>
                </a:solidFill>
              </a:rPr>
              <a:t>Fix + depth loss ×5, 10 epochs: mesh height matches</a:t>
            </a:r>
            <a:endParaRPr lang="en-US" sz="1100" dirty="0"/>
          </a:p>
        </p:txBody>
      </p:sp>
      <p:sp>
        <p:nvSpPr>
          <p:cNvPr id="7" name="figure footnote"/>
          <p:cNvSpPr txBox="1"/>
          <p:nvPr/>
        </p:nvSpPr>
        <p:spPr>
          <a:xfrm>
            <a:off x="640080" y="4373116"/>
            <a:ext cx="7863840" cy="274320"/>
          </a:xfrm>
          <a:prstGeom prst="rect">
            <a:avLst/>
          </a:prstGeom>
          <a:noFill/>
          <a:ln/>
        </p:spPr>
        <p:txBody>
          <a:bodyPr wrap="square" lIns="0" tIns="0" rIns="0" bIns="0" rtlCol="0" anchor="t"/>
          <a:lstStyle/>
          <a:p>
            <a:pPr indent="0" marL="0">
              <a:buNone/>
            </a:pPr>
            <a:r>
              <a:rPr lang="en-US" sz="1100" b="1" dirty="0">
                <a:solidFill>
                  <a:srgbClr val="1B2233"/>
                </a:solidFill>
              </a:rPr>
              <a:t>Not an exact fit: </a:t>
            </a:r>
            <a:r>
              <a:rPr lang="en-US" sz="1100" dirty="0">
                <a:solidFill>
                  <a:schemeClr val="tx2"/>
                </a:solidFill>
              </a:rPr>
              <a:t>here the fixed mesh is a little larger and wider than the ground truth. Colours follow detection order.</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MeshDiag">
  <a:themeElements>
    <a:clrScheme name="MeshDiag">
      <a:dk1>
        <a:srgbClr val="1B2233"/>
      </a:dk1>
      <a:lt1>
        <a:srgbClr val="FFFFFF"/>
      </a:lt1>
      <a:dk2>
        <a:srgbClr val="4A5568"/>
      </a:dk2>
      <a:lt2>
        <a:srgbClr val="EEF2F7"/>
      </a:lt2>
      <a:accent1>
        <a:srgbClr val="0E7C86"/>
      </a:accent1>
      <a:accent2>
        <a:srgbClr val="E8792B"/>
      </a:accent2>
      <a:accent3>
        <a:srgbClr val="3BA55D"/>
      </a:accent3>
      <a:accent4>
        <a:srgbClr val="C0392B"/>
      </a:accent4>
      <a:accent5>
        <a:srgbClr val="7B8794"/>
      </a:accent5>
      <a:accent6>
        <a:srgbClr val="F4C95D"/>
      </a:accent6>
      <a:hlink>
        <a:srgbClr val="0E7C86"/>
      </a:hlink>
      <a:folHlink>
        <a:srgbClr val="7B8794"/>
      </a:folHlink>
    </a:clrScheme>
    <a:fontScheme name="MeshDiag">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Multi-HMR with Anny: diagnostics and fixes</dc:title>
  <dc:subject>PptxGenJS Presentation</dc:subject>
  <dc:creator>Saad Najib</dc:creator>
  <cp:lastModifiedBy>Saad Najib</cp:lastModifiedBy>
  <cp:revision>1</cp:revision>
  <dcterms:created xsi:type="dcterms:W3CDTF">2026-10-14T21:12:27Z</dcterms:created>
  <dcterms:modified xsi:type="dcterms:W3CDTF">2026-10-14T21:12:27Z</dcterms:modified>
</cp:coreProperties>
</file>