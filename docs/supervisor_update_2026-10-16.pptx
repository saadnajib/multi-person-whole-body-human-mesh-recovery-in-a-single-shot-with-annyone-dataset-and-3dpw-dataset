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da8d3304-9dd2-dc43-1253-d26814150d00}">
          <p14:sldIdLst>
            <p14:sldId id="256"/>
            <p14:sldId id="257"/>
            <p14:sldId id="258"/>
            <p14:sldId id="259"/>
          </p14:sldIdLst>
        </p14:section>
        <p14:section name="3DPW labels" id="{7fa300ec-dded-754f-25b0-6b3dcc05fe7e}">
          <p14:sldIdLst>
            <p14:sldId id="260"/>
            <p14:sldId id="261"/>
          </p14:sldIdLst>
        </p14:section>
        <p14:section name="Findings" id="{fb307fe4-d1f1-ab85-96f1-23d3c0b01362}">
          <p14:sldIdLst>
            <p14:sldId id="262"/>
            <p14:sldId id="263"/>
            <p14:sldId id="264"/>
            <p14:sldId id="265"/>
          </p14:sldIdLst>
        </p14:section>
        <p14:section name="Bug" id="{8f29ea54-c4c1-bdcc-5681-2eb39299d43d}">
          <p14:sldIdLst>
            <p14:sldId id="266"/>
            <p14:sldId id="267"/>
            <p14:sldId id="268"/>
          </p14:sldIdLst>
        </p14:section>
        <p14:section name="Next" id="{0bd2bdb5-7dcb-a7b0-d0af-d6c7869db96a}">
          <p14:sldIdLst>
            <p14:sldId id="269"/>
            <p14:sldId id="270"/>
            <p14:sldId id="271"/>
            <p14:sldId id="272"/>
            <p14:sldId id="273"/>
            <p14:sldId id="274"/>
          </p14:sldIdLst>
        </p14:section>
        <p14:section name="Appendix" id="{e5cd6953-a2e6-30c2-5ac0-318d62f98b00}">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three defects I found in them and their fix, what I found in the neck and a first fix for it, what I measured about the fingers and the children, one depth bug nobody was looking for and its fix, the final model with all fixes together next to a control, how it looks on real photos,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show normal necks, and on real images the fine-tuned fixed model's necks look normal, judged by eye only; there is no neck metric for real images.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first cluster check, on 15 October, found that joints, surface and 2D pass, but also three defects: gender was reversed, in 407 of 960 two-person images one person had no label, and eight sequences had no labels or too few. The missing labels came from missing image files; I re-extracted them on 16 October, and a second rebuild brought them back. Gender and the missing person are decided inside the fit, so I re-fitted all 87 people with two fixes: gender by Anny's convention, men 0 and women 1, and one shared frame grid for both people. That finished on 18 October, and the fit's own check passed on all 60 sequences: the men's mean joint error went from 19.0 to 14.7 millimetres, the women stayed at about 15, and the frames where one of two people was missing went from 54 percent to zero. The new labels have 16,694 images with 22,749 people: fewer images than the 18,936 before, with the same people, because both people now share each frame. Then I ran the same conversion check on the new labels, and this slide shows it. Body joints are 14.1 millimetres off at the median, was 18.7, below the about 26 millimetres cited for 3DPW's own joints. The surface is 18.9 and 16.1 millimetres off, was 18.9 and 18.3; that is a nearest-point distance, so a lower bound. In 2D the labels are only 0.4 pixels worse than raw 3DPW, was 1.1. Gender is now right: flipping it makes the fit worse, for the men 13.9 against 20.0 millimetres, where on 15 October the flip was better for 72 of 73. No two-person image misses a person now, 0 of 1,080. The overall grade went from FAIL to WARN. What is left are known differences between the Anny and SMPL bodies, the limb proportions and the hip joint, not label bugs. So the final model can train on these labels.</a:t>
            </a:r>
          </a:p>
          <a:p>
            <a:endParaRPr lang="en-US" dirty="0"/>
          </a:p>
          <a:p>
            <a:r>
              <a:rPr lang="en-US" dirty="0"/>
              <a:t>If asked:</a:t>
            </a:r>
          </a:p>
          <a:p>
            <a:r>
              <a:rPr lang="en-US" dirty="0"/>
              <a:t>- Right column: by design, the head does not turn on its own: neck02, neck03, head and jaw stay at rest in every label, and only neck01 turns. The head turn against the chest is now 19.6 degrees in the labels against 19.3 in SMPL, at the median. In the old labels it was 9.5 against 20, lost mainly in the test split. I have not checked why it came back; my guess is the gender fix, because every test person is a man and was fitted with the female body before.</a:t>
            </a:r>
          </a:p>
          <a:p>
            <a:r>
              <a:rPr lang="en-US" dirty="0"/>
              <a:t>- Grades: the WARN comes from two checks. Limb-length ratios: forearm 0.948 and thigh 1.064, Anny over SMPL; in the validation split alone the forearm is 0.877, so FAIL there. And 3.2 percent of people have a joint more than 100 millimetres off, mostly the left hip in outdoors_climbing_02, plus a few capoeira, freestyle and dancing frames; that is 5.5 percent in the train split, so FAIL there. Before the re-fit the limb ratios failed in test only, forearm 0.879 and thigh 1.119; the gender fix most likely removed that, but I have not shown it.</a:t>
            </a:r>
          </a:p>
          <a:p>
            <a:r>
              <a:rPr lang="en-US" dirty="0"/>
              <a:t>- Gender: Anny's male end is 0: at gender 0 the rest body is 1.753 metres tall, at 1 it is 1.632 metres. In the new check every man is labelled 0.000 and every woman 1.000, 2,386 and 928 people in the checked images; these count people in images, not different persons. The refit test used 118 people, 2 per sequence: men 13.9 millimetres with their label and 20.0 with the gender flipped, the flip better for 1 percent of them; women 14.8 against 15.6, the flip better for 38 percent on the joints but only 9 percent on the surface. On 15 October the flip lowered the men's median joint error from 19.2 to 15.3 millimetres, better for 72 of 73. The surface test alone cannot see a wrong gender; that is why there is a separate refit test.</a:t>
            </a:r>
          </a:p>
          <a:p>
            <a:r>
              <a:rPr lang="en-US" dirty="0"/>
              <a:t>- Missing labels: train had 4,451 of 6,437 expected label images, validation 2,458 of 2,777. The first rebuild, job 3579266, gave the same counts. The label builder skips every frame whose image file is missing, without a warning, so the likely cause was an incomplete unzip of the 3DPW images on the cluster. On 16 October I re-extracted the image folders of the eight sequences; captureSelfies_00 had 480 of 750 files. The second rebuild, job 3581320, gave 18,936 label images, exactly what the old fits imply. My earlier guess, that the builder ran before the fits finished, was wrong.</a:t>
            </a:r>
          </a:p>
          <a:p>
            <a:r>
              <a:rPr lang="en-US" dirty="0"/>
              <a:t>- Re-fit: all 87 fits ran on free GPU nodes through a small environment with a newer PyTorch, so they did not wait in the queue; 36 tasks first failed on two V100 nodes and were rerun elsewhere. New label counts: train 5,882 images, validation 2,622, test 8,190.</a:t>
            </a:r>
          </a:p>
          <a:p>
            <a:r>
              <a:rPr lang="en-US" dirty="0"/>
              <a:t>- outdoors_crosscountry_00 has no labels, now or before: with 3DPW's own camera its people sit behind the camera, so nothing projects into the image. The fit itself is fine, 17.8 millimetres. So 3DPW validation has 11 usable sequences.</a:t>
            </a:r>
          </a:p>
          <a:p>
            <a:r>
              <a:rPr lang="en-US" dirty="0"/>
              <a:t>- Joints: the 14.1 millimetres are measured at the points the fit aims at. The bare bone heads that train.py uses are 30.0 millimetres off, was 32.5, mostly a fixed torso rig gap, not a fit error. The script marks the 26 millimetres for 3DPW as likely, from von Marcard et al., 2018; I have not checked the paper.</a:t>
            </a:r>
          </a:p>
          <a:p>
            <a:r>
              <a:rPr lang="en-US" dirty="0"/>
              <a:t>- Still fixed by design: age 0.55 for everyone and seven more shape values at 0.5; only height and proportions are fitted, and gender comes from 3DPW.</a:t>
            </a:r>
          </a:p>
          <a:p>
            <a:r>
              <a:rPr lang="en-US" dirty="0"/>
              <a:t>- 2D and left/right: left and right were correct in every checked person, and the mirror test passes.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final model, 10 epochs with the fix and with real photos in training, keeps it: neck02 4.8 degrees, thickness 1.00, head direction 13.1 (slide 16). The next slide shows the correction alone on a holdout image, and the fine-tuned model on a real 3DPW test frame.</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one of them, next to a real-image demo of the fine-tuned checkpoint, which carries the fix. The longer run is the final model: neck02 4.8 degrees, head bone 8.9, thickness 1.00, neck-skin error 11.0 millimetres, head direction 13.1 against 13.0 for its own control (slide 16).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pairs. On the left, a synthetic holdout image: v5 as trained, then the same model with the correction alone, no training. On the right, a real 3DPW test frame, never trained on: v5, then the fine-tuned fixed model. Look at the necks, ringed in yellow. With v5 they are thin stalks, pinched under the head; with the fix they have normal width. On the holdout this is measured: thickness 0.46 to 1.00 over 100 images. On real images I can only judge by eye. The change is clearest here and on an office frame, and also visible on two more 3DPW sequences and three photos. Head direction stays a limit: 14 degrees after the fine-tune, against 12.</a:t>
            </a:r>
          </a:p>
          <a:p>
            <a:endParaRPr lang="en-US" dirty="0"/>
          </a:p>
          <a:p>
            <a:r>
              <a:rPr lang="en-US" dirty="0"/>
              <a:t>If asked:</a:t>
            </a:r>
          </a:p>
          <a:p>
            <a:r>
              <a:rPr lang="en-US" dirty="0"/>
              <a:t>- The right column is the fine-tuned checkpoint, so it differs from v5 by the correction and by two epochs of training; this pair cannot separate the two. On the holdout, the same 2-epoch fine-tune without the fix keeps thickness 0.46, so the correction is the likely cause; not tested on real images. The demo log shows the fix on for four bones. Demo: job 3581312, person detector, each body placed from its detection box, 4 example photos and 8 3DPW test frames. I have looked at 8 of these 12 images so far; the other four, the runForBus, sitOnStairs and fencing frames and one photo, not yet.</a:t>
            </a:r>
          </a:p>
          <a:p>
            <a:r>
              <a:rPr lang="en-US" dirty="0"/>
              <a:t>- Men: in both models, adult men on real photos get female-looking bodies, with breasts and narrow shoulders, for example the male tennis players. v5 never saw 3DPW, so this is not the gender defect in our 3DPW labels. The demo log shows predicted gender near the training median, about 0.6, while Anny's male end is 0: the same pull to the median as for age (slide 10). On Relative Human, measured on 932 real people, men get 0.535 on average and women 0.551: no gender signal. Whether the gap between synthetic and real images or the loss causes it is not settled. The final model, trained with the corrected 3DPW gender labels, gives most men male bodies, judged by eye (slide 17).</a:t>
            </a:r>
          </a:p>
          <a:p>
            <a:r>
              <a:rPr lang="en-US" dirty="0"/>
              <a:t>- Also in both models: some bodies are still small or misplaced in depth, although the demo places them from the detection box, and a figure in a painting is detected as a person.</a:t>
            </a:r>
          </a:p>
          <a:p>
            <a:r>
              <a:rPr lang="en-US" dirty="0"/>
              <a:t>- The correction also turns back two hand bones, so the hands differ too; I have not judged them (slide 9).</a:t>
            </a:r>
          </a:p>
          <a:p>
            <a:r>
              <a:rPr lang="en-US" dirty="0"/>
              <a:t>- All twelve holdout panels show the thin neck and its fix wherever a neck is visible.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The final model, 10 epochs with the fix and with real photos in training, keeps it: 8.3 against 17.4 for its own control.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training images the model can make child-like bodies, but on real photos it does not. I measured this on Relative Human, a public set of real photos with age-group labels: 635 validation images with 2,130 labelled people. The detected kids get a predicted age of 0.61 and the babies 0.62, against 0.63 for adults, so age barely separates them: the AUC is 0.61, where 0.5 is chance, and none of the 89 detected kids and only one of the 38 babies falls below our child threshold of 0.45. The model does see that they are small, but it puts that into height, not age: height goes from 0.51 for adults to 0.45 for kids and 0.39 for babies. So it reads children as short adults; in Anny, a low height at an adult age is a short, broad-shouldered adult. Gender carries no signal either: men get 0.535 on average and women 0.551, while Anny's male end is 0. This is the same pull to the training median we see on synthetic data, and it replaces my earlier by-eye reading of a few people in our own photos. The decision for today: write it up as a limitation, or add weak age labels from the Relative Human training set, as the BEV paper did, which is one to two weeks of code after the final model. Separately, a flag can stop the 3DPW labels from training every real person toward one fixed average body; it is off by default, and the final model, trained on 18 October, has it off (slide 16); a run with it on can follow.</a:t>
            </a:r>
          </a:p>
          <a:p>
            <a:endParaRPr lang="en-US" dirty="0"/>
          </a:p>
          <a:p>
            <a:r>
              <a:rPr lang="en-US" dirty="0"/>
              <a:t>If asked: Recall: the model detects only 47 percent of the labelled people, 33 percent of the babies and 43 percent of the kids; the photos are crowded and the model runs at 672 pixels. So every number covers detected people only. Matching: each detection is paired with a labelled box by overlap, IoU at least 0.3. In crowded scenes a few child labels may get an adult detection; that would blur the height drop and any age gap, but it cannot create the height drop, and the clear height drop says most matches are real children. The fine-tuned model with the neck and finger fix gives the same numbers within noise: AUC 0.613, kids 0.62, adults 0.64, gender 0.533 for men and 0.562 for women. That is expected: the fix turns bones, not the shape output. Teens get age 0.60 and height 0.49, between adults and kids in height. Our own photos agree: the one real child, a standing boy, gets age 0.60 and height 0.48; the five small people I quoted before were mostly crouching or seated adults, because the skeletal height I used is measured on the posed body. On synthetic data the same pull shows at both ends: holdout people with a true age of 0.6 to 0.8 come out at 0.57, and the youngest training people at 0.10 instead of 0.015. Showing about five times more synthetic children for two epochs was inconclusive, 48.5 against 53.1 millimetres on ten training children, and it has no mechanism for real photos. So I cannot yet say whether the cause is the gap between synthetic and real images, or the loss, an L1 through a sigmoid on rare values. In Anny a child is mainly narrow shoulders relative to the head, and only a low age gives that; a low height at age 0.6 gives a short, broad-shouldered adult, at least 1.22 metres tall. I do not convert ages to years: our code uses three different scales, and the dataset most likely does not follow Anny's own calibration. Relative Human has about 24,800 people with age-group labels, among them 2,720 children and 1,534 babies, plus gender; its training split is where weak labels would come from. The 3DPW labels fix age at 0.55 and seven more shape values at 0.5 for everyone; only height and proportions are fitted, and gender comes from 3DPW. With the flag on, the final model's 3DPW error can change for a reason unrelated to the depth and bone fixes, because the 3DPW ground-truth meshes keep that average body. Anny-Fit, from the group that made Anny, refits bodies at test time from a vision-language model's age and gender; it could give better figures, but it is not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 The final model on slide 16 uses the same depth fix: root error 0.73 metres, against 1.40 for its own control and 1.21 for v5.</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 The final model on slide 16 uses the five-times fix together with the bone fix and real photos: root error 0.73 metres against 1.40 for its own control and 1.21 for v5, size 0.78 against 0.59, slope 0.42 against 0.28. So its slope is about as good as the best pilots, but still far from 1, and its measured cost is 2 recall points, with PVE inside the noise.</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Neck and fingers: no measurable effect. Children: inconclusive after two epochs, 48.5 against 53.1 millimetres on ten training children; on real photos, v5 still gives children an adult age (slide 10).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 The final model, with all fixes together and its own control, is on slide 16.</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v5 fine-tuned for 10 epochs with all fixes at once, the depth fix, the bone fix and the corrected 3DPW labels, next to a control with the same recipe but without the depth and bone fixes. All three fixes hold together after 10 epochs with real photos in the mix: the neck bone goes from 176 to 5 degrees and the neck thickness from 0.46 to 1.00, the finger error halves from 17.4 to 8.3 degrees, and the root error drops by 48 percent, from 1.40 to 0.73 metres. PA-PVE is 50.3 millimetres, 6.1 better than the control and the best of every model so far; that gap is beyond the pilot noise. PVE is 3.7 millimetres better than the control, which is inside the noise. Recall is 2 points lower than the control and 3.2 lower than v5; that is a real cost, and I state it. On the 3DPW test split with the corrected labels, the final model also beats its control: PVE 89.0 against 91.5, PA-PVE 57.6 against 59.7. And it is now the best of our models on real photos: on the same labels v9, the previous best, gets 95.5 and v5 121.8, so the final model is 6.5 millimetres better than v9, and it finds more of the 3DPW people, 99 percent against 94. Most of the gain over v5 comes from training on 3DPW at all: the control, without the two fixes, already gets 91.5. The fixes add 2.5 millimetres PVE and 2.1 PA-PVE on top, plus the neck, the fingers and the depth, which a pelvis-aligned PVE barely sees. Both arms sit above v5's 70.5 on the holdout, the restart cost we saw in every fine-tune; the final model recovers more of it than the control. What stays open: the depth slope is 0.42, as good as the best pilots, 0.43 to 0.44, but far from 1, so predicted depth is still compressed; the fix moved the offset and the body size, not the slope.</a:t>
            </a:r>
          </a:p>
          <a:p>
            <a:endParaRPr lang="en-US" dirty="0"/>
          </a:p>
          <a:p>
            <a:r>
              <a:rPr lang="en-US" dirty="0"/>
              <a:t>If asked:</a:t>
            </a:r>
          </a:p>
          <a:p>
            <a:r>
              <a:rPr lang="en-US" dirty="0"/>
              <a:t>- 3DPW test, all five models on the corrected labels with the same script and the same 8,190 images (jobs 3612073 to 3612075 and the two exp7 jobs): PVE v5 121.8, v9 epoch 62 95.5, the 2-epoch neck pilot 120.2, control 91.5, final model 89.0; PA-PVE 72.0, 62.9, 68.7, 59.7, 57.6; MPJPE 126.9, 94.8, 124.8, 90.9, 88.3. v9 trained on the old labels with the reversed gender; like every model it is tested on the corrected ones. The old numbers, v9 102.5 and v5 119.1, are retired: only numbers on the corrected labels are compared now.</a:t>
            </a:r>
          </a:p>
          <a:p>
            <a:r>
              <a:rPr lang="en-US" dirty="0"/>
              <a:t>- Detection on 3DPW: the final model finds 99 percent of the labelled people, v9 94, v5 and the neck pilot 100. Precision is 64 percent for the final model, 73 for v9 and 54 for v5; 3DPW labels only the one or two actors, not the people walking past, so a low precision partly counts real bystanders, and I do not read much into it.</a:t>
            </a:r>
          </a:p>
          <a:p>
            <a:r>
              <a:rPr lang="en-US" dirty="0"/>
              <a:t>- Head direction: 13.1 degrees, against 12.0 for v5 and 13.0 for the control: within noise. The 14.4 of the 2-epoch pilot did not repeat. The head bone is 8.9 degrees off, against 177.7 in the control, and the neck-skin error is 11.0 millimetres against 27.7.</a:t>
            </a:r>
          </a:p>
          <a:p>
            <a:r>
              <a:rPr lang="en-US" dirty="0"/>
              <a:t>- During training, the 3DPW validation PVE went from 79.9 to 74.5 millimetres over the 10 epochs, and from 80.6 to 75.9 for the control. That is the training script's own evaluation, without the helper mask, on 300 images.</a:t>
            </a:r>
          </a:p>
          <a:p>
            <a:r>
              <a:rPr lang="en-US" dirty="0"/>
              <a:t>- NaN steps: both arms skipped a few gradient steps with NaN or infinite values, 16 and 10 of 10,000. At that rate it is harmless, but I note it.</a:t>
            </a:r>
          </a:p>
          <a:p>
            <a:r>
              <a:rPr lang="en-US" dirty="0"/>
              <a:t>- Training time: the final model trained in 4,292 seconds, about 72 minutes, on an A100, at 10.9 images per second. The control took 6,753 seconds on an A40, at 6.7 images per second. They ran on different GPUs, so the times do not compare the recipes.</a:t>
            </a:r>
          </a:p>
          <a:p>
            <a:r>
              <a:rPr lang="en-US" dirty="0"/>
              <a:t>- Children: unchanged; training has no child signal, so the Relative Human result on slide 10 stands. Gender is different: the shape mask was off, so the corrected 3DPW gender labels train the shape head, and on real photos most men now look male, judged by eye (next slide). The Relative Human number for the final model is not run yet.</a:t>
            </a:r>
          </a:p>
          <a:p>
            <a:r>
              <a:rPr lang="en-US" dirty="0"/>
              <a:t>- Checkpoint: results/experiments/exp7_final_model/v5_pc_dist5_bonefix_v23_e10/train/checkpoints/00009.pt. The bone fix is saved in its settings and applied on load.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model on real photos, next to v5, judged by eye. These are three of the twelve demo images: a photo from our example set and two 3DPW test frames that no model trained on; v5 on the left, the final model on the right. The clearest change is the body shape of the men. v5 gave them breasts and wide hips; the final model gives most of them a flat chest and broader shoulders: three of the four men on the tennis photo, both men in the walking frame, the man on the phone, the guitar player and the seated man in the WhatsApp photo. Women stay female, and the bodies look a little larger, which fits the size ratio going from 0.63 to 0.78 on the synthetic holdout. What did not change: the boy in the garden photo still gets an adult body, some bodies still sit off their person, half-visible people still get ghost bodies, and hard poses like the guitar player or the seated man are poor in both models. All of this is by eye: the gender number on Relative Human for the final model is not run yet; for v5 it was 46.5 percent, which is chance.</a:t>
            </a:r>
          </a:p>
          <a:p>
            <a:endParaRPr lang="en-US" dirty="0"/>
          </a:p>
          <a:p>
            <a:r>
              <a:rPr lang="en-US" dirty="0"/>
              <a:t>If asked:</a:t>
            </a:r>
          </a:p>
          <a:p>
            <a:r>
              <a:rPr lang="en-US" dirty="0"/>
              <a:t>- Source: demo job 3612078, the same demo script as slide 8, v5 epoch 99 next to the final model, on 4 example photos and 8 3DPW test frames, 12 images in all. The final model carries the bone fix in its saved settings, and the log shows it applied on load.</a:t>
            </a:r>
          </a:p>
          <a:p>
            <a:r>
              <a:rPr lang="en-US" dirty="0"/>
              <a:t>- Why gender changed: the shape mask was off, so the corrected 3DPW gender labels train the shape head; v5 never saw 3DPW. That is my reading; I have not tested it.</a:t>
            </a:r>
          </a:p>
          <a:p>
            <a:r>
              <a:rPr lang="en-US" dirty="0"/>
              <a:t>- The log's predicted gender, over all 12 images: v5 0.32 to 0.76, median 0.59, close to the training median; the final model 0.05 to 0.99, median 0.90. So the shape head now gives clear values instead of the middle. The log does not settle the direction: zero is male in Anny, the man on the phone gets 0.05 to 0.16, but on the tennis photo, where the men look male, most values are above 0.7, and the log does not say which value belongs to which body. Other shape values moved too and likely add to the male look: muscle, median 0.28 to 0.48, and proportions, 0.81 to 0.57. Age: v5 0.50 to 0.77, the final model 0.42 to 0.65.</a:t>
            </a:r>
          </a:p>
          <a:p>
            <a:r>
              <a:rPr lang="en-US" dirty="0"/>
              <a:t>- The Relative Human run is one job with the final model's checkpoint, the same evaluation as slide 10; it gives gender accuracy, the children's age and recall. Until it has run, gender is by eye only.</a:t>
            </a:r>
          </a:p>
          <a:p>
            <a:r>
              <a:rPr lang="en-US" dirty="0"/>
              <a:t>- Ghost bodies: in the walking frame the final model draws a green body on a person cut off at the image edge; in the stage photo both models draw a yellow one. Placement offsets: the bar and fencing frames, in both models.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fix now holds in the 10-epoch final model, with real photos in training: neck02 4.8 degrees and fingers 8.3 (slide 16). The holdout renders of the correction alone show normal necks, and so, by eye, do the 8 real images I have seen so far from a first demo of the 2-epoch model; real images have no neck metric. v10's left arm has the same kind of flip, but a bone further down the arm undoes it, so it needs a two-sided correction, not built yet. Second, the depth slope: 0.42 in the final model, about as good as the best pilots but far from 1; cause unknown. Third, the cost of the depth fix: now measured in the final model against its control, PVE within the noise and recall 2 points lower; a comparison paired on the same people is still to do. Fourth, pilot noise: fix the seed or repeat key runs. Fifth, people very close to the camera. Sixth, children and fingers: children are now measured on real photos with age labels, the Relative Human dataset: the model reads them as short adults, and age separates them from adults with an AUC of only 0.61 (slide 10); the decision is a limitation or weak age labels. For fingers, a look at the hands with the bone fix. Seventh, 3DPW: the labels had three defects. The missing labels came back on 16 October, when I re-extracted the images of eight sequences; train went from 4,451 to 6,437 label images. The re-fit with the gender and frame-grid fixes finished on 18 October, and the check on the new labels passes with a warning, with no defect left (slide 6). They are in use: the final model and its control trained on them on 18 October, after a short smoke test of the whole recipe passed (slide 16).</a:t>
            </a:r>
          </a:p>
          <a:p>
            <a:endParaRPr lang="en-US" dirty="0"/>
          </a:p>
          <a:p>
            <a:r>
              <a:rPr lang="en-US" dirty="0"/>
              <a:t>If asked: Neck: the fine-tuned checkpoint carries the fix in its saved settings, so the demo applies it on load; the demo comparison, job 3581312, ran it next to v5 on 4 example photos and 8 3DPW test frames (slide 8); I have looked at 8 of these 12 images so far.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On the 3DPW test split, with the new labels, the final model beats its control, 89.0 against 91.5 millimetres PVE, and also v9, 95.5, and v5, 121.8, on the same labels; most of that gain comes from the 3DPW training itself (slide 16). The twenty-times 10-epoch run has no result yet. Close people: v5 and the depth-fix model both miss them in 4 of the 12 rendered holdout images (slide 12). Children and fingers: one 2-epoch test is not enough to close them; for children it is inconclusive, not a proof that more synthetic children cannot help, and a 10-epoch sampler run stays a low-priority option. 3DPW labels: the rebuild, into a new folder, gave the same counts, so my old guess that the builder ran before the fits finished is wrong. The builder skips every frame without an image file. So I re-extracted the image folders of the eight affected sequences on 16 October: captureSelfies_00 had 480 of 750 files; for the other seven the counts before were not recorded. The second rebuild, job 3581320, confirmed it: train rose from 4,451 to 6,437 label images and validation from 2,458 to 2,777, exactly what the fits imply; test stayed at 9,722. Those labels still had the reversed gender and the missing second person. Gender and the frame grid are different: men to 0 and, by Anny's convention, women to 1, and both people's frames on one shared grid. Both happen inside the fit, so all 87 conversion tasks were fitted again, into a new folder, because the task script skips every person that already has a file; the task script now refuses to mix old and new fits. That was an 87-task array job: about 28 GPU hours at the measured 4.4 seconds per frame (the 17 October test, on an H100), done on 18 October. The rebuilt labels have 16,694 images with 22,749 people, and the check on them confirms both fixes: flipping the gender now makes the fit worse, and no two-person image misses a person.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and two flipped hand bones were about half the finger error; a fixed correction turns them back. The 3DPW labels had three defects; a re-fit fixed them, and the new labels pass the check with a warning (slide 6). And the final model, with all fixes together, keeps every fix against its own control: the root error is 48 percent lower, neck02 is 4.8 degrees, the fingers 8.3, PA-PVE 50.3 against 56.4 millimetres, and on the 3DPW test the PVE is 89.0 against 91.5, against 95.5 for v9, the previous best, and 121.8 for v5 (slide 16). What I do not claim: results proven over several seeds, since each arm ran once; why the bones flipped; better children; correct depth for near and far people, since the slope is still 0.42; fixes without a cost, since recall is 2 points below the control and 3 below v5; that the fixes made most of the 3DPW gain, because training on 3DPW at all did most of it and the fixes add 2.5 millimetres; and a gender number for the final model: on real photos men now look male, but only by eye (slide 17). On last week's question, v9 now or the labels first: I went ahead with the labels first, then fine-tuned v5; that is the final model. My question now: do I write up, or also add weak age labels for children, which is one to two weeks of work?</a:t>
            </a:r>
          </a:p>
          <a:p>
            <a:endParaRPr lang="en-US" dirty="0"/>
          </a:p>
          <a:p>
            <a:r>
              <a:rPr lang="en-US" dirty="0"/>
              <a:t>If asked:</a:t>
            </a:r>
          </a:p>
          <a:p>
            <a:r>
              <a:rPr lang="en-US" dirty="0"/>
              <a:t>- Depth fix: it does not separate near and far people well; the slope is 0.42 in the final model, against 0.28 for its control and 0.33 for v5. Its cost is now measured in the final model against its control: PVE 3.7 millimetres better, inside the noise, and recall 2 points lower, at the noise limit; against v5, recall is 3.2 points lower, and I state that as a real cost. In the pilots, every fix run was worse than its control, by 2.6 to 4.9 millimetres PVE and 1.6 to 2.4 recall points.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In the 10-epoch final model it holds: neck02 4.8 degrees, thickness 1.00, head direction 13.1 against 13.0 for its control, so the 14.4 did not repeat. One run per arm without a seed is not proof; the holdout renders of the correction without training show normal neck width, and in a first real-image demo the 2-epoch model's necks look normal in the 8 of its 12 images I have seen, judged by eye only; there is no neck metric on real images.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and the final model keeps 8.3 against 17.4 for its control; I have not looked at the hands, so I do not claim better-looking fingers.</a:t>
            </a:r>
          </a:p>
          <a:p>
            <a:r>
              <a:rPr lang="en-US" dirty="0"/>
              <a:t>- 3DPW labels: 6 train sequences, part of a seventh, and one validation sequence had no labels, because their image files were missing on the cluster. On 16 October I re-extracted them, and a second rebuild, job 3581320, brought the labels back. The re-fit fixed gender and the missing second person on 18 October; the check on the new labels confirms both: flipping the gender now makes the fit worse, and no two-person image misses a person. In the 3DPW labels the head, neck02 and neck03 stay at rest; only neck01 turns. Age is fixed at 0.55. The remaining warnings are the limb proportions and the hip joint, where Anny and SMPL differ.</a:t>
            </a:r>
          </a:p>
          <a:p>
            <a:r>
              <a:rPr lang="en-US" dirty="0"/>
              <a:t>- 3DPW test, all on the corrected labels: PVE v5 121.8, the 2-epoch neck model 120.2, v9 epoch 62 95.5, control 91.5, final model 89.0; the final model also finds more 3DPW people than v9, 99 percent against 94. The old numbers, v9 102.5 and v5 119.1, measured on the old labels, are retired.</a:t>
            </a:r>
          </a:p>
          <a:p>
            <a:r>
              <a:rPr lang="en-US" dirty="0"/>
              <a:t>- Option 1, v9 now, which I did not choose: the fine-tune is about 1 to 2 hours of training; that is not measured with 3DPW batches, and the v9 script expects 8 to 10 minutes per epoch. From the v5 pilot I expected a drawn size of about 0.84 and a root error of about half a metre; the v5 final model reached 0.78 and 0.73 metres, at a cost of 2 recall points against its control. Five, not twenty, because the twenty-times 10-epoch run has no result yet. v9 is best on our old 3DPW-Anny labels, but those labels had the gender and two-person defects, so that score is not a clean measure; on the corrected labels v9 gets 95.5, behind the final model's 89.0. On the AnnyOne holdout v9 is not the best: 75.0 at epoch 62, the planned start, and 77.0 at epoch 149, against 70.5.</a:t>
            </a:r>
          </a:p>
          <a:p>
            <a:r>
              <a:rPr lang="en-US" dirty="0"/>
              <a:t>- Option 2, labels first, which I chose and did: the re-fit is done. Men to 0, women to 1 by Anny's convention, one shared frame grid, all 87 conversion tasks fitted again into a new folder, about 28 GPU hours at the measured 4.4 seconds per frame, finished on 18 October; the labels are rebuilt, 16,694 images, and the check on them passes with a warning (slide 6). Rebuilding the labels alone would not have been enough, because the gender and the frame choice are fixed inside the fit. The fine-tune after it started from v5 with v5's own bone fix and the depth fix, ran 10 epochs, and had a control run without the two fixes; both trained on 18 October, after a short smoke test of the whole recipe passed; the result is on slide 16. I chose this option because 3DPW is 30 percent of each batch, so a fine-tune on the old labels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 the final model does. A new flag can also leave out the eight 3DPW shape values that are constants, age 0.55 and seven at 0.5; it is off by default, and the final model has it off (slide 10). With it on, the 3DPW error can change for a reason unrelated to the two fixes.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19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3.jpg"/><Relationship Id="rId4" Type="http://schemas.openxmlformats.org/officeDocument/2006/relationships/image" Target="../media/image-8-3.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600" dirty="0">
                <a:solidFill>
                  <a:schemeClr val="bg2"/>
                </a:solidFill>
              </a:rPr>
              <a:t>One hidden depth bug found and partly fixed.</a:t>
            </a:r>
            <a:endParaRPr lang="en-US" sz="1800" dirty="0"/>
          </a:p>
          <a:p>
            <a:pPr algn="l" indent="0" marL="0">
              <a:buNone/>
            </a:pPr>
            <a:r>
              <a:rPr lang="en-US" sz="1600" dirty="0">
                <a:solidFill>
                  <a:schemeClr val="bg2"/>
                </a:solidFill>
              </a:rPr>
              <a:t>3DPW labels: three defects found and fixed.</a:t>
            </a:r>
            <a:endParaRPr lang="en-US" sz="1800" dirty="0"/>
          </a:p>
          <a:p>
            <a:pPr algn="l" indent="0" marL="0">
              <a:buNone/>
            </a:pPr>
            <a:r>
              <a:rPr lang="en-US" sz="1600" dirty="0">
                <a:solidFill>
                  <a:schemeClr val="bg2"/>
                </a:solidFill>
              </a:rPr>
              <a:t>Neck: two bones turned half a turn; a pilot fix passes (one run).</a:t>
            </a:r>
            <a:endParaRPr lang="en-US" sz="1800" dirty="0"/>
          </a:p>
          <a:p>
            <a:pPr algn="l" indent="0" marL="0">
              <a:buNone/>
            </a:pPr>
            <a:r>
              <a:rPr lang="en-US" sz="1600" dirty="0">
                <a:solidFill>
                  <a:schemeClr val="bg2"/>
                </a:solidFill>
              </a:rPr>
              <a:t>Fingers: half the error was two flipped bones. Children: open.</a:t>
            </a:r>
            <a:endParaRPr lang="en-US" sz="1800" dirty="0"/>
          </a:p>
          <a:p>
            <a:pPr algn="l" indent="0" marL="0">
              <a:buNone/>
            </a:pPr>
            <a:r>
              <a:rPr lang="en-US" sz="1600" dirty="0">
                <a:solidFill>
                  <a:schemeClr val="bg2"/>
                </a:solidFill>
              </a:rPr>
              <a:t>Final model: all fixes hold together; recall costs 2 points.</a:t>
            </a:r>
            <a:endParaRPr lang="en-US" sz="1800" dirty="0"/>
          </a:p>
          <a:p>
            <a:pPr algn="l" indent="0" marL="0">
              <a:spcBef>
                <a:spcPts val="600"/>
              </a:spcBef>
              <a:buNone/>
            </a:pPr>
            <a:r>
              <a:rPr lang="en-US" sz="1400" dirty="0">
                <a:solidFill>
                  <a:srgbClr val="9AA5B4"/>
                </a:solidFill>
              </a:rPr>
              <a:t>Saad Najib, supervisor update, 19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 on real images by eye only).</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three defects found and fixed</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14.1 mm (p95 21.1; was 18.7),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16.1 mm (was 18.9 / 18.3), nearest point, so a lower bound.</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11.5 px median, only +0.4 px over raw 3DPW (11.1 px); was +1.1.</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22,912 frames; mean joint error per frame: median 14.0 mm, max 79.8 mm.</a:t>
            </a:r>
            <a:endParaRPr lang="en-US" sz="1100" dirty="0"/>
          </a:p>
        </p:txBody>
      </p:sp>
      <p:sp>
        <p:nvSpPr>
          <p:cNvPr id="7" name="ev Defects: fixed"/>
          <p:cNvSpPr/>
          <p:nvPr/>
        </p:nvSpPr>
        <p:spPr>
          <a:xfrm>
            <a:off x="3246120" y="1143000"/>
            <a:ext cx="2651760" cy="3200400"/>
          </a:xfrm>
          <a:prstGeom prst="roundRect">
            <a:avLst>
              <a:gd name="adj" fmla="val 2759"/>
            </a:avLst>
          </a:prstGeom>
          <a:solidFill>
            <a:srgbClr val="E6F4EA"/>
          </a:solidFill>
          <a:ln w="12700">
            <a:solidFill>
              <a:srgbClr val="E6F4EA"/>
            </a:solidFill>
            <a:prstDash val="solid"/>
          </a:ln>
        </p:spPr>
      </p:sp>
      <p:sp>
        <p:nvSpPr>
          <p:cNvPr id="8" name="ev dot Defects: fixed"/>
          <p:cNvSpPr/>
          <p:nvPr/>
        </p:nvSpPr>
        <p:spPr>
          <a:xfrm>
            <a:off x="3401568" y="1280160"/>
            <a:ext cx="274320" cy="274320"/>
          </a:xfrm>
          <a:prstGeom prst="ellipse">
            <a:avLst/>
          </a:prstGeom>
          <a:solidFill>
            <a:schemeClr val="accent3"/>
          </a:solidFill>
          <a:ln w="12700">
            <a:solidFill>
              <a:schemeClr val="accent3"/>
            </a:solidFill>
            <a:prstDash val="solid"/>
          </a:ln>
        </p:spPr>
      </p:sp>
      <p:sp>
        <p:nvSpPr>
          <p:cNvPr id="9" name="ev head Defects: fixed"/>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Defects: fixed</a:t>
            </a:r>
            <a:endParaRPr lang="en-US" sz="1500" dirty="0"/>
          </a:p>
        </p:txBody>
      </p:sp>
      <p:sp>
        <p:nvSpPr>
          <p:cNvPr id="10" name="ev body Defects: fixed"/>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a:t>
            </a:r>
            <a:r>
              <a:rPr lang="en-US" sz="1100" dirty="0">
                <a:solidFill>
                  <a:schemeClr val="tx1"/>
                </a:solidFill>
              </a:rPr>
              <a:t>was reversed (men 1, women 0); now men 0, women 1, Anny's convention. Flipping it now makes the fit worse: men 13.9 → 20.0 mm (was better for 72 of 73).</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one actor unlabelled in 407 of 960 → 0 of 1,080: both people now share one frame grid.</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image files missing; re-extracted 16 Oct. New labels: 16,694 images, 22,749 people (fewer images, same people).</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every label;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19.3° in SMPL, 19.6° in the labels (median); was 9.5°.</a:t>
            </a:r>
            <a:endParaRPr lang="en-US" sz="1100" dirty="0"/>
          </a:p>
          <a:p>
            <a:pPr marL="177800" indent="-177800">
              <a:spcAft>
                <a:spcPts val="400"/>
              </a:spcAft>
              <a:buSzPct val="100000"/>
              <a:buChar char="•"/>
            </a:pPr>
            <a:r>
              <a:rPr lang="en-US" sz="1100" b="1" dirty="0">
                <a:solidFill>
                  <a:schemeClr val="tx1"/>
                </a:solidFill>
              </a:rPr>
              <a:t>Overall WARN (was FAIL): </a:t>
            </a:r>
            <a:r>
              <a:rPr lang="en-US" sz="1100" dirty="0">
                <a:solidFill>
                  <a:schemeClr val="tx1"/>
                </a:solidFill>
              </a:rPr>
              <a:t>limb-length ratios, forearm 0.948, thigh 1.064 Anny/SMPL; FAIL in validation only (forearm 0.877).</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left hip, climbing_02). Train alone: 5.5%,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check_3dpw_conversion.sh, job 3611284 on the re-fit labels (old labels: 3575369); 3,314 people, 2,360 images, 59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Next slide: the fix alone on a holdout image; fix + fine-tune on a real 3DPW frame.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Final model, 10 epochs (slide 16): </a:t>
            </a:r>
            <a:r>
              <a:rPr lang="en-US" sz="1200" dirty="0">
                <a:solidFill>
                  <a:schemeClr val="tx1"/>
                </a:solidFill>
              </a:rPr>
              <a:t>neck02 4.8°, head 8.9°, thickness 1.00, neck-skin error 11.0 mm, head direction 13.1°.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fix</a:t>
            </a:r>
            <a:endParaRPr lang="en-US" sz="2700" dirty="0"/>
          </a:p>
        </p:txBody>
      </p:sp>
      <p:sp>
        <p:nvSpPr>
          <p:cNvPr id="3" name="neck header 0"/>
          <p:cNvSpPr txBox="1"/>
          <p:nvPr/>
        </p:nvSpPr>
        <p:spPr>
          <a:xfrm>
            <a:off x="457200" y="1097280"/>
            <a:ext cx="2061459"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as trained</a:t>
            </a:r>
            <a:endParaRPr lang="en-US" sz="1600" dirty="0"/>
          </a:p>
        </p:txBody>
      </p:sp>
      <p:pic>
        <p:nvPicPr>
          <p:cNvPr id="4" name="figure neck_before_after_v5.jpg before" descr="Synthetic holdout image 579862, v5 as trained: thin necks">    </p:cNvPr>
          <p:cNvPicPr>
            <a:picLocks noChangeAspect="1"/>
          </p:cNvPicPr>
          <p:nvPr/>
        </p:nvPicPr>
        <p:blipFill>
          <a:blip r:embed="rId1"/>
          <a:srcRect l="80" r="50638" t="4562" b="49106"/>
          <a:stretch/>
        </p:blipFill>
        <p:spPr>
          <a:xfrm>
            <a:off x="457200" y="1554480"/>
            <a:ext cx="2061459" cy="1727889"/>
          </a:xfrm>
          <a:prstGeom prst="rect">
            <a:avLst/>
          </a:prstGeom>
        </p:spPr>
      </p:pic>
      <p:sp>
        <p:nvSpPr>
          <p:cNvPr id="5" name="neck ring holdout before 0"/>
          <p:cNvSpPr/>
          <p:nvPr/>
        </p:nvSpPr>
        <p:spPr>
          <a:xfrm>
            <a:off x="852025" y="2039369"/>
            <a:ext cx="237744" cy="237744"/>
          </a:xfrm>
          <a:prstGeom prst="ellipse">
            <a:avLst/>
          </a:prstGeom>
          <a:noFill/>
          <a:ln w="25400">
            <a:solidFill>
              <a:srgbClr val="F4C95D"/>
            </a:solidFill>
            <a:prstDash val="solid"/>
          </a:ln>
        </p:spPr>
      </p:sp>
      <p:sp>
        <p:nvSpPr>
          <p:cNvPr id="6" name="neck ring holdout before 1"/>
          <p:cNvSpPr/>
          <p:nvPr/>
        </p:nvSpPr>
        <p:spPr>
          <a:xfrm>
            <a:off x="1936125" y="2382945"/>
            <a:ext cx="237744" cy="237744"/>
          </a:xfrm>
          <a:prstGeom prst="ellipse">
            <a:avLst/>
          </a:prstGeom>
          <a:noFill/>
          <a:ln w="25400">
            <a:solidFill>
              <a:srgbClr val="F4C95D"/>
            </a:solidFill>
            <a:prstDash val="solid"/>
          </a:ln>
        </p:spPr>
      </p:sp>
      <p:sp>
        <p:nvSpPr>
          <p:cNvPr id="7" name="neck header 1"/>
          <p:cNvSpPr txBox="1"/>
          <p:nvPr/>
        </p:nvSpPr>
        <p:spPr>
          <a:xfrm>
            <a:off x="2573523" y="1097280"/>
            <a:ext cx="2061459"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a:p>
            <a:pPr algn="ctr" indent="0" marL="0">
              <a:buNone/>
            </a:pPr>
            <a:r>
              <a:rPr lang="en-US" sz="1100" dirty="0">
                <a:solidFill>
                  <a:srgbClr val="FFFFFF"/>
                </a:solidFill>
              </a:rPr>
              <a:t>no training</a:t>
            </a:r>
            <a:endParaRPr lang="en-US" sz="1600" dirty="0"/>
          </a:p>
        </p:txBody>
      </p:sp>
      <p:pic>
        <p:nvPicPr>
          <p:cNvPr id="8" name="figure neck_before_after_v5.jpg after" descr="Synthetic holdout image 579862, v5 with the correction on neck02 and the head, no training: normal neck width">    </p:cNvPr>
          <p:cNvPicPr>
            <a:picLocks noChangeAspect="1"/>
          </p:cNvPicPr>
          <p:nvPr/>
        </p:nvPicPr>
        <p:blipFill>
          <a:blip r:embed="rId2"/>
          <a:srcRect l="50638" r="80" t="4562" b="49106"/>
          <a:stretch/>
        </p:blipFill>
        <p:spPr>
          <a:xfrm>
            <a:off x="2573523" y="1554480"/>
            <a:ext cx="2061459" cy="1727889"/>
          </a:xfrm>
          <a:prstGeom prst="rect">
            <a:avLst/>
          </a:prstGeom>
        </p:spPr>
      </p:pic>
      <p:sp>
        <p:nvSpPr>
          <p:cNvPr id="9" name="neck ring holdout after 0"/>
          <p:cNvSpPr/>
          <p:nvPr/>
        </p:nvSpPr>
        <p:spPr>
          <a:xfrm>
            <a:off x="2968348" y="2039369"/>
            <a:ext cx="237744" cy="237744"/>
          </a:xfrm>
          <a:prstGeom prst="ellipse">
            <a:avLst/>
          </a:prstGeom>
          <a:noFill/>
          <a:ln w="25400">
            <a:solidFill>
              <a:srgbClr val="F4C95D"/>
            </a:solidFill>
            <a:prstDash val="solid"/>
          </a:ln>
        </p:spPr>
      </p:sp>
      <p:sp>
        <p:nvSpPr>
          <p:cNvPr id="10" name="neck ring holdout after 1"/>
          <p:cNvSpPr/>
          <p:nvPr/>
        </p:nvSpPr>
        <p:spPr>
          <a:xfrm>
            <a:off x="4052448" y="2382945"/>
            <a:ext cx="237744" cy="237744"/>
          </a:xfrm>
          <a:prstGeom prst="ellipse">
            <a:avLst/>
          </a:prstGeom>
          <a:noFill/>
          <a:ln w="25400">
            <a:solidFill>
              <a:srgbClr val="F4C95D"/>
            </a:solidFill>
            <a:prstDash val="solid"/>
          </a:ln>
        </p:spPr>
      </p:sp>
      <p:sp>
        <p:nvSpPr>
          <p:cNvPr id="11" name="neck header 2"/>
          <p:cNvSpPr txBox="1"/>
          <p:nvPr/>
        </p:nvSpPr>
        <p:spPr>
          <a:xfrm>
            <a:off x="4909302" y="1097280"/>
            <a:ext cx="1861317" cy="457200"/>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a:p>
            <a:pPr algn="ctr" indent="0" marL="0">
              <a:buNone/>
            </a:pPr>
            <a:r>
              <a:rPr lang="en-US" sz="1100" dirty="0">
                <a:solidFill>
                  <a:srgbClr val="FFFFFF"/>
                </a:solidFill>
              </a:rPr>
              <a:t>real image</a:t>
            </a:r>
            <a:endParaRPr lang="en-US" sz="1600" dirty="0"/>
          </a:p>
        </p:txBody>
      </p:sp>
      <p:pic>
        <p:nvPicPr>
          <p:cNvPr id="12" name="figure neck_before_after_3dpw_bar.jpg before" descr="3DPW test image downtown_bar_00 frame 701, v5: thin necks">    </p:cNvPr>
          <p:cNvPicPr>
            <a:picLocks noChangeAspect="1"/>
          </p:cNvPicPr>
          <p:nvPr/>
        </p:nvPicPr>
        <p:blipFill>
          <a:blip r:embed="rId3"/>
          <a:srcRect l="88" r="50705" t="8947" b="176"/>
          <a:stretch/>
        </p:blipFill>
        <p:spPr>
          <a:xfrm>
            <a:off x="4909302" y="1554480"/>
            <a:ext cx="1861317" cy="1727889"/>
          </a:xfrm>
          <a:prstGeom prst="rect">
            <a:avLst/>
          </a:prstGeom>
        </p:spPr>
      </p:pic>
      <p:sp>
        <p:nvSpPr>
          <p:cNvPr id="13" name="neck ring bar before 0"/>
          <p:cNvSpPr/>
          <p:nvPr/>
        </p:nvSpPr>
        <p:spPr>
          <a:xfrm>
            <a:off x="5264098" y="1839227"/>
            <a:ext cx="237744" cy="237744"/>
          </a:xfrm>
          <a:prstGeom prst="ellipse">
            <a:avLst/>
          </a:prstGeom>
          <a:noFill/>
          <a:ln w="25400">
            <a:solidFill>
              <a:srgbClr val="F4C95D"/>
            </a:solidFill>
            <a:prstDash val="solid"/>
          </a:ln>
        </p:spPr>
      </p:sp>
      <p:sp>
        <p:nvSpPr>
          <p:cNvPr id="14" name="neck ring bar before 1"/>
          <p:cNvSpPr/>
          <p:nvPr/>
        </p:nvSpPr>
        <p:spPr>
          <a:xfrm>
            <a:off x="5901216" y="1839227"/>
            <a:ext cx="237744" cy="237744"/>
          </a:xfrm>
          <a:prstGeom prst="ellipse">
            <a:avLst/>
          </a:prstGeom>
          <a:noFill/>
          <a:ln w="25400">
            <a:solidFill>
              <a:srgbClr val="F4C95D"/>
            </a:solidFill>
            <a:prstDash val="solid"/>
          </a:ln>
        </p:spPr>
      </p:sp>
      <p:sp>
        <p:nvSpPr>
          <p:cNvPr id="15" name="neck header 3"/>
          <p:cNvSpPr txBox="1"/>
          <p:nvPr/>
        </p:nvSpPr>
        <p:spPr>
          <a:xfrm>
            <a:off x="6825483" y="1097280"/>
            <a:ext cx="1861317" cy="457200"/>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(fixed model)</a:t>
            </a:r>
            <a:endParaRPr lang="en-US" sz="1600" dirty="0"/>
          </a:p>
          <a:p>
            <a:pPr algn="ctr" indent="0" marL="0">
              <a:buNone/>
            </a:pPr>
            <a:r>
              <a:rPr lang="en-US" sz="1100" dirty="0">
                <a:solidFill>
                  <a:srgbClr val="FFFFFF"/>
                </a:solidFill>
              </a:rPr>
              <a:t>fix + 2-epoch fine-tune</a:t>
            </a:r>
            <a:endParaRPr lang="en-US" sz="1600" dirty="0"/>
          </a:p>
        </p:txBody>
      </p:sp>
      <p:pic>
        <p:nvPicPr>
          <p:cNvPr id="16" name="figure neck_before_after_3dpw_bar.jpg after" descr="3DPW test image downtown_bar_00 frame 701, fixed model after the 2-epoch fine-tune: normal neck width">    </p:cNvPr>
          <p:cNvPicPr>
            <a:picLocks noChangeAspect="1"/>
          </p:cNvPicPr>
          <p:nvPr/>
        </p:nvPicPr>
        <p:blipFill>
          <a:blip r:embed="rId4"/>
          <a:srcRect l="50705" r="88" t="8947" b="176"/>
          <a:stretch/>
        </p:blipFill>
        <p:spPr>
          <a:xfrm>
            <a:off x="6825483" y="1554480"/>
            <a:ext cx="1861317" cy="1727889"/>
          </a:xfrm>
          <a:prstGeom prst="rect">
            <a:avLst/>
          </a:prstGeom>
        </p:spPr>
      </p:pic>
      <p:sp>
        <p:nvSpPr>
          <p:cNvPr id="17" name="neck ring bar after 0"/>
          <p:cNvSpPr/>
          <p:nvPr/>
        </p:nvSpPr>
        <p:spPr>
          <a:xfrm>
            <a:off x="7180279" y="1839227"/>
            <a:ext cx="237744" cy="237744"/>
          </a:xfrm>
          <a:prstGeom prst="ellipse">
            <a:avLst/>
          </a:prstGeom>
          <a:noFill/>
          <a:ln w="25400">
            <a:solidFill>
              <a:srgbClr val="F4C95D"/>
            </a:solidFill>
            <a:prstDash val="solid"/>
          </a:ln>
        </p:spPr>
      </p:sp>
      <p:sp>
        <p:nvSpPr>
          <p:cNvPr id="18" name="neck ring bar after 1"/>
          <p:cNvSpPr/>
          <p:nvPr/>
        </p:nvSpPr>
        <p:spPr>
          <a:xfrm>
            <a:off x="7817397" y="1839227"/>
            <a:ext cx="237744" cy="237744"/>
          </a:xfrm>
          <a:prstGeom prst="ellipse">
            <a:avLst/>
          </a:prstGeom>
          <a:noFill/>
          <a:ln w="25400">
            <a:solidFill>
              <a:srgbClr val="F4C95D"/>
            </a:solidFill>
            <a:prstDash val="solid"/>
          </a:ln>
        </p:spPr>
      </p:sp>
      <p:sp>
        <p:nvSpPr>
          <p:cNvPr id="19" name="neck caption holdout"/>
          <p:cNvSpPr txBox="1"/>
          <p:nvPr/>
        </p:nvSpPr>
        <p:spPr>
          <a:xfrm>
            <a:off x="457200" y="3337233"/>
            <a:ext cx="4177782" cy="201168"/>
          </a:xfrm>
          <a:prstGeom prst="rect">
            <a:avLst/>
          </a:prstGeom>
          <a:noFill/>
          <a:ln/>
        </p:spPr>
        <p:txBody>
          <a:bodyPr wrap="square" lIns="0" tIns="0" rIns="0" bIns="0" rtlCol="0" anchor="t"/>
          <a:lstStyle/>
          <a:p>
            <a:pPr indent="0" marL="0">
              <a:buNone/>
            </a:pPr>
            <a:r>
              <a:rPr lang="en-US" sz="1100" dirty="0">
                <a:solidFill>
                  <a:schemeClr val="tx1"/>
                </a:solidFill>
              </a:rPr>
              <a:t>Synthetic holdout 579862 (correction only, no training)</a:t>
            </a:r>
            <a:endParaRPr lang="en-US" sz="1100" dirty="0"/>
          </a:p>
        </p:txBody>
      </p:sp>
      <p:sp>
        <p:nvSpPr>
          <p:cNvPr id="20" name="neck caption bar"/>
          <p:cNvSpPr txBox="1"/>
          <p:nvPr/>
        </p:nvSpPr>
        <p:spPr>
          <a:xfrm>
            <a:off x="4909302" y="3337233"/>
            <a:ext cx="3777498" cy="201168"/>
          </a:xfrm>
          <a:prstGeom prst="rect">
            <a:avLst/>
          </a:prstGeom>
          <a:noFill/>
          <a:ln/>
        </p:spPr>
        <p:txBody>
          <a:bodyPr wrap="square" lIns="0" tIns="0" rIns="0" bIns="0" rtlCol="0" anchor="t"/>
          <a:lstStyle/>
          <a:p>
            <a:pPr indent="0" marL="0">
              <a:buNone/>
            </a:pPr>
            <a:r>
              <a:rPr lang="en-US" sz="1100" dirty="0">
                <a:solidFill>
                  <a:schemeClr val="tx1"/>
                </a:solidFill>
              </a:rPr>
              <a:t>3DPW test frame (real, never trained on), downtown_bar_00</a:t>
            </a:r>
            <a:endParaRPr lang="en-US" sz="1100" dirty="0"/>
          </a:p>
        </p:txBody>
      </p:sp>
      <p:sp>
        <p:nvSpPr>
          <p:cNvPr id="21" name="neck figure caption"/>
          <p:cNvSpPr txBox="1"/>
          <p:nvPr/>
        </p:nvSpPr>
        <p:spPr>
          <a:xfrm>
            <a:off x="457200" y="3611553"/>
            <a:ext cx="8229600" cy="365760"/>
          </a:xfrm>
          <a:prstGeom prst="rect">
            <a:avLst/>
          </a:prstGeom>
          <a:noFill/>
          <a:ln/>
        </p:spPr>
        <p:txBody>
          <a:bodyPr wrap="square" lIns="0" tIns="0" rIns="0" bIns="0" rtlCol="0" anchor="t"/>
          <a:lstStyle/>
          <a:p>
            <a:pPr indent="0" marL="0">
              <a:buNone/>
            </a:pPr>
            <a:r>
              <a:rPr lang="en-US" sz="1100" dirty="0">
                <a:solidFill>
                  <a:schemeClr val="tx1"/>
                </a:solidFill>
              </a:rPr>
              <a:t>Left: same model, no training; on the neck, only neck02 and the head are corrected. Right: fixed model, fine-tuned 2 epochs.</a:t>
            </a:r>
            <a:endParaRPr lang="en-US" sz="1100" dirty="0"/>
          </a:p>
          <a:p>
            <a:pPr indent="0" marL="0">
              <a:buNone/>
            </a:pPr>
            <a:r>
              <a:rPr lang="en-US" sz="1100" dirty="0">
                <a:solidFill>
                  <a:schemeClr val="tx1"/>
                </a:solidFill>
              </a:rPr>
              <a:t>Neck skin thickness on the 100-image holdout: 0.46 → 1.00 of the true value (job 3579014). Real-image demo: job 3581312.</a:t>
            </a:r>
            <a:endParaRPr lang="en-US" sz="1100" dirty="0"/>
          </a:p>
        </p:txBody>
      </p:sp>
      <p:sp>
        <p:nvSpPr>
          <p:cNvPr id="22" name="neck figure footnote"/>
          <p:cNvSpPr txBox="1"/>
          <p:nvPr/>
        </p:nvSpPr>
        <p:spPr>
          <a:xfrm>
            <a:off x="457200" y="4050465"/>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Holdout bodies are still too small (separate depth bug). Real images judged by eye only: no neck ground truth,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2-epoch pilot and 10-epoch final model (controls 17.4°)"/>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2-epoch pilot and 10-epoch final model (controls 17.4°)"/>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2-epoch pilot and 10-epoch final model (controls 17.4°)</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unproven after 2 epoch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unproven after 2 epoch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unproven after 2 epochs</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127 real children vs 821 adults (Relative Human val); separation AUC 0.61"/>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0.61 vs 0.63</a:t>
            </a:r>
            <a:endParaRPr lang="en-US" sz="4000" dirty="0"/>
          </a:p>
        </p:txBody>
      </p:sp>
      <p:sp>
        <p:nvSpPr>
          <p:cNvPr id="8" name="label predicted age of 127 real children vs 821 adults (Relative Human val); separation AUC 0.61"/>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127 real children vs 821 adults (Relative Human val); separation AUC 0.61</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no shape output is clamped; training babies come out child-like, but too old. True shape: 10 training children 47.8 → 41.6 mm.</a:t>
            </a:r>
            <a:endParaRPr lang="en-US" sz="1200" dirty="0"/>
          </a:p>
          <a:p>
            <a:pPr marL="177800" indent="-177800">
              <a:spcAft>
                <a:spcPts val="300"/>
              </a:spcAft>
              <a:buSzPct val="100000"/>
              <a:buChar char="•"/>
            </a:pPr>
            <a:r>
              <a:rPr lang="en-US" sz="1200" b="1" dirty="0">
                <a:solidFill>
                  <a:schemeClr val="tx1"/>
                </a:solidFill>
              </a:rPr>
              <a:t>Children are read as short adults: </a:t>
            </a:r>
            <a:r>
              <a:rPr lang="en-US" sz="1200" dirty="0">
                <a:solidFill>
                  <a:schemeClr val="tx1"/>
                </a:solidFill>
              </a:rPr>
              <a:t>height 0.45 kid / 0.39 baby vs 0.51 adult; age unchanged (Relative Human val).</a:t>
            </a:r>
            <a:endParaRPr lang="en-US" sz="1200" dirty="0"/>
          </a:p>
          <a:p>
            <a:pPr marL="177800" indent="-177800">
              <a:spcAft>
                <a:spcPts val="300"/>
              </a:spcAft>
              <a:buSzPct val="100000"/>
              <a:buChar char="•"/>
            </a:pPr>
            <a:r>
              <a:rPr lang="en-US" sz="1200" b="1" dirty="0">
                <a:solidFill>
                  <a:schemeClr val="tx1"/>
                </a:solidFill>
              </a:rPr>
              <a:t>Gender: </a:t>
            </a:r>
            <a:r>
              <a:rPr lang="en-US" sz="1200" dirty="0">
                <a:solidFill>
                  <a:schemeClr val="tx1"/>
                </a:solidFill>
              </a:rPr>
              <a:t>men 0.535, women 0.551: no gender signal on real photos.</a:t>
            </a:r>
            <a:endParaRPr lang="en-US" sz="1200" dirty="0"/>
          </a:p>
          <a:p>
            <a:pPr marL="177800" indent="-177800">
              <a:spcAft>
                <a:spcPts val="300"/>
              </a:spcAft>
              <a:buSzPct val="100000"/>
              <a:buChar char="•"/>
            </a:pPr>
            <a:r>
              <a:rPr lang="en-US" sz="1200" b="1" dirty="0">
                <a:solidFill>
                  <a:schemeClr val="tx1"/>
                </a:solidFill>
              </a:rPr>
              <a:t>Diagnosis: </a:t>
            </a:r>
            <a:r>
              <a:rPr lang="en-US" sz="1200" dirty="0">
                <a:solidFill>
                  <a:schemeClr val="tx1"/>
                </a:solidFill>
              </a:rPr>
              <a:t>the shape head falls back to the training median, in both synthetic tails and on real photos. 2-epoch sampler pilot: inconclusive. Domain gap or loss: not yet separable.</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synthetic child numbers are in-sample (no children in the holdout); real-photo numbers cover detected people only (47%). Ages are Anny's 0–1 value, not years.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a:p>
            <a:pPr marL="177800" indent="-177800">
              <a:spcAft>
                <a:spcPts val="300"/>
              </a:spcAft>
              <a:buSzPct val="100000"/>
              <a:buChar char="•"/>
            </a:pPr>
            <a:r>
              <a:rPr lang="en-US" sz="1200" b="1" dirty="0">
                <a:solidFill>
                  <a:schemeClr val="tx1"/>
                </a:solidFill>
              </a:rPr>
              <a:t>Final model (slide 16): </a:t>
            </a:r>
            <a:r>
              <a:rPr lang="en-US" sz="1200" dirty="0">
                <a:solidFill>
                  <a:schemeClr val="tx1"/>
                </a:solidFill>
              </a:rPr>
              <a:t>×5 plus the bone fix, 30% real 3DPW, 10 epochs: root error 0.73 m vs 1.40 m for its own control (v5 1.21 m), size 0.78 vs 0.59, slope 0.42 vs 0.28.</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Inconclusive after 2 epochs: 10 training children 48.5 vs 53.1 mm (both arms: age loss ×3, height ×2). v5 on 127 real children (Relative Human): adult age, AUC 0.61 (slide 10)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 All fixes together, against a control: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all fixes together, with a control</a:t>
            </a:r>
            <a:endParaRPr lang="en-US" sz="2700" dirty="0"/>
          </a:p>
        </p:txBody>
      </p:sp>
      <p:graphicFrame>
        <p:nvGraphicFramePr>
          <p:cNvPr id="17" name="final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2240280"/>
                <a:gridCol w="822960"/>
                <a:gridCol w="868680"/>
                <a:gridCol w="1005840"/>
              </a:tblGrid>
              <a:tr h="310896">
                <a:tc>
                  <a:txBody>
                    <a:bodyPr/>
                    <a:lstStyle/>
                    <a:p>
                      <a:pPr algn="l" indent="0" marL="0">
                        <a:buNone/>
                      </a:pPr>
                      <a:r>
                        <a:rPr lang="en-US" sz="1100" b="1" dirty="0">
                          <a:solidFill>
                            <a:srgbClr val="FFFFFF"/>
                          </a:solidFill>
                        </a:rPr>
                        <a:t>AnnyOne 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final model</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r>
              <a:tr h="237744">
                <a:tc>
                  <a:txBody>
                    <a:bodyPr/>
                    <a:lstStyle/>
                    <a:p>
                      <a:pPr algn="l" indent="0" marL="0">
                        <a:buNone/>
                      </a:pPr>
                      <a:r>
                        <a:rPr lang="en-US" sz="1200" b="1" dirty="0">
                          <a:solidFill>
                            <a:srgbClr val="1B2233"/>
                          </a:solidFill>
                        </a:rPr>
                        <a:t>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73.7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PA-PVE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53.3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56.4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50.3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recall</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E8792B"/>
                          </a:solidFill>
                        </a:rPr>
                        <a:t>87.0%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root error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728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size ratio (1 = right)</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0.63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0.59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0.78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neck02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175.8°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4.8°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neck girth (pred / true)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fingers (deg)</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17.4°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1B2233"/>
                          </a:solidFill>
                        </a:rPr>
                        <a:t>8.3°</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r h="237744">
                <a:tc>
                  <a:txBody>
                    <a:bodyPr/>
                    <a:lstStyle/>
                    <a:p>
                      <a:pPr algn="l" indent="0" marL="0">
                        <a:buNone/>
                      </a:pPr>
                      <a:r>
                        <a:rPr lang="en-US" sz="1200" b="1" dirty="0">
                          <a:solidFill>
                            <a:srgbClr val="1B2233"/>
                          </a:solidFill>
                        </a:rPr>
                        <a:t>3DPW test PVE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121.8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91.5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233"/>
                          </a:solidFill>
                        </a:rPr>
                        <a:t>89.0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r>
            </a:tbl>
          </a:graphicData>
        </a:graphic>
      </p:graphicFrame>
      <p:sp>
        <p:nvSpPr>
          <p:cNvPr id="4" name="final text"/>
          <p:cNvSpPr txBox="1"/>
          <p:nvPr/>
        </p:nvSpPr>
        <p:spPr>
          <a:xfrm>
            <a:off x="5623560" y="1143000"/>
            <a:ext cx="3063240" cy="2697480"/>
          </a:xfrm>
          <a:prstGeom prst="rect">
            <a:avLst/>
          </a:prstGeom>
          <a:noFill/>
          <a:ln/>
        </p:spPr>
        <p:txBody>
          <a:bodyPr wrap="square" lIns="0" tIns="0" rIns="0" bIns="0" rtlCol="0" anchor="t"/>
          <a:lstStyle/>
          <a:p>
            <a:pPr marL="177800" indent="-177800">
              <a:spcAft>
                <a:spcPts val="1000"/>
              </a:spcAft>
              <a:buSzPct val="100000"/>
              <a:buChar char="•"/>
            </a:pPr>
            <a:r>
              <a:rPr lang="en-US" sz="1400" b="1" dirty="0">
                <a:solidFill>
                  <a:schemeClr val="tx1"/>
                </a:solidFill>
              </a:rPr>
              <a:t>Fixes hold together: </a:t>
            </a:r>
            <a:r>
              <a:rPr lang="en-US" sz="1400" dirty="0">
                <a:solidFill>
                  <a:schemeClr val="tx1"/>
                </a:solidFill>
              </a:rPr>
              <a:t>neck02 4.8°, neck girth back to 1.00; root error −48%; finger error halved; PA-PVE 50.3 mm, the best of every model so far.</a:t>
            </a:r>
            <a:endParaRPr lang="en-US" sz="1400" dirty="0"/>
          </a:p>
          <a:p>
            <a:pPr marL="177800" indent="-177800">
              <a:spcAft>
                <a:spcPts val="1000"/>
              </a:spcAft>
              <a:buSzPct val="100000"/>
              <a:buChar char="•"/>
            </a:pPr>
            <a:r>
              <a:rPr lang="en-US" sz="1400" b="1" dirty="0">
                <a:solidFill>
                  <a:schemeClr val="tx1"/>
                </a:solidFill>
              </a:rPr>
              <a:t>The cost: </a:t>
            </a:r>
            <a:r>
              <a:rPr lang="en-US" sz="1400" dirty="0">
                <a:solidFill>
                  <a:schemeClr val="tx1"/>
                </a:solidFill>
              </a:rPr>
              <a:t>recall −2 points vs the control, −3 vs v5. PVE −3.7 mm vs the control: inside the noise. Depth slope still 0.42 (1 = perfect).</a:t>
            </a:r>
            <a:endParaRPr lang="en-US" sz="1400" dirty="0"/>
          </a:p>
        </p:txBody>
      </p:sp>
      <p:sp>
        <p:nvSpPr>
          <p:cNvPr id="5" name="final 3dpw line"/>
          <p:cNvSpPr txBox="1"/>
          <p:nvPr/>
        </p:nvSpPr>
        <p:spPr>
          <a:xfrm>
            <a:off x="457200" y="368503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3DPW test, corrected labels, 8,190 images: </a:t>
            </a:r>
            <a:r>
              <a:rPr lang="en-US" sz="1100" dirty="0">
                <a:solidFill>
                  <a:schemeClr val="tx1"/>
                </a:solidFill>
              </a:rPr>
              <a:t>v5 121.8 · v9 (old best) 95.5 · neck pilot 120.2 · control 91.5 · final 89.0 mm; final model finds 99% of people, v9 94%.</a:t>
            </a:r>
            <a:endParaRPr lang="en-US" sz="1100" dirty="0"/>
          </a:p>
        </p:txBody>
      </p:sp>
      <p:sp>
        <p:nvSpPr>
          <p:cNvPr id="6" name="final recipe"/>
          <p:cNvSpPr txBox="1"/>
          <p:nvPr/>
        </p:nvSpPr>
        <p:spPr>
          <a:xfrm>
            <a:off x="457200" y="4078224"/>
            <a:ext cx="8229600" cy="365760"/>
          </a:xfrm>
          <a:prstGeom prst="rect">
            <a:avLst/>
          </a:prstGeom>
          <a:noFill/>
          <a:ln/>
        </p:spPr>
        <p:txBody>
          <a:bodyPr wrap="square" lIns="0" tIns="0" rIns="0" bIns="0" rtlCol="0" anchor="t"/>
          <a:lstStyle/>
          <a:p>
            <a:pPr indent="0" marL="0">
              <a:buNone/>
            </a:pPr>
            <a:r>
              <a:rPr lang="en-US" sz="1100" dirty="0">
                <a:solidFill>
                  <a:schemeClr val="tx1"/>
                </a:solidFill>
              </a:rPr>
              <a:t>10 epochs, 40,000 images, 70% AnnyOne + 30% 3DPW-train (corrected labels); same recipe for both arms; one run each, no seed (noise ~7.6 mm PVE, ~2 recall points).</a:t>
            </a:r>
            <a:endParaRPr lang="en-US" sz="1100" dirty="0"/>
          </a:p>
        </p:txBody>
      </p:sp>
      <p:sp>
        <p:nvSpPr>
          <p:cNvPr id="7" name="final source"/>
          <p:cNvSpPr txBox="1"/>
          <p:nvPr/>
        </p:nvSpPr>
        <p:spPr>
          <a:xfrm>
            <a:off x="457200" y="4462272"/>
            <a:ext cx="8229600" cy="219456"/>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exp7, jobs 3611336 (final model) and 3611339 (control); v5, v9, neck pilot: jobs 3612073–75. Holdout: helper bones masked.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Final model on real photos: v5 vs final (by eye)</a:t>
            </a:r>
            <a:endParaRPr lang="en-US" sz="2700" dirty="0"/>
          </a:p>
        </p:txBody>
      </p:sp>
      <p:pic>
        <p:nvPicPr>
          <p:cNvPr id="3" name="figure final_model_real_photos.jpg" descr="Real photos, v5 (left) and the final model (right): a tennis photo and two 3DPW test frames; men get male bodies in the final model">    </p:cNvPr>
          <p:cNvPicPr>
            <a:picLocks noChangeAspect="1"/>
          </p:cNvPicPr>
          <p:nvPr/>
        </p:nvPicPr>
        <p:blipFill>
          <a:blip r:embed="rId1"/>
          <a:stretch>
            <a:fillRect/>
          </a:stretch>
        </p:blipFill>
        <p:spPr>
          <a:xfrm>
            <a:off x="457200" y="1097280"/>
            <a:ext cx="3594689" cy="3566160"/>
          </a:xfrm>
          <a:prstGeom prst="rect">
            <a:avLst/>
          </a:prstGeom>
        </p:spPr>
      </p:pic>
      <p:sp>
        <p:nvSpPr>
          <p:cNvPr id="4" name="real photos text"/>
          <p:cNvSpPr txBox="1"/>
          <p:nvPr/>
        </p:nvSpPr>
        <p:spPr>
          <a:xfrm>
            <a:off x="4344497" y="1143000"/>
            <a:ext cx="4342303" cy="2697480"/>
          </a:xfrm>
          <a:prstGeom prst="rect">
            <a:avLst/>
          </a:prstGeom>
          <a:noFill/>
          <a:ln/>
        </p:spPr>
        <p:txBody>
          <a:bodyPr wrap="square" lIns="0" tIns="0" rIns="0" bIns="0" rtlCol="0" anchor="t"/>
          <a:lstStyle/>
          <a:p>
            <a:pPr marL="177800" indent="-177800">
              <a:spcAft>
                <a:spcPts val="800"/>
              </a:spcAft>
              <a:buSzPct val="100000"/>
              <a:buChar char="•"/>
            </a:pPr>
            <a:r>
              <a:rPr lang="en-US" sz="1400" b="1" dirty="0">
                <a:solidFill>
                  <a:schemeClr val="tx1"/>
                </a:solidFill>
              </a:rPr>
              <a:t>Men look male: </a:t>
            </a:r>
            <a:r>
              <a:rPr lang="en-US" sz="1400" dirty="0">
                <a:solidFill>
                  <a:schemeClr val="tx1"/>
                </a:solidFill>
              </a:rPr>
              <a:t>tennis (3 of 4 men), walking, office, guitar: flat chest, broader shoulders. v5 gave them breasts.</a:t>
            </a:r>
            <a:endParaRPr lang="en-US" sz="1400" dirty="0"/>
          </a:p>
          <a:p>
            <a:pPr marL="177800" indent="-177800">
              <a:spcAft>
                <a:spcPts val="800"/>
              </a:spcAft>
              <a:buSzPct val="100000"/>
              <a:buChar char="•"/>
            </a:pPr>
            <a:r>
              <a:rPr lang="en-US" sz="1400" b="1" dirty="0">
                <a:solidFill>
                  <a:schemeClr val="tx1"/>
                </a:solidFill>
              </a:rPr>
              <a:t>Women stay female: </a:t>
            </a:r>
            <a:r>
              <a:rPr lang="en-US" sz="1400" dirty="0">
                <a:solidFill>
                  <a:schemeClr val="tx1"/>
                </a:solidFill>
              </a:rPr>
              <a:t>stage photo, weekly market.</a:t>
            </a:r>
            <a:endParaRPr lang="en-US" sz="1400" dirty="0"/>
          </a:p>
          <a:p>
            <a:pPr marL="177800" indent="-177800">
              <a:spcAft>
                <a:spcPts val="800"/>
              </a:spcAft>
              <a:buSzPct val="100000"/>
              <a:buChar char="•"/>
            </a:pPr>
            <a:r>
              <a:rPr lang="en-US" sz="1400" b="1" dirty="0">
                <a:solidFill>
                  <a:schemeClr val="tx1"/>
                </a:solidFill>
              </a:rPr>
              <a:t>Bodies a little larger: </a:t>
            </a:r>
            <a:r>
              <a:rPr lang="en-US" sz="1400" dirty="0">
                <a:solidFill>
                  <a:schemeClr val="tx1"/>
                </a:solidFill>
              </a:rPr>
              <a:t>size ratio 0.63 → 0.78 on the synthetic holdout (slide 16).</a:t>
            </a:r>
            <a:endParaRPr lang="en-US" sz="1400" dirty="0"/>
          </a:p>
          <a:p>
            <a:pPr marL="177800" indent="-177800">
              <a:spcAft>
                <a:spcPts val="800"/>
              </a:spcAft>
              <a:buSzPct val="100000"/>
              <a:buChar char="•"/>
            </a:pPr>
            <a:r>
              <a:rPr lang="en-US" sz="1400" b="1" dirty="0">
                <a:solidFill>
                  <a:schemeClr val="tx1"/>
                </a:solidFill>
              </a:rPr>
              <a:t>Unchanged: </a:t>
            </a:r>
            <a:r>
              <a:rPr lang="en-US" sz="1400" dirty="0">
                <a:solidFill>
                  <a:schemeClr val="tx1"/>
                </a:solidFill>
              </a:rPr>
              <a:t>the boy is still an adult body; placement offsets; ghost bodies on half-visible people; hard poses.</a:t>
            </a:r>
            <a:endParaRPr lang="en-US" sz="1400" dirty="0"/>
          </a:p>
          <a:p>
            <a:pPr marL="177800" indent="-177800">
              <a:spcAft>
                <a:spcPts val="800"/>
              </a:spcAft>
              <a:buSzPct val="100000"/>
              <a:buChar char="•"/>
            </a:pPr>
            <a:r>
              <a:rPr lang="en-US" sz="1400" b="1" dirty="0">
                <a:solidFill>
                  <a:schemeClr val="tx1"/>
                </a:solidFill>
              </a:rPr>
              <a:t>Gender on Relative Human: </a:t>
            </a:r>
            <a:r>
              <a:rPr lang="en-US" sz="1400" dirty="0">
                <a:solidFill>
                  <a:schemeClr val="tx1"/>
                </a:solidFill>
              </a:rPr>
              <a:t>pending (v5: 46.5%, chance).</a:t>
            </a:r>
            <a:endParaRPr lang="en-US" sz="1400" dirty="0"/>
          </a:p>
        </p:txBody>
      </p:sp>
      <p:sp>
        <p:nvSpPr>
          <p:cNvPr id="5" name="real photos source"/>
          <p:cNvSpPr txBox="1"/>
          <p:nvPr/>
        </p:nvSpPr>
        <p:spPr>
          <a:xfrm>
            <a:off x="4344497" y="3977640"/>
            <a:ext cx="4342303" cy="685800"/>
          </a:xfrm>
          <a:prstGeom prst="rect">
            <a:avLst/>
          </a:prstGeom>
          <a:noFill/>
          <a:ln/>
        </p:spPr>
        <p:txBody>
          <a:bodyPr wrap="square" lIns="0" tIns="0" rIns="0" bIns="0" rtlCol="0" anchor="b"/>
          <a:lstStyle/>
          <a:p>
            <a:pPr indent="0" marL="0">
              <a:buNone/>
            </a:pPr>
            <a:r>
              <a:rPr lang="en-US" sz="1100" b="1" dirty="0">
                <a:solidFill>
                  <a:srgbClr val="1B2233"/>
                </a:solidFill>
              </a:rPr>
              <a:t>Source: </a:t>
            </a:r>
            <a:r>
              <a:rPr lang="en-US" sz="1100" dirty="0">
                <a:solidFill>
                  <a:schemeClr val="tx2"/>
                </a:solidFill>
              </a:rPr>
              <a:t>demo job 3612078, 4 photos + 8 3DPW-test frames, never trained on. Shown: the tennis photo, downtown_walking_00, downtown_runForBus_00. Judged by eye; no metric.</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fix confirmed at 10 epochs</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real photos in training: neck02 4.8° (slide 16). Real images by eye only (slide 8).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0.42 in the final model</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Still far from 1; cause unknown. Next: measure training depths properly, and the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now measured</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Final model vs its control: PVE within noise, recall −2 points (−3 vs v5). Paired PVE not done; no ×20 result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v5 and the depth fix miss them (4 of 12 holdout renders): not the fix. Likely detection; not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Children: measured on Relative Human (AUC 0.61, read as short adults); decision: limitation or weak labels. Fingers: bone-fix hands, then larger crops.</a:t>
            </a:r>
            <a:endParaRPr lang="en-US" sz="1200" dirty="0"/>
          </a:p>
        </p:txBody>
      </p:sp>
      <p:sp>
        <p:nvSpPr>
          <p:cNvPr id="27" name="open 7"/>
          <p:cNvSpPr/>
          <p:nvPr/>
        </p:nvSpPr>
        <p:spPr>
          <a:xfrm>
            <a:off x="457200" y="3931920"/>
            <a:ext cx="457200" cy="457200"/>
          </a:xfrm>
          <a:prstGeom prst="ellipse">
            <a:avLst/>
          </a:prstGeom>
          <a:solidFill>
            <a:schemeClr val="accent3"/>
          </a:solidFill>
          <a:ln w="12700">
            <a:solidFill>
              <a:schemeClr val="accent3"/>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fixed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Missing labels fixed 16 Oct (images re-extracted). Re-fit of all 87 tasks (gender m → 0, f → 1; one shared frame grid) and re-check done 18 Oct: WARN (was FAIL), no actor missing. In use: the final model trained on them (slide 16).</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In all 8 v5-line checkpoints, neck02 and the head bone sit half a turn off; two flipped hand bones were half the finger error. 3DPW labels: three defects fixed by a re-fit (slide 6). The final model keeps every fix against its own control: root error −48%, neck02 4.8°, fingers 8.3°, PA-PVE 50.3 vs 56.4 mm, 3DPW test PVE 89.0 mm, best of all models (control 91.5, v9 95.5, v5 121.8; slide 16).</a:t>
            </a:r>
            <a:endParaRPr lang="en-US" sz="1500" dirty="0"/>
          </a:p>
          <a:p>
            <a:pPr algn="l" indent="0" marL="0">
              <a:buNone/>
            </a:pPr>
            <a:r>
              <a:rPr lang="en-US" sz="1500" b="1" dirty="0">
                <a:solidFill>
                  <a:srgbClr val="F4C95D"/>
                </a:solidFill>
              </a:rPr>
              <a:t>Not claimed: </a:t>
            </a:r>
            <a:r>
              <a:rPr lang="en-US" sz="1500" dirty="0">
                <a:solidFill>
                  <a:schemeClr val="bg2"/>
                </a:solidFill>
              </a:rPr>
              <a:t>results proven over seeds (one run each) or why the bones flipped; better children; correct near/far depths (slope 0.42); fixes without cost (recall −2 points vs the control, −3 vs v5); that the fixes made most of the 3DPW gain (3DPW training did);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Chosen: fix gender and frame grid, re-fit all 3DPW tasks, then fine-tune v5 (done 18 Oct: slide 16). Next: write up, or also add weak age labels for children (1–2 weeks)?</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2026-10-18T08:13:18Z</dcterms:created>
  <dcterms:modified xsi:type="dcterms:W3CDTF">2026-10-18T08:13:18Z</dcterms:modified>
</cp:coreProperties>
</file>