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ae698be-f89b-c679-a2c0-b8b241155cf0}">
          <p14:sldIdLst>
            <p14:sldId id="256"/>
            <p14:sldId id="257"/>
            <p14:sldId id="258"/>
            <p14:sldId id="259"/>
          </p14:sldIdLst>
        </p14:section>
        <p14:section name="Findings" id="{236e80b1-1c47-83f6-3d96-115191f846ff}">
          <p14:sldIdLst>
            <p14:sldId id="260"/>
            <p14:sldId id="261"/>
            <p14:sldId id="262"/>
          </p14:sldIdLst>
        </p14:section>
        <p14:section name="Bug" id="{7513f22b-5270-74a1-b1b3-b3151a1bb4a9}">
          <p14:sldIdLst>
            <p14:sldId id="263"/>
            <p14:sldId id="264"/>
          </p14:sldIdLst>
        </p14:section>
        <p14:section name="Next" id="{d40c19be-7d0b-291c-b0a9-9c6f6899e758}">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stopped guessing at the neck, finger and child problems and measured each stage of the pipeline separately. I will show what is not the cause, what the real causes are, one bug nobody was looking for, and what is running on the cluster right now. I will be careful to separate what is measured from what is still a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rig problems, resolution, or a shape head that does not learn age. None of those guesses had been tested in isolation. That is what I did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a diagnostic suite with six checks, each isolating one stage. The important design choice: a fixed holdout of 100 images that were never trained on, and a fixed manifest with ten adults, ten children, ten visible-hand and ten hard-neck cases, with separate train and held-out examples. Every number from here on comes from those fixed sets with the same evaluation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that changes the story. The rig, the decoding, the body model and the optimisation path are all correct. So the three failures cannot be rig or decoding problems, which is how the thesis described them until now. The one caveat on the ground-truth check: frame-filling people lose joints at the image border, which is truncation, not a decoding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neck length the model predicts is within one percent of the truth, and the head-neck surface error is similar to the rest of the body. What is large is the rotation error of the individual neck bones, 63 and 90 degrees, but the final orientation of the head is only 12 degrees off. That means the chain is redundant: many local rotations give the same head. The per-bone loss is a weak teacher there. So it is a supervision problem, and the visual long-neck effect is mostly the depth bug I will show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number: with predicted fingers the error is 17.3 degrees, with fingers simply left in the rest pose it is 15.1. The hand prediction is worse than no prediction, which is why the demos zero the fingers and now say so. I tested the obvious explanation, that hands are too small at 672 pixels. They are small, about two tokens, but when I crop around the person and magnify up to three times the finger error does not move at all. So the fingers are a training problem: too little gradient, badly conditioned rotation outputs, not a pixel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verified in the code that the shape head is complete: all eleven phenotypes go into the body model and are supervised, with no adult prior in the initialisation. The model can represent a baby: for the youngest training people it predicts age 0.10 for a true 0.015, with the right head-to-height ratio. The problem is the data. Two percent of supervised people are children and 84 percent of batches have none, and the 3DPW labels carry a fixed adult age. The honest caveat is that the holdout has no children at all, so I cannot measure generalisation to unseen children, only that the representation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and heat-map targets at the pelvis. Those two can never agree. The 2D reprojection loss resolved the conflict the only way it could: by shrinking the body, which means predicting it farther away. Measured on the holdout: predicted depth is 0.3 times the true depth plus 2.4 metres, every single person too far, bodies a third too small. Our standard metric is pelvis-centred, so it never saw this. That is why the thesis numbers looked normal while the overlays always looked slightly wrong. The bug is in training code, so v9 and v10 have it too; I measured v10 and it is slightly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line of logic: build the training targets at the joint the model anchors. I ran a two-epoch pilot and, importantly, a control run with the same schedule and the flag off, so that the learning-rate restart cannot be mistaken for an effect. The control moved nothing. The fix halved the absolute depth error and brought the head pixel error from 64 to under 10 pixels. The cost is a worse pelvis-centred PVE and recall, which I expect because the detector was trained for 100 epochs to fire on pelvis cells and now has to learn head cells. Ten-epoch runs of both arms are running. I am not claiming an improvement until they are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changes are behind their own flag, default off, each in its own commit with its own cluster script, and each runs next to a control with the flag off. Experiment one is the bug fix. Two, three and four address the diagnosed causes of the three failures. Nothing new in the architecture, because the diagnostics do not justify a new branch. The pilots take about half an hour each; the long runs about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should be 70.5 millimetres, measured with the helper bones masked as in the demos; the 74 in the draft came from the unmasked evaluation. The demos now disclose that fingers are the rest pose. The text no longer blames the rig. And the repository is reorganised with everything scripted, so any of these numbers can be regenerated.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what is measured is that the failures are supervision and data problems, that a training-target bug depresses depth in every model we have, and that its fix moves depth in the right direction. What is not yet shown is any improvement in the three failures, and the final effect of the fix. The runs that decide this are already on the cluster. The decision I need from you is whether to retrain the depth fix into v9, our best model, before the thesis numbers are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dirty="0">
                <a:solidFill>
                  <a:schemeClr val="bg2"/>
                </a:solidFill>
              </a:rPr>
              <a:t>Three visible failures diagnosed, one hidden bug found and under repair</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10896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28600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a:t>
            </a:r>
            <a:endParaRPr lang="en-US" sz="1300" dirty="0"/>
          </a:p>
          <a:p>
            <a:pPr indent="0" marL="0">
              <a:buNone/>
            </a:pPr>
            <a:endParaRPr lang="en-US" sz="1300" dirty="0"/>
          </a:p>
          <a:p>
            <a:pPr indent="0" marL="0">
              <a:buNone/>
            </a:pPr>
            <a:r>
              <a:rPr lang="en-US" sz="1300" dirty="0">
                <a:solidFill>
                  <a:schemeClr val="tx2"/>
                </a:solidFill>
              </a:rPr>
              <a:t>Thesis assumption so far: a rig or body-model problem.</a:t>
            </a:r>
            <a:endParaRPr lang="en-US" sz="1300" dirty="0"/>
          </a:p>
        </p:txBody>
      </p:sp>
      <p:sp>
        <p:nvSpPr>
          <p:cNvPr id="7" name="Fingers"/>
          <p:cNvSpPr/>
          <p:nvPr/>
        </p:nvSpPr>
        <p:spPr>
          <a:xfrm>
            <a:off x="3246120" y="1280160"/>
            <a:ext cx="2651760" cy="310896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28600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a:t>
            </a:r>
            <a:endParaRPr lang="en-US" sz="1300" dirty="0"/>
          </a:p>
          <a:p>
            <a:pPr indent="0" marL="0">
              <a:buNone/>
            </a:pPr>
            <a:endParaRPr lang="en-US" sz="1300" dirty="0"/>
          </a:p>
          <a:p>
            <a:pPr indent="0" marL="0">
              <a:buNone/>
            </a:pPr>
            <a:r>
              <a:rPr lang="en-US" sz="1300" dirty="0">
                <a:solidFill>
                  <a:schemeClr val="tx2"/>
                </a:solidFill>
              </a:rPr>
              <a:t>Assumption so far: a hand-resolution or hand-branch problem.</a:t>
            </a:r>
            <a:endParaRPr lang="en-US" sz="1300" dirty="0"/>
          </a:p>
        </p:txBody>
      </p:sp>
      <p:sp>
        <p:nvSpPr>
          <p:cNvPr id="11" name="Children"/>
          <p:cNvSpPr/>
          <p:nvPr/>
        </p:nvSpPr>
        <p:spPr>
          <a:xfrm>
            <a:off x="6035040" y="1280160"/>
            <a:ext cx="2651760" cy="310896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28600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a:t>
            </a:r>
            <a:endParaRPr lang="en-US" sz="1300" dirty="0"/>
          </a:p>
          <a:p>
            <a:pPr indent="0" marL="0">
              <a:buNone/>
            </a:pPr>
            <a:endParaRPr lang="en-US" sz="1300" dirty="0"/>
          </a:p>
          <a:p>
            <a:pPr indent="0" marL="0">
              <a:buNone/>
            </a:pPr>
            <a:r>
              <a:rPr lang="en-US" sz="1300" dirty="0">
                <a:solidFill>
                  <a:schemeClr val="tx2"/>
                </a:solidFill>
              </a:rPr>
              <a:t>Assumption so far: age is not learned.</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never validation.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every structural check passes</a:t>
            </a:r>
            <a:endParaRPr lang="en-US" sz="2700" dirty="0"/>
          </a:p>
        </p:txBody>
      </p:sp>
      <p:sp>
        <p:nvSpPr>
          <p:cNvPr id="3" name="ok 0"/>
          <p:cNvSpPr/>
          <p:nvPr/>
        </p:nvSpPr>
        <p:spPr>
          <a:xfrm>
            <a:off x="457200" y="132588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2344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81912"/>
            <a:ext cx="7589520" cy="411480"/>
          </a:xfrm>
          <a:prstGeom prst="rect">
            <a:avLst/>
          </a:prstGeom>
          <a:noFill/>
          <a:ln/>
        </p:spPr>
        <p:txBody>
          <a:bodyPr wrap="square" lIns="0" tIns="0" rIns="0" bIns="0" rtlCol="0" anchor="ctr"/>
          <a:lstStyle/>
          <a:p>
            <a:pPr indent="0" marL="0">
              <a:buNone/>
            </a:pPr>
            <a:r>
              <a:rPr lang="en-US" sz="1300" dirty="0">
                <a:solidFill>
                  <a:schemeClr val="tx2"/>
                </a:solidFill>
              </a:rPr>
              <a:t>Labels render onto the people; camera matches on 100% of images.</a:t>
            </a:r>
            <a:endParaRPr lang="en-US" sz="1300" dirty="0"/>
          </a:p>
        </p:txBody>
      </p:sp>
      <p:sp>
        <p:nvSpPr>
          <p:cNvPr id="7" name="ok 1"/>
          <p:cNvSpPr/>
          <p:nvPr/>
        </p:nvSpPr>
        <p:spPr>
          <a:xfrm>
            <a:off x="457200" y="219456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1031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450592"/>
            <a:ext cx="7589520" cy="411480"/>
          </a:xfrm>
          <a:prstGeom prst="rect">
            <a:avLst/>
          </a:prstGeom>
          <a:noFill/>
          <a:ln/>
        </p:spPr>
        <p:txBody>
          <a:bodyPr wrap="square" lIns="0" tIns="0" rIns="0" bIns="0" rtlCol="0" anchor="ctr"/>
          <a:lstStyle/>
          <a:p>
            <a:pPr indent="0" marL="0">
              <a:buNone/>
            </a:pPr>
            <a:r>
              <a:rPr lang="en-US" sz="1300" dirty="0">
                <a:solidFill>
                  <a:schemeClr val="tx2"/>
                </a:solidFill>
              </a:rPr>
              <a:t>All 16 single-joint moves hit the intended part. Age 0 to 1 scales height by 66%.</a:t>
            </a:r>
            <a:endParaRPr lang="en-US" sz="1300" dirty="0"/>
          </a:p>
        </p:txBody>
      </p:sp>
      <p:sp>
        <p:nvSpPr>
          <p:cNvPr id="11" name="ok 2"/>
          <p:cNvSpPr/>
          <p:nvPr/>
        </p:nvSpPr>
        <p:spPr>
          <a:xfrm>
            <a:off x="457200" y="306324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3063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9718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head</a:t>
            </a:r>
            <a:endParaRPr lang="en-US" sz="1600" dirty="0"/>
          </a:p>
        </p:txBody>
      </p:sp>
      <p:sp>
        <p:nvSpPr>
          <p:cNvPr id="14" name="okb 2"/>
          <p:cNvSpPr txBox="1"/>
          <p:nvPr/>
        </p:nvSpPr>
        <p:spPr>
          <a:xfrm>
            <a:off x="1097280" y="3319272"/>
            <a:ext cx="7589520" cy="411480"/>
          </a:xfrm>
          <a:prstGeom prst="rect">
            <a:avLst/>
          </a:prstGeom>
          <a:noFill/>
          <a:ln/>
        </p:spPr>
        <p:txBody>
          <a:bodyPr wrap="square" lIns="0" tIns="0" rIns="0" bIns="0" rtlCol="0" anchor="ctr"/>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931920"/>
            <a:ext cx="457200" cy="457200"/>
          </a:xfrm>
          <a:prstGeom prst="ellipse">
            <a:avLst/>
          </a:prstGeom>
          <a:solidFill>
            <a:schemeClr val="accent3"/>
          </a:solidFill>
          <a:ln w="12700">
            <a:solidFill>
              <a:schemeClr val="accent3"/>
            </a:solidFill>
            <a:prstDash val="solid"/>
          </a:ln>
        </p:spPr>
      </p:sp>
      <p:sp>
        <p:nvSpPr>
          <p:cNvPr id="16" name="tick 3"/>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8404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a:t>
            </a:r>
            <a:endParaRPr lang="en-US" sz="1600" dirty="0"/>
          </a:p>
        </p:txBody>
      </p:sp>
      <p:sp>
        <p:nvSpPr>
          <p:cNvPr id="18" name="okb 3"/>
          <p:cNvSpPr txBox="1"/>
          <p:nvPr/>
        </p:nvSpPr>
        <p:spPr>
          <a:xfrm>
            <a:off x="1097280" y="4187952"/>
            <a:ext cx="7589520" cy="411480"/>
          </a:xfrm>
          <a:prstGeom prst="rect">
            <a:avLst/>
          </a:prstGeom>
          <a:noFill/>
          <a:ln/>
        </p:spPr>
        <p:txBody>
          <a:bodyPr wrap="square" lIns="0" tIns="0" rIns="0" bIns="0" rtlCol="0" anchor="ctr"/>
          <a:lstStyle/>
          <a:p>
            <a:pPr indent="0" marL="0">
              <a:buNone/>
            </a:pPr>
            <a:r>
              <a:rPr lang="en-US" sz="1300" dirty="0">
                <a:solidFill>
                  <a:schemeClr val="tx2"/>
                </a:solidFill>
              </a:rPr>
              <a:t>40 training images: error falls 36%. Holdout rises, as memorising must.</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the skeleton is right, the supervision is weak</a:t>
            </a:r>
            <a:endParaRPr lang="en-US" sz="2700" dirty="0"/>
          </a:p>
        </p:txBody>
      </p:sp>
      <p:sp>
        <p:nvSpPr>
          <p:cNvPr id="3" name="stat predicted neck length vs truth (holdou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1"/>
                </a:solidFill>
              </a:rPr>
              <a:t>99%</a:t>
            </a:r>
            <a:endParaRPr lang="en-US" sz="4000" dirty="0"/>
          </a:p>
        </p:txBody>
      </p:sp>
      <p:sp>
        <p:nvSpPr>
          <p:cNvPr id="4" name="label predicted neck length vs truth (holdout)"/>
          <p:cNvSpPr txBox="1"/>
          <p:nvPr/>
        </p:nvSpPr>
        <p:spPr>
          <a:xfrm>
            <a:off x="45720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predicted neck length vs truth (holdout)</a:t>
            </a:r>
            <a:endParaRPr lang="en-US" sz="1300" dirty="0"/>
          </a:p>
        </p:txBody>
      </p:sp>
      <p:sp>
        <p:nvSpPr>
          <p:cNvPr id="5" name="stat local rotation error, neck / head bones"/>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63° / 90°</a:t>
            </a:r>
            <a:endParaRPr lang="en-US" sz="4000" dirty="0"/>
          </a:p>
        </p:txBody>
      </p:sp>
      <p:sp>
        <p:nvSpPr>
          <p:cNvPr id="6" name="label local rotation error, neck / head bones"/>
          <p:cNvSpPr txBox="1"/>
          <p:nvPr/>
        </p:nvSpPr>
        <p:spPr>
          <a:xfrm>
            <a:off x="320040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local rotation error, neck / head bones</a:t>
            </a:r>
            <a:endParaRPr lang="en-US" sz="1300" dirty="0"/>
          </a:p>
        </p:txBody>
      </p:sp>
      <p:sp>
        <p:nvSpPr>
          <p:cNvPr id="7" name="stat global head orientation error"/>
          <p:cNvSpPr txBox="1"/>
          <p:nvPr/>
        </p:nvSpPr>
        <p:spPr>
          <a:xfrm>
            <a:off x="603504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12°</a:t>
            </a:r>
            <a:endParaRPr lang="en-US" sz="4000" dirty="0"/>
          </a:p>
        </p:txBody>
      </p:sp>
      <p:sp>
        <p:nvSpPr>
          <p:cNvPr id="8" name="label global head orientation error"/>
          <p:cNvSpPr txBox="1"/>
          <p:nvPr/>
        </p:nvSpPr>
        <p:spPr>
          <a:xfrm>
            <a:off x="603504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global head orientation error</a:t>
            </a:r>
            <a:endParaRPr lang="en-US" sz="1300" dirty="0"/>
          </a:p>
        </p:txBody>
      </p:sp>
      <p:sp>
        <p:nvSpPr>
          <p:cNvPr id="9" name="neck box"/>
          <p:cNvSpPr/>
          <p:nvPr/>
        </p:nvSpPr>
        <p:spPr>
          <a:xfrm>
            <a:off x="457200" y="3017520"/>
            <a:ext cx="8229600" cy="1463040"/>
          </a:xfrm>
          <a:prstGeom prst="roundRect">
            <a:avLst>
              <a:gd name="adj" fmla="val 5000"/>
            </a:avLst>
          </a:prstGeom>
          <a:solidFill>
            <a:schemeClr val="bg2"/>
          </a:solidFill>
          <a:ln w="12700">
            <a:solidFill>
              <a:schemeClr val="bg2"/>
            </a:solidFill>
            <a:prstDash val="solid"/>
          </a:ln>
        </p:spPr>
      </p:sp>
      <p:sp>
        <p:nvSpPr>
          <p:cNvPr id="10" name="neck text"/>
          <p:cNvSpPr txBox="1"/>
          <p:nvPr/>
        </p:nvSpPr>
        <p:spPr>
          <a:xfrm>
            <a:off x="640080" y="3108960"/>
            <a:ext cx="7863840" cy="1280160"/>
          </a:xfrm>
          <a:prstGeom prst="rect">
            <a:avLst/>
          </a:prstGeom>
          <a:noFill/>
          <a:ln/>
        </p:spPr>
        <p:txBody>
          <a:bodyPr wrap="square" lIns="0" tIns="0" rIns="0" bIns="0" rtlCol="0" anchor="ctr"/>
          <a:lstStyle/>
          <a:p>
            <a:pPr indent="0" marL="0">
              <a:buNone/>
            </a:pPr>
            <a:r>
              <a:rPr lang="en-US" sz="1300" b="1" dirty="0">
                <a:solidFill>
                  <a:schemeClr val="tx1"/>
                </a:solidFill>
              </a:rPr>
              <a:t>Reading. </a:t>
            </a:r>
            <a:pPr indent="0" marL="0">
              <a:buNone/>
            </a:pPr>
            <a:r>
              <a:rPr lang="en-US" sz="1300" dirty="0">
                <a:solidFill>
                  <a:schemeClr val="tx1"/>
                </a:solidFill>
              </a:rPr>
              <a:t>Four neck bones in a chain can reach the same head pose many ways. The per-bone rotation loss punishes every way except the annotator's, so it teaches little. The earlier 'neck boost' multiplied a weak signal and changed nothing. The long-neck look in overlays comes mostly from the depth bug on the next slides.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under-trained, bigger pixels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finger error with fingers set to rest pose</a:t>
            </a:r>
            <a:endParaRPr lang="en-US" sz="1300" dirty="0"/>
          </a:p>
        </p:txBody>
      </p:sp>
      <p:sp>
        <p:nvSpPr>
          <p:cNvPr id="7" name="stat change when hands are magnified up to 3x"/>
          <p:cNvSpPr txBox="1"/>
          <p:nvPr/>
        </p:nvSpPr>
        <p:spPr>
          <a:xfrm>
            <a:off x="603504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hands are magnified up to 3x"/>
          <p:cNvSpPr txBox="1"/>
          <p:nvPr/>
        </p:nvSpPr>
        <p:spPr>
          <a:xfrm>
            <a:off x="603504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change when hands are magnified up to 3x</a:t>
            </a:r>
            <a:endParaRPr lang="en-US" sz="1300" dirty="0"/>
          </a:p>
        </p:txBody>
      </p:sp>
      <p:graphicFrame>
        <p:nvGraphicFramePr>
          <p:cNvPr id="7"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1.3x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finger text"/>
          <p:cNvSpPr txBox="1"/>
          <p:nvPr/>
        </p:nvSpPr>
        <p:spPr>
          <a:xfrm>
            <a:off x="5852160" y="2971800"/>
            <a:ext cx="2834640" cy="1463040"/>
          </a:xfrm>
          <a:prstGeom prst="rect">
            <a:avLst/>
          </a:prstGeom>
          <a:noFill/>
          <a:ln/>
        </p:spPr>
        <p:txBody>
          <a:bodyPr wrap="square" lIns="0" tIns="0" rIns="0" bIns="0" rtlCol="0" anchor="t"/>
          <a:lstStyle/>
          <a:p>
            <a:pPr indent="0" marL="0">
              <a:buNone/>
            </a:pPr>
            <a:r>
              <a:rPr lang="en-US" sz="1200" b="1" dirty="0">
                <a:solidFill>
                  <a:schemeClr val="tx1"/>
                </a:solidFill>
              </a:rPr>
              <a:t>Reading. </a:t>
            </a:r>
            <a:pPr indent="0" marL="0">
              <a:buNone/>
            </a:pPr>
            <a:r>
              <a:rPr lang="en-US" sz="1200" dirty="0">
                <a:solidFill>
                  <a:schemeClr val="tx1"/>
                </a:solidFill>
              </a:rPr>
              <a:t>Predicting fingers is worse than not predicting them. Fingers receive the smallest gradients of any bone group. Magnifying the person changes nothing, so resolution is not the limit; training is.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the model can make a child, it never sees one</a:t>
            </a:r>
            <a:endParaRPr lang="en-US" sz="2700" dirty="0"/>
          </a:p>
        </p:txBody>
      </p:sp>
      <p:sp>
        <p:nvSpPr>
          <p:cNvPr id="3" name="stat of supervised training people are children"/>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2%</a:t>
            </a:r>
            <a:endParaRPr lang="en-US" sz="4000" dirty="0"/>
          </a:p>
        </p:txBody>
      </p:sp>
      <p:sp>
        <p:nvSpPr>
          <p:cNvPr id="4" name="label of supervised training people are children"/>
          <p:cNvSpPr txBox="1"/>
          <p:nvPr/>
        </p:nvSpPr>
        <p:spPr>
          <a:xfrm>
            <a:off x="45720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of supervised training people are children</a:t>
            </a:r>
            <a:endParaRPr lang="en-US" sz="1300" dirty="0"/>
          </a:p>
        </p:txBody>
      </p:sp>
      <p:sp>
        <p:nvSpPr>
          <p:cNvPr id="5" name="stat of training batches contain no chi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84%</a:t>
            </a:r>
            <a:endParaRPr lang="en-US" sz="4000" dirty="0"/>
          </a:p>
        </p:txBody>
      </p:sp>
      <p:sp>
        <p:nvSpPr>
          <p:cNvPr id="6" name="label of training batches contain no child"/>
          <p:cNvSpPr txBox="1"/>
          <p:nvPr/>
        </p:nvSpPr>
        <p:spPr>
          <a:xfrm>
            <a:off x="320040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of training batches contain no child</a:t>
            </a:r>
            <a:endParaRPr lang="en-US" sz="1300" dirty="0"/>
          </a:p>
        </p:txBody>
      </p:sp>
      <p:sp>
        <p:nvSpPr>
          <p:cNvPr id="7" name="stat predicted age for babies of true age 0.015 (seen in training)"/>
          <p:cNvSpPr txBox="1"/>
          <p:nvPr/>
        </p:nvSpPr>
        <p:spPr>
          <a:xfrm>
            <a:off x="603504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0.10</a:t>
            </a:r>
            <a:endParaRPr lang="en-US" sz="4000" dirty="0"/>
          </a:p>
        </p:txBody>
      </p:sp>
      <p:sp>
        <p:nvSpPr>
          <p:cNvPr id="8" name="label predicted age for babies of true age 0.015 (seen in training)"/>
          <p:cNvSpPr txBox="1"/>
          <p:nvPr/>
        </p:nvSpPr>
        <p:spPr>
          <a:xfrm>
            <a:off x="6035040" y="2103120"/>
            <a:ext cx="2560320" cy="640080"/>
          </a:xfrm>
          <a:prstGeom prst="rect">
            <a:avLst/>
          </a:prstGeom>
          <a:noFill/>
          <a:ln/>
        </p:spPr>
        <p:txBody>
          <a:bodyPr wrap="square" lIns="0" tIns="0" rIns="0" bIns="0" rtlCol="0" anchor="ctr"/>
          <a:lstStyle/>
          <a:p>
            <a:pPr algn="l" indent="0" marL="0">
              <a:buNone/>
            </a:pPr>
            <a:r>
              <a:rPr lang="en-US" sz="1300" dirty="0">
                <a:solidFill>
                  <a:schemeClr val="tx2"/>
                </a:solidFill>
              </a:rPr>
              <a:t>predicted age for babies of true age 0.015 (seen in training)</a:t>
            </a:r>
            <a:endParaRPr lang="en-US" sz="1300" dirty="0"/>
          </a:p>
        </p:txBody>
      </p:sp>
      <p:sp>
        <p:nvSpPr>
          <p:cNvPr id="9" name="child box"/>
          <p:cNvSpPr/>
          <p:nvPr/>
        </p:nvSpPr>
        <p:spPr>
          <a:xfrm>
            <a:off x="457200" y="3017520"/>
            <a:ext cx="8229600" cy="1463040"/>
          </a:xfrm>
          <a:prstGeom prst="roundRect">
            <a:avLst>
              <a:gd name="adj" fmla="val 5000"/>
            </a:avLst>
          </a:prstGeom>
          <a:solidFill>
            <a:schemeClr val="bg2"/>
          </a:solidFill>
          <a:ln w="12700">
            <a:solidFill>
              <a:schemeClr val="bg2"/>
            </a:solidFill>
            <a:prstDash val="solid"/>
          </a:ln>
        </p:spPr>
      </p:sp>
      <p:sp>
        <p:nvSpPr>
          <p:cNvPr id="10" name="child text"/>
          <p:cNvSpPr txBox="1"/>
          <p:nvPr/>
        </p:nvSpPr>
        <p:spPr>
          <a:xfrm>
            <a:off x="640080" y="3108960"/>
            <a:ext cx="7863840" cy="1280160"/>
          </a:xfrm>
          <a:prstGeom prst="rect">
            <a:avLst/>
          </a:prstGeom>
          <a:noFill/>
          <a:ln/>
        </p:spPr>
        <p:txBody>
          <a:bodyPr wrap="square" lIns="0" tIns="0" rIns="0" bIns="0" rtlCol="0" anchor="ctr"/>
          <a:lstStyle/>
          <a:p>
            <a:pPr indent="0" marL="0">
              <a:buNone/>
            </a:pPr>
            <a:r>
              <a:rPr lang="en-US" sz="1200" b="1" dirty="0">
                <a:solidFill>
                  <a:schemeClr val="tx1"/>
                </a:solidFill>
              </a:rPr>
              <a:t>Reading. </a:t>
            </a:r>
            <a:pPr indent="0" marL="0">
              <a:buNone/>
            </a:pPr>
            <a:r>
              <a:rPr lang="en-US" sz="1200" dirty="0">
                <a:solidFill>
                  <a:schemeClr val="tx1"/>
                </a:solidFill>
              </a:rPr>
              <a:t>All eleven shape outputs reach the body model and are supervised; nothing is clamped to an adult. On training children the age comes out right. On real photos the model keeps an adult age and shrinks the body with the height parameter. The real-data labels pin age to one adult value, so fine-tuning on them cannot help. Caveat: the holdout has no children, so every child number is in-sample.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46304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93192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at joint 0</a:t>
            </a:r>
            <a:endParaRPr lang="en-US" sz="1100" dirty="0"/>
          </a:p>
        </p:txBody>
      </p:sp>
      <p:sp>
        <p:nvSpPr>
          <p:cNvPr id="19" name="stat depth"/>
          <p:cNvSpPr txBox="1"/>
          <p:nvPr/>
        </p:nvSpPr>
        <p:spPr>
          <a:xfrm>
            <a:off x="6035040" y="1280160"/>
            <a:ext cx="2743200" cy="822960"/>
          </a:xfrm>
          <a:prstGeom prst="rect">
            <a:avLst/>
          </a:prstGeom>
          <a:noFill/>
          <a:ln/>
        </p:spPr>
        <p:txBody>
          <a:bodyPr wrap="square" lIns="0" tIns="0" rIns="0" bIns="0" rtlCol="0" anchor="ctr"/>
          <a:lstStyle/>
          <a:p>
            <a:pPr indent="0" marL="0">
              <a:buNone/>
            </a:pPr>
            <a:r>
              <a:rPr lang="en-US" sz="3000" b="1" dirty="0">
                <a:solidFill>
                  <a:schemeClr val="accent4"/>
                </a:solidFill>
              </a:rPr>
              <a:t>0.3 × GT + 2.4 m</a:t>
            </a:r>
            <a:endParaRPr lang="en-US" sz="3000" dirty="0"/>
          </a:p>
        </p:txBody>
      </p:sp>
      <p:sp>
        <p:nvSpPr>
          <p:cNvPr id="20" name="label depth"/>
          <p:cNvSpPr txBox="1"/>
          <p:nvPr/>
        </p:nvSpPr>
        <p:spPr>
          <a:xfrm>
            <a:off x="6035040" y="2103120"/>
            <a:ext cx="2743200" cy="640080"/>
          </a:xfrm>
          <a:prstGeom prst="rect">
            <a:avLst/>
          </a:prstGeom>
          <a:noFill/>
          <a:ln/>
        </p:spPr>
        <p:txBody>
          <a:bodyPr wrap="square" lIns="0" tIns="0" rIns="0" bIns="0" rtlCol="0" anchor="ctr"/>
          <a:lstStyle/>
          <a:p>
            <a:pPr indent="0" marL="0">
              <a:buNone/>
            </a:pPr>
            <a:r>
              <a:rPr lang="en-US" sz="1300" dirty="0">
                <a:solidFill>
                  <a:schemeClr val="tx2"/>
                </a:solidFill>
              </a:rPr>
              <a:t>predicted depth vs true depth, every person too far</a:t>
            </a:r>
            <a:endParaRPr lang="en-US" sz="1300" dirty="0"/>
          </a:p>
        </p:txBody>
      </p:sp>
      <p:sp>
        <p:nvSpPr>
          <p:cNvPr id="21" name="bug text"/>
          <p:cNvSpPr txBox="1"/>
          <p:nvPr/>
        </p:nvSpPr>
        <p:spPr>
          <a:xfrm>
            <a:off x="6035040" y="2971800"/>
            <a:ext cx="2743200" cy="1554480"/>
          </a:xfrm>
          <a:prstGeom prst="rect">
            <a:avLst/>
          </a:prstGeom>
          <a:noFill/>
          <a:ln/>
        </p:spPr>
        <p:txBody>
          <a:bodyPr wrap="square" lIns="0" tIns="0" rIns="0" bIns="0" rtlCol="0" anchor="t"/>
          <a:lstStyle/>
          <a:p>
            <a:pPr indent="0" marL="0">
              <a:buNone/>
            </a:pPr>
            <a:r>
              <a:rPr lang="en-US" sz="1100" b="1" dirty="0">
                <a:solidFill>
                  <a:schemeClr val="tx1"/>
                </a:solidFill>
              </a:rPr>
              <a:t>Effect. </a:t>
            </a:r>
            <a:pPr indent="0" marL="0">
              <a:buNone/>
            </a:pPr>
            <a:r>
              <a:rPr lang="en-US" sz="1100" dirty="0">
                <a:solidFill>
                  <a:schemeClr val="tx1"/>
                </a:solidFill>
              </a:rPr>
              <a:t>The 2D losses can only reconcile the two anchors by shrinking the body, so the network pushes everyone away: bodies drawn 35% too small, head 64 px off. Pelvis-centred PVE cannot see any of this, which is why the numbers looked fine and the overlays did not. v9 and v10 inherit the same bug.</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fix: first two-epoch test against a control</a:t>
            </a:r>
            <a:endParaRPr lang="en-US" sz="2700" dirty="0"/>
          </a:p>
        </p:txBody>
      </p:sp>
      <p:graphicFrame>
        <p:nvGraphicFramePr>
          <p:cNvPr id="10" name="fix table"/>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377440"/>
                <a:gridCol w="1737360"/>
                <a:gridCol w="2286000"/>
                <a:gridCol w="1828800"/>
              </a:tblGrid>
              <a:tr h="365760">
                <a:tc>
                  <a:txBody>
                    <a:bodyPr/>
                    <a:lstStyle/>
                    <a:p>
                      <a:pPr algn="l" indent="0" marL="0">
                        <a:buNone/>
                      </a:pPr>
                      <a:r>
                        <a:rPr lang="en-US" sz="1200" b="1" dirty="0">
                          <a:solidFill>
                            <a:srgbClr val="FFFFFF"/>
                          </a:solidFill>
                        </a:rPr>
                        <a:t>holdout, 100 images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baseline v5</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control: same schedule, flag off</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fix: targets at the head</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200" b="1" dirty="0">
                          <a:solidFill>
                            <a:srgbClr val="1B2233"/>
                          </a:solidFill>
                        </a:rPr>
                        <a:t>absolute depth error</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1.08 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0.99 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0.56 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B2233"/>
                          </a:solidFill>
                        </a:rPr>
                        <a:t>depth intercept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2.36 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2.28 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1.93 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200" b="1" dirty="0">
                          <a:solidFill>
                            <a:srgbClr val="1B2233"/>
                          </a:solidFill>
                        </a:rPr>
                        <a:t>head pixel error</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64.5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58.1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9.6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B2233"/>
                          </a:solidFill>
                        </a:rPr>
                        <a:t>PVE (pelvis-centred)</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70.5 mm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72.3 mm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77.3 mm</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200" b="1" dirty="0">
                          <a:solidFill>
                            <a:srgbClr val="1B2233"/>
                          </a:solidFill>
                        </a:rPr>
                        <a:t>recall</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89.8%</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87.8%</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ext"/>
          <p:cNvSpPr txBox="1"/>
          <p:nvPr/>
        </p:nvSpPr>
        <p:spPr>
          <a:xfrm>
            <a:off x="457200" y="3611880"/>
            <a:ext cx="8229600" cy="1005840"/>
          </a:xfrm>
          <a:prstGeom prst="rect">
            <a:avLst/>
          </a:prstGeom>
          <a:noFill/>
          <a:ln/>
        </p:spPr>
        <p:txBody>
          <a:bodyPr wrap="square" lIns="0" tIns="0" rIns="0" bIns="0" rtlCol="0" anchor="t"/>
          <a:lstStyle/>
          <a:p>
            <a:pPr indent="0" marL="0">
              <a:buNone/>
            </a:pPr>
            <a:r>
              <a:rPr lang="en-US" sz="1200" b="1" dirty="0">
                <a:solidFill>
                  <a:schemeClr val="tx1"/>
                </a:solidFill>
              </a:rPr>
              <a:t>Reading. </a:t>
            </a:r>
            <a:pPr indent="0" marL="0">
              <a:buNone/>
            </a:pPr>
            <a:r>
              <a:rPr lang="en-US" sz="1200" dirty="0">
                <a:solidFill>
                  <a:schemeClr val="tx1"/>
                </a:solidFill>
              </a:rPr>
              <a:t>One switch in train.py: build the targets at the joint the model anchors. After only 8,000 images the head sits on the head and the depth error is halved, while the control run moved nothing. PVE got worse: the detector must relearn where to fire, and two epochs is 1.4% of the data. The ten-epoch runs, fix and control, are on the cluster now. No improvement is claimed until they are read.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each with its own switch and control</a:t>
            </a:r>
            <a:endParaRPr lang="en-US" sz="2700" dirty="0"/>
          </a:p>
        </p:txBody>
      </p:sp>
      <p:graphicFrame>
        <p:nvGraphicFramePr>
          <p:cNvPr id="11" name="exp table"/>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554480"/>
                <a:gridCol w="2743200"/>
                <a:gridCol w="2377440"/>
                <a:gridCol w="1554480"/>
              </a:tblGrid>
              <a:tr h="457200">
                <a:tc>
                  <a:txBody>
                    <a:bodyPr/>
                    <a:lstStyle/>
                    <a:p>
                      <a:pPr algn="l" indent="0" marL="0">
                        <a:buNone/>
                      </a:pPr>
                      <a:r>
                        <a:rPr lang="en-US" sz="1200" b="1" dirty="0">
                          <a:solidFill>
                            <a:srgbClr val="FFFFFF"/>
                          </a:solidFill>
                        </a:rPr>
                        <a:t>experiment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what it changes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decides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status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1200" b="1" dirty="0">
                          <a:solidFill>
                            <a:srgbClr val="1B2233"/>
                          </a:solidFill>
                        </a:rPr>
                        <a:t>1  depth anchor</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targets at the head joint (bug fix)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depth slope toward 1, PVE recovers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10-epoch runs running</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2233"/>
                          </a:solidFill>
                        </a:rPr>
                        <a:t>2  children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age-balanced sampling, stronger age loss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child error on the manifest, adults unchanged</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pilot + control queued</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1200" b="1" dirty="0">
                          <a:solidFill>
                            <a:srgbClr val="1B2233"/>
                          </a:solidFill>
                        </a:rPr>
                        <a:t>3  neck</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loss on the global head orientation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global head error below 12°</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pilot + control queued</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2233"/>
                          </a:solidFill>
                        </a:rPr>
                        <a:t>4  fingers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region-normalised rotation loss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finger error vs the 15.1° rest-pose floor</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pilot + control queued</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exp note"/>
          <p:cNvSpPr txBox="1"/>
          <p:nvPr/>
        </p:nvSpPr>
        <p:spPr>
          <a:xfrm>
            <a:off x="457200" y="3749040"/>
            <a:ext cx="8229600" cy="731520"/>
          </a:xfrm>
          <a:prstGeom prst="rect">
            <a:avLst/>
          </a:prstGeom>
          <a:noFill/>
          <a:ln/>
        </p:spPr>
        <p:txBody>
          <a:bodyPr wrap="square" lIns="0" tIns="0" rIns="0" bIns="0" rtlCol="0" anchor="ctr"/>
          <a:lstStyle/>
          <a:p>
            <a:pPr indent="0" marL="0">
              <a:buNone/>
            </a:pPr>
            <a:r>
              <a:rPr lang="en-US" sz="1200" dirty="0">
                <a:solidFill>
                  <a:schemeClr val="tx2"/>
                </a:solidFill>
              </a:rPr>
              <a:t>Every experiment is evaluated the same way: the fixed 100-image holdout and the fixed manifest, with the settings the demos use. Pilots are two epochs, about 30 minutes; a full run is ten epochs, about two hours.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already made to numbers and demos</a:t>
            </a:r>
            <a:endParaRPr lang="en-US" sz="2700" dirty="0"/>
          </a:p>
        </p:txBody>
      </p:sp>
      <p:sp>
        <p:nvSpPr>
          <p:cNvPr id="3" name="Headline number"/>
          <p:cNvSpPr/>
          <p:nvPr/>
        </p:nvSpPr>
        <p:spPr>
          <a:xfrm>
            <a:off x="457200" y="1280160"/>
            <a:ext cx="4023360" cy="1554480"/>
          </a:xfrm>
          <a:prstGeom prst="roundRect">
            <a:avLst>
              <a:gd name="adj" fmla="val 4706"/>
            </a:avLst>
          </a:prstGeom>
          <a:solidFill>
            <a:schemeClr val="bg2"/>
          </a:solidFill>
          <a:ln w="12700">
            <a:solidFill>
              <a:schemeClr val="bg2"/>
            </a:solidFill>
            <a:prstDash val="solid"/>
          </a:ln>
        </p:spPr>
      </p:sp>
      <p:sp>
        <p:nvSpPr>
          <p:cNvPr id="4" name="Headline number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Headline number head"/>
          <p:cNvSpPr txBox="1"/>
          <p:nvPr/>
        </p:nvSpPr>
        <p:spPr>
          <a:xfrm>
            <a:off x="1143000" y="141732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65960"/>
            <a:ext cx="3657600" cy="731520"/>
          </a:xfrm>
          <a:prstGeom prst="rect">
            <a:avLst/>
          </a:prstGeom>
          <a:noFill/>
          <a:ln/>
        </p:spPr>
        <p:txBody>
          <a:bodyPr wrap="square" lIns="0" tIns="0" rIns="0" bIns="0" rtlCol="0" anchor="t"/>
          <a:lstStyle/>
          <a:p>
            <a:pPr indent="0" marL="0">
              <a:buNone/>
            </a:pPr>
            <a:r>
              <a:rPr lang="en-US" sz="1200" dirty="0">
                <a:solidFill>
                  <a:schemeClr val="tx2"/>
                </a:solidFill>
              </a:rPr>
              <a:t>AnnyOne holdout PVE is 70.5 mm with helper bones masked, the setting the demos use. The 74.3 mm in the thesis is the unmasked evaluation (+3.8 mm paired).</a:t>
            </a:r>
            <a:endParaRPr lang="en-US" sz="1200" dirty="0"/>
          </a:p>
        </p:txBody>
      </p:sp>
      <p:sp>
        <p:nvSpPr>
          <p:cNvPr id="7" name="Demos"/>
          <p:cNvSpPr/>
          <p:nvPr/>
        </p:nvSpPr>
        <p:spPr>
          <a:xfrm>
            <a:off x="4663440" y="1280160"/>
            <a:ext cx="4023360" cy="1554480"/>
          </a:xfrm>
          <a:prstGeom prst="roundRect">
            <a:avLst>
              <a:gd name="adj" fmla="val 4706"/>
            </a:avLst>
          </a:prstGeom>
          <a:solidFill>
            <a:schemeClr val="bg2"/>
          </a:solidFill>
          <a:ln w="12700">
            <a:solidFill>
              <a:schemeClr val="bg2"/>
            </a:solidFill>
            <a:prstDash val="solid"/>
          </a:ln>
        </p:spPr>
      </p:sp>
      <p:sp>
        <p:nvSpPr>
          <p:cNvPr id="8" name="Demos dot"/>
          <p:cNvSpPr/>
          <p:nvPr/>
        </p:nvSpPr>
        <p:spPr>
          <a:xfrm>
            <a:off x="4846320" y="1463040"/>
            <a:ext cx="384048" cy="384048"/>
          </a:xfrm>
          <a:prstGeom prst="ellipse">
            <a:avLst/>
          </a:prstGeom>
          <a:solidFill>
            <a:srgbClr val="E8792B"/>
          </a:solidFill>
          <a:ln w="12700">
            <a:solidFill>
              <a:srgbClr val="E8792B"/>
            </a:solidFill>
            <a:prstDash val="solid"/>
          </a:ln>
        </p:spPr>
      </p:sp>
      <p:sp>
        <p:nvSpPr>
          <p:cNvPr id="9" name="Demos head"/>
          <p:cNvSpPr txBox="1"/>
          <p:nvPr/>
        </p:nvSpPr>
        <p:spPr>
          <a:xfrm>
            <a:off x="5349240" y="141732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65960"/>
            <a:ext cx="3657600" cy="731520"/>
          </a:xfrm>
          <a:prstGeom prst="rect">
            <a:avLst/>
          </a:prstGeom>
          <a:noFill/>
          <a:ln/>
        </p:spPr>
        <p:txBody>
          <a:bodyPr wrap="square" lIns="0" tIns="0" rIns="0" bIns="0" rtlCol="0" anchor="t"/>
          <a:lstStyle/>
          <a:p>
            <a:pPr indent="0" marL="0">
              <a:buNone/>
            </a:pP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3017520"/>
            <a:ext cx="4023360" cy="1554480"/>
          </a:xfrm>
          <a:prstGeom prst="roundRect">
            <a:avLst>
              <a:gd name="adj" fmla="val 4706"/>
            </a:avLst>
          </a:prstGeom>
          <a:solidFill>
            <a:schemeClr val="bg2"/>
          </a:solidFill>
          <a:ln w="12700">
            <a:solidFill>
              <a:schemeClr val="bg2"/>
            </a:solidFill>
            <a:prstDash val="solid"/>
          </a:ln>
        </p:spPr>
      </p:sp>
      <p:sp>
        <p:nvSpPr>
          <p:cNvPr id="12" name="Wording dot"/>
          <p:cNvSpPr/>
          <p:nvPr/>
        </p:nvSpPr>
        <p:spPr>
          <a:xfrm>
            <a:off x="640080" y="3200400"/>
            <a:ext cx="384048" cy="384048"/>
          </a:xfrm>
          <a:prstGeom prst="ellipse">
            <a:avLst/>
          </a:prstGeom>
          <a:solidFill>
            <a:srgbClr val="3BA55D"/>
          </a:solidFill>
          <a:ln w="12700">
            <a:solidFill>
              <a:srgbClr val="3BA55D"/>
            </a:solidFill>
            <a:prstDash val="solid"/>
          </a:ln>
        </p:spPr>
      </p:sp>
      <p:sp>
        <p:nvSpPr>
          <p:cNvPr id="13" name="Wording head"/>
          <p:cNvSpPr txBox="1"/>
          <p:nvPr/>
        </p:nvSpPr>
        <p:spPr>
          <a:xfrm>
            <a:off x="1143000" y="315468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703320"/>
            <a:ext cx="3657600" cy="731520"/>
          </a:xfrm>
          <a:prstGeom prst="rect">
            <a:avLst/>
          </a:prstGeom>
          <a:noFill/>
          <a:ln/>
        </p:spPr>
        <p:txBody>
          <a:bodyPr wrap="square" lIns="0" tIns="0" rIns="0" bIns="0" rtlCol="0" anchor="t"/>
          <a:lstStyle/>
          <a:p>
            <a:pPr indent="0" marL="0">
              <a:buNone/>
            </a:pPr>
            <a:r>
              <a:rPr lang="en-US" sz="1200" dirty="0">
                <a:solidFill>
                  <a:schemeClr val="tx2"/>
                </a:solidFill>
              </a:rPr>
              <a:t>Neck, fingers and children are no longer described as rig or decoding problems. A Known-defects section documents the depth bug.</a:t>
            </a:r>
            <a:endParaRPr lang="en-US" sz="1200" dirty="0"/>
          </a:p>
        </p:txBody>
      </p:sp>
      <p:sp>
        <p:nvSpPr>
          <p:cNvPr id="15" name="Repository"/>
          <p:cNvSpPr/>
          <p:nvPr/>
        </p:nvSpPr>
        <p:spPr>
          <a:xfrm>
            <a:off x="4663440" y="3017520"/>
            <a:ext cx="4023360" cy="1554480"/>
          </a:xfrm>
          <a:prstGeom prst="roundRect">
            <a:avLst>
              <a:gd name="adj" fmla="val 4706"/>
            </a:avLst>
          </a:prstGeom>
          <a:solidFill>
            <a:schemeClr val="bg2"/>
          </a:solidFill>
          <a:ln w="12700">
            <a:solidFill>
              <a:schemeClr val="bg2"/>
            </a:solidFill>
            <a:prstDash val="solid"/>
          </a:ln>
        </p:spPr>
      </p:sp>
      <p:sp>
        <p:nvSpPr>
          <p:cNvPr id="16" name="Repository dot"/>
          <p:cNvSpPr/>
          <p:nvPr/>
        </p:nvSpPr>
        <p:spPr>
          <a:xfrm>
            <a:off x="4846320" y="3200400"/>
            <a:ext cx="384048" cy="384048"/>
          </a:xfrm>
          <a:prstGeom prst="ellipse">
            <a:avLst/>
          </a:prstGeom>
          <a:solidFill>
            <a:srgbClr val="7B8794"/>
          </a:solidFill>
          <a:ln w="12700">
            <a:solidFill>
              <a:srgbClr val="7B8794"/>
            </a:solidFill>
            <a:prstDash val="solid"/>
          </a:ln>
        </p:spPr>
      </p:sp>
      <p:sp>
        <p:nvSpPr>
          <p:cNvPr id="17" name="Repository head"/>
          <p:cNvSpPr txBox="1"/>
          <p:nvPr/>
        </p:nvSpPr>
        <p:spPr>
          <a:xfrm>
            <a:off x="5349240" y="315468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703320"/>
            <a:ext cx="3657600" cy="731520"/>
          </a:xfrm>
          <a:prstGeom prst="rect">
            <a:avLst/>
          </a:prstGeom>
          <a:noFill/>
          <a:ln/>
        </p:spPr>
        <p:txBody>
          <a:bodyPr wrap="square" lIns="0" tIns="0" rIns="0" bIns="0" rtlCol="0" anchor="t"/>
          <a:lstStyle/>
          <a:p>
            <a:pPr indent="0" marL="0">
              <a:buNone/>
            </a:pP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What I claim today, and what I do not</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b="1" dirty="0">
                <a:solidFill>
                  <a:srgbClr val="F4C95D"/>
                </a:solidFill>
              </a:rPr>
              <a:t>Claimed, measured: </a:t>
            </a:r>
            <a:pPr algn="l" indent="0" marL="0">
              <a:buNone/>
            </a:pPr>
            <a:r>
              <a:rPr lang="en-US" sz="1800" dirty="0">
                <a:solidFill>
                  <a:schemeClr val="bg2"/>
                </a:solidFill>
              </a:rPr>
              <a:t>the three failures are supervision and data problems, not rig problems; a training-target bug depresses depth in every model; its fix moves depth in the right direction after two epochs.</a:t>
            </a:r>
            <a:endParaRPr lang="en-US" sz="1800" dirty="0"/>
          </a:p>
          <a:p>
            <a:pPr algn="l" indent="0" marL="0">
              <a:buNone/>
            </a:pPr>
            <a:r>
              <a:rPr lang="en-US" sz="1800" b="1" dirty="0">
                <a:solidFill>
                  <a:srgbClr val="F4C95D"/>
                </a:solidFill>
              </a:rPr>
              <a:t>Not claimed yet: </a:t>
            </a:r>
            <a:pPr algn="l" indent="0" marL="0">
              <a:buNone/>
            </a:pPr>
            <a:r>
              <a:rPr lang="en-US" sz="1800" dirty="0">
                <a:solidFill>
                  <a:schemeClr val="bg2"/>
                </a:solidFill>
              </a:rPr>
              <a:t>any improvement in neck, fingers or children, and the final effect of the depth fix. The ten-epoch runs and the pilots decide that this week.</a:t>
            </a:r>
            <a:endParaRPr lang="en-US" sz="1800" dirty="0"/>
          </a:p>
          <a:p>
            <a:pPr algn="l" indent="0" marL="0">
              <a:buNone/>
            </a:pPr>
            <a:r>
              <a:rPr lang="en-US" sz="1800" b="1" dirty="0">
                <a:solidFill>
                  <a:srgbClr val="F4C95D"/>
                </a:solidFill>
              </a:rPr>
              <a:t>Question for you: </a:t>
            </a:r>
            <a:pPr algn="l" indent="0" marL="0">
              <a:buNone/>
            </a:pPr>
            <a:r>
              <a:rPr lang="en-US" sz="1800" dirty="0">
                <a:solidFill>
                  <a:schemeClr val="bg2"/>
                </a:solidFill>
              </a:rPr>
              <a:t>should the depth fix be retrained into v9, the best model, before the thesis numbers are final?</a:t>
            </a:r>
            <a:endParaRPr lang="en-US" sz="1800" dirty="0"/>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2026-10-14T14:51:41Z</dcterms:created>
  <dcterms:modified xsi:type="dcterms:W3CDTF">2026-10-14T14:51:41Z</dcterms:modified>
</cp:coreProperties>
</file>