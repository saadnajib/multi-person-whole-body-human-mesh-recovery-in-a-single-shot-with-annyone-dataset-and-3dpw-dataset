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2625b282-a03d-8e92-5b7a-f80245ebbdd0}">
          <p14:sldIdLst>
            <p14:sldId id="256"/>
            <p14:sldId id="257"/>
            <p14:sldId id="258"/>
          </p14:sldIdLst>
        </p14:section>
        <p14:section name="Data" id="{1ba729e0-362a-50b5-ad3e-1df1b9e27650}">
          <p14:sldIdLst>
            <p14:sldId id="259"/>
            <p14:sldId id="260"/>
            <p14:sldId id="261"/>
          </p14:sldIdLst>
        </p14:section>
        <p14:section name="Training" id="{a73787bd-3aea-39be-0b45-9a6de1bf528b}">
          <p14:sldIdLst>
            <p14:sldId id="262"/>
            <p14:sldId id="263"/>
            <p14:sldId id="264"/>
          </p14:sldIdLst>
        </p14:section>
        <p14:section name="Findings and fixes" id="{8036859e-b38f-e06e-fa2b-048969c4c98a}">
          <p14:sldIdLst>
            <p14:sldId id="265"/>
            <p14:sldId id="266"/>
            <p14:sldId id="267"/>
            <p14:sldId id="268"/>
            <p14:sldId id="269"/>
            <p14:sldId id="270"/>
            <p14:sldId id="271"/>
            <p14:sldId id="272"/>
            <p14:sldId id="273"/>
            <p14:sldId id="274"/>
          </p14:sldIdLst>
        </p14:section>
        <p14:section name="Final model" id="{6c92e0f8-e872-323a-7131-36c76ebfed4a}">
          <p14:sldIdLst>
            <p14:sldId id="275"/>
            <p14:sldId id="276"/>
          </p14:sldIdLst>
        </p14:section>
        <p14:section name="Requirements and plan" id="{5434d17f-de1b-e275-8d04-29a2aca4fa5b}">
          <p14:sldIdLst>
            <p14:sldId id="277"/>
            <p14:sldId id="278"/>
            <p14:sldId id="279"/>
            <p14:sldId id="280"/>
            <p14:sldId id="281"/>
          </p14:sldIdLst>
        </p14:section>
        <p14:section name="Appendix" id="{95b87eda-94ad-7081-92e9-47261b236e2d}">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talk tells the whole story in order: the goal and your requirements, the model, the data, how it is trained and measured, what went wrong and how I fixed it, the final model, and the plan for the next four weeks. The five lines on this slide are the results. A hidden bug in the training targets made every body too small in the image; it is fixed for size, not yet for near-versus-far depth. Two neck bones and two hand bones were turned half a turn; a fixed correction at the output turns them back with no new parameters. 3DPW is converted to Anny, three label defects are fixed, and it is in training. The final model is our best on the 3DPW test, and gender on real photos goes from chance to 64 percent. What is not done: a model that is not Multi-HMR, and temporal modelling. I will say for every number whether it is measured or only seen by eye.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goal in one sentence. From one photo the model finds every person and predicts their Anny body: the pose, which is how each bone is turned; the shape, eleven values between 0 and 1 such as gender, age, height and weight; and the distance from the camera. The strip shows the four steps: photo, find people on a grid, predict pose, shape and depth per person, and the Anny body model turns that into a mesh. On the right are your six requirements from the e-mail of 18 October, each with a status dot: green met, orange partly, red not met, grey not started. Two are met: 3DPW is evaluated in Anny space and used in training. Pose and shape are partly there. The model is still Multi-HMR, so 1b is not met; the smaller model is my route. Temporal modelling has not started. The report and the code are partly done. Slide 23 has the evidence for each dot.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left to right. The photo is resized to 672 pixels. A DINOv2 ViT-L backbone cuts it into 14-pixel patches, a 48 by 48 grid, and gives one feature per cell. A detection layer says, per cell, whether a person's head is there, with a small offset to place it exactly. For each detected person a cross-attention head predicts the pose, 163 bone rotations of which 75 are trained and 88 helper bones are held fixed, the shape, 11 Anny values between 0 and 1, and the distance from the camera. The Anny body model turns pose and shape into a mesh. What is ours is marked in teal: the output layer sized for Anny, the head-anchor fix in the training code, the bone fix at the output, and the 3DPW conversion and recipe. I want to be honest about requirement 1b: this is still Multi-HMR's architecture, and the backbone weights come from NAVER's Anny checkpoint. The smaller model on slide 24 is my route.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and every number later names one of them. AnnyOne is synthetic: 579,960 renders with exact Anny pose and all eleven shape values, from babies to old people. It is 70 percent of every training batch, and its last 100 images are the holdout that no model trained on. 3DPW is real video, 60 sequences, with SMPL ground truth that I fitted to Anny. Its labels carry pose, gender, height and proportions, but eight shape values are constants and the hands and head stay at rest, so it tests pose more than shape. The train split is 30 percent of each batch; the test split, 8,190 images with 11,854 people, is our real-video test. Relative Human is real photos with an age group and a gender per person and no 3D, so we use it only to measure children, gender and recall: 635 images, 2,130 people. The demo photos have no labels and are judged by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minimises a weighted sum of ten terms, and this table says what each one compares in plain words. Two find the people: a detection score per grid cell, and a small offset that places the head exactly. Four describe the person: bone rotations, the eleven shape values, the distance from the camera, and the 3D position. Four compare the resulting body with the truth: joints and mesh points in 3D, both centred on the pelvis, and the same projected onto the photo. The last column is the weight in the final model, with Multi-HMR's default where ours differs: shape is twenty instead of one, the two depth terms are five instead of one, that is the depth fix, and the 2D terms are small. For 3DPW people the hand bones are not scored, because their labels are a rest pose, not real fingers. The masked arm on slide 19 also drops the eight constant shape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v5 fine-tuned for ten epochs with five changes. First, the depth fix: the training targets for position and distance are built at the head, which is where the model anchors each body, and the two depth losses are five times stronger. Second, the bone fix: four bones are turned back by a constant at the output, with no new parameters. Third, thirty percent of every batch are real 3DPW frames with the corrected labels. Fourth, the hand losses are not scored for 3DPW people, because their finger labels are a rest pose. Fifth, the schedule: forty thousand images, about seventy minutes on one GPU. The control shares everything except the depth and bone fixes, so the right column shows what those two add: bodies drawn at 78 instead of 59 percent of their size, a normal neck, half the finger error, and about two millimetres on the 3DPW test. Each arm ran once, so small differences are noise.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metrics, in plain words. PVE is the mean distance between predicted and true mesh points after lining up the pelvis; it is our headline number, and lower is better. PA-PVE also matches rotation and scale, so it measures pose and shape alone. Recall is the share of true people found, precision the share of detections that match a real person. The root error is the 3D distance between the predicted and the true pelvis, mostly a depth error. The drawn size ratio says how large the body is on the photo compared with the truth; one is right. The depth slope says whether near and far people are told apart; one is perfect, zero means everyone at the same depth. Bone angle errors near 180 degrees mean a flipped bone. The neck girth ratio compares neck thickness. On Relative Human we report the children AUC and gender accuracy, where 0.5 and 50 percent are chance. And the noise floor: two identical runs differed by 7.6 millimetres, so one run only detects about 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changing anything I tested each stage on its own, with six checks. Render the labels without the network: do they sit on the people? Move one joint of the body model at a time: does the mesh react correctly? Do all outputs receive gradients? Compare predictions with the truth on a fixed holdout of 100 images and a fixed set of 55 adults, children, hands and hard necks. Put the true shape into the predicted pose. And an overfit test: can the optimiser memorise 40 images? The results below: the ground truth decodes correctly, the body model is fine, and gradients reach every bone and every shape output. The optimiser works, with two warnings: while the images were memorised, the position and 2D losses went up instead of down, possibly the first sign of the depth bug, although that is a guess, and the summed rotation loss barely moved. So the failures are not rig or decoding problems, which is how the thesis described them until now. The cause had to be in training.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in this pilot run, 22 percent in the final model,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20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20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20).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18).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21); on Relative Human its gender accuracy is 64 percent, against 46.5 for v5 (slide 18).</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17).</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 and gender are measured on Relative Human, real photos with an age group and a gender per person: 635 images, 2,130 people. The table has three models: v5, the final model, and the masked arm from the next slide. v5 reads children as short adults: kids, babies and adults all get an age of about 0.6, only the height drops, and gender is at chance, 46 percent, because the shape head gives the training median for everyone. The final model is better on every line: it finds 65 percent of the people instead of 47, gets gender right for 64 percent, women clearly and men still in the middle, and babies now come out at 0.44 against 0.54 for adults, so the children AUC rises from 0.61 to 0.72 and half of the babies fall below the child line. Part of that age shift is likely the 3DPW age label of 0.55, which pulls every real person down. I call this a measured improvement, not a solution: kids are still near adult age, and the one child in our demo photos still gets an adult body. The tiles on the right are the synthetic side: a balanced sampler was inconclusive, and training babies come out too old.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requirement 1a-shape, that body shape should visibly change per person. The 3DPW labels carry eight constant shape values for everyone, because the fitter never estimates them: age 0.55 and seven values at 0.5. The final model learned those constants, so on real photos muscle, weight, cup size and firmness all sit near 0.5 with almost no spread. The mask says: do not learn these eight values from 3DPW people. One run with the mask, otherwise identical, shows a trade-off. On the left side of the trade, variety comes back: the spread of weight and cup size nearly triples on the demo photos. On the right side, gender accuracy falls back to chance, recall drops, and babies move back toward adult age. The error numbers do not change beyond noise. So on 18 October I kept the unmasked model. The follow-up run, which masks only the seven 0.5 constants and keeps age supervised, finished last night: it keeps the children, AUC 0.73 and babies at 0.47, but gender still falls to chance, 47 percent, so the age label carries the children, and gender likely leans on the constants as much as on its own label; that reading is not tested. The unmasked model stays the final model and the student's teacher.</a:t>
            </a:r>
          </a:p>
          <a:p>
            <a:endParaRPr lang="en-US" dirty="0"/>
          </a:p>
          <a:p>
            <a:r>
              <a:rPr lang="en-US" dirty="0"/>
              <a:t>If asked:</a:t>
            </a:r>
          </a:p>
          <a:p>
            <a:r>
              <a:rPr lang="en-US" dirty="0"/>
              <a:t>- Partial mask, job 3614042, Relative Human job 3616821: holdout PVE 73.0, PA-PVE 51.2, recall 87.4; 3DPW test 89.9 and 58.9, all within noise of the final model. Relative Human recall 63 percent, gender 47.4 percent with men at 0.73 and women at 0.89, both on the female side; AUC 0.727; ages adult 0.53, kid 0.51, baby 0.47; 34 percent of babies below the child line. Its demo spread was not measured, because gender had already failed the rule.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NAVER's own Anny model, run with our code on the same labels, gets 126.9 on the 3DPW test, about v5's level and 37.9 millimetres behind the final model.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NAVER's Anny model, job 3614192, same script and images: PVE 126.9, PA-PVE 68.8, MPJPE 129.4, PA-MPJPE 66.4, precision 75 percent, recall 97.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18).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18).</a:t>
            </a:r>
          </a:p>
          <a:p>
            <a:endParaRPr lang="en-US" dirty="0"/>
          </a:p>
          <a:p>
            <a:r>
              <a:rPr lang="en-US" dirty="0"/>
              <a:t>If asked:</a:t>
            </a:r>
          </a:p>
          <a:p>
            <a:r>
              <a:rPr lang="en-US" dirty="0"/>
              <a:t>- Source: demo job 3612078, the same demo script as slide 16,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18.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18).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20.</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17;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I have not yet shown predicted hands on real photos, because every real-photo demo so far relaxes the fingers. Shape is partly there and at risk: gender now changes per person, 64 percent correct on Relative Human, and age partly, but muscle, weight, cup size and firmness sit near 0.5, the values the 3DPW labels fix; the masked run tested that: variety comes back, but gender and children fall back (slide 19), so the next run keeps age supervised. Requirement 1b is not met, and I want to be clear about it: our model is the upstream Multi-HMR with its output layer resized for Anny and a bone correction that adds no parameters, and its backbone weights come from NAVER's Anny checkpoint. My proposed route is the smaller-model option: a ViT-B student distilled from the final model, about 101 million parameters and 603 GFLOPs against 318 million and 1,927 for our ViT-L, so 3.1 times fewer parameters and 3.2 times fewer FLOPs, with the milliseconds per image measured. The bar is the one the script computes: the student's error may be at most the teacher's divided by 0.95 on both AnnyOne and 3DPW, reported against our ViT-L and against NAVER's ViT-L. NAVER's model is now measured with our code on the same labels: 60.3 millimetres on the AnnyOne holdout, against our 73.7, but likely in-sample for NAVER, which trained on the whole AnnyOne release; and 126.9 on the 3DPW test, far worse than our 89.0. So our model already beats NAVER's on real photos, and the AnnyOne gap of 13.4 millimetres is likely an in-sample advantage. The risk: NAVER's own ViT-B is about 15 percent worse than its ViT-L on synthetic BEDLAM data, so AnnyOne may miss the bar; it is one long job, launched on 18 October, 30 epochs with a 20-hour limit, so the result comes this week once the queue runs it; the details are on the next slide. Temporal modelling has not started; my plan is a small refiner on top of the frozen per-frame model, in month two. The report has a draft, whose 74 millimetre headline must become 70.5,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Evaluated with our code on the same labels on 18 October (job 3614192): AnnyOne holdout PVE 60.3, PA-PVE 44.6, recall 89 percent; 3DPW test PVE 126.9, PA-PVE 68.8, recall 97 percent. Our final model: 73.7 and 50.3 on AnnyOne, 89.0 and 57.6 on 3DPW. NAVER's model was likely trained on all of AnnyOne, so our 100 holdout images are probably in its training set: held out for us, not for it. Its parameters are now measured too: 380.9 million, so our final model is already 16 percent smaller, which by itself is not the significantly smaller model 1b asks for.</a:t>
            </a:r>
          </a:p>
          <a:p>
            <a:r>
              <a:rPr lang="en-US" dirty="0"/>
              <a:t>- FLOPs: counted analytically from the layer shapes at 672 pixels, with one multiply-add counted as two FLOPs; the ViT-L backbone alone is about 1,917 of the 1,927 GFLOPs. NAVER's model is measured too (job 3614947): 380.9 million parameters against our 318.4 million; the backbone is the same, so the difference is its eight-layer decoder head, 76.6 million parameters against our 14.0 million. Its head FLOPs and milliseconds are not measured, because the cost script only times our model class. The milliseconds: teacher 110 and student 51.4 on an A40 (job 3613926); the teacher alone 77.9 on an A100 (job 3614947).</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slide 26.</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1b is not met today, and this is my route: the smaller-model option. The student is a ViT-B version of the same model, trained to copy the final model, which is the teacher. The cost side is already measured in the smoke test: 101 million parameters against 318, 603 GFLOPs against 1,927, and 51 against 110 milliseconds per image on the same A40 GPU; that is about three times smaller and twice as fast. The error side is pending. Your rule says the student's errors may be at most the teacher's divided by 0.95 on both test sets, so at most 77.6 millimetres on AnnyOne and 93.7 on 3DPW. NAVER's own Anny model is now measured with our code on the same labels: 60.3 millimetres PVE on the AnnyOne holdout and 126.9 on the 3DPW test, against 73.7 and 89.0 for our final model. Its cost is now measured too (job 3614947, on an A100): 380.9 million parameters against our 318.4 million. The backbone is the same ViT-L, so the whole difference is the head: NAVER's eight-layer cross-attention decoder has 76.6 million parameters, ours 14.0 million; so our final model is already 16 percent smaller than NAVER's, which by itself is not the significantly smaller model you asked for, and the student is 3.76 times smaller than NAVER's model and 3.14 times smaller than ours. On that A100 our teacher runs in 77.9 milliseconds per image; NAVER's milliseconds are not measured, because the timing code supports only our model class. The AnnyOne number is likely in-sample for NAVER: it was trained on the whole AnnyOne release, so our 100 holdout images are probably in its training set, held out only for us. Against NAVER the 95 percent bar would be 63.5 millimetres on AnnyOne, which no student of a 73.7 millimetre teacher can reach, and 133.6 on 3DPW, which is trivially met; so which baseline counts is my first question on slide 26. The full run was launched yesterday with a twenty-hour limit, so the result comes this week once the queue runs it. The risk: NAVER's own ViT-B is 15 percent worse than its ViT-L on synthetic data, so AnnyOne may miss. And I need your answer on whether this counts as not exactly Multi-HMR.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week by week, from the requirements document. NAVER's baseline result came in on 18 October, so it is done. Week one: the partial-mask arm and its Relative Human check are done, on the night before this meeting: children kept, gender lost, so the unmasked model stays the final ViT-L; measure the shape values on AnnyOne properly. Week two: the figures that answer your shape requirement, a rest-pose line-up and real photos with predicted fingers, which no demo has shown yet; and the Method and Data chapters. The student was launched yesterday, so its result comes this week once the queue runs it; the 95 percent table is built against our ViT-L and NAVER's. Week three: if the student missed the bar, train it longer; confidence intervals; the Experiments chapter. Week four: one final table with one protocol for every model, and the start of the model release. That closes part one of your list around 15 November. Weeks five and six are the temporal refiner, weeks seven and eight writing, clean-up and the presentation. I have dropped the ViT-S student, the children sampler and the depth-slope investigation.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20). On Relative Human, the final model is better than v5 on every line: gender accuracy 46 to 64 percent, child-vs-adult AUC 0.61 to 0.72, recall 47 to 65 percent (slide 18).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(slide 23).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NAVER's model gets 60.3 millimetres on AnnyOne, likely in-sample for it, and 126.9 on 3DPW, against our 73.7 and 89.0: against NAVER the bar would be 63.5 on AnnyOne, out of reach for any student of our teacher, and 133.6 on 3DPW, already met.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NAVER baseline, job 3614192, its own multiHMR_672_L_anny run with our code, labels and settings: AnnyOne holdout PVE 60.3, PA-PVE 44.6, MPJPE 63.3, PA-MPJPE 45.0, recall 89 percent; 3DPW test PVE 126.9, PA-PVE 68.8, MPJPE 129.4, PA-MPJPE 66.4, recall 97 percent. It was likely trained on all of AnnyOne, so its AnnyOne number is probably in-sample and not a fair test number for it. Our final model already beats it on 3DPW, 89.0 against 126.9, but not on AnnyOne, so a new-architecture route to 1b would hinge on AnnyOne.</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20.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done (slide 19): body variety on photos opens, gender and children fall back; a partial mask that keeps age is queued (job 3614042).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20).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18);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20).</a:t>
            </a:r>
          </a:p>
          <a:p>
            <a:endParaRPr lang="en-US" dirty="0"/>
          </a:p>
          <a:p>
            <a:r>
              <a:rPr lang="en-US" dirty="0"/>
              <a:t>If asked: Neck: the fine-tuned checkpoint carries the fix in its saved settings, so the demo applies it on load; the demo comparison, job 3581312, ran it next to v5 on 4 example photos and 8 3DPW test frames (slide 16); I have looked at 8 of these 12 images so far. In the 12 side-by-side holdout panels, with the correction alone and no training, the necks have normal width wherever a neck is visible (slide 16).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20). The twenty-times 10-epoch run has no result yet. Close people: v5 and the depth-fix model both miss them in 4 of the 12 rendered holdout images (slide 13).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slide is the provenance table: every number in the deck comes from one of these jobs. v5 epoch 99 is the starting point. The final model is job 3611336 and its control 3611339; the masked-shape arm is 3612325 and the partial mask 3614042, done, with its Relative Human run 3616821: gender fell to chance, so it was not adopted. The ViT-B student is job 3614191 after the smoke test 3613926, and NAVER's Anny model was evaluated in job 3614192: 60.3 millimetres on the AnnyOne holdout, likely in-sample for it, and 126.9 on the 3DPW test. Its cost was measured in job 3614947, on an A100: 380.9 million parameters, of which the head is 76.6 million, against 318.4 million for our final model, which runs in 77.9 milliseconds there; the numbers are in results/diagnostics/model_cost_naver_vs_final.json. The Relative Human evaluations are 3611285 for v5, 3612131 for the final model and 3613616 for the masked arm; the demos 3612078 and 3613617; the 3DPW test evaluations 3612073 to 75 for the older models, while the final model and the control have theirs inside their own logs. The label check is 3611284, and the bone fix comes from exp6, job 3579014. Checkpoints are not in git yet; the release with checksums is planned for week four.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image" Target="../media/image-16-3.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3400" b="1" dirty="0">
                <a:solidFill>
                  <a:schemeClr val="bg1"/>
                </a:solidFill>
              </a:rPr>
              <a:t>Multi-HMR with Anny:</a:t>
            </a:r>
            <a:endParaRPr lang="en-US" sz="4000" dirty="0"/>
          </a:p>
          <a:p>
            <a:pPr algn="l" indent="0" marL="0">
              <a:buNone/>
            </a:pPr>
            <a:r>
              <a:rPr lang="en-US" sz="3400" b="1" dirty="0">
                <a:solidFill>
                  <a:schemeClr val="bg1"/>
                </a:solidFill>
              </a:rPr>
              <a:t>what we changed and what we measured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A hidden depth bug: bodies were drawn at 0.63 of their true size; now 0.78.</a:t>
            </a:r>
            <a:endParaRPr lang="en-US" sz="1800" dirty="0"/>
          </a:p>
          <a:p>
            <a:pPr algn="l" indent="0" marL="0">
              <a:buNone/>
            </a:pPr>
            <a:r>
              <a:rPr lang="en-US" sz="1600" dirty="0">
                <a:solidFill>
                  <a:schemeClr val="bg2"/>
                </a:solidFill>
              </a:rPr>
              <a:t>Neck and finger bones were half a turn off; a 0-parameter fix turns them back.</a:t>
            </a:r>
            <a:endParaRPr lang="en-US" sz="1800" dirty="0"/>
          </a:p>
          <a:p>
            <a:pPr algn="l" indent="0" marL="0">
              <a:buNone/>
            </a:pPr>
            <a:r>
              <a:rPr lang="en-US" sz="1600" dirty="0">
                <a:solidFill>
                  <a:schemeClr val="bg2"/>
                </a:solidFill>
              </a:rPr>
              <a:t>3DPW converted to Anny, three label defects fixed, and 30% of every training batch.</a:t>
            </a:r>
            <a:endParaRPr lang="en-US" sz="1800" dirty="0"/>
          </a:p>
          <a:p>
            <a:pPr algn="l" indent="0" marL="0">
              <a:buNone/>
            </a:pPr>
            <a:r>
              <a:rPr lang="en-US" sz="1600" dirty="0">
                <a:solidFill>
                  <a:schemeClr val="bg2"/>
                </a:solidFill>
              </a:rPr>
              <a:t>Final model: best on 3DPW test, 89.0 mm (v5 121.8); real photos: gender 46 → 64%.</a:t>
            </a:r>
            <a:endParaRPr lang="en-US" sz="1800" dirty="0"/>
          </a:p>
          <a:p>
            <a:pPr algn="l" indent="0" marL="0">
              <a:buNone/>
            </a:pPr>
            <a:r>
              <a:rPr lang="en-US" sz="1600" dirty="0">
                <a:solidFill>
                  <a:schemeClr val="bg2"/>
                </a:solidFill>
              </a:rPr>
              <a:t>Not yet: a model that is not Multi-HMR (ViT-B student running) and temporal modelling.</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goal and your requirements</a:t>
            </a:r>
            <a:endParaRPr lang="en-US" sz="2700" dirty="0"/>
          </a:p>
        </p:txBody>
      </p:sp>
      <p:sp>
        <p:nvSpPr>
          <p:cNvPr id="3" name="task sentence"/>
          <p:cNvSpPr txBox="1"/>
          <p:nvPr/>
        </p:nvSpPr>
        <p:spPr>
          <a:xfrm>
            <a:off x="457200" y="11430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The task. </a:t>
            </a:r>
            <a:r>
              <a:rPr lang="en-US" sz="1200" dirty="0">
                <a:solidFill>
                  <a:schemeClr val="tx1"/>
                </a:solidFill>
              </a:rPr>
              <a:t>From one photo, find every person and predict their Anny body: the pose (how each bone is turned), the shape (11 values such as gender, age, height and weight, each between 0 and 1) and the distance from the camera.</a:t>
            </a:r>
            <a:endParaRPr lang="en-US" sz="1200" dirty="0"/>
          </a:p>
        </p:txBody>
      </p:sp>
      <p:sp>
        <p:nvSpPr>
          <p:cNvPr id="4" name="pipe box 0"/>
          <p:cNvSpPr/>
          <p:nvPr/>
        </p:nvSpPr>
        <p:spPr>
          <a:xfrm>
            <a:off x="457200" y="2148840"/>
            <a:ext cx="896112" cy="868680"/>
          </a:xfrm>
          <a:prstGeom prst="roundRect">
            <a:avLst>
              <a:gd name="adj" fmla="val 8421"/>
            </a:avLst>
          </a:prstGeom>
          <a:solidFill>
            <a:schemeClr val="bg2"/>
          </a:solidFill>
          <a:ln w="12700">
            <a:solidFill>
              <a:schemeClr val="bg2"/>
            </a:solidFill>
            <a:prstDash val="solid"/>
          </a:ln>
        </p:spPr>
      </p:sp>
      <p:sp>
        <p:nvSpPr>
          <p:cNvPr id="5" name="pipe text 0"/>
          <p:cNvSpPr txBox="1"/>
          <p:nvPr/>
        </p:nvSpPr>
        <p:spPr>
          <a:xfrm>
            <a:off x="502920"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Photo</a:t>
            </a:r>
            <a:endParaRPr lang="en-US" sz="1150" dirty="0"/>
          </a:p>
          <a:p>
            <a:pPr algn="ctr" indent="0" marL="0">
              <a:buNone/>
            </a:pPr>
            <a:r>
              <a:rPr lang="en-US" sz="950" dirty="0">
                <a:solidFill>
                  <a:srgbClr val="4A5568"/>
                </a:solidFill>
              </a:rPr>
              <a:t>one image, 672 px</a:t>
            </a:r>
            <a:endParaRPr lang="en-US" sz="1150" dirty="0"/>
          </a:p>
        </p:txBody>
      </p:sp>
      <p:sp>
        <p:nvSpPr>
          <p:cNvPr id="6" name="pipe arrow 0"/>
          <p:cNvSpPr/>
          <p:nvPr/>
        </p:nvSpPr>
        <p:spPr>
          <a:xfrm>
            <a:off x="1371600" y="2583180"/>
            <a:ext cx="109728" cy="0"/>
          </a:xfrm>
          <a:prstGeom prst="line">
            <a:avLst/>
          </a:prstGeom>
          <a:noFill/>
          <a:ln w="19050">
            <a:solidFill>
              <a:schemeClr val="tx2"/>
            </a:solidFill>
            <a:prstDash val="solid"/>
            <a:tailEnd type="triangle"/>
          </a:ln>
        </p:spPr>
      </p:sp>
      <p:sp>
        <p:nvSpPr>
          <p:cNvPr id="7" name="pipe box 1"/>
          <p:cNvSpPr/>
          <p:nvPr/>
        </p:nvSpPr>
        <p:spPr>
          <a:xfrm>
            <a:off x="1499616" y="2148840"/>
            <a:ext cx="896112" cy="868680"/>
          </a:xfrm>
          <a:prstGeom prst="roundRect">
            <a:avLst>
              <a:gd name="adj" fmla="val 8421"/>
            </a:avLst>
          </a:prstGeom>
          <a:solidFill>
            <a:schemeClr val="bg2"/>
          </a:solidFill>
          <a:ln w="12700">
            <a:solidFill>
              <a:schemeClr val="bg2"/>
            </a:solidFill>
            <a:prstDash val="solid"/>
          </a:ln>
        </p:spPr>
      </p:sp>
      <p:sp>
        <p:nvSpPr>
          <p:cNvPr id="8" name="pipe text 1"/>
          <p:cNvSpPr txBox="1"/>
          <p:nvPr/>
        </p:nvSpPr>
        <p:spPr>
          <a:xfrm>
            <a:off x="1545336"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Find people</a:t>
            </a:r>
            <a:endParaRPr lang="en-US" sz="1150" dirty="0"/>
          </a:p>
          <a:p>
            <a:pPr algn="ctr" indent="0" marL="0">
              <a:buNone/>
            </a:pPr>
            <a:r>
              <a:rPr lang="en-US" sz="950" dirty="0">
                <a:solidFill>
                  <a:srgbClr val="4A5568"/>
                </a:solidFill>
              </a:rPr>
              <a:t>a score per cell of a 48×48 grid</a:t>
            </a:r>
            <a:endParaRPr lang="en-US" sz="1150" dirty="0"/>
          </a:p>
        </p:txBody>
      </p:sp>
      <p:sp>
        <p:nvSpPr>
          <p:cNvPr id="9" name="pipe arrow 1"/>
          <p:cNvSpPr/>
          <p:nvPr/>
        </p:nvSpPr>
        <p:spPr>
          <a:xfrm>
            <a:off x="2414016" y="2583180"/>
            <a:ext cx="109728" cy="0"/>
          </a:xfrm>
          <a:prstGeom prst="line">
            <a:avLst/>
          </a:prstGeom>
          <a:noFill/>
          <a:ln w="19050">
            <a:solidFill>
              <a:schemeClr val="tx2"/>
            </a:solidFill>
            <a:prstDash val="solid"/>
            <a:tailEnd type="triangle"/>
          </a:ln>
        </p:spPr>
      </p:sp>
      <p:sp>
        <p:nvSpPr>
          <p:cNvPr id="10" name="pipe box 2"/>
          <p:cNvSpPr/>
          <p:nvPr/>
        </p:nvSpPr>
        <p:spPr>
          <a:xfrm>
            <a:off x="2542032" y="2148840"/>
            <a:ext cx="896112" cy="868680"/>
          </a:xfrm>
          <a:prstGeom prst="roundRect">
            <a:avLst>
              <a:gd name="adj" fmla="val 8421"/>
            </a:avLst>
          </a:prstGeom>
          <a:solidFill>
            <a:schemeClr val="bg2"/>
          </a:solidFill>
          <a:ln w="12700">
            <a:solidFill>
              <a:schemeClr val="bg2"/>
            </a:solidFill>
            <a:prstDash val="solid"/>
          </a:ln>
        </p:spPr>
      </p:sp>
      <p:sp>
        <p:nvSpPr>
          <p:cNvPr id="11" name="pipe text 2"/>
          <p:cNvSpPr txBox="1"/>
          <p:nvPr/>
        </p:nvSpPr>
        <p:spPr>
          <a:xfrm>
            <a:off x="2587752"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Predict</a:t>
            </a:r>
            <a:endParaRPr lang="en-US" sz="1150" dirty="0"/>
          </a:p>
          <a:p>
            <a:pPr algn="ctr" indent="0" marL="0">
              <a:buNone/>
            </a:pPr>
            <a:r>
              <a:rPr lang="en-US" sz="950" dirty="0">
                <a:solidFill>
                  <a:srgbClr val="4A5568"/>
                </a:solidFill>
              </a:rPr>
              <a:t>pose, shape, depth per person</a:t>
            </a:r>
            <a:endParaRPr lang="en-US" sz="1150" dirty="0"/>
          </a:p>
        </p:txBody>
      </p:sp>
      <p:sp>
        <p:nvSpPr>
          <p:cNvPr id="12" name="pipe arrow 2"/>
          <p:cNvSpPr/>
          <p:nvPr/>
        </p:nvSpPr>
        <p:spPr>
          <a:xfrm>
            <a:off x="3456432" y="2583180"/>
            <a:ext cx="109728" cy="0"/>
          </a:xfrm>
          <a:prstGeom prst="line">
            <a:avLst/>
          </a:prstGeom>
          <a:noFill/>
          <a:ln w="19050">
            <a:solidFill>
              <a:schemeClr val="tx2"/>
            </a:solidFill>
            <a:prstDash val="solid"/>
            <a:tailEnd type="triangle"/>
          </a:ln>
        </p:spPr>
      </p:sp>
      <p:sp>
        <p:nvSpPr>
          <p:cNvPr id="13" name="pipe box 3"/>
          <p:cNvSpPr/>
          <p:nvPr/>
        </p:nvSpPr>
        <p:spPr>
          <a:xfrm>
            <a:off x="3584448" y="2148840"/>
            <a:ext cx="896112" cy="868680"/>
          </a:xfrm>
          <a:prstGeom prst="roundRect">
            <a:avLst>
              <a:gd name="adj" fmla="val 8421"/>
            </a:avLst>
          </a:prstGeom>
          <a:solidFill>
            <a:schemeClr val="bg2"/>
          </a:solidFill>
          <a:ln w="12700">
            <a:solidFill>
              <a:schemeClr val="bg2"/>
            </a:solidFill>
            <a:prstDash val="solid"/>
          </a:ln>
        </p:spPr>
      </p:sp>
      <p:sp>
        <p:nvSpPr>
          <p:cNvPr id="14" name="pipe text 3"/>
          <p:cNvSpPr txBox="1"/>
          <p:nvPr/>
        </p:nvSpPr>
        <p:spPr>
          <a:xfrm>
            <a:off x="3630168"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Anny body</a:t>
            </a:r>
            <a:endParaRPr lang="en-US" sz="1150" dirty="0"/>
          </a:p>
          <a:p>
            <a:pPr algn="ctr" indent="0" marL="0">
              <a:buNone/>
            </a:pPr>
            <a:r>
              <a:rPr lang="en-US" sz="950" dirty="0">
                <a:solidFill>
                  <a:srgbClr val="4A5568"/>
                </a:solidFill>
              </a:rPr>
              <a:t>a mesh you can draw and measure</a:t>
            </a:r>
            <a:endParaRPr lang="en-US" sz="1150" dirty="0"/>
          </a:p>
        </p:txBody>
      </p:sp>
      <p:sp>
        <p:nvSpPr>
          <p:cNvPr id="15" name="where we test"/>
          <p:cNvSpPr txBox="1"/>
          <p:nvPr/>
        </p:nvSpPr>
        <p:spPr>
          <a:xfrm>
            <a:off x="457200" y="32004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Where we test it. </a:t>
            </a:r>
            <a:r>
              <a:rPr lang="en-US" sz="1200" dirty="0">
                <a:solidFill>
                  <a:schemeClr val="tx1"/>
                </a:solidFill>
              </a:rPr>
              <a:t>AnnyOne holdout (synthetic, exact labels), 3DPW test (real video, labels converted to Anny), Relative Human (real photos with age and gender tags) and demo photos (judged by eye). Slide 4 lists them.</a:t>
            </a:r>
            <a:endParaRPr lang="en-US" sz="1200" dirty="0"/>
          </a:p>
        </p:txBody>
      </p:sp>
      <p:sp>
        <p:nvSpPr>
          <p:cNvPr id="16" name="status legend"/>
          <p:cNvSpPr txBox="1"/>
          <p:nvPr/>
        </p:nvSpPr>
        <p:spPr>
          <a:xfrm>
            <a:off x="457200" y="4206240"/>
            <a:ext cx="4023360" cy="411480"/>
          </a:xfrm>
          <a:prstGeom prst="rect">
            <a:avLst/>
          </a:prstGeom>
          <a:noFill/>
          <a:ln/>
        </p:spPr>
        <p:txBody>
          <a:bodyPr wrap="square" lIns="0" tIns="0" rIns="0" bIns="0" rtlCol="0" anchor="t"/>
          <a:lstStyle/>
          <a:p>
            <a:pPr indent="0" marL="0">
              <a:buNone/>
            </a:pPr>
            <a:r>
              <a:rPr lang="en-US" sz="1100" b="1" dirty="0">
                <a:solidFill>
                  <a:srgbClr val="1B2233"/>
                </a:solidFill>
              </a:rPr>
              <a:t>Status dots: </a:t>
            </a:r>
            <a:r>
              <a:rPr lang="en-US" sz="1100" dirty="0">
                <a:solidFill>
                  <a:schemeClr val="tx2"/>
                </a:solidFill>
              </a:rPr>
              <a:t>green met · orange partly · red not met · grey not started (details: slide 23).</a:t>
            </a:r>
            <a:endParaRPr lang="en-US" sz="1100" dirty="0"/>
          </a:p>
        </p:txBody>
      </p:sp>
      <p:sp>
        <p:nvSpPr>
          <p:cNvPr id="17" name="req head"/>
          <p:cNvSpPr txBox="1"/>
          <p:nvPr/>
        </p:nvSpPr>
        <p:spPr>
          <a:xfrm>
            <a:off x="4754880" y="1097280"/>
            <a:ext cx="3931920" cy="274320"/>
          </a:xfrm>
          <a:prstGeom prst="rect">
            <a:avLst/>
          </a:prstGeom>
          <a:noFill/>
          <a:ln/>
        </p:spPr>
        <p:txBody>
          <a:bodyPr wrap="square" lIns="0" tIns="0" rIns="0" bIns="0" rtlCol="0" anchor="ctr"/>
          <a:lstStyle/>
          <a:p>
            <a:pPr indent="0" marL="0">
              <a:buNone/>
            </a:pPr>
            <a:r>
              <a:rPr lang="en-US" sz="1300" b="1" dirty="0">
                <a:solidFill>
                  <a:schemeClr val="tx1"/>
                </a:solidFill>
              </a:rPr>
              <a:t>Your requirements (e-mail of 18 Oct)</a:t>
            </a:r>
            <a:endParaRPr lang="en-US" sz="1300" dirty="0"/>
          </a:p>
        </p:txBody>
      </p:sp>
      <p:sp>
        <p:nvSpPr>
          <p:cNvPr id="18" name="req dot 1a"/>
          <p:cNvSpPr/>
          <p:nvPr/>
        </p:nvSpPr>
        <p:spPr>
          <a:xfrm>
            <a:off x="4754880" y="1481328"/>
            <a:ext cx="155448" cy="155448"/>
          </a:xfrm>
          <a:prstGeom prst="ellipse">
            <a:avLst/>
          </a:prstGeom>
          <a:solidFill>
            <a:srgbClr val="E8792B"/>
          </a:solidFill>
          <a:ln w="12700">
            <a:solidFill>
              <a:srgbClr val="E8792B"/>
            </a:solidFill>
            <a:prstDash val="solid"/>
          </a:ln>
        </p:spPr>
      </p:sp>
      <p:sp>
        <p:nvSpPr>
          <p:cNvPr id="19" name="req head 1a"/>
          <p:cNvSpPr txBox="1"/>
          <p:nvPr/>
        </p:nvSpPr>
        <p:spPr>
          <a:xfrm>
            <a:off x="5001768" y="141732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1a  Correct pose, visibly varying body shape</a:t>
            </a:r>
            <a:r>
              <a:rPr lang="en-US" sz="1100" b="1" dirty="0">
                <a:solidFill>
                  <a:srgbClr val="E8792B"/>
                </a:solidFill>
              </a:rPr>
              <a:t>  partly</a:t>
            </a:r>
            <a:endParaRPr lang="en-US" sz="1100" dirty="0"/>
          </a:p>
        </p:txBody>
      </p:sp>
      <p:sp>
        <p:nvSpPr>
          <p:cNvPr id="20" name="req body 1a"/>
          <p:cNvSpPr txBox="1"/>
          <p:nvPr/>
        </p:nvSpPr>
        <p:spPr>
          <a:xfrm>
            <a:off x="5001768" y="1664208"/>
            <a:ext cx="3703320" cy="274320"/>
          </a:xfrm>
          <a:prstGeom prst="rect">
            <a:avLst/>
          </a:prstGeom>
          <a:noFill/>
          <a:ln/>
        </p:spPr>
        <p:txBody>
          <a:bodyPr wrap="square" lIns="0" tIns="0" rIns="0" bIns="0" rtlCol="0" anchor="t"/>
          <a:lstStyle/>
          <a:p>
            <a:pPr indent="0" marL="0">
              <a:buNone/>
            </a:pPr>
            <a:r>
              <a:rPr lang="en-US" sz="950" dirty="0">
                <a:solidFill>
                  <a:schemeClr val="tx2"/>
                </a:solidFill>
              </a:rPr>
              <a:t>pose: neck and fingers fixed, best on 3DPW test; shape: gender yes, muscle and weight not yet</a:t>
            </a:r>
            <a:endParaRPr lang="en-US" sz="950" dirty="0"/>
          </a:p>
        </p:txBody>
      </p:sp>
      <p:sp>
        <p:nvSpPr>
          <p:cNvPr id="21" name="req dot 1b"/>
          <p:cNvSpPr/>
          <p:nvPr/>
        </p:nvSpPr>
        <p:spPr>
          <a:xfrm>
            <a:off x="4754880" y="2020824"/>
            <a:ext cx="155448" cy="155448"/>
          </a:xfrm>
          <a:prstGeom prst="ellipse">
            <a:avLst/>
          </a:prstGeom>
          <a:solidFill>
            <a:srgbClr val="C0392B"/>
          </a:solidFill>
          <a:ln w="12700">
            <a:solidFill>
              <a:srgbClr val="C0392B"/>
            </a:solidFill>
            <a:prstDash val="solid"/>
          </a:ln>
        </p:spPr>
      </p:sp>
      <p:sp>
        <p:nvSpPr>
          <p:cNvPr id="22" name="req head 1b"/>
          <p:cNvSpPr txBox="1"/>
          <p:nvPr/>
        </p:nvSpPr>
        <p:spPr>
          <a:xfrm>
            <a:off x="5001768" y="1956816"/>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1b  A model that is not exactly Multi-HMR</a:t>
            </a:r>
            <a:r>
              <a:rPr lang="en-US" sz="1100" b="1" dirty="0">
                <a:solidFill>
                  <a:srgbClr val="C0392B"/>
                </a:solidFill>
              </a:rPr>
              <a:t>  not met</a:t>
            </a:r>
            <a:endParaRPr lang="en-US" sz="1100" dirty="0"/>
          </a:p>
        </p:txBody>
      </p:sp>
      <p:sp>
        <p:nvSpPr>
          <p:cNvPr id="23" name="req body 1b"/>
          <p:cNvSpPr txBox="1"/>
          <p:nvPr/>
        </p:nvSpPr>
        <p:spPr>
          <a:xfrm>
            <a:off x="5001768" y="2203704"/>
            <a:ext cx="3703320" cy="274320"/>
          </a:xfrm>
          <a:prstGeom prst="rect">
            <a:avLst/>
          </a:prstGeom>
          <a:noFill/>
          <a:ln/>
        </p:spPr>
        <p:txBody>
          <a:bodyPr wrap="square" lIns="0" tIns="0" rIns="0" bIns="0" rtlCol="0" anchor="t"/>
          <a:lstStyle/>
          <a:p>
            <a:pPr indent="0" marL="0">
              <a:buNone/>
            </a:pPr>
            <a:r>
              <a:rPr lang="en-US" sz="950" dirty="0">
                <a:solidFill>
                  <a:schemeClr val="tx2"/>
                </a:solidFill>
              </a:rPr>
              <a:t>new architecture that beats it, or a much smaller one within 95%; a ViT-B student is running (slide 24)</a:t>
            </a:r>
            <a:endParaRPr lang="en-US" sz="950" dirty="0"/>
          </a:p>
        </p:txBody>
      </p:sp>
      <p:sp>
        <p:nvSpPr>
          <p:cNvPr id="24" name="req dot 1c"/>
          <p:cNvSpPr/>
          <p:nvPr/>
        </p:nvSpPr>
        <p:spPr>
          <a:xfrm>
            <a:off x="4754880" y="2560320"/>
            <a:ext cx="155448" cy="155448"/>
          </a:xfrm>
          <a:prstGeom prst="ellipse">
            <a:avLst/>
          </a:prstGeom>
          <a:solidFill>
            <a:srgbClr val="3BA55D"/>
          </a:solidFill>
          <a:ln w="12700">
            <a:solidFill>
              <a:srgbClr val="3BA55D"/>
            </a:solidFill>
            <a:prstDash val="solid"/>
          </a:ln>
        </p:spPr>
      </p:sp>
      <p:sp>
        <p:nvSpPr>
          <p:cNvPr id="25" name="req head 1c"/>
          <p:cNvSpPr txBox="1"/>
          <p:nvPr/>
        </p:nvSpPr>
        <p:spPr>
          <a:xfrm>
            <a:off x="5001768" y="2496312"/>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1c  3DPW evaluated in Anny space</a:t>
            </a:r>
            <a:r>
              <a:rPr lang="en-US" sz="1100" b="1" dirty="0">
                <a:solidFill>
                  <a:srgbClr val="3BA55D"/>
                </a:solidFill>
              </a:rPr>
              <a:t>  met</a:t>
            </a:r>
            <a:endParaRPr lang="en-US" sz="1100" dirty="0"/>
          </a:p>
        </p:txBody>
      </p:sp>
      <p:sp>
        <p:nvSpPr>
          <p:cNvPr id="26" name="req body 1c"/>
          <p:cNvSpPr txBox="1"/>
          <p:nvPr/>
        </p:nvSpPr>
        <p:spPr>
          <a:xfrm>
            <a:off x="5001768" y="2743200"/>
            <a:ext cx="3703320" cy="274320"/>
          </a:xfrm>
          <a:prstGeom prst="rect">
            <a:avLst/>
          </a:prstGeom>
          <a:noFill/>
          <a:ln/>
        </p:spPr>
        <p:txBody>
          <a:bodyPr wrap="square" lIns="0" tIns="0" rIns="0" bIns="0" rtlCol="0" anchor="t"/>
          <a:lstStyle/>
          <a:p>
            <a:pPr indent="0" marL="0">
              <a:buNone/>
            </a:pPr>
            <a:r>
              <a:rPr lang="en-US" sz="950" dirty="0">
                <a:solidFill>
                  <a:schemeClr val="tx2"/>
                </a:solidFill>
              </a:rPr>
              <a:t>all 8,190 test images have Anny labels; limits stated on slide 23</a:t>
            </a:r>
            <a:endParaRPr lang="en-US" sz="950" dirty="0"/>
          </a:p>
        </p:txBody>
      </p:sp>
      <p:sp>
        <p:nvSpPr>
          <p:cNvPr id="27" name="req dot 2a"/>
          <p:cNvSpPr/>
          <p:nvPr/>
        </p:nvSpPr>
        <p:spPr>
          <a:xfrm>
            <a:off x="4754880" y="3099816"/>
            <a:ext cx="155448" cy="155448"/>
          </a:xfrm>
          <a:prstGeom prst="ellipse">
            <a:avLst/>
          </a:prstGeom>
          <a:solidFill>
            <a:srgbClr val="3BA55D"/>
          </a:solidFill>
          <a:ln w="12700">
            <a:solidFill>
              <a:srgbClr val="3BA55D"/>
            </a:solidFill>
            <a:prstDash val="solid"/>
          </a:ln>
        </p:spPr>
      </p:sp>
      <p:sp>
        <p:nvSpPr>
          <p:cNvPr id="28" name="req head 2a"/>
          <p:cNvSpPr txBox="1"/>
          <p:nvPr/>
        </p:nvSpPr>
        <p:spPr>
          <a:xfrm>
            <a:off x="5001768" y="3035808"/>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2a  Train on 3DPW converted to Anny</a:t>
            </a:r>
            <a:r>
              <a:rPr lang="en-US" sz="1100" b="1" dirty="0">
                <a:solidFill>
                  <a:srgbClr val="3BA55D"/>
                </a:solidFill>
              </a:rPr>
              <a:t>  met</a:t>
            </a:r>
            <a:endParaRPr lang="en-US" sz="1100" dirty="0"/>
          </a:p>
        </p:txBody>
      </p:sp>
      <p:sp>
        <p:nvSpPr>
          <p:cNvPr id="29" name="req body 2a"/>
          <p:cNvSpPr txBox="1"/>
          <p:nvPr/>
        </p:nvSpPr>
        <p:spPr>
          <a:xfrm>
            <a:off x="5001768" y="3282696"/>
            <a:ext cx="3703320" cy="274320"/>
          </a:xfrm>
          <a:prstGeom prst="rect">
            <a:avLst/>
          </a:prstGeom>
          <a:noFill/>
          <a:ln/>
        </p:spPr>
        <p:txBody>
          <a:bodyPr wrap="square" lIns="0" tIns="0" rIns="0" bIns="0" rtlCol="0" anchor="t"/>
          <a:lstStyle/>
          <a:p>
            <a:pPr indent="0" marL="0">
              <a:buNone/>
            </a:pPr>
            <a:r>
              <a:rPr lang="en-US" sz="950" dirty="0">
                <a:solidFill>
                  <a:schemeClr val="tx2"/>
                </a:solidFill>
              </a:rPr>
              <a:t>30% of every batch of the final model</a:t>
            </a:r>
            <a:endParaRPr lang="en-US" sz="950" dirty="0"/>
          </a:p>
        </p:txBody>
      </p:sp>
      <p:sp>
        <p:nvSpPr>
          <p:cNvPr id="30" name="req dot 2b"/>
          <p:cNvSpPr/>
          <p:nvPr/>
        </p:nvSpPr>
        <p:spPr>
          <a:xfrm>
            <a:off x="4754880" y="3639312"/>
            <a:ext cx="155448" cy="155448"/>
          </a:xfrm>
          <a:prstGeom prst="ellipse">
            <a:avLst/>
          </a:prstGeom>
          <a:solidFill>
            <a:srgbClr val="7B8794"/>
          </a:solidFill>
          <a:ln w="12700">
            <a:solidFill>
              <a:srgbClr val="7B8794"/>
            </a:solidFill>
            <a:prstDash val="solid"/>
          </a:ln>
        </p:spPr>
      </p:sp>
      <p:sp>
        <p:nvSpPr>
          <p:cNvPr id="31" name="req head 2b"/>
          <p:cNvSpPr txBox="1"/>
          <p:nvPr/>
        </p:nvSpPr>
        <p:spPr>
          <a:xfrm>
            <a:off x="5001768" y="3575304"/>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2b  Temporal modelling (video, not frame by frame)</a:t>
            </a:r>
            <a:r>
              <a:rPr lang="en-US" sz="1100" b="1" dirty="0">
                <a:solidFill>
                  <a:srgbClr val="7B8794"/>
                </a:solidFill>
              </a:rPr>
              <a:t>  not started</a:t>
            </a:r>
            <a:endParaRPr lang="en-US" sz="1100" dirty="0"/>
          </a:p>
        </p:txBody>
      </p:sp>
      <p:sp>
        <p:nvSpPr>
          <p:cNvPr id="32" name="req body 2b"/>
          <p:cNvSpPr txBox="1"/>
          <p:nvPr/>
        </p:nvSpPr>
        <p:spPr>
          <a:xfrm>
            <a:off x="5001768" y="3822192"/>
            <a:ext cx="3703320" cy="274320"/>
          </a:xfrm>
          <a:prstGeom prst="rect">
            <a:avLst/>
          </a:prstGeom>
          <a:noFill/>
          <a:ln/>
        </p:spPr>
        <p:txBody>
          <a:bodyPr wrap="square" lIns="0" tIns="0" rIns="0" bIns="0" rtlCol="0" anchor="t"/>
          <a:lstStyle/>
          <a:p>
            <a:pPr indent="0" marL="0">
              <a:buNone/>
            </a:pPr>
            <a:r>
              <a:rPr lang="en-US" sz="950" dirty="0">
                <a:solidFill>
                  <a:schemeClr val="tx2"/>
                </a:solidFill>
              </a:rPr>
              <a:t>designed, planned for weeks 5–6</a:t>
            </a:r>
            <a:endParaRPr lang="en-US" sz="950" dirty="0"/>
          </a:p>
        </p:txBody>
      </p:sp>
      <p:sp>
        <p:nvSpPr>
          <p:cNvPr id="33" name="req dot 3"/>
          <p:cNvSpPr/>
          <p:nvPr/>
        </p:nvSpPr>
        <p:spPr>
          <a:xfrm>
            <a:off x="4754880" y="4178808"/>
            <a:ext cx="155448" cy="155448"/>
          </a:xfrm>
          <a:prstGeom prst="ellipse">
            <a:avLst/>
          </a:prstGeom>
          <a:solidFill>
            <a:srgbClr val="E8792B"/>
          </a:solidFill>
          <a:ln w="12700">
            <a:solidFill>
              <a:srgbClr val="E8792B"/>
            </a:solidFill>
            <a:prstDash val="solid"/>
          </a:ln>
        </p:spPr>
      </p:sp>
      <p:sp>
        <p:nvSpPr>
          <p:cNvPr id="34" name="req head 3"/>
          <p:cNvSpPr txBox="1"/>
          <p:nvPr/>
        </p:nvSpPr>
        <p:spPr>
          <a:xfrm>
            <a:off x="5001768" y="411480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3  Well-written report; clean, verifiable code</a:t>
            </a:r>
            <a:r>
              <a:rPr lang="en-US" sz="1100" b="1" dirty="0">
                <a:solidFill>
                  <a:srgbClr val="E8792B"/>
                </a:solidFill>
              </a:rPr>
              <a:t>  partly</a:t>
            </a:r>
            <a:endParaRPr lang="en-US" sz="1100" dirty="0"/>
          </a:p>
        </p:txBody>
      </p:sp>
      <p:sp>
        <p:nvSpPr>
          <p:cNvPr id="35" name="req body 3"/>
          <p:cNvSpPr txBox="1"/>
          <p:nvPr/>
        </p:nvSpPr>
        <p:spPr>
          <a:xfrm>
            <a:off x="5001768" y="4361688"/>
            <a:ext cx="3703320" cy="274320"/>
          </a:xfrm>
          <a:prstGeom prst="rect">
            <a:avLst/>
          </a:prstGeom>
          <a:noFill/>
          <a:ln/>
        </p:spPr>
        <p:txBody>
          <a:bodyPr wrap="square" lIns="0" tIns="0" rIns="0" bIns="0" rtlCol="0" anchor="t"/>
          <a:lstStyle/>
          <a:p>
            <a:pPr indent="0" marL="0">
              <a:buNone/>
            </a:pPr>
            <a:r>
              <a:rPr lang="en-US" sz="950" dirty="0">
                <a:solidFill>
                  <a:schemeClr val="tx2"/>
                </a:solidFill>
              </a:rPr>
              <a:t>draft exists; code clean-up and model release to do</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model in one picture</a:t>
            </a:r>
            <a:endParaRPr lang="en-US" sz="2700" dirty="0"/>
          </a:p>
        </p:txBody>
      </p:sp>
      <p:sp>
        <p:nvSpPr>
          <p:cNvPr id="3" name="arch box 0"/>
          <p:cNvSpPr/>
          <p:nvPr/>
        </p:nvSpPr>
        <p:spPr>
          <a:xfrm>
            <a:off x="457200" y="1143000"/>
            <a:ext cx="1481328" cy="1463040"/>
          </a:xfrm>
          <a:prstGeom prst="roundRect">
            <a:avLst>
              <a:gd name="adj" fmla="val 5000"/>
            </a:avLst>
          </a:prstGeom>
          <a:solidFill>
            <a:schemeClr val="bg2"/>
          </a:solidFill>
          <a:ln w="12700">
            <a:solidFill>
              <a:schemeClr val="bg2"/>
            </a:solidFill>
            <a:prstDash val="solid"/>
          </a:ln>
        </p:spPr>
      </p:sp>
      <p:sp>
        <p:nvSpPr>
          <p:cNvPr id="4" name="arch head 0"/>
          <p:cNvSpPr txBox="1"/>
          <p:nvPr/>
        </p:nvSpPr>
        <p:spPr>
          <a:xfrm>
            <a:off x="530352"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Photo</a:t>
            </a:r>
            <a:endParaRPr lang="en-US" sz="1300" dirty="0"/>
          </a:p>
        </p:txBody>
      </p:sp>
      <p:sp>
        <p:nvSpPr>
          <p:cNvPr id="5" name="arch body 0"/>
          <p:cNvSpPr txBox="1"/>
          <p:nvPr/>
        </p:nvSpPr>
        <p:spPr>
          <a:xfrm>
            <a:off x="530352"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resized to 672 × 672 px</a:t>
            </a:r>
            <a:endParaRPr lang="en-US" sz="1000" dirty="0"/>
          </a:p>
        </p:txBody>
      </p:sp>
      <p:sp>
        <p:nvSpPr>
          <p:cNvPr id="6" name="arch arrow 0"/>
          <p:cNvSpPr/>
          <p:nvPr/>
        </p:nvSpPr>
        <p:spPr>
          <a:xfrm>
            <a:off x="1965960" y="1874520"/>
            <a:ext cx="150876" cy="0"/>
          </a:xfrm>
          <a:prstGeom prst="line">
            <a:avLst/>
          </a:prstGeom>
          <a:noFill/>
          <a:ln w="19050">
            <a:solidFill>
              <a:schemeClr val="tx2"/>
            </a:solidFill>
            <a:prstDash val="solid"/>
            <a:tailEnd type="triangle"/>
          </a:ln>
        </p:spPr>
      </p:sp>
      <p:sp>
        <p:nvSpPr>
          <p:cNvPr id="7" name="arch box 1"/>
          <p:cNvSpPr/>
          <p:nvPr/>
        </p:nvSpPr>
        <p:spPr>
          <a:xfrm>
            <a:off x="2144268" y="1143000"/>
            <a:ext cx="1481328" cy="1463040"/>
          </a:xfrm>
          <a:prstGeom prst="roundRect">
            <a:avLst>
              <a:gd name="adj" fmla="val 5000"/>
            </a:avLst>
          </a:prstGeom>
          <a:solidFill>
            <a:schemeClr val="bg2"/>
          </a:solidFill>
          <a:ln w="12700">
            <a:solidFill>
              <a:schemeClr val="bg2"/>
            </a:solidFill>
            <a:prstDash val="solid"/>
          </a:ln>
        </p:spPr>
      </p:sp>
      <p:sp>
        <p:nvSpPr>
          <p:cNvPr id="8" name="arch head 1"/>
          <p:cNvSpPr txBox="1"/>
          <p:nvPr/>
        </p:nvSpPr>
        <p:spPr>
          <a:xfrm>
            <a:off x="2217420"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Backbone</a:t>
            </a:r>
            <a:endParaRPr lang="en-US" sz="1300" dirty="0"/>
          </a:p>
        </p:txBody>
      </p:sp>
      <p:sp>
        <p:nvSpPr>
          <p:cNvPr id="9" name="arch body 1"/>
          <p:cNvSpPr txBox="1"/>
          <p:nvPr/>
        </p:nvSpPr>
        <p:spPr>
          <a:xfrm>
            <a:off x="2217420"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DINOv2 ViT-L: 14-px patches, a 48 × 48 grid, one feature per cell (304 M parameters)</a:t>
            </a:r>
            <a:endParaRPr lang="en-US" sz="1000" dirty="0"/>
          </a:p>
        </p:txBody>
      </p:sp>
      <p:sp>
        <p:nvSpPr>
          <p:cNvPr id="10" name="arch arrow 1"/>
          <p:cNvSpPr/>
          <p:nvPr/>
        </p:nvSpPr>
        <p:spPr>
          <a:xfrm>
            <a:off x="3653028" y="1874520"/>
            <a:ext cx="150876" cy="0"/>
          </a:xfrm>
          <a:prstGeom prst="line">
            <a:avLst/>
          </a:prstGeom>
          <a:noFill/>
          <a:ln w="19050">
            <a:solidFill>
              <a:schemeClr val="tx2"/>
            </a:solidFill>
            <a:prstDash val="solid"/>
            <a:tailEnd type="triangle"/>
          </a:ln>
        </p:spPr>
      </p:sp>
      <p:sp>
        <p:nvSpPr>
          <p:cNvPr id="11" name="arch box 2"/>
          <p:cNvSpPr/>
          <p:nvPr/>
        </p:nvSpPr>
        <p:spPr>
          <a:xfrm>
            <a:off x="3831336" y="1143000"/>
            <a:ext cx="1481328" cy="1463040"/>
          </a:xfrm>
          <a:prstGeom prst="roundRect">
            <a:avLst>
              <a:gd name="adj" fmla="val 5000"/>
            </a:avLst>
          </a:prstGeom>
          <a:solidFill>
            <a:schemeClr val="bg2"/>
          </a:solidFill>
          <a:ln w="12700">
            <a:solidFill>
              <a:schemeClr val="bg2"/>
            </a:solidFill>
            <a:prstDash val="solid"/>
          </a:ln>
        </p:spPr>
      </p:sp>
      <p:sp>
        <p:nvSpPr>
          <p:cNvPr id="12" name="arch head 2"/>
          <p:cNvSpPr txBox="1"/>
          <p:nvPr/>
        </p:nvSpPr>
        <p:spPr>
          <a:xfrm>
            <a:off x="3904488"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Detection</a:t>
            </a:r>
            <a:endParaRPr lang="en-US" sz="1300" dirty="0"/>
          </a:p>
        </p:txBody>
      </p:sp>
      <p:sp>
        <p:nvSpPr>
          <p:cNvPr id="13" name="arch body 2"/>
          <p:cNvSpPr txBox="1"/>
          <p:nvPr/>
        </p:nvSpPr>
        <p:spPr>
          <a:xfrm>
            <a:off x="3904488"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per cell: is a person's head here? plus a small 2D offset</a:t>
            </a:r>
            <a:endParaRPr lang="en-US" sz="1000" dirty="0"/>
          </a:p>
        </p:txBody>
      </p:sp>
      <p:sp>
        <p:nvSpPr>
          <p:cNvPr id="14" name="arch arrow 2"/>
          <p:cNvSpPr/>
          <p:nvPr/>
        </p:nvSpPr>
        <p:spPr>
          <a:xfrm>
            <a:off x="5340096" y="1874520"/>
            <a:ext cx="150876" cy="0"/>
          </a:xfrm>
          <a:prstGeom prst="line">
            <a:avLst/>
          </a:prstGeom>
          <a:noFill/>
          <a:ln w="19050">
            <a:solidFill>
              <a:schemeClr val="tx2"/>
            </a:solidFill>
            <a:prstDash val="solid"/>
            <a:tailEnd type="triangle"/>
          </a:ln>
        </p:spPr>
      </p:sp>
      <p:sp>
        <p:nvSpPr>
          <p:cNvPr id="15" name="arch box 3"/>
          <p:cNvSpPr/>
          <p:nvPr/>
        </p:nvSpPr>
        <p:spPr>
          <a:xfrm>
            <a:off x="5518404" y="1143000"/>
            <a:ext cx="1481328" cy="1463040"/>
          </a:xfrm>
          <a:prstGeom prst="roundRect">
            <a:avLst>
              <a:gd name="adj" fmla="val 5000"/>
            </a:avLst>
          </a:prstGeom>
          <a:solidFill>
            <a:schemeClr val="bg2"/>
          </a:solidFill>
          <a:ln w="12700">
            <a:solidFill>
              <a:schemeClr val="bg2"/>
            </a:solidFill>
            <a:prstDash val="solid"/>
          </a:ln>
        </p:spPr>
      </p:sp>
      <p:sp>
        <p:nvSpPr>
          <p:cNvPr id="16" name="arch head 3"/>
          <p:cNvSpPr txBox="1"/>
          <p:nvPr/>
        </p:nvSpPr>
        <p:spPr>
          <a:xfrm>
            <a:off x="5591556"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Per-person head</a:t>
            </a:r>
            <a:endParaRPr lang="en-US" sz="1300" dirty="0"/>
          </a:p>
        </p:txBody>
      </p:sp>
      <p:sp>
        <p:nvSpPr>
          <p:cNvPr id="17" name="arch body 3"/>
          <p:cNvSpPr txBox="1"/>
          <p:nvPr/>
        </p:nvSpPr>
        <p:spPr>
          <a:xfrm>
            <a:off x="5591556"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cross-attention (HPH): pose = 163 bone rotations (75 trained, 88 helper bones fixed), shape = 11 Anny values 0–1, distance</a:t>
            </a:r>
            <a:endParaRPr lang="en-US" sz="1000" dirty="0"/>
          </a:p>
        </p:txBody>
      </p:sp>
      <p:sp>
        <p:nvSpPr>
          <p:cNvPr id="18" name="arch arrow 3"/>
          <p:cNvSpPr/>
          <p:nvPr/>
        </p:nvSpPr>
        <p:spPr>
          <a:xfrm>
            <a:off x="7027164" y="1874520"/>
            <a:ext cx="150876" cy="0"/>
          </a:xfrm>
          <a:prstGeom prst="line">
            <a:avLst/>
          </a:prstGeom>
          <a:noFill/>
          <a:ln w="19050">
            <a:solidFill>
              <a:schemeClr val="tx2"/>
            </a:solidFill>
            <a:prstDash val="solid"/>
            <a:tailEnd type="triangle"/>
          </a:ln>
        </p:spPr>
      </p:sp>
      <p:sp>
        <p:nvSpPr>
          <p:cNvPr id="19" name="arch box 4"/>
          <p:cNvSpPr/>
          <p:nvPr/>
        </p:nvSpPr>
        <p:spPr>
          <a:xfrm>
            <a:off x="7205472" y="1143000"/>
            <a:ext cx="1481328" cy="1463040"/>
          </a:xfrm>
          <a:prstGeom prst="roundRect">
            <a:avLst>
              <a:gd name="adj" fmla="val 5000"/>
            </a:avLst>
          </a:prstGeom>
          <a:solidFill>
            <a:schemeClr val="bg2"/>
          </a:solidFill>
          <a:ln w="12700">
            <a:solidFill>
              <a:schemeClr val="bg2"/>
            </a:solidFill>
            <a:prstDash val="solid"/>
          </a:ln>
        </p:spPr>
      </p:sp>
      <p:sp>
        <p:nvSpPr>
          <p:cNvPr id="20" name="arch head 4"/>
          <p:cNvSpPr txBox="1"/>
          <p:nvPr/>
        </p:nvSpPr>
        <p:spPr>
          <a:xfrm>
            <a:off x="7278624"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Anny body</a:t>
            </a:r>
            <a:endParaRPr lang="en-US" sz="1300" dirty="0"/>
          </a:p>
        </p:txBody>
      </p:sp>
      <p:sp>
        <p:nvSpPr>
          <p:cNvPr id="21" name="arch body 4"/>
          <p:cNvSpPr txBox="1"/>
          <p:nvPr/>
        </p:nvSpPr>
        <p:spPr>
          <a:xfrm>
            <a:off x="7278624"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the body model turns pose + shape into a mesh; placed at the predicted distance</a:t>
            </a:r>
            <a:endParaRPr lang="en-US" sz="1000" dirty="0"/>
          </a:p>
        </p:txBody>
      </p:sp>
      <p:sp>
        <p:nvSpPr>
          <p:cNvPr id="22" name="ours tag 0"/>
          <p:cNvSpPr txBox="1"/>
          <p:nvPr/>
        </p:nvSpPr>
        <p:spPr>
          <a:xfrm>
            <a:off x="3831336"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head anchor fix</a:t>
            </a:r>
            <a:endParaRPr lang="en-US" sz="950" dirty="0"/>
          </a:p>
        </p:txBody>
      </p:sp>
      <p:sp>
        <p:nvSpPr>
          <p:cNvPr id="23" name="ours tag 1"/>
          <p:cNvSpPr txBox="1"/>
          <p:nvPr/>
        </p:nvSpPr>
        <p:spPr>
          <a:xfrm>
            <a:off x="5518404"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Anny output, bone fix</a:t>
            </a:r>
            <a:endParaRPr lang="en-US" sz="950" dirty="0"/>
          </a:p>
        </p:txBody>
      </p:sp>
      <p:sp>
        <p:nvSpPr>
          <p:cNvPr id="24" name="ours tag 2"/>
          <p:cNvSpPr txBox="1"/>
          <p:nvPr/>
        </p:nvSpPr>
        <p:spPr>
          <a:xfrm>
            <a:off x="7205472"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3DPW → Anny labels</a:t>
            </a:r>
            <a:endParaRPr lang="en-US" sz="950" dirty="0"/>
          </a:p>
        </p:txBody>
      </p:sp>
      <p:sp>
        <p:nvSpPr>
          <p:cNvPr id="25" name="ours box"/>
          <p:cNvSpPr/>
          <p:nvPr/>
        </p:nvSpPr>
        <p:spPr>
          <a:xfrm>
            <a:off x="457200" y="3017520"/>
            <a:ext cx="8229600" cy="1143000"/>
          </a:xfrm>
          <a:prstGeom prst="roundRect">
            <a:avLst>
              <a:gd name="adj" fmla="val 6400"/>
            </a:avLst>
          </a:prstGeom>
          <a:solidFill>
            <a:srgbClr val="D3ECEE"/>
          </a:solidFill>
          <a:ln w="12700">
            <a:solidFill>
              <a:srgbClr val="D3ECEE"/>
            </a:solidFill>
            <a:prstDash val="solid"/>
          </a:ln>
        </p:spPr>
      </p:sp>
      <p:sp>
        <p:nvSpPr>
          <p:cNvPr id="26" name="ours text"/>
          <p:cNvSpPr txBox="1"/>
          <p:nvPr/>
        </p:nvSpPr>
        <p:spPr>
          <a:xfrm>
            <a:off x="640080" y="3063240"/>
            <a:ext cx="7863840" cy="1051560"/>
          </a:xfrm>
          <a:prstGeom prst="rect">
            <a:avLst/>
          </a:prstGeom>
          <a:noFill/>
          <a:ln/>
        </p:spPr>
        <p:txBody>
          <a:bodyPr wrap="square" lIns="0" tIns="0" rIns="0" bIns="0" rtlCol="0" anchor="ctr"/>
          <a:lstStyle/>
          <a:p>
            <a:pPr marL="177800" indent="-177800">
              <a:spcAft>
                <a:spcPts val="300"/>
              </a:spcAft>
              <a:buSzPct val="100000"/>
              <a:buChar char="•"/>
            </a:pPr>
            <a:r>
              <a:rPr lang="en-US" sz="1150" b="1" dirty="0">
                <a:solidFill>
                  <a:schemeClr val="tx1"/>
                </a:solidFill>
              </a:rPr>
              <a:t>Output layer sized for Anny: </a:t>
            </a:r>
            <a:r>
              <a:rPr lang="en-US" sz="1150" dirty="0">
                <a:solidFill>
                  <a:schemeClr val="tx1"/>
                </a:solidFill>
              </a:rPr>
              <a:t>163 bones × 6 rotation numbers and 11 shape values (upstream Multi-HMR predicts SMPL-X).</a:t>
            </a:r>
            <a:endParaRPr lang="en-US" sz="1150" dirty="0"/>
          </a:p>
          <a:p>
            <a:pPr marL="177800" indent="-177800">
              <a:spcAft>
                <a:spcPts val="300"/>
              </a:spcAft>
              <a:buSzPct val="100000"/>
              <a:buChar char="•"/>
            </a:pPr>
            <a:r>
              <a:rPr lang="en-US" sz="1150" b="1" dirty="0">
                <a:solidFill>
                  <a:schemeClr val="tx1"/>
                </a:solidFill>
              </a:rPr>
              <a:t>Head-anchor fix (training code): </a:t>
            </a:r>
            <a:r>
              <a:rPr lang="en-US" sz="1150" dirty="0">
                <a:solidFill>
                  <a:schemeClr val="tx1"/>
                </a:solidFill>
              </a:rPr>
              <a:t>the targets for position, distance and detection are built at the head, the joint the model anchors (slide 12).</a:t>
            </a:r>
            <a:endParaRPr lang="en-US" sz="1150" dirty="0"/>
          </a:p>
          <a:p>
            <a:pPr marL="177800" indent="-177800">
              <a:spcAft>
                <a:spcPts val="300"/>
              </a:spcAft>
              <a:buSzPct val="100000"/>
              <a:buChar char="•"/>
            </a:pPr>
            <a:r>
              <a:rPr lang="en-US" sz="1150" b="1" dirty="0">
                <a:solidFill>
                  <a:schemeClr val="tx1"/>
                </a:solidFill>
              </a:rPr>
              <a:t>Bone fix (0 parameters): </a:t>
            </a:r>
            <a:r>
              <a:rPr lang="en-US" sz="1150" dirty="0">
                <a:solidFill>
                  <a:schemeClr val="tx1"/>
                </a:solidFill>
              </a:rPr>
              <a:t>one constant rotation each on neck02, head and two hand bones, applied at the output (slide 15).</a:t>
            </a:r>
            <a:endParaRPr lang="en-US" sz="1150" dirty="0"/>
          </a:p>
          <a:p>
            <a:pPr marL="177800" indent="-177800">
              <a:spcAft>
                <a:spcPts val="300"/>
              </a:spcAft>
              <a:buSzPct val="100000"/>
              <a:buChar char="•"/>
            </a:pPr>
            <a:r>
              <a:rPr lang="en-US" sz="1150" b="1" dirty="0">
                <a:solidFill>
                  <a:schemeClr val="tx1"/>
                </a:solidFill>
              </a:rPr>
              <a:t>3DPW → Anny conversion and training recipe: </a:t>
            </a:r>
            <a:r>
              <a:rPr lang="en-US" sz="1150" dirty="0">
                <a:solidFill>
                  <a:schemeClr val="tx1"/>
                </a:solidFill>
              </a:rPr>
              <a:t>our fitting script, three label defects fixed (slides 5–6), 30% real frames per batch (slide 8).</a:t>
            </a:r>
            <a:endParaRPr lang="en-US" sz="1150" dirty="0"/>
          </a:p>
        </p:txBody>
      </p:sp>
      <p:sp>
        <p:nvSpPr>
          <p:cNvPr id="27" name="honest 1b"/>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C0392B"/>
                </a:solidFill>
              </a:rPr>
              <a:t>Honest for 1b: </a:t>
            </a:r>
            <a:r>
              <a:rPr lang="en-US" sz="1100" dirty="0">
                <a:solidFill>
                  <a:schemeClr val="tx1"/>
                </a:solidFill>
              </a:rPr>
              <a:t>this is still Multi-HMR's architecture, and the backbone weights start from NAVER's Anny checkpoint. Everything marked “ours” is an output layer, a training-side fix or data. The route to 1b is a much smaller model (slide 24).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datasets</a:t>
            </a:r>
            <a:endParaRPr lang="en-US" sz="2700" dirty="0"/>
          </a:p>
        </p:txBody>
      </p:sp>
      <p:graphicFrame>
        <p:nvGraphicFramePr>
          <p:cNvPr id="5" name="datase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17320"/>
                <a:gridCol w="1325880"/>
                <a:gridCol w="2423160"/>
                <a:gridCol w="1828800"/>
                <a:gridCol w="1234440"/>
              </a:tblGrid>
              <a:tr h="274320">
                <a:tc>
                  <a:txBody>
                    <a:bodyPr/>
                    <a:lstStyle/>
                    <a:p>
                      <a:pPr algn="l" indent="0" marL="0">
                        <a:buNone/>
                      </a:pPr>
                      <a:r>
                        <a:rPr lang="en-US" sz="1000" b="1" dirty="0">
                          <a:solidFill>
                            <a:srgbClr val="FFFFFF"/>
                          </a:solidFill>
                        </a:rPr>
                        <a:t>dataset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real or synthetic</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what it has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used for</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size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1000" b="1" dirty="0">
                          <a:solidFill>
                            <a:srgbClr val="1B2233"/>
                          </a:solidFill>
                        </a:rPr>
                        <a:t>AnnyOne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synthetic renders, 1280 × 1280 px</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exact Anny pose, all 11 shape values, camera; babies to old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training (70% of each batch); the last 100 images = holdout, never trained on</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579,960 images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B2233"/>
                          </a:solidFill>
                        </a:rPr>
                        <a:t>3DPW → Anny (v23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video frames, 60 sequences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SMPL joints fitted to Anny: pose, gender, height, proportions; 8 shape values constant; hands and head at rest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training (30% of each batch, train split); test split = our real-video test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 5,882 images / 7,584 people; val 2,622 / 3,311; test 8,190 / 11,854</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12064">
                <a:tc>
                  <a:txBody>
                    <a:bodyPr/>
                    <a:lstStyle/>
                    <a:p>
                      <a:pPr algn="l" indent="0" marL="0">
                        <a:buNone/>
                      </a:pPr>
                      <a:r>
                        <a:rPr lang="en-US" sz="1000" b="1" dirty="0">
                          <a:solidFill>
                            <a:srgbClr val="1B2233"/>
                          </a:solidFill>
                        </a:rPr>
                        <a:t>Relative Human (val)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real photos, crowded scenes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per person: age group (adult, teen, kid, baby), gender, a box; no 3D</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evaluation only: children, gender, recall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635 images, 2,130 labelled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233"/>
                          </a:solidFill>
                        </a:rPr>
                        <a:t>Demo photos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photos + 3DPW test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no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judged by eye only</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4 photos + 8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3.88"/>
          <p:cNvSpPr txBox="1"/>
          <p:nvPr/>
        </p:nvSpPr>
        <p:spPr>
          <a:xfrm>
            <a:off x="457200" y="3547872"/>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this talk names its dataset. AnnyOne numbers are exact but synthetic; 3DPW numbers are against our converted labels (not comparable with published 3DPW numbers); Relative Human counts detected people only.</a:t>
            </a:r>
            <a:endParaRPr lang="en-US" sz="1100" dirty="0"/>
          </a:p>
        </p:txBody>
      </p:sp>
      <p:sp>
        <p:nvSpPr>
          <p:cNvPr id="5" name="stat AnnyOne holdout: synthetic, exact labels, helper bones masked (indices 579,860–959)"/>
          <p:cNvSpPr txBox="1"/>
          <p:nvPr/>
        </p:nvSpPr>
        <p:spPr>
          <a:xfrm>
            <a:off x="45720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100 images</a:t>
            </a:r>
            <a:endParaRPr lang="en-US" sz="2200" dirty="0"/>
          </a:p>
        </p:txBody>
      </p:sp>
      <p:sp>
        <p:nvSpPr>
          <p:cNvPr id="6" name="label AnnyOne holdout: synthetic, exact labels, helper bones masked (indices 579,860–959)"/>
          <p:cNvSpPr txBox="1"/>
          <p:nvPr/>
        </p:nvSpPr>
        <p:spPr>
          <a:xfrm>
            <a:off x="45720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AnnyOne holdout: synthetic, exact labels, helper bones masked (indices 579,860–959)</a:t>
            </a:r>
            <a:endParaRPr lang="en-US" sz="1000" dirty="0"/>
          </a:p>
        </p:txBody>
      </p:sp>
      <p:sp>
        <p:nvSpPr>
          <p:cNvPr id="7" name="stat 3DPW test, 11,854 people, Anny labels (v23); one sequence yields no labels"/>
          <p:cNvSpPr txBox="1"/>
          <p:nvPr/>
        </p:nvSpPr>
        <p:spPr>
          <a:xfrm>
            <a:off x="324612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8,190 images</a:t>
            </a:r>
            <a:endParaRPr lang="en-US" sz="2200" dirty="0"/>
          </a:p>
        </p:txBody>
      </p:sp>
      <p:sp>
        <p:nvSpPr>
          <p:cNvPr id="8" name="label 3DPW test, 11,854 people, Anny labels (v23); one sequence yields no labels"/>
          <p:cNvSpPr txBox="1"/>
          <p:nvPr/>
        </p:nvSpPr>
        <p:spPr>
          <a:xfrm>
            <a:off x="324612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3DPW test, 11,854 people, Anny labels (v23); one sequence yields no labels</a:t>
            </a:r>
            <a:endParaRPr lang="en-US" sz="1000" dirty="0"/>
          </a:p>
        </p:txBody>
      </p:sp>
      <p:sp>
        <p:nvSpPr>
          <p:cNvPr id="9" name="stat Relative Human validation, 635 real photos with age-group and gender tags"/>
          <p:cNvSpPr txBox="1"/>
          <p:nvPr/>
        </p:nvSpPr>
        <p:spPr>
          <a:xfrm>
            <a:off x="603504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2,130 people</a:t>
            </a:r>
            <a:endParaRPr lang="en-US" sz="2200" dirty="0"/>
          </a:p>
        </p:txBody>
      </p:sp>
      <p:sp>
        <p:nvSpPr>
          <p:cNvPr id="10" name="label Relative Human validation, 635 real photos with age-group and gender tags"/>
          <p:cNvSpPr txBox="1"/>
          <p:nvPr/>
        </p:nvSpPr>
        <p:spPr>
          <a:xfrm>
            <a:off x="603504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Relative Human validation, 635 real photos with age-group and gender tags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the model learns: the losses in plain words</a:t>
            </a:r>
            <a:endParaRPr lang="en-US" sz="2700" dirty="0"/>
          </a:p>
        </p:txBody>
      </p:sp>
      <p:graphicFrame>
        <p:nvGraphicFramePr>
          <p:cNvPr id="8" name="los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1600200"/>
                <a:gridCol w="1508760"/>
              </a:tblGrid>
              <a:tr h="256032">
                <a:tc>
                  <a:txBody>
                    <a:bodyPr/>
                    <a:lstStyle/>
                    <a:p>
                      <a:pPr algn="l" indent="0" marL="0">
                        <a:buNone/>
                      </a:pPr>
                      <a:r>
                        <a:rPr lang="en-US" sz="950" b="1" dirty="0">
                          <a:solidFill>
                            <a:srgbClr val="FFFFFF"/>
                          </a:solidFill>
                        </a:rPr>
                        <a:t>loss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compares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plain meaning</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weight (final model)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56032">
                <a:tc>
                  <a:txBody>
                    <a:bodyPr/>
                    <a:lstStyle/>
                    <a:p>
                      <a:pPr algn="l" indent="0" marL="0">
                        <a:buNone/>
                      </a:pPr>
                      <a:r>
                        <a:rPr lang="en-US" sz="950" b="1" dirty="0">
                          <a:solidFill>
                            <a:srgbClr val="1B2233"/>
                          </a:solidFill>
                        </a:rPr>
                        <a:t>detection (BCE)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per cell: predicted vs true “a person's head is here”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find every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offset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shift of the head inside its cell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 the anchor exactly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bone rotation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163 bone rotations vs the labels (relative to parent)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get the pose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(neck, hands ×4)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shape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11 Anny values vs the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get the body shape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20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distance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vs true distance from the camera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far away the body 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position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3D position of the anchor joint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where the body sits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3D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 positions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3D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mesh vertices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body surface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2D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vertices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surface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4"/>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the total loss is the weighted sum of the rows; the 3D rows dominate, the 2D rows are small. “Default” is Multi-HMR's value where ours differs; the control keeps distance and position at 1. All distances are L1 (absolute differences).</a:t>
            </a:r>
            <a:endParaRPr lang="en-US" sz="1100" dirty="0"/>
          </a:p>
        </p:txBody>
      </p:sp>
      <p:sp>
        <p:nvSpPr>
          <p:cNvPr id="5" name="loss mask line"/>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1100" b="1" dirty="0">
                <a:solidFill>
                  <a:srgbClr val="1B2233"/>
                </a:solidFill>
              </a:rPr>
              <a:t>Masked for 3DPW people: </a:t>
            </a:r>
            <a:r>
              <a:rPr lang="en-US" sz="1100" dirty="0">
                <a:solidFill>
                  <a:schemeClr val="tx2"/>
                </a:solidFill>
              </a:rPr>
              <a:t>the 38 hand bones in the bone-rotation loss (their labels are the rest pose, not real fingers). In the masked arm (slide 19) also the 8 constant shape values (age 0.55, seven at 0.5).</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we changed in training: v5 → final model</a:t>
            </a:r>
            <a:endParaRPr lang="en-US" sz="2700" dirty="0"/>
          </a:p>
        </p:txBody>
      </p:sp>
      <p:graphicFrame>
        <p:nvGraphicFramePr>
          <p:cNvPr id="9" name="change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834640"/>
                <a:gridCol w="2651760"/>
              </a:tblGrid>
              <a:tr h="256032">
                <a:tc>
                  <a:txBody>
                    <a:bodyPr/>
                    <a:lstStyle/>
                    <a:p>
                      <a:pPr algn="l" indent="0" marL="0">
                        <a:buNone/>
                      </a:pPr>
                      <a:r>
                        <a:rPr lang="en-US" sz="950" b="1" dirty="0">
                          <a:solidFill>
                            <a:srgbClr val="FFFFFF"/>
                          </a:solidFill>
                        </a:rPr>
                        <a:t>change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does (final vs control)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950" b="1" dirty="0">
                          <a:solidFill>
                            <a:srgbClr val="1B2233"/>
                          </a:solidFill>
                        </a:rPr>
                        <a:t>Depth targets at the person centre (the head) + distance and position losses ×5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model anchors each body at its head, but the targets were built at the pelvis (slide 12)</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bodies drawn at 0.78 of their true size (control 0.59); root error 0.73 m (control 1.40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1B2233"/>
                          </a:solidFill>
                        </a:rPr>
                        <a:t>Bone fix on 4 bones at the output (0 parameters)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head and two hand bones sit half a turn off in every v5-line checkpoint (slide 15)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4.8° (control 175.8°); neck thickness 1.00 (0.46); fingers 8.3° (17.4°)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20624">
                <a:tc>
                  <a:txBody>
                    <a:bodyPr/>
                    <a:lstStyle/>
                    <a:p>
                      <a:pPr algn="l" indent="0" marL="0">
                        <a:buNone/>
                      </a:pPr>
                      <a:r>
                        <a:rPr lang="en-US" sz="950" b="1" dirty="0">
                          <a:solidFill>
                            <a:srgbClr val="1B2233"/>
                          </a:solidFill>
                        </a:rPr>
                        <a:t>30% real 3DPW-train frames in every batch (v23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synthetic-only training gave men female-looking bodies on photos; requirement 2a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3DPW test PVE 89.0 mm; the control, with the same mix, 91.5; v5 121.8</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233"/>
                          </a:solidFill>
                        </a:rPr>
                        <a:t>3DPW hand losses masked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converted labels keep the fingers at rest: no real finger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fingers learned from AnnyOne only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50" b="1" dirty="0">
                          <a:solidFill>
                            <a:srgbClr val="1B2233"/>
                          </a:solidFill>
                        </a:rPr>
                        <a:t>Fine-tune 10 epochs from v5: 40,000 images (batch 4), lr 1e-5; last 4 backbone blocks + heads trained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short and cheap (72 min on an A100), comparable with the 10-epoch pilots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both arms end above v5's 70.5 mm on the holdout: the restart cost seen in every fine-tune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B2233"/>
                          </a:solidFill>
                        </a:rPr>
                        <a:t>A control with the same recipe minus the depth and bone fixes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isolates what the two fixes add on top of training on 3DPW</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“control” column on slide 20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
          <p:cNvSpPr txBox="1"/>
          <p:nvPr/>
        </p:nvSpPr>
        <p:spPr>
          <a:xfrm>
            <a:off x="457200" y="42976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each row is one difference between v5 and the final model (job 3611336); the right column compares with the control (job 3611339), which shares everything except rows 1 and 2. One run each, no seed: differences under ~8 mm PVE or ~2 recall points are noise.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How we measure</a:t>
            </a:r>
            <a:endParaRPr lang="en-US" sz="27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389120"/>
                <a:gridCol w="2286000"/>
              </a:tblGrid>
              <a:tr h="256032">
                <a:tc>
                  <a:txBody>
                    <a:bodyPr/>
                    <a:lstStyle/>
                    <a:p>
                      <a:pPr algn="l" indent="0" marL="0">
                        <a:buNone/>
                      </a:pPr>
                      <a:r>
                        <a:rPr lang="en-US" sz="950" b="1" dirty="0">
                          <a:solidFill>
                            <a:srgbClr val="FFFFFF"/>
                          </a:solidFill>
                        </a:rPr>
                        <a:t>metric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measures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how to read it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950" b="1" dirty="0">
                          <a:solidFill>
                            <a:srgbClr val="1B2233"/>
                          </a:solidFill>
                        </a:rPr>
                        <a:t>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mean distance between predicted and true mesh points, pelvis aligned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lower is better; our headline number</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PA-PVE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same after also matching rotation and scale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pose and shape only; ignores placement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recall / precision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true people found / detections that match a true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 = all found / no ghost bodies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root error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3D distance between the predicted and the true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placement, mostly depth; 0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drawn size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head-to-pelvis length in pixels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 = right size; 0.63 = too small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depth slope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slope of predicted against true depth over the holdout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perfect; 0 = same depth for 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bone angle error (°)</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median angle error per bone vs its parent (neck02, head, fingers)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~180° = half a turn (flipped bone)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neck girth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neck-skin radius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right; 0.46 = half as thick</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children AUC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well predicted age ranks children below adults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0.5 = chance, 1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gender accuracy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share of people whose predicted gender is on the right side of 0.5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50% = chance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5"/>
          <p:cNvSpPr txBox="1"/>
          <p:nvPr/>
        </p:nvSpPr>
        <p:spPr>
          <a:xfrm>
            <a:off x="457200" y="4114800"/>
            <a:ext cx="8229600" cy="22860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AnnyOne: 100-image holdout, helper bones masked, matched people; 3DPW: all 8,190 test images against our labels.</a:t>
            </a:r>
            <a:endParaRPr lang="en-US" sz="1100" dirty="0"/>
          </a:p>
        </p:txBody>
      </p:sp>
      <p:sp>
        <p:nvSpPr>
          <p:cNvPr id="5" name="noise line"/>
          <p:cNvSpPr txBox="1"/>
          <p:nvPr/>
        </p:nvSpPr>
        <p:spPr>
          <a:xfrm>
            <a:off x="457200" y="4352544"/>
            <a:ext cx="8229600" cy="365760"/>
          </a:xfrm>
          <a:prstGeom prst="rect">
            <a:avLst/>
          </a:prstGeom>
          <a:noFill/>
          <a:ln/>
        </p:spPr>
        <p:txBody>
          <a:bodyPr wrap="square" lIns="0" tIns="0" rIns="0" bIns="0" rtlCol="0" anchor="t"/>
          <a:lstStyle/>
          <a:p>
            <a:pPr indent="0" marL="0">
              <a:buNone/>
            </a:pPr>
            <a:r>
              <a:rPr lang="en-US" sz="1100" b="1" dirty="0">
                <a:solidFill>
                  <a:srgbClr val="1B2233"/>
                </a:solidFill>
              </a:rPr>
              <a:t>Noise floor: </a:t>
            </a:r>
            <a:r>
              <a:rPr lang="en-US" sz="1100" dirty="0">
                <a:solidFill>
                  <a:schemeClr val="tx2"/>
                </a:solidFill>
              </a:rPr>
              <a:t>no fixed random seed; two identical runs differed by 7.6 mm PVE and 1.9° head error. One run only detects about 10 mm PVE, 3° or 2 recall points. Root error has no measured floor.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Checked first: what is NOT the cause</a:t>
            </a:r>
            <a:endParaRPr lang="en-US" sz="2700" dirty="0"/>
          </a:p>
        </p:txBody>
      </p:sp>
      <p:sp>
        <p:nvSpPr>
          <p:cNvPr id="3" name="check box 1"/>
          <p:cNvSpPr/>
          <p:nvPr/>
        </p:nvSpPr>
        <p:spPr>
          <a:xfrm>
            <a:off x="457200" y="1097280"/>
            <a:ext cx="1234440" cy="868680"/>
          </a:xfrm>
          <a:prstGeom prst="roundRect">
            <a:avLst>
              <a:gd name="adj" fmla="val 8421"/>
            </a:avLst>
          </a:prstGeom>
          <a:solidFill>
            <a:schemeClr val="bg2"/>
          </a:solidFill>
          <a:ln w="12700">
            <a:solidFill>
              <a:schemeClr val="bg2"/>
            </a:solidFill>
            <a:prstDash val="solid"/>
          </a:ln>
        </p:spPr>
      </p:sp>
      <p:sp>
        <p:nvSpPr>
          <p:cNvPr id="4" name="check dot 1"/>
          <p:cNvSpPr/>
          <p:nvPr/>
        </p:nvSpPr>
        <p:spPr>
          <a:xfrm>
            <a:off x="530352" y="1170432"/>
            <a:ext cx="274320" cy="274320"/>
          </a:xfrm>
          <a:prstGeom prst="ellipse">
            <a:avLst/>
          </a:prstGeom>
          <a:solidFill>
            <a:schemeClr val="accent1"/>
          </a:solidFill>
          <a:ln w="12700">
            <a:solidFill>
              <a:schemeClr val="accent1"/>
            </a:solidFill>
            <a:prstDash val="solid"/>
          </a:ln>
        </p:spPr>
      </p:sp>
      <p:sp>
        <p:nvSpPr>
          <p:cNvPr id="5" name="check num 1"/>
          <p:cNvSpPr txBox="1"/>
          <p:nvPr/>
        </p:nvSpPr>
        <p:spPr>
          <a:xfrm>
            <a:off x="53035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head 1"/>
          <p:cNvSpPr txBox="1"/>
          <p:nvPr/>
        </p:nvSpPr>
        <p:spPr>
          <a:xfrm>
            <a:off x="84124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Ground truth</a:t>
            </a:r>
            <a:endParaRPr lang="en-US" sz="1050" dirty="0"/>
          </a:p>
        </p:txBody>
      </p:sp>
      <p:sp>
        <p:nvSpPr>
          <p:cNvPr id="7" name="check body 1"/>
          <p:cNvSpPr txBox="1"/>
          <p:nvPr/>
        </p:nvSpPr>
        <p:spPr>
          <a:xfrm>
            <a:off x="53035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render the labels, no network</a:t>
            </a:r>
            <a:endParaRPr lang="en-US" sz="950" dirty="0"/>
          </a:p>
        </p:txBody>
      </p:sp>
      <p:sp>
        <p:nvSpPr>
          <p:cNvPr id="8" name="check box 2"/>
          <p:cNvSpPr/>
          <p:nvPr/>
        </p:nvSpPr>
        <p:spPr>
          <a:xfrm>
            <a:off x="1856232" y="1097280"/>
            <a:ext cx="1234440" cy="868680"/>
          </a:xfrm>
          <a:prstGeom prst="roundRect">
            <a:avLst>
              <a:gd name="adj" fmla="val 8421"/>
            </a:avLst>
          </a:prstGeom>
          <a:solidFill>
            <a:schemeClr val="bg2"/>
          </a:solidFill>
          <a:ln w="12700">
            <a:solidFill>
              <a:schemeClr val="bg2"/>
            </a:solidFill>
            <a:prstDash val="solid"/>
          </a:ln>
        </p:spPr>
      </p:sp>
      <p:sp>
        <p:nvSpPr>
          <p:cNvPr id="9" name="check dot 2"/>
          <p:cNvSpPr/>
          <p:nvPr/>
        </p:nvSpPr>
        <p:spPr>
          <a:xfrm>
            <a:off x="1929384" y="1170432"/>
            <a:ext cx="274320" cy="274320"/>
          </a:xfrm>
          <a:prstGeom prst="ellipse">
            <a:avLst/>
          </a:prstGeom>
          <a:solidFill>
            <a:schemeClr val="accent1"/>
          </a:solidFill>
          <a:ln w="12700">
            <a:solidFill>
              <a:schemeClr val="accent1"/>
            </a:solidFill>
            <a:prstDash val="solid"/>
          </a:ln>
        </p:spPr>
      </p:sp>
      <p:sp>
        <p:nvSpPr>
          <p:cNvPr id="10" name="check num 2"/>
          <p:cNvSpPr txBox="1"/>
          <p:nvPr/>
        </p:nvSpPr>
        <p:spPr>
          <a:xfrm>
            <a:off x="1929384"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check head 2"/>
          <p:cNvSpPr txBox="1"/>
          <p:nvPr/>
        </p:nvSpPr>
        <p:spPr>
          <a:xfrm>
            <a:off x="2240280"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Body model</a:t>
            </a:r>
            <a:endParaRPr lang="en-US" sz="1050" dirty="0"/>
          </a:p>
        </p:txBody>
      </p:sp>
      <p:sp>
        <p:nvSpPr>
          <p:cNvPr id="12" name="check body 2"/>
          <p:cNvSpPr txBox="1"/>
          <p:nvPr/>
        </p:nvSpPr>
        <p:spPr>
          <a:xfrm>
            <a:off x="1929384"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move one joint; sweep age</a:t>
            </a:r>
            <a:endParaRPr lang="en-US" sz="950" dirty="0"/>
          </a:p>
        </p:txBody>
      </p:sp>
      <p:sp>
        <p:nvSpPr>
          <p:cNvPr id="13" name="check box 3"/>
          <p:cNvSpPr/>
          <p:nvPr/>
        </p:nvSpPr>
        <p:spPr>
          <a:xfrm>
            <a:off x="3255264" y="1097280"/>
            <a:ext cx="1234440" cy="868680"/>
          </a:xfrm>
          <a:prstGeom prst="roundRect">
            <a:avLst>
              <a:gd name="adj" fmla="val 8421"/>
            </a:avLst>
          </a:prstGeom>
          <a:solidFill>
            <a:schemeClr val="bg2"/>
          </a:solidFill>
          <a:ln w="12700">
            <a:solidFill>
              <a:schemeClr val="bg2"/>
            </a:solidFill>
            <a:prstDash val="solid"/>
          </a:ln>
        </p:spPr>
      </p:sp>
      <p:sp>
        <p:nvSpPr>
          <p:cNvPr id="14" name="check dot 3"/>
          <p:cNvSpPr/>
          <p:nvPr/>
        </p:nvSpPr>
        <p:spPr>
          <a:xfrm>
            <a:off x="3328416" y="1170432"/>
            <a:ext cx="274320" cy="274320"/>
          </a:xfrm>
          <a:prstGeom prst="ellipse">
            <a:avLst/>
          </a:prstGeom>
          <a:solidFill>
            <a:schemeClr val="accent1"/>
          </a:solidFill>
          <a:ln w="12700">
            <a:solidFill>
              <a:schemeClr val="accent1"/>
            </a:solidFill>
            <a:prstDash val="solid"/>
          </a:ln>
        </p:spPr>
      </p:sp>
      <p:sp>
        <p:nvSpPr>
          <p:cNvPr id="15" name="check num 3"/>
          <p:cNvSpPr txBox="1"/>
          <p:nvPr/>
        </p:nvSpPr>
        <p:spPr>
          <a:xfrm>
            <a:off x="3328416"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check head 3"/>
          <p:cNvSpPr txBox="1"/>
          <p:nvPr/>
        </p:nvSpPr>
        <p:spPr>
          <a:xfrm>
            <a:off x="3639312"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Training signal</a:t>
            </a:r>
            <a:endParaRPr lang="en-US" sz="1050" dirty="0"/>
          </a:p>
        </p:txBody>
      </p:sp>
      <p:sp>
        <p:nvSpPr>
          <p:cNvPr id="17" name="check body 3"/>
          <p:cNvSpPr txBox="1"/>
          <p:nvPr/>
        </p:nvSpPr>
        <p:spPr>
          <a:xfrm>
            <a:off x="3328416"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do all outputs get gradients?</a:t>
            </a:r>
            <a:endParaRPr lang="en-US" sz="950" dirty="0"/>
          </a:p>
        </p:txBody>
      </p:sp>
      <p:sp>
        <p:nvSpPr>
          <p:cNvPr id="18" name="check box 4"/>
          <p:cNvSpPr/>
          <p:nvPr/>
        </p:nvSpPr>
        <p:spPr>
          <a:xfrm>
            <a:off x="4654296" y="1097280"/>
            <a:ext cx="1234440" cy="868680"/>
          </a:xfrm>
          <a:prstGeom prst="roundRect">
            <a:avLst>
              <a:gd name="adj" fmla="val 8421"/>
            </a:avLst>
          </a:prstGeom>
          <a:solidFill>
            <a:schemeClr val="bg2"/>
          </a:solidFill>
          <a:ln w="12700">
            <a:solidFill>
              <a:schemeClr val="bg2"/>
            </a:solidFill>
            <a:prstDash val="solid"/>
          </a:ln>
        </p:spPr>
      </p:sp>
      <p:sp>
        <p:nvSpPr>
          <p:cNvPr id="19" name="check dot 4"/>
          <p:cNvSpPr/>
          <p:nvPr/>
        </p:nvSpPr>
        <p:spPr>
          <a:xfrm>
            <a:off x="4727448" y="1170432"/>
            <a:ext cx="274320" cy="274320"/>
          </a:xfrm>
          <a:prstGeom prst="ellipse">
            <a:avLst/>
          </a:prstGeom>
          <a:solidFill>
            <a:schemeClr val="accent1"/>
          </a:solidFill>
          <a:ln w="12700">
            <a:solidFill>
              <a:schemeClr val="accent1"/>
            </a:solidFill>
            <a:prstDash val="solid"/>
          </a:ln>
        </p:spPr>
      </p:sp>
      <p:sp>
        <p:nvSpPr>
          <p:cNvPr id="20" name="check num 4"/>
          <p:cNvSpPr txBox="1"/>
          <p:nvPr/>
        </p:nvSpPr>
        <p:spPr>
          <a:xfrm>
            <a:off x="4727448"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1" name="check head 4"/>
          <p:cNvSpPr txBox="1"/>
          <p:nvPr/>
        </p:nvSpPr>
        <p:spPr>
          <a:xfrm>
            <a:off x="5038344"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Predictions vs truth</a:t>
            </a:r>
            <a:endParaRPr lang="en-US" sz="1050" dirty="0"/>
          </a:p>
        </p:txBody>
      </p:sp>
      <p:sp>
        <p:nvSpPr>
          <p:cNvPr id="22" name="check body 4"/>
          <p:cNvSpPr txBox="1"/>
          <p:nvPr/>
        </p:nvSpPr>
        <p:spPr>
          <a:xfrm>
            <a:off x="4727448"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100-image holdout + 55-image set</a:t>
            </a:r>
            <a:endParaRPr lang="en-US" sz="950" dirty="0"/>
          </a:p>
        </p:txBody>
      </p:sp>
      <p:sp>
        <p:nvSpPr>
          <p:cNvPr id="23" name="check box 5"/>
          <p:cNvSpPr/>
          <p:nvPr/>
        </p:nvSpPr>
        <p:spPr>
          <a:xfrm>
            <a:off x="6053328" y="1097280"/>
            <a:ext cx="1234440" cy="868680"/>
          </a:xfrm>
          <a:prstGeom prst="roundRect">
            <a:avLst>
              <a:gd name="adj" fmla="val 8421"/>
            </a:avLst>
          </a:prstGeom>
          <a:solidFill>
            <a:schemeClr val="bg2"/>
          </a:solidFill>
          <a:ln w="12700">
            <a:solidFill>
              <a:schemeClr val="bg2"/>
            </a:solidFill>
            <a:prstDash val="solid"/>
          </a:ln>
        </p:spPr>
      </p:sp>
      <p:sp>
        <p:nvSpPr>
          <p:cNvPr id="24" name="check dot 5"/>
          <p:cNvSpPr/>
          <p:nvPr/>
        </p:nvSpPr>
        <p:spPr>
          <a:xfrm>
            <a:off x="6126480" y="1170432"/>
            <a:ext cx="274320" cy="274320"/>
          </a:xfrm>
          <a:prstGeom prst="ellipse">
            <a:avLst/>
          </a:prstGeom>
          <a:solidFill>
            <a:schemeClr val="accent1"/>
          </a:solidFill>
          <a:ln w="12700">
            <a:solidFill>
              <a:schemeClr val="accent1"/>
            </a:solidFill>
            <a:prstDash val="solid"/>
          </a:ln>
        </p:spPr>
      </p:sp>
      <p:sp>
        <p:nvSpPr>
          <p:cNvPr id="25" name="check num 5"/>
          <p:cNvSpPr txBox="1"/>
          <p:nvPr/>
        </p:nvSpPr>
        <p:spPr>
          <a:xfrm>
            <a:off x="6126480"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check head 5"/>
          <p:cNvSpPr txBox="1"/>
          <p:nvPr/>
        </p:nvSpPr>
        <p:spPr>
          <a:xfrm>
            <a:off x="6437376"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Shape swap</a:t>
            </a:r>
            <a:endParaRPr lang="en-US" sz="1050" dirty="0"/>
          </a:p>
        </p:txBody>
      </p:sp>
      <p:sp>
        <p:nvSpPr>
          <p:cNvPr id="27" name="check body 5"/>
          <p:cNvSpPr txBox="1"/>
          <p:nvPr/>
        </p:nvSpPr>
        <p:spPr>
          <a:xfrm>
            <a:off x="6126480"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true shape into the predicted pose</a:t>
            </a:r>
            <a:endParaRPr lang="en-US" sz="950" dirty="0"/>
          </a:p>
        </p:txBody>
      </p:sp>
      <p:sp>
        <p:nvSpPr>
          <p:cNvPr id="28" name="check box 6"/>
          <p:cNvSpPr/>
          <p:nvPr/>
        </p:nvSpPr>
        <p:spPr>
          <a:xfrm>
            <a:off x="7452360" y="1097280"/>
            <a:ext cx="1234440" cy="868680"/>
          </a:xfrm>
          <a:prstGeom prst="roundRect">
            <a:avLst>
              <a:gd name="adj" fmla="val 8421"/>
            </a:avLst>
          </a:prstGeom>
          <a:solidFill>
            <a:schemeClr val="bg2"/>
          </a:solidFill>
          <a:ln w="12700">
            <a:solidFill>
              <a:schemeClr val="bg2"/>
            </a:solidFill>
            <a:prstDash val="solid"/>
          </a:ln>
        </p:spPr>
      </p:sp>
      <p:sp>
        <p:nvSpPr>
          <p:cNvPr id="29" name="check dot 6"/>
          <p:cNvSpPr/>
          <p:nvPr/>
        </p:nvSpPr>
        <p:spPr>
          <a:xfrm>
            <a:off x="7525512" y="1170432"/>
            <a:ext cx="274320" cy="274320"/>
          </a:xfrm>
          <a:prstGeom prst="ellipse">
            <a:avLst/>
          </a:prstGeom>
          <a:solidFill>
            <a:schemeClr val="accent1"/>
          </a:solidFill>
          <a:ln w="12700">
            <a:solidFill>
              <a:schemeClr val="accent1"/>
            </a:solidFill>
            <a:prstDash val="solid"/>
          </a:ln>
        </p:spPr>
      </p:sp>
      <p:sp>
        <p:nvSpPr>
          <p:cNvPr id="30" name="check num 6"/>
          <p:cNvSpPr txBox="1"/>
          <p:nvPr/>
        </p:nvSpPr>
        <p:spPr>
          <a:xfrm>
            <a:off x="752551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1" name="check head 6"/>
          <p:cNvSpPr txBox="1"/>
          <p:nvPr/>
        </p:nvSpPr>
        <p:spPr>
          <a:xfrm>
            <a:off x="783640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Overfit test</a:t>
            </a:r>
            <a:endParaRPr lang="en-US" sz="1050" dirty="0"/>
          </a:p>
        </p:txBody>
      </p:sp>
      <p:sp>
        <p:nvSpPr>
          <p:cNvPr id="32" name="check body 6"/>
          <p:cNvSpPr txBox="1"/>
          <p:nvPr/>
        </p:nvSpPr>
        <p:spPr>
          <a:xfrm>
            <a:off x="752551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memorise 40 images (optimiser only)</a:t>
            </a:r>
            <a:endParaRPr lang="en-US" sz="950" dirty="0"/>
          </a:p>
        </p:txBody>
      </p:sp>
      <p:sp>
        <p:nvSpPr>
          <p:cNvPr id="33" name="ok 0"/>
          <p:cNvSpPr/>
          <p:nvPr/>
        </p:nvSpPr>
        <p:spPr>
          <a:xfrm>
            <a:off x="457200" y="2167128"/>
            <a:ext cx="365760" cy="365760"/>
          </a:xfrm>
          <a:prstGeom prst="ellipse">
            <a:avLst/>
          </a:prstGeom>
          <a:solidFill>
            <a:schemeClr val="accent3"/>
          </a:solidFill>
          <a:ln w="12700">
            <a:solidFill>
              <a:schemeClr val="accent3"/>
            </a:solidFill>
            <a:prstDash val="solid"/>
          </a:ln>
        </p:spPr>
      </p:sp>
      <p:sp>
        <p:nvSpPr>
          <p:cNvPr id="34" name="tick 0"/>
          <p:cNvSpPr txBox="1"/>
          <p:nvPr/>
        </p:nvSpPr>
        <p:spPr>
          <a:xfrm>
            <a:off x="457200" y="21671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5" name="okh 0"/>
          <p:cNvSpPr txBox="1"/>
          <p:nvPr/>
        </p:nvSpPr>
        <p:spPr>
          <a:xfrm>
            <a:off x="960120" y="2121408"/>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Ground truth decodes correctly</a:t>
            </a:r>
            <a:endParaRPr lang="en-US" sz="1300" dirty="0"/>
          </a:p>
        </p:txBody>
      </p:sp>
      <p:sp>
        <p:nvSpPr>
          <p:cNvPr id="36" name="okb 0"/>
          <p:cNvSpPr txBox="1"/>
          <p:nvPr/>
        </p:nvSpPr>
        <p:spPr>
          <a:xfrm>
            <a:off x="960120" y="2377440"/>
            <a:ext cx="7726680" cy="274320"/>
          </a:xfrm>
          <a:prstGeom prst="rect">
            <a:avLst/>
          </a:prstGeom>
          <a:noFill/>
          <a:ln/>
        </p:spPr>
        <p:txBody>
          <a:bodyPr wrap="square" lIns="0" tIns="0" rIns="0" bIns="0" rtlCol="0" anchor="t"/>
          <a:lstStyle/>
          <a:p>
            <a:pPr indent="0" marL="0">
              <a:buNone/>
            </a:pPr>
            <a:r>
              <a:rPr lang="en-US" sz="1050" dirty="0">
                <a:solidFill>
                  <a:schemeClr val="tx2"/>
                </a:solidFill>
              </a:rPr>
              <a:t>AnnyOne labels render onto the people; camera matches on 100% of images. 3DPW labels: slides 5–6.</a:t>
            </a:r>
            <a:endParaRPr lang="en-US" sz="1050" dirty="0"/>
          </a:p>
        </p:txBody>
      </p:sp>
      <p:sp>
        <p:nvSpPr>
          <p:cNvPr id="37" name="ok 1"/>
          <p:cNvSpPr/>
          <p:nvPr/>
        </p:nvSpPr>
        <p:spPr>
          <a:xfrm>
            <a:off x="457200" y="2743200"/>
            <a:ext cx="365760" cy="365760"/>
          </a:xfrm>
          <a:prstGeom prst="ellipse">
            <a:avLst/>
          </a:prstGeom>
          <a:solidFill>
            <a:schemeClr val="accent3"/>
          </a:solidFill>
          <a:ln w="12700">
            <a:solidFill>
              <a:schemeClr val="accent3"/>
            </a:solidFill>
            <a:prstDash val="solid"/>
          </a:ln>
        </p:spPr>
      </p:sp>
      <p:sp>
        <p:nvSpPr>
          <p:cNvPr id="38" name="tick 1"/>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9" name="okh 1"/>
          <p:cNvSpPr txBox="1"/>
          <p:nvPr/>
        </p:nvSpPr>
        <p:spPr>
          <a:xfrm>
            <a:off x="960120" y="2697480"/>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Body model is fine</a:t>
            </a:r>
            <a:endParaRPr lang="en-US" sz="1300" dirty="0"/>
          </a:p>
        </p:txBody>
      </p:sp>
      <p:sp>
        <p:nvSpPr>
          <p:cNvPr id="40" name="okb 1"/>
          <p:cNvSpPr txBox="1"/>
          <p:nvPr/>
        </p:nvSpPr>
        <p:spPr>
          <a:xfrm>
            <a:off x="960120" y="2953512"/>
            <a:ext cx="7726680" cy="274320"/>
          </a:xfrm>
          <a:prstGeom prst="rect">
            <a:avLst/>
          </a:prstGeom>
          <a:noFill/>
          <a:ln/>
        </p:spPr>
        <p:txBody>
          <a:bodyPr wrap="square" lIns="0" tIns="0" rIns="0" bIns="0" rtlCol="0" anchor="t"/>
          <a:lstStyle/>
          <a:p>
            <a:pPr indent="0" marL="0">
              <a:buNone/>
            </a:pPr>
            <a:r>
              <a:rPr lang="en-US" sz="1050" dirty="0">
                <a:solidFill>
                  <a:schemeClr val="tx2"/>
                </a:solidFill>
              </a:rPr>
              <a:t>All 16 single-joint moves hit the intended part. Age 0 → 1: skeletal height 0.53 m → 1.54 m.</a:t>
            </a:r>
            <a:endParaRPr lang="en-US" sz="1050" dirty="0"/>
          </a:p>
        </p:txBody>
      </p:sp>
      <p:sp>
        <p:nvSpPr>
          <p:cNvPr id="41" name="ok 2"/>
          <p:cNvSpPr/>
          <p:nvPr/>
        </p:nvSpPr>
        <p:spPr>
          <a:xfrm>
            <a:off x="457200" y="3319272"/>
            <a:ext cx="365760" cy="365760"/>
          </a:xfrm>
          <a:prstGeom prst="ellipse">
            <a:avLst/>
          </a:prstGeom>
          <a:solidFill>
            <a:schemeClr val="accent3"/>
          </a:solidFill>
          <a:ln w="12700">
            <a:solidFill>
              <a:schemeClr val="accent3"/>
            </a:solidFill>
            <a:prstDash val="solid"/>
          </a:ln>
        </p:spPr>
      </p:sp>
      <p:sp>
        <p:nvSpPr>
          <p:cNvPr id="42" name="tick 2"/>
          <p:cNvSpPr txBox="1"/>
          <p:nvPr/>
        </p:nvSpPr>
        <p:spPr>
          <a:xfrm>
            <a:off x="457200" y="331927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3" name="okh 2"/>
          <p:cNvSpPr txBox="1"/>
          <p:nvPr/>
        </p:nvSpPr>
        <p:spPr>
          <a:xfrm>
            <a:off x="960120" y="3273552"/>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Gradients reach every bone and shape output</a:t>
            </a:r>
            <a:endParaRPr lang="en-US" sz="1300" dirty="0"/>
          </a:p>
        </p:txBody>
      </p:sp>
      <p:sp>
        <p:nvSpPr>
          <p:cNvPr id="44" name="okb 2"/>
          <p:cNvSpPr txBox="1"/>
          <p:nvPr/>
        </p:nvSpPr>
        <p:spPr>
          <a:xfrm>
            <a:off x="960120" y="3529584"/>
            <a:ext cx="7726680" cy="274320"/>
          </a:xfrm>
          <a:prstGeom prst="rect">
            <a:avLst/>
          </a:prstGeom>
          <a:noFill/>
          <a:ln/>
        </p:spPr>
        <p:txBody>
          <a:bodyPr wrap="square" lIns="0" tIns="0" rIns="0" bIns="0" rtlCol="0" anchor="t"/>
          <a:lstStyle/>
          <a:p>
            <a:pPr indent="0" marL="0">
              <a:buNone/>
            </a:pPr>
            <a:r>
              <a:rPr lang="en-US" sz="1050" dirty="0">
                <a:solidFill>
                  <a:schemeClr val="tx2"/>
                </a:solidFill>
              </a:rPr>
              <a:t>All 75 active bones and all 11 shape outputs get gradient; the mesh responds. (Two of three camera outputs are unused.)</a:t>
            </a:r>
            <a:endParaRPr lang="en-US" sz="1050" dirty="0"/>
          </a:p>
        </p:txBody>
      </p:sp>
      <p:sp>
        <p:nvSpPr>
          <p:cNvPr id="45" name="ok 3"/>
          <p:cNvSpPr/>
          <p:nvPr/>
        </p:nvSpPr>
        <p:spPr>
          <a:xfrm>
            <a:off x="457200" y="3895344"/>
            <a:ext cx="365760" cy="365760"/>
          </a:xfrm>
          <a:prstGeom prst="ellipse">
            <a:avLst/>
          </a:prstGeom>
          <a:solidFill>
            <a:schemeClr val="accent2"/>
          </a:solidFill>
          <a:ln w="12700">
            <a:solidFill>
              <a:schemeClr val="accent2"/>
            </a:solidFill>
            <a:prstDash val="solid"/>
          </a:ln>
        </p:spPr>
      </p:sp>
      <p:sp>
        <p:nvSpPr>
          <p:cNvPr id="46" name="tick 3"/>
          <p:cNvSpPr txBox="1"/>
          <p:nvPr/>
        </p:nvSpPr>
        <p:spPr>
          <a:xfrm>
            <a:off x="457200" y="389534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okh 3"/>
          <p:cNvSpPr txBox="1"/>
          <p:nvPr/>
        </p:nvSpPr>
        <p:spPr>
          <a:xfrm>
            <a:off x="960120" y="3849624"/>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Optimiser works, with two warnings</a:t>
            </a:r>
            <a:endParaRPr lang="en-US" sz="1300" dirty="0"/>
          </a:p>
        </p:txBody>
      </p:sp>
      <p:sp>
        <p:nvSpPr>
          <p:cNvPr id="48" name="okb 3"/>
          <p:cNvSpPr txBox="1"/>
          <p:nvPr/>
        </p:nvSpPr>
        <p:spPr>
          <a:xfrm>
            <a:off x="960120" y="4105656"/>
            <a:ext cx="7726680" cy="402336"/>
          </a:xfrm>
          <a:prstGeom prst="rect">
            <a:avLst/>
          </a:prstGeom>
          <a:noFill/>
          <a:ln/>
        </p:spPr>
        <p:txBody>
          <a:bodyPr wrap="square" lIns="0" tIns="0" rIns="0" bIns="0" rtlCol="0" anchor="t"/>
          <a:lstStyle/>
          <a:p>
            <a:pPr indent="0" marL="0">
              <a:buNone/>
            </a:pPr>
            <a:r>
              <a:rPr lang="en-US" sz="1050" dirty="0">
                <a:solidFill>
                  <a:schemeClr val="tx2"/>
                </a:solidFill>
              </a:rPr>
              <a:t>40 training images: error falls 36%. But the position and 2D losses rose while memorising (1.67 → 1.89; 58 → 75): possibly the first sign of the depth bug (slide 12). The summed rotation loss barely moved (44.6 → 40.8).</a:t>
            </a:r>
            <a:endParaRPr lang="en-US" sz="1050" dirty="0"/>
          </a:p>
        </p:txBody>
      </p:sp>
      <p:sp>
        <p:nvSpPr>
          <p:cNvPr id="49" name="checks conclusion"/>
          <p:cNvSpPr txBox="1"/>
          <p:nvPr/>
        </p:nvSpPr>
        <p:spPr>
          <a:xfrm>
            <a:off x="457200" y="4526280"/>
            <a:ext cx="8229600" cy="182880"/>
          </a:xfrm>
          <a:prstGeom prst="rect">
            <a:avLst/>
          </a:prstGeom>
          <a:noFill/>
          <a:ln/>
        </p:spPr>
        <p:txBody>
          <a:bodyPr wrap="square" lIns="0" tIns="0" rIns="0" bIns="0" rtlCol="0" anchor="t"/>
          <a:lstStyle/>
          <a:p>
            <a:pPr indent="0" marL="0">
              <a:buNone/>
            </a:pPr>
            <a:r>
              <a:rPr lang="en-US" sz="1050" b="1" dirty="0">
                <a:solidFill>
                  <a:srgbClr val="1B2233"/>
                </a:solidFill>
              </a:rPr>
              <a:t>So the failures are not rig, decoding or body-model problems, as the draft said. The cause had to be in training: next slides.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depth bug: anchor vs target</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before and after</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in this pilot; the final model reaches 0.78, 22% too small (slide 20). All 12 rendered images show the same change.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the numbers</a:t>
            </a:r>
            <a:endParaRPr lang="en-US" sz="2700" dirty="0"/>
          </a:p>
        </p:txBody>
      </p:sp>
      <p:graphicFrame>
        <p:nvGraphicFramePr>
          <p:cNvPr id="15"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20):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16"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17).</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20):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8"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and gender on real photos</a:t>
            </a:r>
            <a:endParaRPr lang="en-US" sz="2700" dirty="0"/>
          </a:p>
        </p:txBody>
      </p:sp>
      <p:graphicFrame>
        <p:nvGraphicFramePr>
          <p:cNvPr id="19" name="rh table"/>
          <p:cNvGraphicFramePr>
            <a:graphicFrameLocks noGrp="1"/>
          </p:cNvGraphicFramePr>
          <p:nvPr>
            <p:extLst>
              <p:ext uri="{D42A27DB-BD31-4B8C-83A1-F6EECF244321}">
                <p14:modId xmlns:p14="http://schemas.microsoft.com/office/powerpoint/2010/main" val="1579011935"/>
              </p:ext>
            </p:extLst>
          </p:nvPr>
        </p:nvGraphicFramePr>
        <p:xfrm>
          <a:off x="457200" y="1143000"/>
          <a:ext cx="5029200" cy="914400"/>
        </p:xfrm>
        <a:graphic>
          <a:graphicData uri="http://schemas.openxmlformats.org/drawingml/2006/table">
            <a:tbl>
              <a:tblPr/>
              <a:tblGrid>
                <a:gridCol w="2286000"/>
                <a:gridCol w="822960"/>
                <a:gridCol w="1005840"/>
                <a:gridCol w="914400"/>
              </a:tblGrid>
              <a:tr h="310896">
                <a:tc>
                  <a:txBody>
                    <a:bodyPr/>
                    <a:lstStyle/>
                    <a:p>
                      <a:pPr algn="l" indent="0" marL="0">
                        <a:buNone/>
                      </a:pPr>
                      <a:r>
                        <a:rPr lang="en-US" sz="1050" b="1" dirty="0">
                          <a:solidFill>
                            <a:srgbClr val="FFFFFF"/>
                          </a:solidFill>
                        </a:rPr>
                        <a:t>Relative Human val, 2,130 people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v5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final 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rPr>
                        <a:t>masked arm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1100" b="1" dirty="0">
                          <a:solidFill>
                            <a:srgbClr val="1B2233"/>
                          </a:solidFill>
                        </a:rPr>
                        <a:t>recall (people found)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47%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gender accuracy</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C0392B"/>
                          </a:solidFill>
                        </a:rPr>
                        <a:t>46.5%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64.2%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b="1" dirty="0">
                          <a:solidFill>
                            <a:srgbClr val="C0392B"/>
                          </a:solidFill>
                        </a:rPr>
                        <a:t>49.3%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children AUC (0.5 = chance)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0.72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0.71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adults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0.54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mean predicted age, kids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0.50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babies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0.44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0.52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babies below the child line 0.45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49%</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3.68"/>
          <p:cNvSpPr txBox="1"/>
          <p:nvPr/>
        </p:nvSpPr>
        <p:spPr>
          <a:xfrm>
            <a:off x="457200" y="3364992"/>
            <a:ext cx="5029200" cy="56692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real photos with age and gender tags; detected people only (the columns cover different people). Age is Anny's 0–1 value. Red = chance. One run each; eval jobs 3611285 / 3612131 / 3613616.</a:t>
            </a:r>
            <a:endParaRPr lang="en-US" sz="1100" dirty="0"/>
          </a:p>
        </p:txBody>
      </p:sp>
      <p:sp>
        <p:nvSpPr>
          <p:cNvPr id="5" name="stat children per training batch with a balanced sampler: unproven after 2 epochs"/>
          <p:cNvSpPr txBox="1"/>
          <p:nvPr/>
        </p:nvSpPr>
        <p:spPr>
          <a:xfrm>
            <a:off x="5760720" y="1143000"/>
            <a:ext cx="2926080" cy="411480"/>
          </a:xfrm>
          <a:prstGeom prst="rect">
            <a:avLst/>
          </a:prstGeom>
          <a:noFill/>
          <a:ln/>
        </p:spPr>
        <p:txBody>
          <a:bodyPr wrap="square" lIns="0" tIns="0" rIns="0" bIns="0" rtlCol="0" anchor="ctr"/>
          <a:lstStyle/>
          <a:p>
            <a:pPr algn="l" indent="0" marL="0">
              <a:buNone/>
            </a:pPr>
            <a:r>
              <a:rPr lang="en-US" sz="2600" b="1" dirty="0">
                <a:solidFill>
                  <a:schemeClr val="accent5"/>
                </a:solidFill>
              </a:rPr>
              <a:t>2% → 10%</a:t>
            </a:r>
            <a:endParaRPr lang="en-US" sz="2600" dirty="0"/>
          </a:p>
        </p:txBody>
      </p:sp>
      <p:sp>
        <p:nvSpPr>
          <p:cNvPr id="6" name="label children per training batch with a balanced sampler: unproven after 2 epochs"/>
          <p:cNvSpPr txBox="1"/>
          <p:nvPr/>
        </p:nvSpPr>
        <p:spPr>
          <a:xfrm>
            <a:off x="5760720" y="155448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per training batch with a balanced sampler: unproven after 2 epochs</a:t>
            </a:r>
            <a:endParaRPr lang="en-US" sz="1050" dirty="0"/>
          </a:p>
        </p:txBody>
      </p:sp>
      <p:sp>
        <p:nvSpPr>
          <p:cNvPr id="7" name="stat predicted age of training babies; true 0.015 (child-like, but too old)"/>
          <p:cNvSpPr txBox="1"/>
          <p:nvPr/>
        </p:nvSpPr>
        <p:spPr>
          <a:xfrm>
            <a:off x="5760720" y="2011680"/>
            <a:ext cx="2926080" cy="411480"/>
          </a:xfrm>
          <a:prstGeom prst="rect">
            <a:avLst/>
          </a:prstGeom>
          <a:noFill/>
          <a:ln/>
        </p:spPr>
        <p:txBody>
          <a:bodyPr wrap="square" lIns="0" tIns="0" rIns="0" bIns="0" rtlCol="0" anchor="ctr"/>
          <a:lstStyle/>
          <a:p>
            <a:pPr algn="l" indent="0" marL="0">
              <a:buNone/>
            </a:pPr>
            <a:r>
              <a:rPr lang="en-US" sz="2600" b="1" dirty="0">
                <a:solidFill>
                  <a:schemeClr val="tx2"/>
                </a:solidFill>
              </a:rPr>
              <a:t>0.10</a:t>
            </a:r>
            <a:endParaRPr lang="en-US" sz="2600" dirty="0"/>
          </a:p>
        </p:txBody>
      </p:sp>
      <p:sp>
        <p:nvSpPr>
          <p:cNvPr id="8" name="label predicted age of training babies; true 0.015 (child-like, but too old)"/>
          <p:cNvSpPr txBox="1"/>
          <p:nvPr/>
        </p:nvSpPr>
        <p:spPr>
          <a:xfrm>
            <a:off x="5760720" y="242316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predicted age of training babies; true 0.015 (child-like, but too old)</a:t>
            </a:r>
            <a:endParaRPr lang="en-US" sz="1050" dirty="0"/>
          </a:p>
        </p:txBody>
      </p:sp>
      <p:sp>
        <p:nvSpPr>
          <p:cNvPr id="9" name="stat children AUC, v5 → final model: measured improvement, not solved"/>
          <p:cNvSpPr txBox="1"/>
          <p:nvPr/>
        </p:nvSpPr>
        <p:spPr>
          <a:xfrm>
            <a:off x="5760720" y="2880360"/>
            <a:ext cx="2926080" cy="411480"/>
          </a:xfrm>
          <a:prstGeom prst="rect">
            <a:avLst/>
          </a:prstGeom>
          <a:noFill/>
          <a:ln/>
        </p:spPr>
        <p:txBody>
          <a:bodyPr wrap="square" lIns="0" tIns="0" rIns="0" bIns="0" rtlCol="0" anchor="ctr"/>
          <a:lstStyle/>
          <a:p>
            <a:pPr algn="l" indent="0" marL="0">
              <a:buNone/>
            </a:pPr>
            <a:r>
              <a:rPr lang="en-US" sz="2600" b="1" dirty="0">
                <a:solidFill>
                  <a:schemeClr val="accent1"/>
                </a:solidFill>
              </a:rPr>
              <a:t>0.61 → 0.72</a:t>
            </a:r>
            <a:endParaRPr lang="en-US" sz="2600" dirty="0"/>
          </a:p>
        </p:txBody>
      </p:sp>
      <p:sp>
        <p:nvSpPr>
          <p:cNvPr id="10" name="label children AUC, v5 → final model: measured improvement, not solved"/>
          <p:cNvSpPr txBox="1"/>
          <p:nvPr/>
        </p:nvSpPr>
        <p:spPr>
          <a:xfrm>
            <a:off x="5760720" y="329184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AUC, v5 → final model: measured improvement, not solved</a:t>
            </a:r>
            <a:endParaRPr lang="en-US" sz="1050" dirty="0"/>
          </a:p>
        </p:txBody>
      </p:sp>
      <p:sp>
        <p:nvSpPr>
          <p:cNvPr id="11" name="child box"/>
          <p:cNvSpPr/>
          <p:nvPr/>
        </p:nvSpPr>
        <p:spPr>
          <a:xfrm>
            <a:off x="457200" y="4023360"/>
            <a:ext cx="8229600" cy="658368"/>
          </a:xfrm>
          <a:prstGeom prst="roundRect">
            <a:avLst>
              <a:gd name="adj" fmla="val 11111"/>
            </a:avLst>
          </a:prstGeom>
          <a:solidFill>
            <a:schemeClr val="bg2"/>
          </a:solidFill>
          <a:ln w="12700">
            <a:solidFill>
              <a:schemeClr val="bg2"/>
            </a:solidFill>
            <a:prstDash val="solid"/>
          </a:ln>
        </p:spPr>
      </p:sp>
      <p:sp>
        <p:nvSpPr>
          <p:cNvPr id="12" name="child text"/>
          <p:cNvSpPr txBox="1"/>
          <p:nvPr/>
        </p:nvSpPr>
        <p:spPr>
          <a:xfrm>
            <a:off x="640080" y="4050792"/>
            <a:ext cx="7863840" cy="603504"/>
          </a:xfrm>
          <a:prstGeom prst="rect">
            <a:avLst/>
          </a:prstGeom>
          <a:noFill/>
          <a:ln/>
        </p:spPr>
        <p:txBody>
          <a:bodyPr wrap="square" lIns="0" tIns="0" rIns="0" bIns="0" rtlCol="0" anchor="ctr"/>
          <a:lstStyle/>
          <a:p>
            <a:pPr marL="177800" indent="-177800">
              <a:spcAft>
                <a:spcPts val="200"/>
              </a:spcAft>
              <a:buSzPct val="100000"/>
              <a:buChar char="•"/>
            </a:pPr>
            <a:r>
              <a:rPr lang="en-US" sz="1000" b="1" dirty="0">
                <a:solidFill>
                  <a:schemeClr val="tx1"/>
                </a:solidFill>
              </a:rPr>
              <a:t>v5: </a:t>
            </a:r>
            <a:r>
              <a:rPr lang="en-US" sz="1000" dirty="0">
                <a:solidFill>
                  <a:schemeClr val="tx1"/>
                </a:solidFill>
              </a:rPr>
              <a:t>children read as short adults (same age, lower height); gender at chance: the shape head gives the training median.</a:t>
            </a:r>
            <a:endParaRPr lang="en-US" sz="1000" dirty="0"/>
          </a:p>
          <a:p>
            <a:pPr marL="177800" indent="-177800">
              <a:spcAft>
                <a:spcPts val="200"/>
              </a:spcAft>
              <a:buSzPct val="100000"/>
              <a:buChar char="•"/>
            </a:pPr>
            <a:r>
              <a:rPr lang="en-US" sz="1000" b="1" dirty="0">
                <a:solidFill>
                  <a:schemeClr val="tx1"/>
                </a:solidFill>
              </a:rPr>
              <a:t>Final: </a:t>
            </a:r>
            <a:r>
              <a:rPr lang="en-US" sz="1000" dirty="0">
                <a:solidFill>
                  <a:schemeClr val="tx1"/>
                </a:solidFill>
              </a:rPr>
              <a:t>women recognised (0.86), men mid-range (0.55); babies 0.44 vs adults 0.54, likely pulled down by the 3DPW age label 0.55.</a:t>
            </a:r>
            <a:endParaRPr lang="en-US" sz="1000" dirty="0"/>
          </a:p>
          <a:p>
            <a:pPr marL="177800" indent="-177800">
              <a:spcAft>
                <a:spcPts val="200"/>
              </a:spcAft>
              <a:buSzPct val="100000"/>
              <a:buChar char="•"/>
            </a:pPr>
            <a:r>
              <a:rPr lang="en-US" sz="1000" b="1" dirty="0">
                <a:solidFill>
                  <a:schemeClr val="tx1"/>
                </a:solidFill>
              </a:rPr>
              <a:t>Not solved: </a:t>
            </a:r>
            <a:r>
              <a:rPr lang="en-US" sz="1000" dirty="0">
                <a:solidFill>
                  <a:schemeClr val="tx1"/>
                </a:solidFill>
              </a:rPr>
              <a:t>kids near adult age; our demo child still gets an adult body. Limitation, or weak age labels from Relative Human (1–2 weeks)?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Masked shape labels: a trade-off</a:t>
            </a:r>
            <a:endParaRPr lang="en-US" sz="2700" dirty="0"/>
          </a:p>
        </p:txBody>
      </p:sp>
      <p:sp>
        <p:nvSpPr>
          <p:cNvPr id="3" name="What the mask does"/>
          <p:cNvSpPr/>
          <p:nvPr/>
        </p:nvSpPr>
        <p:spPr>
          <a:xfrm>
            <a:off x="457200" y="1143000"/>
            <a:ext cx="4023360" cy="2697480"/>
          </a:xfrm>
          <a:prstGeom prst="roundRect">
            <a:avLst>
              <a:gd name="adj" fmla="val 2712"/>
            </a:avLst>
          </a:prstGeom>
          <a:solidFill>
            <a:schemeClr val="bg2"/>
          </a:solidFill>
          <a:ln w="12700">
            <a:solidFill>
              <a:schemeClr val="bg2"/>
            </a:solidFill>
            <a:prstDash val="solid"/>
          </a:ln>
        </p:spPr>
      </p:sp>
      <p:sp>
        <p:nvSpPr>
          <p:cNvPr id="4" name="What the mask does dot"/>
          <p:cNvSpPr/>
          <p:nvPr/>
        </p:nvSpPr>
        <p:spPr>
          <a:xfrm>
            <a:off x="640080" y="1325880"/>
            <a:ext cx="384048" cy="384048"/>
          </a:xfrm>
          <a:prstGeom prst="ellipse">
            <a:avLst/>
          </a:prstGeom>
          <a:solidFill>
            <a:srgbClr val="0E7C86"/>
          </a:solidFill>
          <a:ln w="12700">
            <a:solidFill>
              <a:srgbClr val="0E7C86"/>
            </a:solidFill>
            <a:prstDash val="solid"/>
          </a:ln>
        </p:spPr>
      </p:sp>
      <p:sp>
        <p:nvSpPr>
          <p:cNvPr id="5" name="What the mask does head"/>
          <p:cNvSpPr txBox="1"/>
          <p:nvPr/>
        </p:nvSpPr>
        <p:spPr>
          <a:xfrm>
            <a:off x="114300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the mask does</a:t>
            </a:r>
            <a:endParaRPr lang="en-US" sz="1600" dirty="0"/>
          </a:p>
        </p:txBody>
      </p:sp>
      <p:sp>
        <p:nvSpPr>
          <p:cNvPr id="6" name="What the mask does body"/>
          <p:cNvSpPr txBox="1"/>
          <p:nvPr/>
        </p:nvSpPr>
        <p:spPr>
          <a:xfrm>
            <a:off x="64008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The problem: </a:t>
            </a:r>
            <a:r>
              <a:rPr lang="en-US" sz="1100" dirty="0">
                <a:solidFill>
                  <a:schemeClr val="tx2"/>
                </a:solidFill>
              </a:rPr>
              <a:t>3DPW labels carry 8 constant shape values for everyone (age 0.55; muscle, weight, cup size, firmness and three ethnicity values 0.5): the fitter never estimates them.</a:t>
            </a:r>
            <a:endParaRPr lang="en-US" sz="1100" dirty="0"/>
          </a:p>
          <a:p>
            <a:pPr marL="177800" indent="-177800">
              <a:spcAft>
                <a:spcPts val="400"/>
              </a:spcAft>
              <a:buSzPct val="100000"/>
              <a:buChar char="•"/>
            </a:pPr>
            <a:r>
              <a:rPr lang="en-US" sz="1100" b="1" dirty="0">
                <a:solidFill>
                  <a:schemeClr val="tx2"/>
                </a:solidFill>
              </a:rPr>
              <a:t>Trained at full weight, </a:t>
            </a:r>
            <a:r>
              <a:rPr lang="en-US" sz="1100" dirty="0">
                <a:solidFill>
                  <a:schemeClr val="tx2"/>
                </a:solidFill>
              </a:rPr>
              <a:t>the final model learned them: on real photos muscle, weight, cup size and firmness all sit near 0.5 (spread ≈ 0.04).</a:t>
            </a:r>
            <a:endParaRPr lang="en-US" sz="1100" dirty="0"/>
          </a:p>
          <a:p>
            <a:pPr marL="177800" indent="-177800">
              <a:spcAft>
                <a:spcPts val="400"/>
              </a:spcAft>
              <a:buSzPct val="100000"/>
              <a:buChar char="•"/>
            </a:pPr>
            <a:r>
              <a:rPr lang="en-US" sz="1100" b="1" dirty="0">
                <a:solidFill>
                  <a:schemeClr val="tx2"/>
                </a:solidFill>
              </a:rPr>
              <a:t>The mask: </a:t>
            </a:r>
            <a:r>
              <a:rPr lang="en-US" sz="1100" dirty="0">
                <a:solidFill>
                  <a:schemeClr val="tx2"/>
                </a:solidFill>
              </a:rPr>
              <a:t>do not learn these 8 values from 3DPW people; keep gender, height and proportions. AnnyOne people unchanged. Everything else as the final model (training job 3612325).</a:t>
            </a:r>
            <a:endParaRPr lang="en-US" sz="1100" dirty="0"/>
          </a:p>
        </p:txBody>
      </p:sp>
      <p:sp>
        <p:nvSpPr>
          <p:cNvPr id="7" name="What happened (one run each)"/>
          <p:cNvSpPr/>
          <p:nvPr/>
        </p:nvSpPr>
        <p:spPr>
          <a:xfrm>
            <a:off x="4663440" y="1143000"/>
            <a:ext cx="4023360" cy="2697480"/>
          </a:xfrm>
          <a:prstGeom prst="roundRect">
            <a:avLst>
              <a:gd name="adj" fmla="val 2712"/>
            </a:avLst>
          </a:prstGeom>
          <a:solidFill>
            <a:schemeClr val="bg2"/>
          </a:solidFill>
          <a:ln w="12700">
            <a:solidFill>
              <a:schemeClr val="bg2"/>
            </a:solidFill>
            <a:prstDash val="solid"/>
          </a:ln>
        </p:spPr>
      </p:sp>
      <p:sp>
        <p:nvSpPr>
          <p:cNvPr id="8" name="What happened (one run each) dot"/>
          <p:cNvSpPr/>
          <p:nvPr/>
        </p:nvSpPr>
        <p:spPr>
          <a:xfrm>
            <a:off x="4846320" y="1325880"/>
            <a:ext cx="384048" cy="384048"/>
          </a:xfrm>
          <a:prstGeom prst="ellipse">
            <a:avLst/>
          </a:prstGeom>
          <a:solidFill>
            <a:srgbClr val="E8792B"/>
          </a:solidFill>
          <a:ln w="12700">
            <a:solidFill>
              <a:srgbClr val="E8792B"/>
            </a:solidFill>
            <a:prstDash val="solid"/>
          </a:ln>
        </p:spPr>
      </p:sp>
      <p:sp>
        <p:nvSpPr>
          <p:cNvPr id="9" name="What happened (one run each) head"/>
          <p:cNvSpPr txBox="1"/>
          <p:nvPr/>
        </p:nvSpPr>
        <p:spPr>
          <a:xfrm>
            <a:off x="534924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happened (one run each)</a:t>
            </a:r>
            <a:endParaRPr lang="en-US" sz="1600" dirty="0"/>
          </a:p>
        </p:txBody>
      </p:sp>
      <p:sp>
        <p:nvSpPr>
          <p:cNvPr id="10" name="What happened (one run each) body"/>
          <p:cNvSpPr txBox="1"/>
          <p:nvPr/>
        </p:nvSpPr>
        <p:spPr>
          <a:xfrm>
            <a:off x="484632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Variety comes back: </a:t>
            </a:r>
            <a:r>
              <a:rPr lang="en-US" sz="1100" dirty="0">
                <a:solidFill>
                  <a:schemeClr val="tx2"/>
                </a:solidFill>
              </a:rPr>
              <a:t>spread of muscle 0.04 → 0.06, weight 0.04 → 0.11, cup size 0.05 → 0.11, firmness 0.04 → 0.11 over 12 demo photos (demo job 3613617). Requirement 1a-shape wants this.</a:t>
            </a:r>
            <a:endParaRPr lang="en-US" sz="1100" dirty="0"/>
          </a:p>
          <a:p>
            <a:pPr marL="177800" indent="-177800">
              <a:spcAft>
                <a:spcPts val="400"/>
              </a:spcAft>
              <a:buSzPct val="100000"/>
              <a:buChar char="•"/>
            </a:pPr>
            <a:r>
              <a:rPr lang="en-US" sz="1100" b="1" dirty="0">
                <a:solidFill>
                  <a:schemeClr val="tx2"/>
                </a:solidFill>
              </a:rPr>
              <a:t>Gender and children fall back: </a:t>
            </a:r>
            <a:r>
              <a:rPr lang="en-US" sz="1100" dirty="0">
                <a:solidFill>
                  <a:schemeClr val="tx2"/>
                </a:solidFill>
              </a:rPr>
              <a:t>Relative Human gender 64 → 49% (chance), recall 65 → 57%, babies 0.44 → 0.52 (adults 0.64); AUC 0.72 → 0.71 (eval job 3613616, slide 18).</a:t>
            </a:r>
            <a:endParaRPr lang="en-US" sz="1100" dirty="0"/>
          </a:p>
          <a:p>
            <a:pPr marL="177800" indent="-177800">
              <a:spcAft>
                <a:spcPts val="400"/>
              </a:spcAft>
              <a:buSzPct val="100000"/>
              <a:buChar char="•"/>
            </a:pPr>
            <a:r>
              <a:rPr lang="en-US" sz="1100" b="1" dirty="0">
                <a:solidFill>
                  <a:schemeClr val="tx2"/>
                </a:solidFill>
              </a:rPr>
              <a:t>Error unchanged within noise: </a:t>
            </a:r>
            <a:r>
              <a:rPr lang="en-US" sz="1100" dirty="0">
                <a:solidFill>
                  <a:schemeClr val="tx2"/>
                </a:solidFill>
              </a:rPr>
              <a:t>holdout PVE 71.7 (final 73.7), 3DPW test 91.1 (89.0): the 3DPW labels keep the neutral body, so a small loss there is expected.</a:t>
            </a:r>
            <a:endParaRPr lang="en-US" sz="1100" dirty="0"/>
          </a:p>
        </p:txBody>
      </p:sp>
      <p:sp>
        <p:nvSpPr>
          <p:cNvPr id="11" name="mask next box"/>
          <p:cNvSpPr/>
          <p:nvPr/>
        </p:nvSpPr>
        <p:spPr>
          <a:xfrm>
            <a:off x="457200" y="3977640"/>
            <a:ext cx="8229600" cy="704088"/>
          </a:xfrm>
          <a:prstGeom prst="roundRect">
            <a:avLst>
              <a:gd name="adj" fmla="val 10390"/>
            </a:avLst>
          </a:prstGeom>
          <a:solidFill>
            <a:srgbClr val="D3ECEE"/>
          </a:solidFill>
          <a:ln w="12700">
            <a:solidFill>
              <a:srgbClr val="D3ECEE"/>
            </a:solidFill>
            <a:prstDash val="solid"/>
          </a:ln>
        </p:spPr>
      </p:sp>
      <p:sp>
        <p:nvSpPr>
          <p:cNvPr id="12" name="mask next text"/>
          <p:cNvSpPr txBox="1"/>
          <p:nvPr/>
        </p:nvSpPr>
        <p:spPr>
          <a:xfrm>
            <a:off x="640080" y="4023360"/>
            <a:ext cx="7863840" cy="621792"/>
          </a:xfrm>
          <a:prstGeom prst="rect">
            <a:avLst/>
          </a:prstGeom>
          <a:noFill/>
          <a:ln/>
        </p:spPr>
        <p:txBody>
          <a:bodyPr wrap="square" lIns="0" tIns="0" rIns="0" bIns="0" rtlCol="0" anchor="ctr"/>
          <a:lstStyle/>
          <a:p>
            <a:pPr indent="0" marL="0">
              <a:buNone/>
            </a:pPr>
            <a:r>
              <a:rPr lang="en-US" sz="1100" b="1" dirty="0">
                <a:solidFill>
                  <a:srgbClr val="1B2233"/>
                </a:solidFill>
              </a:rPr>
              <a:t>Result, 19 Oct. </a:t>
            </a:r>
            <a:r>
              <a:rPr lang="en-US" sz="1100" dirty="0">
                <a:solidFill>
                  <a:schemeClr val="tx1"/>
                </a:solidFill>
              </a:rPr>
              <a:t>Partial mask (seven 0.5 constants masked, age kept; jobs 3614042, 3616821): children kept (AUC 0.73, babies 0.47) but gender at chance (47%). So age carries the children; gender likely leans on the constants too (untested). The unmasked model stays the final model and the student's teacher.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21"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NAVER 126.9 · 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3611339 (control); v5, v9, neck pilot: 3612073–75; NAVER: 3614192.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20).</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Relative Human: </a:t>
            </a:r>
            <a:r>
              <a:rPr lang="en-US" sz="1400" dirty="0">
                <a:solidFill>
                  <a:schemeClr val="tx1"/>
                </a:solidFill>
              </a:rPr>
              <a:t>gender 46 → 64%, children AUC 0.61 → 0.72, recall 47 → 65% (job 3612131).</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Pictures judged by eye; the Relative Human line is measured (val split).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Pilots: four results and the noise floor</a:t>
            </a:r>
            <a:endParaRPr lang="en-US" sz="2700" dirty="0"/>
          </a:p>
        </p:txBody>
      </p:sp>
      <p:graphicFrame>
        <p:nvGraphicFramePr>
          <p:cNvPr id="23"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18)</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Thesis requirements: where we stand</a:t>
            </a:r>
            <a:endParaRPr lang="en-US" sz="2700" dirty="0"/>
          </a:p>
        </p:txBody>
      </p:sp>
      <p:graphicFrame>
        <p:nvGraphicFramePr>
          <p:cNvPr id="24"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868680"/>
                <a:gridCol w="3383280"/>
                <a:gridCol w="2286000"/>
              </a:tblGrid>
              <a:tr h="256032">
                <a:tc>
                  <a:txBody>
                    <a:bodyPr/>
                    <a:lstStyle/>
                    <a:p>
                      <a:pPr algn="l" indent="0" marL="0">
                        <a:buNone/>
                      </a:pPr>
                      <a:r>
                        <a:rPr lang="en-US" sz="1000" b="1" dirty="0">
                          <a:solidFill>
                            <a:srgbClr val="FFFFFF"/>
                          </a:solidFill>
                        </a:rPr>
                        <a:t>requirement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status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evidence (18 Oct)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next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65760">
                <a:tc>
                  <a:txBody>
                    <a:bodyPr/>
                    <a:lstStyle/>
                    <a:p>
                      <a:pPr algn="l" indent="0" marL="0">
                        <a:buNone/>
                      </a:pPr>
                      <a:r>
                        <a:rPr lang="en-US" sz="1000" b="1" dirty="0">
                          <a:solidFill>
                            <a:srgbClr val="1B2233"/>
                          </a:solidFill>
                        </a:rPr>
                        <a:t>1c  3DPW in Anny space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v23 labels: post-check PASS, 60 sequences; independent check WARN (body-model limits)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state the limits in the thesis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2a  3DPW-train used in training</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final model: 30% of every batch is 3DPW-train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1a  pose correct, 3DPW test and wild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neck 4.8°, fingers 8.3°; 3DPW test 89.0 mm, our best so far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depth slope 0.42, placement, hard poses; real-photo hands unshown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1a  shape changes per person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E8792B"/>
                          </a:solidFill>
                        </a:rPr>
                        <a:t>partly, at risk</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gender yes (RH 64%); age partly (baby 0.44, adult 0.54); muscle, weight, cup, firmness ≈ 0.5; masked run: variety back, gender lost (slide 19)</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partial mask tested: children kept, gender lost (slide 19); a recipe that frees shape without losing gender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1b  not the same model as Multi-HMR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rPr>
                        <a:t>not 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upstream Multi-HMR + Anny output + 0-param bone fix; NAVER's model: 60.3 mm AnnyOne (likely in-sample) / 126.9 mm 3DPW vs ours 73.7 / 89.0; 380.9 M vs our 318.4 M params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ViT-B student launched 18 Oct (job 3614191, slide 24); needs your yes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2b  temporal (motion)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7B8794"/>
                          </a:solidFill>
                        </a:rPr>
                        <a:t>not started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per-frame model only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refiner on frozen per-frame tokens, 16-frame windows; weeks 5–6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3   report and code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draft exists (74 mm → 70.5); 98 files hard-code /netscratch; no results or models committed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clean-up list; release models with checksums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status colours as on slide 2 (green met, orange partly, red not met, grey not started). Each evidence cell is a measured number or a fact read in the code; “next” is the step that would move the dot. The route for 1b is on the next slide.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for 1b: a smaller model by distillation</a:t>
            </a:r>
            <a:endParaRPr lang="en-US" sz="2700" dirty="0"/>
          </a:p>
        </p:txBody>
      </p:sp>
      <p:graphicFrame>
        <p:nvGraphicFramePr>
          <p:cNvPr id="25" name="distil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1234440"/>
                <a:gridCol w="1097280"/>
                <a:gridCol w="1051560"/>
                <a:gridCol w="1325880"/>
                <a:gridCol w="1234440"/>
              </a:tblGrid>
              <a:tr h="292608">
                <a:tc>
                  <a:txBody>
                    <a:bodyPr/>
                    <a:lstStyle/>
                    <a:p>
                      <a:pPr algn="l" indent="0" marL="0">
                        <a:buNone/>
                      </a:pPr>
                      <a:r>
                        <a:rPr lang="en-US" sz="1050" b="1" dirty="0">
                          <a:solidFill>
                            <a:srgbClr val="FFFFFF"/>
                          </a:solidFill>
                        </a:rPr>
                        <a:t>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parameters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GFLOPs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ms / image (A40)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AnnyOne holdout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3DPW test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74320">
                <a:tc>
                  <a:txBody>
                    <a:bodyPr/>
                    <a:lstStyle/>
                    <a:p>
                      <a:pPr algn="l" indent="0" marL="0">
                        <a:buNone/>
                      </a:pPr>
                      <a:r>
                        <a:rPr lang="en-US" sz="1050" b="1" dirty="0">
                          <a:solidFill>
                            <a:srgbClr val="1B2233"/>
                          </a:solidFill>
                        </a:rPr>
                        <a:t>our ViT-L (final model, the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318.4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1,927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110</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73.7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89.0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ViT-B student (exp8, launched 18 Oct)</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101.4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603</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51.4</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i="1" dirty="0">
                          <a:solidFill>
                            <a:srgbClr val="7B8794"/>
                          </a:solidFill>
                        </a:rPr>
                        <a:t>pending (this week)</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74320">
                <a:tc>
                  <a:txBody>
                    <a:bodyPr/>
                    <a:lstStyle/>
                    <a:p>
                      <a:pPr algn="l" indent="0" marL="0">
                        <a:buNone/>
                      </a:pPr>
                      <a:r>
                        <a:rPr lang="en-US" sz="1050" b="1" dirty="0">
                          <a:solidFill>
                            <a:srgbClr val="1B2233"/>
                          </a:solidFill>
                        </a:rPr>
                        <a:t>NAVER's ViT-L Anny model (baseline)†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380.9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1,917 (backbone)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not measured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60.3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126.9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student vs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3.14×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3.19×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2.14× faster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77.6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bar: ≤ 93.7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2.78"/>
          <p:cNvSpPr txBox="1"/>
          <p:nvPr/>
        </p:nvSpPr>
        <p:spPr>
          <a:xfrm>
            <a:off x="457200" y="2542032"/>
            <a:ext cx="8229600" cy="6400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params and GFLOPs measured (1 multiply-add = 2 FLOPs, 672 px, one person); ms on an A40 for the teacher/student pair (job 3613926); the teacher runs in 77.9 ms on an A100 (job 3614947). Errors: NAVER job 3614192, student job 3614191. *likely in-sample for NAVER: trained on all of AnnyOne. †same ViT-L backbone; its head is 76.6 M params vs our 14.0 M; head FLOPs and ms not measured for NAVER's class (job 3614947).</a:t>
            </a:r>
            <a:endParaRPr lang="en-US" sz="1100" dirty="0"/>
          </a:p>
        </p:txBody>
      </p:sp>
      <p:sp>
        <p:nvSpPr>
          <p:cNvPr id="5" name="rule line"/>
          <p:cNvSpPr txBox="1"/>
          <p:nvPr/>
        </p:nvSpPr>
        <p:spPr>
          <a:xfrm>
            <a:off x="457200" y="3218688"/>
            <a:ext cx="8229600" cy="438912"/>
          </a:xfrm>
          <a:prstGeom prst="rect">
            <a:avLst/>
          </a:prstGeom>
          <a:noFill/>
          <a:ln/>
        </p:spPr>
        <p:txBody>
          <a:bodyPr wrap="square" lIns="0" tIns="0" rIns="0" bIns="0" rtlCol="0" anchor="t"/>
          <a:lstStyle/>
          <a:p>
            <a:pPr indent="0" marL="0">
              <a:buNone/>
            </a:pPr>
            <a:r>
              <a:rPr lang="en-US" sz="1100" b="1" dirty="0">
                <a:solidFill>
                  <a:srgbClr val="1B2233"/>
                </a:solidFill>
              </a:rPr>
              <a:t>The 95% rule (your 1b-ii): </a:t>
            </a:r>
            <a:r>
              <a:rPr lang="en-US" sz="1100" dirty="0">
                <a:solidFill>
                  <a:schemeClr val="tx1"/>
                </a:solidFill>
              </a:rPr>
              <a:t>the student's PVE and MPJPE may be at most the teacher's divided by 0.95, on AnnyOne test and 3DPW test, with fewer params and FLOPs and faster inference. Bars vs our ViT-L: 77.6 / 93.7 mm; vs NAVER's: 63.5 / 133.6 mm (which counts: slide 26, Q1).</a:t>
            </a:r>
            <a:endParaRPr lang="en-US" sz="1100" dirty="0"/>
          </a:p>
        </p:txBody>
      </p:sp>
      <p:sp>
        <p:nvSpPr>
          <p:cNvPr id="6" name="distill text"/>
          <p:cNvSpPr txBox="1"/>
          <p:nvPr/>
        </p:nvSpPr>
        <p:spPr>
          <a:xfrm>
            <a:off x="457200" y="3694176"/>
            <a:ext cx="8229600" cy="969264"/>
          </a:xfrm>
          <a:prstGeom prst="rect">
            <a:avLst/>
          </a:prstGeom>
          <a:noFill/>
          <a:ln/>
        </p:spPr>
        <p:txBody>
          <a:bodyPr wrap="square" lIns="0" tIns="0" rIns="0" bIns="0" rtlCol="0" anchor="t"/>
          <a:lstStyle/>
          <a:p>
            <a:pPr marL="177800" indent="-177800">
              <a:spcAft>
                <a:spcPts val="200"/>
              </a:spcAft>
              <a:buSzPct val="100000"/>
              <a:buChar char="•"/>
            </a:pPr>
            <a:r>
              <a:rPr lang="en-US" sz="1000" b="1" dirty="0">
                <a:solidFill>
                  <a:schemeClr val="tx1"/>
                </a:solidFill>
              </a:rPr>
              <a:t>Recipe: </a:t>
            </a:r>
            <a:r>
              <a:rPr lang="en-US" sz="1000" dirty="0">
                <a:solidFill>
                  <a:schemeClr val="tx1"/>
                </a:solidFill>
              </a:rPr>
              <a:t>DINOv2 ViT-B backbone (NAVER's HMR-trained weights), heads copied from the teacher through a 768 → 1024 projector, the teacher's bone fix and depth targets; feature + output distillation (weight 1.0, T 4); 30 × 1,000 × batch 8 = 240,000 images, lr 3e-5; vs NAVER: 3.76× fewer params.</a:t>
            </a:r>
            <a:endParaRPr lang="en-US" sz="1000" dirty="0"/>
          </a:p>
          <a:p>
            <a:pPr marL="177800" indent="-177800">
              <a:spcAft>
                <a:spcPts val="200"/>
              </a:spcAft>
              <a:buSzPct val="100000"/>
              <a:buChar char="•"/>
            </a:pPr>
            <a:r>
              <a:rPr lang="en-US" sz="1000" b="1" dirty="0">
                <a:solidFill>
                  <a:schemeClr val="tx1"/>
                </a:solidFill>
              </a:rPr>
              <a:t>Timeline: </a:t>
            </a:r>
            <a:r>
              <a:rPr lang="en-US" sz="1000" dirty="0">
                <a:solidFill>
                  <a:schemeClr val="tx1"/>
                </a:solidFill>
              </a:rPr>
              <a:t>smoke test passed end to end 18 Oct (job 3613926); full run launched 18 Oct (job 3614191, 30 epochs, 20 h limit): result this week once the queue runs it. Misses the bar with a still-falling curve: train longer, report the ratio as measured.</a:t>
            </a:r>
            <a:endParaRPr lang="en-US" sz="1000" dirty="0"/>
          </a:p>
          <a:p>
            <a:pPr marL="177800" indent="-177800">
              <a:spcAft>
                <a:spcPts val="200"/>
              </a:spcAft>
              <a:buSzPct val="100000"/>
              <a:buChar char="•"/>
            </a:pPr>
            <a:r>
              <a:rPr lang="en-US" sz="1000" b="1" dirty="0">
                <a:solidFill>
                  <a:schemeClr val="tx1"/>
                </a:solidFill>
              </a:rPr>
              <a:t>Risk: </a:t>
            </a:r>
            <a:r>
              <a:rPr lang="en-US" sz="1000" dirty="0">
                <a:solidFill>
                  <a:schemeClr val="tx1"/>
                </a:solidFill>
              </a:rPr>
              <a:t>NAVER's own ViT-B is ~15% worse than its ViT-L on synthetic BEDLAM but equal on 3DPW, so AnnyOne may miss. Your call: does a smaller Multi-HMR-style student count as “not exactly Multi-HMR”?</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the next four weeks</a:t>
            </a:r>
            <a:endParaRPr lang="en-US" sz="2700" dirty="0"/>
          </a:p>
        </p:txBody>
      </p:sp>
      <p:graphicFrame>
        <p:nvGraphicFramePr>
          <p:cNvPr id="26" name="pla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48640"/>
                <a:gridCol w="1051560"/>
                <a:gridCol w="5715000"/>
                <a:gridCol w="914400"/>
              </a:tblGrid>
              <a:tr h="256032">
                <a:tc>
                  <a:txBody>
                    <a:bodyPr/>
                    <a:lstStyle/>
                    <a:p>
                      <a:pPr algn="l" indent="0" marL="0">
                        <a:buNone/>
                      </a:pPr>
                      <a:r>
                        <a:rPr lang="en-US" sz="900" b="1" dirty="0">
                          <a:solidFill>
                            <a:srgbClr val="FFFFFF"/>
                          </a:solidFill>
                        </a:rPr>
                        <a:t>week</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dates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what happens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for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900" b="1" dirty="0">
                          <a:solidFill>
                            <a:srgbClr val="1B2233"/>
                          </a:solidFill>
                        </a:rPr>
                        <a:t>1</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19–25 Oct</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NAVER baseline: done 18 Oct (job 3614192, slide 24). Partial mask: done 19 Oct, not adopted (slide 19); the unmasked model stays the final ViT-L. Student result (job 3614191) once the queue runs it: holdout, 3DPW test, the 95% table. Code: masked-evaluation flag; the student's shape-distillation mask. Phenotype statistics on AnnyOne (r, slope, R²).</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1a shape, 1b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2</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26 Oct – 1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Rest-pose line-up of predicted bodies (the “visibly changes” figure). Predicted fingers on real photos (every demo so far forces rest-pose hands). Old ViT-S students on the new labels. Body-joint MPJPE. Writing: Method and Data chapters.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1a,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2–8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If the student missed the bar and its curve still fell: train it longer from its last checkpoint. The 95% table against our ViT-L and NAVER's; paired bootstrap confidence intervals. Writing: Experiments chapter (depth, neck, shape mask, Relative Human).</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4</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9–15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One final table, one protocol, every model. One more seed of the final ViT-L if a slot is free. Architecture figure and module table. Freeze the numbers; start the model release with checksums.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5–6</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16–29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Temporal (2b): a 2-layer refiner over 16-frame windows of frozen per-frame features, shape pooled per track; trained on 3DPW-train tracks; judged by acceleration error and PVE against smoothing baselines.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233"/>
                          </a:solidFill>
                        </a:rPr>
                        <a:t>7–8</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30 Nov – 13 Dec</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Introduction, related work, conclusion, limitations, full revision; code clean-up (paths, environment, tests, README); presentation. Week 8 is buffer.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part (1) of your list closes around 15 Nov. Dropped: ViT-S student, children sampler runs, the depth-slope investigation (slope 0.42 becomes a stated limitation).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2600" b="1" dirty="0">
                <a:solidFill>
                  <a:schemeClr val="bg1"/>
                </a:solidFill>
              </a:rPr>
              <a:t>What I claim, what I do not, and my questions</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the v5 line, neck02 and the head bone sit half a turn off; two flipped hand bones were half the finger error. 3DPW labels: three defects fixed by a re-fit (slide 6). The final model keeps every fix against its control: root error −48%, neck02 4.8°, fingers 8.3°, PA-PVE 50.3 vs 56.4 mm; 3DPW test 89.0 mm, our best (v9 95.5, v5 121.8; slide 20). Relative Human, v5 → final: gender 46 → 64%, children AUC 0.61 → 0.72 (slide 18).</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children or gender solved (men still mid-range); correct near/far depths (slope 0.42); fixes without cost (recall −2 points vs the control); that the fixes made most of the 3DPW gain; a model that is not Multi-HMR (slide 23).</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300"/>
              </a:spcAft>
              <a:buNone/>
            </a:pPr>
            <a:r>
              <a:rPr lang="en-US" sz="1200" b="1" dirty="0">
                <a:solidFill>
                  <a:srgbClr val="F4C95D"/>
                </a:solidFill>
              </a:rPr>
              <a:t>Questions for you</a:t>
            </a:r>
            <a:endParaRPr lang="en-US" sz="1200" dirty="0"/>
          </a:p>
          <a:p>
            <a:pPr indent="0" marL="0">
              <a:spcAft>
                <a:spcPts val="200"/>
              </a:spcAft>
              <a:buNone/>
            </a:pPr>
            <a:r>
              <a:rPr lang="en-US" sz="1200" dirty="0">
                <a:solidFill>
                  <a:srgbClr val="EEF2F7"/>
                </a:solidFill>
              </a:rPr>
              <a:t>1. (1b) Is the 95% bar against our ViT-L, NAVER's, or both? (NAVER: 60.3 mm on AnnyOne, likely in-sample; 126.9 on 3DPW; ours 73.7 / 89.0) Does a smaller Multi-HMR-style student count as “not exactly Multi-HMR”?</a:t>
            </a:r>
            <a:endParaRPr lang="en-US" sz="1200" dirty="0"/>
          </a:p>
          <a:p>
            <a:pPr indent="0" marL="0">
              <a:spcAft>
                <a:spcPts val="200"/>
              </a:spcAft>
              <a:buNone/>
            </a:pPr>
            <a:r>
              <a:rPr lang="en-US" sz="1200" dirty="0">
                <a:solidFill>
                  <a:srgbClr val="EEF2F7"/>
                </a:solidFill>
              </a:rPr>
              <a:t>2. (2b) Does a temporal refiner on frozen per-frame features count as “understands motion”?</a:t>
            </a:r>
            <a:endParaRPr lang="en-US" sz="1200" dirty="0"/>
          </a:p>
          <a:p>
            <a:pPr indent="0" marL="0">
              <a:spcAft>
                <a:spcPts val="200"/>
              </a:spcAft>
              <a:buNone/>
            </a:pPr>
            <a:r>
              <a:rPr lang="en-US" sz="1200" dirty="0">
                <a:solidFill>
                  <a:srgbClr val="EEF2F7"/>
                </a:solidFill>
              </a:rPr>
              <a:t>3. Children: a stated limitation, or weak age labels from Relative Human (1–2 weeks)?</a:t>
            </a:r>
            <a:endParaRPr lang="en-US" sz="1200" dirty="0"/>
          </a:p>
          <a:p>
            <a:pPr indent="0" marL="0">
              <a:buNone/>
            </a:pPr>
            <a:r>
              <a:rPr lang="en-US" sz="1200" dirty="0">
                <a:solidFill>
                  <a:srgbClr val="EEF2F7"/>
                </a:solidFill>
              </a:rPr>
              <a:t>4. When is the submission date?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20). Real images by eye only (slide 16).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to the draft and the repo</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Jobs and checkpoints</a:t>
            </a:r>
            <a:endParaRPr lang="en-US" sz="2700" dirty="0"/>
          </a:p>
        </p:txBody>
      </p:sp>
      <p:graphicFrame>
        <p:nvGraphicFramePr>
          <p:cNvPr id="31" name="job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51560"/>
                <a:gridCol w="2606040"/>
                <a:gridCol w="4572000"/>
              </a:tblGrid>
              <a:tr h="237744">
                <a:tc>
                  <a:txBody>
                    <a:bodyPr/>
                    <a:lstStyle/>
                    <a:p>
                      <a:pPr algn="l" indent="0" marL="0">
                        <a:buNone/>
                      </a:pPr>
                      <a:r>
                        <a:rPr lang="en-US" sz="800" b="1" dirty="0">
                          <a:solidFill>
                            <a:srgbClr val="FFFFFF"/>
                          </a:solidFill>
                        </a:rPr>
                        <a:t>job</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what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path under /netscratch/najib/multi-hmr (EXP7 = results/experiments/exp7_final_model)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28600">
                <a:tc>
                  <a:txBody>
                    <a:bodyPr/>
                    <a:lstStyle/>
                    <a:p>
                      <a:pPr algn="l" indent="0" marL="0">
                        <a:buNone/>
                      </a:pPr>
                      <a:r>
                        <a:rPr lang="en-US" sz="800" b="1" dirty="0">
                          <a:solidFill>
                            <a:srgbClr val="1B2233"/>
                          </a:solidFill>
                        </a:rPr>
                        <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v5 epoch 99: start point and reference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logs/anny_model/anny_s2_shape_v5/checkpoints/00099.pt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3611336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final model (exp7 fix arm, 10 epochs)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EXP7/v5_pc_dist5_bonefix_v23_e10/train/checkpoints/00009.pt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3611339</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control: no depth or bone fix</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EXP7/v5_root_dist1_nofix_v23_e10/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3612325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masked-shape arm (training run)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EXP7/v5_pc_dist5_bonefix_v23_e10_shpmask/</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3614042</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partial mask, age kept (done; not adopted)</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EXP7/v5_pc_dist5_bonefix_v23_e10_shpmask_noage/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3614191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ViT-B student, full run (smoke test 3613926)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logs/exp8_distill_vitb_3614191.out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3614192 / 3614947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NAVER: 60.3 / 126.9 mm; 380.9 M vs our 318.4 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logs/{eval-test3dpw-3614192_0,model_cost_3614947}.out; models/multiHMR/multiHMR_672_L_anny.pt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Relative Human: v5 (_0), neck pilot (_1)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logs/eval_rh_3611285_0.out, logs/eval_rh_3611285_1.out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3612131 / 3613616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Relative Human: final model /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logs/eval_rh_3612131_0.out, logs/eval_rh_3613616_0.out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3612078 / 3613617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demos, 12 images: v5 vs final; vs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logs/demo-compare-3612078.out, logs/demo-compare-3613617.out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3612073–75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3DPW test, v23 labels: v5, v9 e62, neck pilot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logs/eval-test3dpw-361207{3,4,5}_0.out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v23 label check (WARN; old labels 3575369 FAIL)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results/diagnostics/check_3dpw_conversion_v23/; labels: threedpw_anny_v23/labels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3579014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exp6 bone fix on v5 (estimate + 2-epoch fine-tune)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results/experiments/exp6_bone_fix/anny_s2_shape_v5_00099_n200_s0/ (bone_fix.json)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5"/>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the deck comes from these logs or run folders; checkpoints are not in git (release: week 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what we changed and what we measured</dc:title>
  <dc:subject>PptxGenJS Presentation</dc:subject>
  <dc:creator>Saad Najib</dc:creator>
  <cp:lastModifiedBy>Saad Najib</cp:lastModifiedBy>
  <cp:revision>1</cp:revision>
  <dcterms:created xsi:type="dcterms:W3CDTF">2026-10-19T01:11:07Z</dcterms:created>
  <dcterms:modified xsi:type="dcterms:W3CDTF">2026-10-19T01:11:07Z</dcterms:modified>
</cp:coreProperties>
</file>