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966bbb58-6e92-104e-50a3-b9c98ae78f56}">
          <p14:sldIdLst>
            <p14:sldId id="256"/>
            <p14:sldId id="257"/>
            <p14:sldId id="258"/>
          </p14:sldIdLst>
        </p14:section>
        <p14:section name="Data" id="{d5d2e030-6525-fe79-3546-2f6fbffe4dae}">
          <p14:sldIdLst>
            <p14:sldId id="259"/>
            <p14:sldId id="260"/>
            <p14:sldId id="261"/>
          </p14:sldIdLst>
        </p14:section>
        <p14:section name="Training" id="{b9e5c24d-0955-ce71-c981-9a23901b9e29}">
          <p14:sldIdLst>
            <p14:sldId id="262"/>
            <p14:sldId id="263"/>
            <p14:sldId id="264"/>
          </p14:sldIdLst>
        </p14:section>
        <p14:section name="Findings and fixes" id="{4979f280-a622-3610-08d1-8c17af989e3e}">
          <p14:sldIdLst>
            <p14:sldId id="265"/>
            <p14:sldId id="266"/>
            <p14:sldId id="267"/>
            <p14:sldId id="268"/>
            <p14:sldId id="269"/>
            <p14:sldId id="270"/>
            <p14:sldId id="271"/>
            <p14:sldId id="272"/>
            <p14:sldId id="273"/>
            <p14:sldId id="274"/>
          </p14:sldIdLst>
        </p14:section>
        <p14:section name="Final model" id="{8f086013-add3-091f-a8c8-3e94c32983af}">
          <p14:sldIdLst>
            <p14:sldId id="275"/>
            <p14:sldId id="276"/>
          </p14:sldIdLst>
        </p14:section>
        <p14:section name="Requirements and plan" id="{e8803230-ef18-6f43-0a6d-4e771a3107b0}">
          <p14:sldIdLst>
            <p14:sldId id="277"/>
            <p14:sldId id="278"/>
            <p14:sldId id="279"/>
            <p14:sldId id="280"/>
            <p14:sldId id="281"/>
          </p14:sldIdLst>
        </p14:section>
        <p14:section name="Appendix" id="{18e424a8-e55c-5c91-6cb4-1833656f72e7}">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I will say for every number whether it is measured or only seen by eye.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Temporal modelling has not started. The report and the code are partly done. Slide 23 has the evidence for each dot.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17).</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My reading: the age label does useful work, and the seven 0.5 constants cause the collapse. So the unmasked model stays the final model, and the next run masks the seven constants but keeps age. It is queued; the result comes after this meeting.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I have not yet shown predicted hands on real photos, because every real-photo demo so far relaxes the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proposed route is the smaller-model option: a ViT-B student distilled from the final model, about 101 million parameters and 603 GFLOPs against 318 million and 1,927 for our ViT-L, so 3.1 times fewer parameters and 3.2 times fewer FLOPs, with the milliseconds per image measured. The bar is the one the script computes: the student's error may be at most the teacher's divided by 0.95 on both AnnyOne and 3DPW, reported against our ViT-L and against NAVER's ViT-L. The risk: NAVER's own ViT-B is about 15 percent worse than its ViT-L on synthetic BEDLAM data, so AnnyOne may miss the bar; it is one long job, launched on 18 October, 30 epochs with a 20-hour limit, so the result comes this week once the queue runs it; the details are on the next slide. Temporal modelling has not started; my plan is a small refiner on top of the frozen per-frame model, in month two. The report has a draft, whose 74 millimetre headline must become 70.5,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It is being evaluated with our code on the same labels now (job 3614192); until that result is in, I do not know whether our model beats it.</a:t>
            </a:r>
          </a:p>
          <a:p>
            <a:r>
              <a:rPr lang="en-US" dirty="0"/>
              <a:t>- FLOPs: counted analytically from the layer shapes at 672 pixels, with one multiply-add counted as two FLOPs; the ViT-L backbone alone is about 1,917 of the 1,927 GFLOPs. NAVER's ViT-L at about 414 million parameters is a hand estimate. The milliseconds will be measured on one GPU, both models on the same GPU.</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1b is not met today, and this is my route: the smaller-model option. The student is a ViT-B version of the same model, trained to copy the final model, which is the teacher. The cost side is already measured in the smoke test: 101 million parameters against 318, 603 GFLOPs against 1,927, and 51 against 110 milliseconds per image on the same GPU; that is about three times smaller and twice as fast. The error side is pending. Your rule says the student's errors may be at most the teacher's divided by 0.95 on both test sets, so at most 77.6 millimetres on AnnyOne and 93.7 on 3DPW. I will report the ratio against our ViT-L and against NAVER's Anny model, which is being evaluated on the same labels now; the stricter one is the bar. The full run was launched yesterday with a twenty-hour limit, so the result comes this week once the queue runs it. The risk: NAVER's own ViT-B is 15 percent worse than its ViT-L on synthetic data, so AnnyOne may miss. And I need your answer on whether this counts as not exactly Multi-HMR.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Week one: read NAVER's baseline result, run the partial-mask arm with its Relative Human check, and decide on Sunday which ViT-L is the final one; measure the shape values on AnnyOne properly. Week two: the figures that answer your shape requirement, a rest-pose line-up and real photos with predicted fingers, which no demo has shown yet; and the Method and Data chapters. The student was launched yesterday, so its result comes this week once the queue runs it; the 95 percent table is built against our ViT-L and NAVER's. Week three: if the student missed the bar, train it longer;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(slide 23).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done (slide 19): body variety on photos opens, gender and children fall back; a partial mask that keeps age is queued (job 3614042).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queued, 3614042. The ViT-B student is job 3614191 after the smoke test 3613926, and NAVER's Anny model is being evaluated in job 3614192.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what we changed and what we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A hidden depth bug: bodies were drawn at 0.63 of their true size; now 0.78.</a:t>
            </a:r>
            <a:endParaRPr lang="en-US" sz="1800" dirty="0"/>
          </a:p>
          <a:p>
            <a:pPr algn="l" indent="0" marL="0">
              <a:buNone/>
            </a:pPr>
            <a:r>
              <a:rPr lang="en-US" sz="1600" dirty="0">
                <a:solidFill>
                  <a:schemeClr val="bg2"/>
                </a:solidFill>
              </a:rPr>
              <a:t>Neck and finger bones were half a turn off; a 0-parameter fix turns them back.</a:t>
            </a:r>
            <a:endParaRPr lang="en-US" sz="1800" dirty="0"/>
          </a:p>
          <a:p>
            <a:pPr algn="l" indent="0" marL="0">
              <a:buNone/>
            </a:pPr>
            <a:r>
              <a:rPr lang="en-US" sz="1600" dirty="0">
                <a:solidFill>
                  <a:schemeClr val="bg2"/>
                </a:solidFill>
              </a:rPr>
              <a:t>3DPW converted to Anny, three label defects fixed, and 30% of every training batch.</a:t>
            </a:r>
            <a:endParaRPr lang="en-US" sz="1800" dirty="0"/>
          </a:p>
          <a:p>
            <a:pPr algn="l" indent="0" marL="0">
              <a:buNone/>
            </a:pPr>
            <a:r>
              <a:rPr lang="en-US" sz="1600" dirty="0">
                <a:solidFill>
                  <a:schemeClr val="bg2"/>
                </a:solidFill>
              </a:rPr>
              <a:t>Final model: best on 3DPW test, 89.0 mm (v5 121.8); real photos: gender 46 → 64%.</a:t>
            </a:r>
            <a:endParaRPr lang="en-US" sz="1800" dirty="0"/>
          </a:p>
          <a:p>
            <a:pPr algn="l" indent="0" marL="0">
              <a:buNone/>
            </a:pPr>
            <a:r>
              <a:rPr lang="en-US" sz="1600" dirty="0">
                <a:solidFill>
                  <a:schemeClr val="bg2"/>
                </a:solidFill>
              </a:rPr>
              <a:t>Not yet: a model that is not Multi-HMR (ViT-B student running) and temporal modelling.</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a:t>
            </a:r>
            <a:endParaRPr lang="en-US" sz="2700" dirty="0"/>
          </a:p>
        </p:txBody>
      </p:sp>
      <p:sp>
        <p:nvSpPr>
          <p:cNvPr id="3" name="task sentence"/>
          <p:cNvSpPr txBox="1"/>
          <p:nvPr/>
        </p:nvSpPr>
        <p:spPr>
          <a:xfrm>
            <a:off x="457200" y="11430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The task. </a:t>
            </a:r>
            <a:r>
              <a:rPr lang="en-US" sz="1200" dirty="0">
                <a:solidFill>
                  <a:schemeClr val="tx1"/>
                </a:solidFill>
              </a:rPr>
              <a:t>From one photo, find every person and predict their Anny body: the pose (how each bone is turned), the shape (11 values such as gender, age, height and weight, each between 0 and 1) and the distance from the camera.</a:t>
            </a:r>
            <a:endParaRPr lang="en-US" sz="1200" dirty="0"/>
          </a:p>
        </p:txBody>
      </p:sp>
      <p:sp>
        <p:nvSpPr>
          <p:cNvPr id="4" name="pipe box 0"/>
          <p:cNvSpPr/>
          <p:nvPr/>
        </p:nvSpPr>
        <p:spPr>
          <a:xfrm>
            <a:off x="457200" y="2148840"/>
            <a:ext cx="896112" cy="868680"/>
          </a:xfrm>
          <a:prstGeom prst="roundRect">
            <a:avLst>
              <a:gd name="adj" fmla="val 8421"/>
            </a:avLst>
          </a:prstGeom>
          <a:solidFill>
            <a:schemeClr val="bg2"/>
          </a:solidFill>
          <a:ln w="12700">
            <a:solidFill>
              <a:schemeClr val="bg2"/>
            </a:solidFill>
            <a:prstDash val="solid"/>
          </a:ln>
        </p:spPr>
      </p:sp>
      <p:sp>
        <p:nvSpPr>
          <p:cNvPr id="5" name="pipe text 0"/>
          <p:cNvSpPr txBox="1"/>
          <p:nvPr/>
        </p:nvSpPr>
        <p:spPr>
          <a:xfrm>
            <a:off x="502920"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Photo</a:t>
            </a:r>
            <a:endParaRPr lang="en-US" sz="1150" dirty="0"/>
          </a:p>
          <a:p>
            <a:pPr algn="ctr" indent="0" marL="0">
              <a:buNone/>
            </a:pPr>
            <a:r>
              <a:rPr lang="en-US" sz="950" dirty="0">
                <a:solidFill>
                  <a:srgbClr val="4A5568"/>
                </a:solidFill>
              </a:rPr>
              <a:t>one image, 672 px</a:t>
            </a:r>
            <a:endParaRPr lang="en-US" sz="1150" dirty="0"/>
          </a:p>
        </p:txBody>
      </p:sp>
      <p:sp>
        <p:nvSpPr>
          <p:cNvPr id="6" name="pipe arrow 0"/>
          <p:cNvSpPr/>
          <p:nvPr/>
        </p:nvSpPr>
        <p:spPr>
          <a:xfrm>
            <a:off x="1371600" y="2583180"/>
            <a:ext cx="109728" cy="0"/>
          </a:xfrm>
          <a:prstGeom prst="line">
            <a:avLst/>
          </a:prstGeom>
          <a:noFill/>
          <a:ln w="19050">
            <a:solidFill>
              <a:schemeClr val="tx2"/>
            </a:solidFill>
            <a:prstDash val="solid"/>
            <a:tailEnd type="triangle"/>
          </a:ln>
        </p:spPr>
      </p:sp>
      <p:sp>
        <p:nvSpPr>
          <p:cNvPr id="7" name="pipe box 1"/>
          <p:cNvSpPr/>
          <p:nvPr/>
        </p:nvSpPr>
        <p:spPr>
          <a:xfrm>
            <a:off x="1499616" y="2148840"/>
            <a:ext cx="896112" cy="868680"/>
          </a:xfrm>
          <a:prstGeom prst="roundRect">
            <a:avLst>
              <a:gd name="adj" fmla="val 8421"/>
            </a:avLst>
          </a:prstGeom>
          <a:solidFill>
            <a:schemeClr val="bg2"/>
          </a:solidFill>
          <a:ln w="12700">
            <a:solidFill>
              <a:schemeClr val="bg2"/>
            </a:solidFill>
            <a:prstDash val="solid"/>
          </a:ln>
        </p:spPr>
      </p:sp>
      <p:sp>
        <p:nvSpPr>
          <p:cNvPr id="8" name="pipe text 1"/>
          <p:cNvSpPr txBox="1"/>
          <p:nvPr/>
        </p:nvSpPr>
        <p:spPr>
          <a:xfrm>
            <a:off x="1545336"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Find people</a:t>
            </a:r>
            <a:endParaRPr lang="en-US" sz="1150" dirty="0"/>
          </a:p>
          <a:p>
            <a:pPr algn="ctr" indent="0" marL="0">
              <a:buNone/>
            </a:pPr>
            <a:r>
              <a:rPr lang="en-US" sz="950" dirty="0">
                <a:solidFill>
                  <a:srgbClr val="4A5568"/>
                </a:solidFill>
              </a:rPr>
              <a:t>a score per cell of a 48×48 grid</a:t>
            </a:r>
            <a:endParaRPr lang="en-US" sz="1150" dirty="0"/>
          </a:p>
        </p:txBody>
      </p:sp>
      <p:sp>
        <p:nvSpPr>
          <p:cNvPr id="9" name="pipe arrow 1"/>
          <p:cNvSpPr/>
          <p:nvPr/>
        </p:nvSpPr>
        <p:spPr>
          <a:xfrm>
            <a:off x="2414016" y="2583180"/>
            <a:ext cx="109728" cy="0"/>
          </a:xfrm>
          <a:prstGeom prst="line">
            <a:avLst/>
          </a:prstGeom>
          <a:noFill/>
          <a:ln w="19050">
            <a:solidFill>
              <a:schemeClr val="tx2"/>
            </a:solidFill>
            <a:prstDash val="solid"/>
            <a:tailEnd type="triangle"/>
          </a:ln>
        </p:spPr>
      </p:sp>
      <p:sp>
        <p:nvSpPr>
          <p:cNvPr id="10" name="pipe box 2"/>
          <p:cNvSpPr/>
          <p:nvPr/>
        </p:nvSpPr>
        <p:spPr>
          <a:xfrm>
            <a:off x="2542032" y="2148840"/>
            <a:ext cx="896112" cy="868680"/>
          </a:xfrm>
          <a:prstGeom prst="roundRect">
            <a:avLst>
              <a:gd name="adj" fmla="val 8421"/>
            </a:avLst>
          </a:prstGeom>
          <a:solidFill>
            <a:schemeClr val="bg2"/>
          </a:solidFill>
          <a:ln w="12700">
            <a:solidFill>
              <a:schemeClr val="bg2"/>
            </a:solidFill>
            <a:prstDash val="solid"/>
          </a:ln>
        </p:spPr>
      </p:sp>
      <p:sp>
        <p:nvSpPr>
          <p:cNvPr id="11" name="pipe text 2"/>
          <p:cNvSpPr txBox="1"/>
          <p:nvPr/>
        </p:nvSpPr>
        <p:spPr>
          <a:xfrm>
            <a:off x="2587752"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Predict</a:t>
            </a:r>
            <a:endParaRPr lang="en-US" sz="1150" dirty="0"/>
          </a:p>
          <a:p>
            <a:pPr algn="ctr" indent="0" marL="0">
              <a:buNone/>
            </a:pPr>
            <a:r>
              <a:rPr lang="en-US" sz="950" dirty="0">
                <a:solidFill>
                  <a:srgbClr val="4A5568"/>
                </a:solidFill>
              </a:rPr>
              <a:t>pose, shape, depth per person</a:t>
            </a:r>
            <a:endParaRPr lang="en-US" sz="1150" dirty="0"/>
          </a:p>
        </p:txBody>
      </p:sp>
      <p:sp>
        <p:nvSpPr>
          <p:cNvPr id="12" name="pipe arrow 2"/>
          <p:cNvSpPr/>
          <p:nvPr/>
        </p:nvSpPr>
        <p:spPr>
          <a:xfrm>
            <a:off x="3456432" y="2583180"/>
            <a:ext cx="109728" cy="0"/>
          </a:xfrm>
          <a:prstGeom prst="line">
            <a:avLst/>
          </a:prstGeom>
          <a:noFill/>
          <a:ln w="19050">
            <a:solidFill>
              <a:schemeClr val="tx2"/>
            </a:solidFill>
            <a:prstDash val="solid"/>
            <a:tailEnd type="triangle"/>
          </a:ln>
        </p:spPr>
      </p:sp>
      <p:sp>
        <p:nvSpPr>
          <p:cNvPr id="13" name="pipe box 3"/>
          <p:cNvSpPr/>
          <p:nvPr/>
        </p:nvSpPr>
        <p:spPr>
          <a:xfrm>
            <a:off x="3584448" y="2148840"/>
            <a:ext cx="896112" cy="868680"/>
          </a:xfrm>
          <a:prstGeom prst="roundRect">
            <a:avLst>
              <a:gd name="adj" fmla="val 8421"/>
            </a:avLst>
          </a:prstGeom>
          <a:solidFill>
            <a:schemeClr val="bg2"/>
          </a:solidFill>
          <a:ln w="12700">
            <a:solidFill>
              <a:schemeClr val="bg2"/>
            </a:solidFill>
            <a:prstDash val="solid"/>
          </a:ln>
        </p:spPr>
      </p:sp>
      <p:sp>
        <p:nvSpPr>
          <p:cNvPr id="14" name="pipe text 3"/>
          <p:cNvSpPr txBox="1"/>
          <p:nvPr/>
        </p:nvSpPr>
        <p:spPr>
          <a:xfrm>
            <a:off x="3630168"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Anny body</a:t>
            </a:r>
            <a:endParaRPr lang="en-US" sz="1150" dirty="0"/>
          </a:p>
          <a:p>
            <a:pPr algn="ctr" indent="0" marL="0">
              <a:buNone/>
            </a:pPr>
            <a:r>
              <a:rPr lang="en-US" sz="950" dirty="0">
                <a:solidFill>
                  <a:srgbClr val="4A5568"/>
                </a:solidFill>
              </a:rPr>
              <a:t>a mesh you can draw and measure</a:t>
            </a:r>
            <a:endParaRPr lang="en-US" sz="1150" dirty="0"/>
          </a:p>
        </p:txBody>
      </p:sp>
      <p:sp>
        <p:nvSpPr>
          <p:cNvPr id="15" name="where we test"/>
          <p:cNvSpPr txBox="1"/>
          <p:nvPr/>
        </p:nvSpPr>
        <p:spPr>
          <a:xfrm>
            <a:off x="457200" y="32004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Where we test it. </a:t>
            </a:r>
            <a:r>
              <a:rPr lang="en-US" sz="1200" dirty="0">
                <a:solidFill>
                  <a:schemeClr val="tx1"/>
                </a:solidFill>
              </a:rPr>
              <a:t>AnnyOne holdout (synthetic, exact labels), 3DPW test (real video, labels converted to Anny), Relative Human (real photos with age and gender tags) and demo photos (judged by eye). Slide 4 lists them.</a:t>
            </a:r>
            <a:endParaRPr lang="en-US" sz="1200" dirty="0"/>
          </a:p>
        </p:txBody>
      </p:sp>
      <p:sp>
        <p:nvSpPr>
          <p:cNvPr id="16" name="status legend"/>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1100" b="1" dirty="0">
                <a:solidFill>
                  <a:srgbClr val="1B2233"/>
                </a:solidFill>
              </a:rPr>
              <a:t>Status dots: </a:t>
            </a:r>
            <a:r>
              <a:rPr lang="en-US" sz="1100" dirty="0">
                <a:solidFill>
                  <a:schemeClr val="tx2"/>
                </a:solidFill>
              </a:rPr>
              <a:t>green met · orange partly · red not met · grey not started (details: slide 23).</a:t>
            </a:r>
            <a:endParaRPr lang="en-US" sz="1100" dirty="0"/>
          </a:p>
        </p:txBody>
      </p:sp>
      <p:sp>
        <p:nvSpPr>
          <p:cNvPr id="17" name="req head"/>
          <p:cNvSpPr txBox="1"/>
          <p:nvPr/>
        </p:nvSpPr>
        <p:spPr>
          <a:xfrm>
            <a:off x="4754880" y="1097280"/>
            <a:ext cx="3931920" cy="274320"/>
          </a:xfrm>
          <a:prstGeom prst="rect">
            <a:avLst/>
          </a:prstGeom>
          <a:noFill/>
          <a:ln/>
        </p:spPr>
        <p:txBody>
          <a:bodyPr wrap="square" lIns="0" tIns="0" rIns="0" bIns="0" rtlCol="0" anchor="ctr"/>
          <a:lstStyle/>
          <a:p>
            <a:pPr indent="0" marL="0">
              <a:buNone/>
            </a:pPr>
            <a:r>
              <a:rPr lang="en-US" sz="1300" b="1" dirty="0">
                <a:solidFill>
                  <a:schemeClr val="tx1"/>
                </a:solidFill>
              </a:rPr>
              <a:t>Your requirements (e-mail of 18 Oct)</a:t>
            </a:r>
            <a:endParaRPr lang="en-US" sz="1300" dirty="0"/>
          </a:p>
        </p:txBody>
      </p:sp>
      <p:sp>
        <p:nvSpPr>
          <p:cNvPr id="18" name="req dot 1a"/>
          <p:cNvSpPr/>
          <p:nvPr/>
        </p:nvSpPr>
        <p:spPr>
          <a:xfrm>
            <a:off x="4754880" y="1481328"/>
            <a:ext cx="155448" cy="155448"/>
          </a:xfrm>
          <a:prstGeom prst="ellipse">
            <a:avLst/>
          </a:prstGeom>
          <a:solidFill>
            <a:srgbClr val="E8792B"/>
          </a:solidFill>
          <a:ln w="12700">
            <a:solidFill>
              <a:srgbClr val="E8792B"/>
            </a:solidFill>
            <a:prstDash val="solid"/>
          </a:ln>
        </p:spPr>
      </p:sp>
      <p:sp>
        <p:nvSpPr>
          <p:cNvPr id="19" name="req head 1a"/>
          <p:cNvSpPr txBox="1"/>
          <p:nvPr/>
        </p:nvSpPr>
        <p:spPr>
          <a:xfrm>
            <a:off x="5001768" y="141732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1a  Correct pose, visibly varying body shape</a:t>
            </a:r>
            <a:r>
              <a:rPr lang="en-US" sz="1100" b="1" dirty="0">
                <a:solidFill>
                  <a:srgbClr val="E8792B"/>
                </a:solidFill>
              </a:rPr>
              <a:t>  partly</a:t>
            </a:r>
            <a:endParaRPr lang="en-US" sz="1100" dirty="0"/>
          </a:p>
        </p:txBody>
      </p:sp>
      <p:sp>
        <p:nvSpPr>
          <p:cNvPr id="20" name="req body 1a"/>
          <p:cNvSpPr txBox="1"/>
          <p:nvPr/>
        </p:nvSpPr>
        <p:spPr>
          <a:xfrm>
            <a:off x="5001768" y="1664208"/>
            <a:ext cx="3703320" cy="274320"/>
          </a:xfrm>
          <a:prstGeom prst="rect">
            <a:avLst/>
          </a:prstGeom>
          <a:noFill/>
          <a:ln/>
        </p:spPr>
        <p:txBody>
          <a:bodyPr wrap="square" lIns="0" tIns="0" rIns="0" bIns="0" rtlCol="0" anchor="t"/>
          <a:lstStyle/>
          <a:p>
            <a:pPr indent="0" marL="0">
              <a:buNone/>
            </a:pPr>
            <a:r>
              <a:rPr lang="en-US" sz="950" dirty="0">
                <a:solidFill>
                  <a:schemeClr val="tx2"/>
                </a:solidFill>
              </a:rPr>
              <a:t>pose: neck and fingers fixed, best on 3DPW test; shape: gender yes, muscle and weight not yet</a:t>
            </a:r>
            <a:endParaRPr lang="en-US" sz="950" dirty="0"/>
          </a:p>
        </p:txBody>
      </p:sp>
      <p:sp>
        <p:nvSpPr>
          <p:cNvPr id="21" name="req dot 1b"/>
          <p:cNvSpPr/>
          <p:nvPr/>
        </p:nvSpPr>
        <p:spPr>
          <a:xfrm>
            <a:off x="4754880" y="2020824"/>
            <a:ext cx="155448" cy="155448"/>
          </a:xfrm>
          <a:prstGeom prst="ellipse">
            <a:avLst/>
          </a:prstGeom>
          <a:solidFill>
            <a:srgbClr val="C0392B"/>
          </a:solidFill>
          <a:ln w="12700">
            <a:solidFill>
              <a:srgbClr val="C0392B"/>
            </a:solidFill>
            <a:prstDash val="solid"/>
          </a:ln>
        </p:spPr>
      </p:sp>
      <p:sp>
        <p:nvSpPr>
          <p:cNvPr id="22" name="req head 1b"/>
          <p:cNvSpPr txBox="1"/>
          <p:nvPr/>
        </p:nvSpPr>
        <p:spPr>
          <a:xfrm>
            <a:off x="5001768" y="1956816"/>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1b  A model that is not exactly Multi-HMR</a:t>
            </a:r>
            <a:r>
              <a:rPr lang="en-US" sz="1100" b="1" dirty="0">
                <a:solidFill>
                  <a:srgbClr val="C0392B"/>
                </a:solidFill>
              </a:rPr>
              <a:t>  not met</a:t>
            </a:r>
            <a:endParaRPr lang="en-US" sz="1100" dirty="0"/>
          </a:p>
        </p:txBody>
      </p:sp>
      <p:sp>
        <p:nvSpPr>
          <p:cNvPr id="23" name="req body 1b"/>
          <p:cNvSpPr txBox="1"/>
          <p:nvPr/>
        </p:nvSpPr>
        <p:spPr>
          <a:xfrm>
            <a:off x="5001768" y="2203704"/>
            <a:ext cx="3703320" cy="274320"/>
          </a:xfrm>
          <a:prstGeom prst="rect">
            <a:avLst/>
          </a:prstGeom>
          <a:noFill/>
          <a:ln/>
        </p:spPr>
        <p:txBody>
          <a:bodyPr wrap="square" lIns="0" tIns="0" rIns="0" bIns="0" rtlCol="0" anchor="t"/>
          <a:lstStyle/>
          <a:p>
            <a:pPr indent="0" marL="0">
              <a:buNone/>
            </a:pPr>
            <a:r>
              <a:rPr lang="en-US" sz="950" dirty="0">
                <a:solidFill>
                  <a:schemeClr val="tx2"/>
                </a:solidFill>
              </a:rPr>
              <a:t>new architecture that beats it, or a much smaller one within 95%; a ViT-B student is running (slide 24)</a:t>
            </a:r>
            <a:endParaRPr lang="en-US" sz="950" dirty="0"/>
          </a:p>
        </p:txBody>
      </p:sp>
      <p:sp>
        <p:nvSpPr>
          <p:cNvPr id="24" name="req dot 1c"/>
          <p:cNvSpPr/>
          <p:nvPr/>
        </p:nvSpPr>
        <p:spPr>
          <a:xfrm>
            <a:off x="4754880" y="2560320"/>
            <a:ext cx="155448" cy="155448"/>
          </a:xfrm>
          <a:prstGeom prst="ellipse">
            <a:avLst/>
          </a:prstGeom>
          <a:solidFill>
            <a:srgbClr val="3BA55D"/>
          </a:solidFill>
          <a:ln w="12700">
            <a:solidFill>
              <a:srgbClr val="3BA55D"/>
            </a:solidFill>
            <a:prstDash val="solid"/>
          </a:ln>
        </p:spPr>
      </p:sp>
      <p:sp>
        <p:nvSpPr>
          <p:cNvPr id="25" name="req head 1c"/>
          <p:cNvSpPr txBox="1"/>
          <p:nvPr/>
        </p:nvSpPr>
        <p:spPr>
          <a:xfrm>
            <a:off x="5001768" y="2496312"/>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1c  3DPW evaluated in Anny space</a:t>
            </a:r>
            <a:r>
              <a:rPr lang="en-US" sz="1100" b="1" dirty="0">
                <a:solidFill>
                  <a:srgbClr val="3BA55D"/>
                </a:solidFill>
              </a:rPr>
              <a:t>  met</a:t>
            </a:r>
            <a:endParaRPr lang="en-US" sz="1100" dirty="0"/>
          </a:p>
        </p:txBody>
      </p:sp>
      <p:sp>
        <p:nvSpPr>
          <p:cNvPr id="26" name="req body 1c"/>
          <p:cNvSpPr txBox="1"/>
          <p:nvPr/>
        </p:nvSpPr>
        <p:spPr>
          <a:xfrm>
            <a:off x="5001768" y="2743200"/>
            <a:ext cx="3703320" cy="274320"/>
          </a:xfrm>
          <a:prstGeom prst="rect">
            <a:avLst/>
          </a:prstGeom>
          <a:noFill/>
          <a:ln/>
        </p:spPr>
        <p:txBody>
          <a:bodyPr wrap="square" lIns="0" tIns="0" rIns="0" bIns="0" rtlCol="0" anchor="t"/>
          <a:lstStyle/>
          <a:p>
            <a:pPr indent="0" marL="0">
              <a:buNone/>
            </a:pPr>
            <a:r>
              <a:rPr lang="en-US" sz="950" dirty="0">
                <a:solidFill>
                  <a:schemeClr val="tx2"/>
                </a:solidFill>
              </a:rPr>
              <a:t>all 8,190 test images have Anny labels; limits stated on slide 23</a:t>
            </a:r>
            <a:endParaRPr lang="en-US" sz="950" dirty="0"/>
          </a:p>
        </p:txBody>
      </p:sp>
      <p:sp>
        <p:nvSpPr>
          <p:cNvPr id="27" name="req dot 2a"/>
          <p:cNvSpPr/>
          <p:nvPr/>
        </p:nvSpPr>
        <p:spPr>
          <a:xfrm>
            <a:off x="4754880" y="3099816"/>
            <a:ext cx="155448" cy="155448"/>
          </a:xfrm>
          <a:prstGeom prst="ellipse">
            <a:avLst/>
          </a:prstGeom>
          <a:solidFill>
            <a:srgbClr val="3BA55D"/>
          </a:solidFill>
          <a:ln w="12700">
            <a:solidFill>
              <a:srgbClr val="3BA55D"/>
            </a:solidFill>
            <a:prstDash val="solid"/>
          </a:ln>
        </p:spPr>
      </p:sp>
      <p:sp>
        <p:nvSpPr>
          <p:cNvPr id="28" name="req head 2a"/>
          <p:cNvSpPr txBox="1"/>
          <p:nvPr/>
        </p:nvSpPr>
        <p:spPr>
          <a:xfrm>
            <a:off x="5001768" y="3035808"/>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2a  Train on 3DPW converted to Anny</a:t>
            </a:r>
            <a:r>
              <a:rPr lang="en-US" sz="1100" b="1" dirty="0">
                <a:solidFill>
                  <a:srgbClr val="3BA55D"/>
                </a:solidFill>
              </a:rPr>
              <a:t>  met</a:t>
            </a:r>
            <a:endParaRPr lang="en-US" sz="1100" dirty="0"/>
          </a:p>
        </p:txBody>
      </p:sp>
      <p:sp>
        <p:nvSpPr>
          <p:cNvPr id="29" name="req body 2a"/>
          <p:cNvSpPr txBox="1"/>
          <p:nvPr/>
        </p:nvSpPr>
        <p:spPr>
          <a:xfrm>
            <a:off x="5001768" y="3282696"/>
            <a:ext cx="3703320" cy="274320"/>
          </a:xfrm>
          <a:prstGeom prst="rect">
            <a:avLst/>
          </a:prstGeom>
          <a:noFill/>
          <a:ln/>
        </p:spPr>
        <p:txBody>
          <a:bodyPr wrap="square" lIns="0" tIns="0" rIns="0" bIns="0" rtlCol="0" anchor="t"/>
          <a:lstStyle/>
          <a:p>
            <a:pPr indent="0" marL="0">
              <a:buNone/>
            </a:pPr>
            <a:r>
              <a:rPr lang="en-US" sz="950" dirty="0">
                <a:solidFill>
                  <a:schemeClr val="tx2"/>
                </a:solidFill>
              </a:rPr>
              <a:t>30% of every batch of the final model</a:t>
            </a:r>
            <a:endParaRPr lang="en-US" sz="950" dirty="0"/>
          </a:p>
        </p:txBody>
      </p:sp>
      <p:sp>
        <p:nvSpPr>
          <p:cNvPr id="30" name="req dot 2b"/>
          <p:cNvSpPr/>
          <p:nvPr/>
        </p:nvSpPr>
        <p:spPr>
          <a:xfrm>
            <a:off x="4754880" y="3639312"/>
            <a:ext cx="155448" cy="155448"/>
          </a:xfrm>
          <a:prstGeom prst="ellipse">
            <a:avLst/>
          </a:prstGeom>
          <a:solidFill>
            <a:srgbClr val="7B8794"/>
          </a:solidFill>
          <a:ln w="12700">
            <a:solidFill>
              <a:srgbClr val="7B8794"/>
            </a:solidFill>
            <a:prstDash val="solid"/>
          </a:ln>
        </p:spPr>
      </p:sp>
      <p:sp>
        <p:nvSpPr>
          <p:cNvPr id="31" name="req head 2b"/>
          <p:cNvSpPr txBox="1"/>
          <p:nvPr/>
        </p:nvSpPr>
        <p:spPr>
          <a:xfrm>
            <a:off x="5001768" y="3575304"/>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2b  Temporal modelling (video, not frame by frame)</a:t>
            </a:r>
            <a:r>
              <a:rPr lang="en-US" sz="1100" b="1" dirty="0">
                <a:solidFill>
                  <a:srgbClr val="7B8794"/>
                </a:solidFill>
              </a:rPr>
              <a:t>  not started</a:t>
            </a:r>
            <a:endParaRPr lang="en-US" sz="1100" dirty="0"/>
          </a:p>
        </p:txBody>
      </p:sp>
      <p:sp>
        <p:nvSpPr>
          <p:cNvPr id="32" name="req body 2b"/>
          <p:cNvSpPr txBox="1"/>
          <p:nvPr/>
        </p:nvSpPr>
        <p:spPr>
          <a:xfrm>
            <a:off x="5001768" y="3822192"/>
            <a:ext cx="3703320" cy="274320"/>
          </a:xfrm>
          <a:prstGeom prst="rect">
            <a:avLst/>
          </a:prstGeom>
          <a:noFill/>
          <a:ln/>
        </p:spPr>
        <p:txBody>
          <a:bodyPr wrap="square" lIns="0" tIns="0" rIns="0" bIns="0" rtlCol="0" anchor="t"/>
          <a:lstStyle/>
          <a:p>
            <a:pPr indent="0" marL="0">
              <a:buNone/>
            </a:pPr>
            <a:r>
              <a:rPr lang="en-US" sz="950" dirty="0">
                <a:solidFill>
                  <a:schemeClr val="tx2"/>
                </a:solidFill>
              </a:rPr>
              <a:t>designed, planned for weeks 5–6</a:t>
            </a:r>
            <a:endParaRPr lang="en-US" sz="950" dirty="0"/>
          </a:p>
        </p:txBody>
      </p:sp>
      <p:sp>
        <p:nvSpPr>
          <p:cNvPr id="33" name="req dot 3"/>
          <p:cNvSpPr/>
          <p:nvPr/>
        </p:nvSpPr>
        <p:spPr>
          <a:xfrm>
            <a:off x="4754880" y="4178808"/>
            <a:ext cx="155448" cy="155448"/>
          </a:xfrm>
          <a:prstGeom prst="ellipse">
            <a:avLst/>
          </a:prstGeom>
          <a:solidFill>
            <a:srgbClr val="E8792B"/>
          </a:solidFill>
          <a:ln w="12700">
            <a:solidFill>
              <a:srgbClr val="E8792B"/>
            </a:solidFill>
            <a:prstDash val="solid"/>
          </a:ln>
        </p:spPr>
      </p:sp>
      <p:sp>
        <p:nvSpPr>
          <p:cNvPr id="34" name="req head 3"/>
          <p:cNvSpPr txBox="1"/>
          <p:nvPr/>
        </p:nvSpPr>
        <p:spPr>
          <a:xfrm>
            <a:off x="5001768" y="411480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3  Well-written report; clean, verifiable code</a:t>
            </a:r>
            <a:r>
              <a:rPr lang="en-US" sz="1100" b="1" dirty="0">
                <a:solidFill>
                  <a:srgbClr val="E8792B"/>
                </a:solidFill>
              </a:rPr>
              <a:t>  partly</a:t>
            </a:r>
            <a:endParaRPr lang="en-US" sz="1100" dirty="0"/>
          </a:p>
        </p:txBody>
      </p:sp>
      <p:sp>
        <p:nvSpPr>
          <p:cNvPr id="35" name="req body 3"/>
          <p:cNvSpPr txBox="1"/>
          <p:nvPr/>
        </p:nvSpPr>
        <p:spPr>
          <a:xfrm>
            <a:off x="5001768" y="4361688"/>
            <a:ext cx="3703320" cy="274320"/>
          </a:xfrm>
          <a:prstGeom prst="rect">
            <a:avLst/>
          </a:prstGeom>
          <a:noFill/>
          <a:ln/>
        </p:spPr>
        <p:txBody>
          <a:bodyPr wrap="square" lIns="0" tIns="0" rIns="0" bIns="0" rtlCol="0" anchor="t"/>
          <a:lstStyle/>
          <a:p>
            <a:pPr indent="0" marL="0">
              <a:buNone/>
            </a:pPr>
            <a:r>
              <a:rPr lang="en-US" sz="950" dirty="0">
                <a:solidFill>
                  <a:schemeClr val="tx2"/>
                </a:solidFill>
              </a:rPr>
              <a:t>draft exists; code clean-up and model release to do</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in one picture</a:t>
            </a:r>
            <a:endParaRPr lang="en-US" sz="2700" dirty="0"/>
          </a:p>
        </p:txBody>
      </p:sp>
      <p:sp>
        <p:nvSpPr>
          <p:cNvPr id="3" name="arch box 0"/>
          <p:cNvSpPr/>
          <p:nvPr/>
        </p:nvSpPr>
        <p:spPr>
          <a:xfrm>
            <a:off x="457200" y="1143000"/>
            <a:ext cx="1481328" cy="1463040"/>
          </a:xfrm>
          <a:prstGeom prst="roundRect">
            <a:avLst>
              <a:gd name="adj" fmla="val 5000"/>
            </a:avLst>
          </a:prstGeom>
          <a:solidFill>
            <a:schemeClr val="bg2"/>
          </a:solidFill>
          <a:ln w="12700">
            <a:solidFill>
              <a:schemeClr val="bg2"/>
            </a:solidFill>
            <a:prstDash val="solid"/>
          </a:ln>
        </p:spPr>
      </p:sp>
      <p:sp>
        <p:nvSpPr>
          <p:cNvPr id="4" name="arch head 0"/>
          <p:cNvSpPr txBox="1"/>
          <p:nvPr/>
        </p:nvSpPr>
        <p:spPr>
          <a:xfrm>
            <a:off x="530352"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resized to 672 × 672 px</a:t>
            </a:r>
            <a:endParaRPr lang="en-US" sz="1000" dirty="0"/>
          </a:p>
        </p:txBody>
      </p:sp>
      <p:sp>
        <p:nvSpPr>
          <p:cNvPr id="6" name="arch arrow 0"/>
          <p:cNvSpPr/>
          <p:nvPr/>
        </p:nvSpPr>
        <p:spPr>
          <a:xfrm>
            <a:off x="1965960" y="1874520"/>
            <a:ext cx="150876" cy="0"/>
          </a:xfrm>
          <a:prstGeom prst="line">
            <a:avLst/>
          </a:prstGeom>
          <a:noFill/>
          <a:ln w="19050">
            <a:solidFill>
              <a:schemeClr val="tx2"/>
            </a:solidFill>
            <a:prstDash val="solid"/>
            <a:tailEnd type="triangle"/>
          </a:ln>
        </p:spPr>
      </p:sp>
      <p:sp>
        <p:nvSpPr>
          <p:cNvPr id="7" name="arch box 1"/>
          <p:cNvSpPr/>
          <p:nvPr/>
        </p:nvSpPr>
        <p:spPr>
          <a:xfrm>
            <a:off x="2144268" y="1143000"/>
            <a:ext cx="1481328" cy="1463040"/>
          </a:xfrm>
          <a:prstGeom prst="roundRect">
            <a:avLst>
              <a:gd name="adj" fmla="val 5000"/>
            </a:avLst>
          </a:prstGeom>
          <a:solidFill>
            <a:schemeClr val="bg2"/>
          </a:solidFill>
          <a:ln w="12700">
            <a:solidFill>
              <a:schemeClr val="bg2"/>
            </a:solidFill>
            <a:prstDash val="solid"/>
          </a:ln>
        </p:spPr>
      </p:sp>
      <p:sp>
        <p:nvSpPr>
          <p:cNvPr id="8" name="arch head 1"/>
          <p:cNvSpPr txBox="1"/>
          <p:nvPr/>
        </p:nvSpPr>
        <p:spPr>
          <a:xfrm>
            <a:off x="2217420"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DINOv2 ViT-L: 14-px patches, a 48 × 48 grid, one feature per cell (304 M parameters)</a:t>
            </a:r>
            <a:endParaRPr lang="en-US" sz="1000" dirty="0"/>
          </a:p>
        </p:txBody>
      </p:sp>
      <p:sp>
        <p:nvSpPr>
          <p:cNvPr id="10" name="arch arrow 1"/>
          <p:cNvSpPr/>
          <p:nvPr/>
        </p:nvSpPr>
        <p:spPr>
          <a:xfrm>
            <a:off x="3653028" y="1874520"/>
            <a:ext cx="150876" cy="0"/>
          </a:xfrm>
          <a:prstGeom prst="line">
            <a:avLst/>
          </a:prstGeom>
          <a:noFill/>
          <a:ln w="19050">
            <a:solidFill>
              <a:schemeClr val="tx2"/>
            </a:solidFill>
            <a:prstDash val="solid"/>
            <a:tailEnd type="triangle"/>
          </a:ln>
        </p:spPr>
      </p:sp>
      <p:sp>
        <p:nvSpPr>
          <p:cNvPr id="11" name="arch box 2"/>
          <p:cNvSpPr/>
          <p:nvPr/>
        </p:nvSpPr>
        <p:spPr>
          <a:xfrm>
            <a:off x="3831336" y="1143000"/>
            <a:ext cx="1481328" cy="1463040"/>
          </a:xfrm>
          <a:prstGeom prst="roundRect">
            <a:avLst>
              <a:gd name="adj" fmla="val 5000"/>
            </a:avLst>
          </a:prstGeom>
          <a:solidFill>
            <a:schemeClr val="bg2"/>
          </a:solidFill>
          <a:ln w="12700">
            <a:solidFill>
              <a:schemeClr val="bg2"/>
            </a:solidFill>
            <a:prstDash val="solid"/>
          </a:ln>
        </p:spPr>
      </p:sp>
      <p:sp>
        <p:nvSpPr>
          <p:cNvPr id="12" name="arch head 2"/>
          <p:cNvSpPr txBox="1"/>
          <p:nvPr/>
        </p:nvSpPr>
        <p:spPr>
          <a:xfrm>
            <a:off x="3904488"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per cell: is a person's head here? plus a small 2D offset</a:t>
            </a:r>
            <a:endParaRPr lang="en-US" sz="1000" dirty="0"/>
          </a:p>
        </p:txBody>
      </p:sp>
      <p:sp>
        <p:nvSpPr>
          <p:cNvPr id="14" name="arch arrow 2"/>
          <p:cNvSpPr/>
          <p:nvPr/>
        </p:nvSpPr>
        <p:spPr>
          <a:xfrm>
            <a:off x="5340096" y="1874520"/>
            <a:ext cx="150876" cy="0"/>
          </a:xfrm>
          <a:prstGeom prst="line">
            <a:avLst/>
          </a:prstGeom>
          <a:noFill/>
          <a:ln w="19050">
            <a:solidFill>
              <a:schemeClr val="tx2"/>
            </a:solidFill>
            <a:prstDash val="solid"/>
            <a:tailEnd type="triangle"/>
          </a:ln>
        </p:spPr>
      </p:sp>
      <p:sp>
        <p:nvSpPr>
          <p:cNvPr id="15" name="arch box 3"/>
          <p:cNvSpPr/>
          <p:nvPr/>
        </p:nvSpPr>
        <p:spPr>
          <a:xfrm>
            <a:off x="5518404" y="1143000"/>
            <a:ext cx="1481328" cy="1463040"/>
          </a:xfrm>
          <a:prstGeom prst="roundRect">
            <a:avLst>
              <a:gd name="adj" fmla="val 5000"/>
            </a:avLst>
          </a:prstGeom>
          <a:solidFill>
            <a:schemeClr val="bg2"/>
          </a:solidFill>
          <a:ln w="12700">
            <a:solidFill>
              <a:schemeClr val="bg2"/>
            </a:solidFill>
            <a:prstDash val="solid"/>
          </a:ln>
        </p:spPr>
      </p:sp>
      <p:sp>
        <p:nvSpPr>
          <p:cNvPr id="16" name="arch head 3"/>
          <p:cNvSpPr txBox="1"/>
          <p:nvPr/>
        </p:nvSpPr>
        <p:spPr>
          <a:xfrm>
            <a:off x="5591556"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cross-attention (HPH): pose = 163 bone rotations (75 trained, 88 helper bones fixed), shape = 11 Anny values 0–1, distance</a:t>
            </a:r>
            <a:endParaRPr lang="en-US" sz="1000" dirty="0"/>
          </a:p>
        </p:txBody>
      </p:sp>
      <p:sp>
        <p:nvSpPr>
          <p:cNvPr id="18" name="arch arrow 3"/>
          <p:cNvSpPr/>
          <p:nvPr/>
        </p:nvSpPr>
        <p:spPr>
          <a:xfrm>
            <a:off x="7027164" y="1874520"/>
            <a:ext cx="150876" cy="0"/>
          </a:xfrm>
          <a:prstGeom prst="line">
            <a:avLst/>
          </a:prstGeom>
          <a:noFill/>
          <a:ln w="19050">
            <a:solidFill>
              <a:schemeClr val="tx2"/>
            </a:solidFill>
            <a:prstDash val="solid"/>
            <a:tailEnd type="triangle"/>
          </a:ln>
        </p:spPr>
      </p:sp>
      <p:sp>
        <p:nvSpPr>
          <p:cNvPr id="19" name="arch box 4"/>
          <p:cNvSpPr/>
          <p:nvPr/>
        </p:nvSpPr>
        <p:spPr>
          <a:xfrm>
            <a:off x="7205472" y="1143000"/>
            <a:ext cx="1481328" cy="1463040"/>
          </a:xfrm>
          <a:prstGeom prst="roundRect">
            <a:avLst>
              <a:gd name="adj" fmla="val 5000"/>
            </a:avLst>
          </a:prstGeom>
          <a:solidFill>
            <a:schemeClr val="bg2"/>
          </a:solidFill>
          <a:ln w="12700">
            <a:solidFill>
              <a:schemeClr val="bg2"/>
            </a:solidFill>
            <a:prstDash val="solid"/>
          </a:ln>
        </p:spPr>
      </p:sp>
      <p:sp>
        <p:nvSpPr>
          <p:cNvPr id="20" name="arch head 4"/>
          <p:cNvSpPr txBox="1"/>
          <p:nvPr/>
        </p:nvSpPr>
        <p:spPr>
          <a:xfrm>
            <a:off x="7278624"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the body model turns pose + shape into a mesh; placed at the predicted distance</a:t>
            </a:r>
            <a:endParaRPr lang="en-US" sz="1000" dirty="0"/>
          </a:p>
        </p:txBody>
      </p:sp>
      <p:sp>
        <p:nvSpPr>
          <p:cNvPr id="22" name="ours tag 0"/>
          <p:cNvSpPr txBox="1"/>
          <p:nvPr/>
        </p:nvSpPr>
        <p:spPr>
          <a:xfrm>
            <a:off x="3831336"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head anchor fix</a:t>
            </a:r>
            <a:endParaRPr lang="en-US" sz="950" dirty="0"/>
          </a:p>
        </p:txBody>
      </p:sp>
      <p:sp>
        <p:nvSpPr>
          <p:cNvPr id="23" name="ours tag 1"/>
          <p:cNvSpPr txBox="1"/>
          <p:nvPr/>
        </p:nvSpPr>
        <p:spPr>
          <a:xfrm>
            <a:off x="5518404"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Anny output, bone fix</a:t>
            </a:r>
            <a:endParaRPr lang="en-US" sz="950" dirty="0"/>
          </a:p>
        </p:txBody>
      </p:sp>
      <p:sp>
        <p:nvSpPr>
          <p:cNvPr id="24" name="ours tag 2"/>
          <p:cNvSpPr txBox="1"/>
          <p:nvPr/>
        </p:nvSpPr>
        <p:spPr>
          <a:xfrm>
            <a:off x="7205472"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3DPW → Anny labels</a:t>
            </a:r>
            <a:endParaRPr lang="en-US" sz="950" dirty="0"/>
          </a:p>
        </p:txBody>
      </p:sp>
      <p:sp>
        <p:nvSpPr>
          <p:cNvPr id="25" name="ours box"/>
          <p:cNvSpPr/>
          <p:nvPr/>
        </p:nvSpPr>
        <p:spPr>
          <a:xfrm>
            <a:off x="457200" y="3017520"/>
            <a:ext cx="8229600" cy="1143000"/>
          </a:xfrm>
          <a:prstGeom prst="roundRect">
            <a:avLst>
              <a:gd name="adj" fmla="val 6400"/>
            </a:avLst>
          </a:prstGeom>
          <a:solidFill>
            <a:srgbClr val="D3ECEE"/>
          </a:solidFill>
          <a:ln w="12700">
            <a:solidFill>
              <a:srgbClr val="D3ECEE"/>
            </a:solidFill>
            <a:prstDash val="solid"/>
          </a:ln>
        </p:spPr>
      </p:sp>
      <p:sp>
        <p:nvSpPr>
          <p:cNvPr id="26" name="ours text"/>
          <p:cNvSpPr txBox="1"/>
          <p:nvPr/>
        </p:nvSpPr>
        <p:spPr>
          <a:xfrm>
            <a:off x="640080" y="3063240"/>
            <a:ext cx="7863840" cy="1051560"/>
          </a:xfrm>
          <a:prstGeom prst="rect">
            <a:avLst/>
          </a:prstGeom>
          <a:noFill/>
          <a:ln/>
        </p:spPr>
        <p:txBody>
          <a:bodyPr wrap="square" lIns="0" tIns="0" rIns="0" bIns="0" rtlCol="0" anchor="ctr"/>
          <a:lstStyle/>
          <a:p>
            <a:pPr marL="177800" indent="-177800">
              <a:spcAft>
                <a:spcPts val="300"/>
              </a:spcAft>
              <a:buSzPct val="100000"/>
              <a:buChar char="•"/>
            </a:pPr>
            <a:r>
              <a:rPr lang="en-US" sz="1150" b="1" dirty="0">
                <a:solidFill>
                  <a:schemeClr val="tx1"/>
                </a:solidFill>
              </a:rPr>
              <a:t>Output layer sized for Anny: </a:t>
            </a:r>
            <a:r>
              <a:rPr lang="en-US" sz="1150" dirty="0">
                <a:solidFill>
                  <a:schemeClr val="tx1"/>
                </a:solidFill>
              </a:rPr>
              <a:t>163 bones × 6 rotation numbers and 11 shape values (upstream Multi-HMR predicts SMPL-X).</a:t>
            </a:r>
            <a:endParaRPr lang="en-US" sz="1150" dirty="0"/>
          </a:p>
          <a:p>
            <a:pPr marL="177800" indent="-177800">
              <a:spcAft>
                <a:spcPts val="300"/>
              </a:spcAft>
              <a:buSzPct val="100000"/>
              <a:buChar char="•"/>
            </a:pPr>
            <a:r>
              <a:rPr lang="en-US" sz="1150" b="1" dirty="0">
                <a:solidFill>
                  <a:schemeClr val="tx1"/>
                </a:solidFill>
              </a:rPr>
              <a:t>Head-anchor fix (training code): </a:t>
            </a:r>
            <a:r>
              <a:rPr lang="en-US" sz="1150" dirty="0">
                <a:solidFill>
                  <a:schemeClr val="tx1"/>
                </a:solidFill>
              </a:rPr>
              <a:t>the targets for position, distance and detection are built at the head, the joint the model anchors (slide 12).</a:t>
            </a:r>
            <a:endParaRPr lang="en-US" sz="1150" dirty="0"/>
          </a:p>
          <a:p>
            <a:pPr marL="177800" indent="-177800">
              <a:spcAft>
                <a:spcPts val="300"/>
              </a:spcAft>
              <a:buSzPct val="100000"/>
              <a:buChar char="•"/>
            </a:pPr>
            <a:r>
              <a:rPr lang="en-US" sz="1150" b="1" dirty="0">
                <a:solidFill>
                  <a:schemeClr val="tx1"/>
                </a:solidFill>
              </a:rPr>
              <a:t>Bone fix (0 parameters): </a:t>
            </a:r>
            <a:r>
              <a:rPr lang="en-US" sz="1150" dirty="0">
                <a:solidFill>
                  <a:schemeClr val="tx1"/>
                </a:solidFill>
              </a:rPr>
              <a:t>one constant rotation each on neck02, head and two hand bones, applied at the output (slide 15).</a:t>
            </a:r>
            <a:endParaRPr lang="en-US" sz="1150" dirty="0"/>
          </a:p>
          <a:p>
            <a:pPr marL="177800" indent="-177800">
              <a:spcAft>
                <a:spcPts val="300"/>
              </a:spcAft>
              <a:buSzPct val="100000"/>
              <a:buChar char="•"/>
            </a:pPr>
            <a:r>
              <a:rPr lang="en-US" sz="1150" b="1" dirty="0">
                <a:solidFill>
                  <a:schemeClr val="tx1"/>
                </a:solidFill>
              </a:rPr>
              <a:t>3DPW → Anny conversion and training recipe: </a:t>
            </a:r>
            <a:r>
              <a:rPr lang="en-US" sz="1150" dirty="0">
                <a:solidFill>
                  <a:schemeClr val="tx1"/>
                </a:solidFill>
              </a:rPr>
              <a:t>our fitting script, three label defects fixed (slides 5–6), 30% real frames per batch (slide 8).</a:t>
            </a:r>
            <a:endParaRPr lang="en-US" sz="1150" dirty="0"/>
          </a:p>
        </p:txBody>
      </p:sp>
      <p:sp>
        <p:nvSpPr>
          <p:cNvPr id="27" name="honest 1b"/>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C0392B"/>
                </a:solidFill>
              </a:rPr>
              <a:t>Honest for 1b: </a:t>
            </a:r>
            <a:r>
              <a:rPr lang="en-US" sz="1100" dirty="0">
                <a:solidFill>
                  <a:schemeClr val="tx1"/>
                </a:solidFill>
              </a:rPr>
              <a:t>this is still Multi-HMR's architecture, and the backbone weights start from NAVER's Anny checkpoint. Everything marked “ours” is an output layer, a training-side fix or data. The route to 1b is a much smaller model (slide 24).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depth bug: anchor vs target</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the numbers</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20):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17).</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20):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8"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on real photos</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43000"/>
          <a:ext cx="5029200" cy="914400"/>
        </p:xfrm>
        <a:graphic>
          <a:graphicData uri="http://schemas.openxmlformats.org/drawingml/2006/table">
            <a:tbl>
              <a:tblPr/>
              <a:tblGrid>
                <a:gridCol w="2286000"/>
                <a:gridCol w="822960"/>
                <a:gridCol w="1005840"/>
                <a:gridCol w="914400"/>
              </a:tblGrid>
              <a:tr h="310896">
                <a:tc>
                  <a:txBody>
                    <a:bodyPr/>
                    <a:lstStyle/>
                    <a:p>
                      <a:pPr algn="l" indent="0" marL="0">
                        <a:buNone/>
                      </a:pPr>
                      <a:r>
                        <a:rPr lang="en-US" sz="1050" b="1" dirty="0">
                          <a:solidFill>
                            <a:srgbClr val="FFFFFF"/>
                          </a:solidFill>
                        </a:rPr>
                        <a:t>Relative Human val, 2,130 people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v5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final 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rPr>
                        <a:t>masked arm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1100" b="1" dirty="0">
                          <a:solidFill>
                            <a:srgbClr val="1B2233"/>
                          </a:solidFill>
                        </a:rPr>
                        <a:t>recall (people found)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47%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gender accuracy</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C0392B"/>
                          </a:solidFill>
                        </a:rPr>
                        <a:t>46.5%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64.2%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b="1" dirty="0">
                          <a:solidFill>
                            <a:srgbClr val="C0392B"/>
                          </a:solidFill>
                        </a:rPr>
                        <a:t>49.3%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children AUC (0.5 = chance)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0.72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0.71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adults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0.54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mean predicted age, kids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0.50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babies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0.44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0.52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babies below the child line 0.45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49%</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3.68"/>
          <p:cNvSpPr txBox="1"/>
          <p:nvPr/>
        </p:nvSpPr>
        <p:spPr>
          <a:xfrm>
            <a:off x="457200" y="3364992"/>
            <a:ext cx="5029200" cy="56692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real photos with age and gender tags; detected people only (the columns cover different people). Age is Anny's 0–1 value. Red = chance. One run each; eval jobs 3611285 / 3612131 / 3613616.</a:t>
            </a:r>
            <a:endParaRPr lang="en-US" sz="1100" dirty="0"/>
          </a:p>
        </p:txBody>
      </p:sp>
      <p:sp>
        <p:nvSpPr>
          <p:cNvPr id="5" name="stat children per training batch with a balanced sampler: unproven after 2 epochs"/>
          <p:cNvSpPr txBox="1"/>
          <p:nvPr/>
        </p:nvSpPr>
        <p:spPr>
          <a:xfrm>
            <a:off x="5760720" y="1143000"/>
            <a:ext cx="2926080" cy="411480"/>
          </a:xfrm>
          <a:prstGeom prst="rect">
            <a:avLst/>
          </a:prstGeom>
          <a:noFill/>
          <a:ln/>
        </p:spPr>
        <p:txBody>
          <a:bodyPr wrap="square" lIns="0" tIns="0" rIns="0" bIns="0" rtlCol="0" anchor="ctr"/>
          <a:lstStyle/>
          <a:p>
            <a:pPr algn="l" indent="0" marL="0">
              <a:buNone/>
            </a:pPr>
            <a:r>
              <a:rPr lang="en-US" sz="2600" b="1" dirty="0">
                <a:solidFill>
                  <a:schemeClr val="accent5"/>
                </a:solidFill>
              </a:rPr>
              <a:t>2% → 10%</a:t>
            </a:r>
            <a:endParaRPr lang="en-US" sz="2600" dirty="0"/>
          </a:p>
        </p:txBody>
      </p:sp>
      <p:sp>
        <p:nvSpPr>
          <p:cNvPr id="6" name="label children per training batch with a balanced sampler: unproven after 2 epochs"/>
          <p:cNvSpPr txBox="1"/>
          <p:nvPr/>
        </p:nvSpPr>
        <p:spPr>
          <a:xfrm>
            <a:off x="5760720" y="155448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per training batch with a balanced sampler: unproven after 2 epochs</a:t>
            </a:r>
            <a:endParaRPr lang="en-US" sz="1050" dirty="0"/>
          </a:p>
        </p:txBody>
      </p:sp>
      <p:sp>
        <p:nvSpPr>
          <p:cNvPr id="7" name="stat predicted age of training babies; true 0.015 (child-like, but too old)"/>
          <p:cNvSpPr txBox="1"/>
          <p:nvPr/>
        </p:nvSpPr>
        <p:spPr>
          <a:xfrm>
            <a:off x="5760720" y="2011680"/>
            <a:ext cx="2926080" cy="411480"/>
          </a:xfrm>
          <a:prstGeom prst="rect">
            <a:avLst/>
          </a:prstGeom>
          <a:noFill/>
          <a:ln/>
        </p:spPr>
        <p:txBody>
          <a:bodyPr wrap="square" lIns="0" tIns="0" rIns="0" bIns="0" rtlCol="0" anchor="ctr"/>
          <a:lstStyle/>
          <a:p>
            <a:pPr algn="l" indent="0" marL="0">
              <a:buNone/>
            </a:pPr>
            <a:r>
              <a:rPr lang="en-US" sz="2600" b="1" dirty="0">
                <a:solidFill>
                  <a:schemeClr val="tx2"/>
                </a:solidFill>
              </a:rPr>
              <a:t>0.10</a:t>
            </a:r>
            <a:endParaRPr lang="en-US" sz="2600" dirty="0"/>
          </a:p>
        </p:txBody>
      </p:sp>
      <p:sp>
        <p:nvSpPr>
          <p:cNvPr id="8" name="label predicted age of training babies; true 0.015 (child-like, but too old)"/>
          <p:cNvSpPr txBox="1"/>
          <p:nvPr/>
        </p:nvSpPr>
        <p:spPr>
          <a:xfrm>
            <a:off x="5760720" y="242316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predicted age of training babies; true 0.015 (child-like, but too old)</a:t>
            </a:r>
            <a:endParaRPr lang="en-US" sz="1050" dirty="0"/>
          </a:p>
        </p:txBody>
      </p:sp>
      <p:sp>
        <p:nvSpPr>
          <p:cNvPr id="9" name="stat children AUC, v5 → final model: measured improvement, not solved"/>
          <p:cNvSpPr txBox="1"/>
          <p:nvPr/>
        </p:nvSpPr>
        <p:spPr>
          <a:xfrm>
            <a:off x="5760720" y="2880360"/>
            <a:ext cx="2926080" cy="411480"/>
          </a:xfrm>
          <a:prstGeom prst="rect">
            <a:avLst/>
          </a:prstGeom>
          <a:noFill/>
          <a:ln/>
        </p:spPr>
        <p:txBody>
          <a:bodyPr wrap="square" lIns="0" tIns="0" rIns="0" bIns="0" rtlCol="0" anchor="ctr"/>
          <a:lstStyle/>
          <a:p>
            <a:pPr algn="l" indent="0" marL="0">
              <a:buNone/>
            </a:pPr>
            <a:r>
              <a:rPr lang="en-US" sz="2600" b="1" dirty="0">
                <a:solidFill>
                  <a:schemeClr val="accent1"/>
                </a:solidFill>
              </a:rPr>
              <a:t>0.61 → 0.72</a:t>
            </a:r>
            <a:endParaRPr lang="en-US" sz="2600" dirty="0"/>
          </a:p>
        </p:txBody>
      </p:sp>
      <p:sp>
        <p:nvSpPr>
          <p:cNvPr id="10" name="label children AUC, v5 → final model: measured improvement, not solved"/>
          <p:cNvSpPr txBox="1"/>
          <p:nvPr/>
        </p:nvSpPr>
        <p:spPr>
          <a:xfrm>
            <a:off x="5760720" y="329184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AUC, v5 → final model: measured improvement, not solved</a:t>
            </a:r>
            <a:endParaRPr lang="en-US" sz="1050" dirty="0"/>
          </a:p>
        </p:txBody>
      </p:sp>
      <p:sp>
        <p:nvSpPr>
          <p:cNvPr id="11" name="child box"/>
          <p:cNvSpPr/>
          <p:nvPr/>
        </p:nvSpPr>
        <p:spPr>
          <a:xfrm>
            <a:off x="457200" y="4023360"/>
            <a:ext cx="8229600" cy="658368"/>
          </a:xfrm>
          <a:prstGeom prst="roundRect">
            <a:avLst>
              <a:gd name="adj" fmla="val 11111"/>
            </a:avLst>
          </a:prstGeom>
          <a:solidFill>
            <a:schemeClr val="bg2"/>
          </a:solidFill>
          <a:ln w="12700">
            <a:solidFill>
              <a:schemeClr val="bg2"/>
            </a:solidFill>
            <a:prstDash val="solid"/>
          </a:ln>
        </p:spPr>
      </p:sp>
      <p:sp>
        <p:nvSpPr>
          <p:cNvPr id="12" name="child text"/>
          <p:cNvSpPr txBox="1"/>
          <p:nvPr/>
        </p:nvSpPr>
        <p:spPr>
          <a:xfrm>
            <a:off x="640080" y="4050792"/>
            <a:ext cx="7863840" cy="603504"/>
          </a:xfrm>
          <a:prstGeom prst="rect">
            <a:avLst/>
          </a:prstGeom>
          <a:noFill/>
          <a:ln/>
        </p:spPr>
        <p:txBody>
          <a:bodyPr wrap="square" lIns="0" tIns="0" rIns="0" bIns="0" rtlCol="0" anchor="ctr"/>
          <a:lstStyle/>
          <a:p>
            <a:pPr marL="177800" indent="-177800">
              <a:spcAft>
                <a:spcPts val="200"/>
              </a:spcAft>
              <a:buSzPct val="100000"/>
              <a:buChar char="•"/>
            </a:pPr>
            <a:r>
              <a:rPr lang="en-US" sz="1000" b="1" dirty="0">
                <a:solidFill>
                  <a:schemeClr val="tx1"/>
                </a:solidFill>
              </a:rPr>
              <a:t>v5: </a:t>
            </a:r>
            <a:r>
              <a:rPr lang="en-US" sz="1000" dirty="0">
                <a:solidFill>
                  <a:schemeClr val="tx1"/>
                </a:solidFill>
              </a:rPr>
              <a:t>children read as short adults (same age, lower height); gender at chance: the shape head gives the training median.</a:t>
            </a:r>
            <a:endParaRPr lang="en-US" sz="1000" dirty="0"/>
          </a:p>
          <a:p>
            <a:pPr marL="177800" indent="-177800">
              <a:spcAft>
                <a:spcPts val="200"/>
              </a:spcAft>
              <a:buSzPct val="100000"/>
              <a:buChar char="•"/>
            </a:pPr>
            <a:r>
              <a:rPr lang="en-US" sz="1000" b="1" dirty="0">
                <a:solidFill>
                  <a:schemeClr val="tx1"/>
                </a:solidFill>
              </a:rPr>
              <a:t>Final: </a:t>
            </a:r>
            <a:r>
              <a:rPr lang="en-US" sz="1000" dirty="0">
                <a:solidFill>
                  <a:schemeClr val="tx1"/>
                </a:solidFill>
              </a:rPr>
              <a:t>women recognised (0.86), men mid-range (0.55); babies 0.44 vs adults 0.54, likely pulled down by the 3DPW age label 0.55.</a:t>
            </a:r>
            <a:endParaRPr lang="en-US" sz="1000" dirty="0"/>
          </a:p>
          <a:p>
            <a:pPr marL="177800" indent="-177800">
              <a:spcAft>
                <a:spcPts val="200"/>
              </a:spcAft>
              <a:buSzPct val="100000"/>
              <a:buChar char="•"/>
            </a:pPr>
            <a:r>
              <a:rPr lang="en-US" sz="1000" b="1" dirty="0">
                <a:solidFill>
                  <a:schemeClr val="tx1"/>
                </a:solidFill>
              </a:rPr>
              <a:t>Not solved: </a:t>
            </a:r>
            <a:r>
              <a:rPr lang="en-US" sz="1000" dirty="0">
                <a:solidFill>
                  <a:schemeClr val="tx1"/>
                </a:solidFill>
              </a:rPr>
              <a:t>kids near adult age; our demo child still gets an adult body. Limitation, or weak age labels from Relative Human (1–2 weeks)?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Reading and next step. </a:t>
            </a:r>
            <a:r>
              <a:rPr lang="en-US" sz="1100" dirty="0">
                <a:solidFill>
                  <a:schemeClr val="tx1"/>
                </a:solidFill>
              </a:rPr>
              <a:t>The age label 0.55 likely does the useful work (pulls real-photo ages down, helps gender); the seven 0.5 constants cause the collapse. Decided 18 Oct: the unmasked model stays the final model and the student's teacher. Next: mask the seven constants, keep age supervised (job 3614042, queued; result after this meeting).</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and 3611339 (control); v5, v9, neck pilot: jobs 3612073–75.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20).</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56032">
                <a:tc>
                  <a:txBody>
                    <a:bodyPr/>
                    <a:lstStyle/>
                    <a:p>
                      <a:pPr algn="l" indent="0" marL="0">
                        <a:buNone/>
                      </a:pPr>
                      <a:r>
                        <a:rPr lang="en-US" sz="1000" b="1" dirty="0">
                          <a:solidFill>
                            <a:srgbClr val="FFFFFF"/>
                          </a:solidFill>
                        </a:rPr>
                        <a:t>requirement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status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evidence (18 Oct)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next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000" b="1" dirty="0">
                          <a:solidFill>
                            <a:srgbClr val="1B2233"/>
                          </a:solidFill>
                        </a:rPr>
                        <a:t>1c  3DPW in Anny space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v23 labels: post-check PASS, 60 sequences; independent check WARN (body-model limits)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state the limits in the thesis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2a  3DPW-train used in training</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final model: 30% of every batch is 3DPW-train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1a  pose correct, 3DPW test and wild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neck 4.8°, fingers 8.3°; 3DPW test 89.0 mm, our best so far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depth slope 0.42, placement, hard poses; real-photo hands unshown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1a  shape changes per person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E8792B"/>
                          </a:solidFill>
                        </a:rPr>
                        <a:t>partly, at risk</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gender yes (RH 64%); age partly (baby 0.44, adult 0.54); muscle, weight, cup, firmness ≈ 0.5; masked run: variety back, gender lost (slide 19)</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partial mask, age kept (job 3614042); rest-pose line-up</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1b  not the same model as Multi-HMR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rPr>
                        <a:t>not 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upstream Multi-HMR, output resized for Anny + 0-parameter bone fix; NAVER's Anny model: evaluation running (job 3614192)</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ViT-B student launched 18 Oct (job 3614191, slide 24); needs your yes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2b  temporal (motion)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7B8794"/>
                          </a:solidFill>
                        </a:rPr>
                        <a:t>not started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per-frame model only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refiner on frozen per-frame tokens, 16-frame windows; weeks 5–6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3   report and code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draft exists (74 mm → 70.5); 98 files hard-code /netscratch; no results or models committed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clean-up list; release models with checksums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status colours as on slide 2 (green met, orange partly, red not met, grey not started). Each evidence cell is a measured number or a fact read in the code; “next” is the step that would move the dot. The route for 1b is on the next slide.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for 1b: a smaller model by distillation</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1234440"/>
                <a:gridCol w="1097280"/>
                <a:gridCol w="1051560"/>
                <a:gridCol w="1325880"/>
                <a:gridCol w="1234440"/>
              </a:tblGrid>
              <a:tr h="292608">
                <a:tc>
                  <a:txBody>
                    <a:bodyPr/>
                    <a:lstStyle/>
                    <a:p>
                      <a:pPr algn="l" indent="0" marL="0">
                        <a:buNone/>
                      </a:pPr>
                      <a:r>
                        <a:rPr lang="en-US" sz="1050" b="1" dirty="0">
                          <a:solidFill>
                            <a:srgbClr val="FFFFFF"/>
                          </a:solidFill>
                        </a:rPr>
                        <a:t>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parameters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GFLOPs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ms / image (A40)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AnnyOne holdout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3DPW test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10896">
                <a:tc>
                  <a:txBody>
                    <a:bodyPr/>
                    <a:lstStyle/>
                    <a:p>
                      <a:pPr algn="l" indent="0" marL="0">
                        <a:buNone/>
                      </a:pPr>
                      <a:r>
                        <a:rPr lang="en-US" sz="1050" b="1" dirty="0">
                          <a:solidFill>
                            <a:srgbClr val="1B2233"/>
                          </a:solidFill>
                        </a:rPr>
                        <a:t>our ViT-L (final model, the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318.4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1,927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110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73.7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89.0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algn="l" indent="0" marL="0">
                        <a:buNone/>
                      </a:pPr>
                      <a:r>
                        <a:rPr lang="en-US" sz="1050" b="1" dirty="0">
                          <a:solidFill>
                            <a:srgbClr val="1B2233"/>
                          </a:solidFill>
                        </a:rPr>
                        <a:t>ViT-B student (exp8, launched 18 Oct)</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101.4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603</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51.4</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310896">
                <a:tc>
                  <a:txBody>
                    <a:bodyPr/>
                    <a:lstStyle/>
                    <a:p>
                      <a:pPr algn="l" indent="0" marL="0">
                        <a:buNone/>
                      </a:pPr>
                      <a:r>
                        <a:rPr lang="en-US" sz="1050" b="1" dirty="0">
                          <a:solidFill>
                            <a:srgbClr val="1B2233"/>
                          </a:solidFill>
                        </a:rPr>
                        <a:t>NAVER's ViT-L Anny model (baseline)*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 (job 3614192)</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 (job 3614192)</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algn="l" indent="0" marL="0">
                        <a:buNone/>
                      </a:pPr>
                      <a:r>
                        <a:rPr lang="en-US" sz="1050" b="1" dirty="0">
                          <a:solidFill>
                            <a:srgbClr val="1B2233"/>
                          </a:solidFill>
                        </a:rPr>
                        <a:t>student vs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3.14×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3.19×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2.14× faster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77.6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93.7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2.95"/>
          <p:cNvSpPr txBox="1"/>
          <p:nvPr/>
        </p:nvSpPr>
        <p:spPr>
          <a:xfrm>
            <a:off x="457200" y="26974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params, GFLOPs and ms are measured (exp8 smoke test, job 3613926; 1 multiply-add = 2 FLOPs, 672 px, one person); the student's errors and NAVER's row arrive with jobs 3614191 and 3614192. *Same ViT-L backbone: 304 M params, 1,917 GFLOPs alone.</a:t>
            </a:r>
            <a:endParaRPr lang="en-US" sz="1100" dirty="0"/>
          </a:p>
        </p:txBody>
      </p:sp>
      <p:sp>
        <p:nvSpPr>
          <p:cNvPr id="5" name="rule line"/>
          <p:cNvSpPr txBox="1"/>
          <p:nvPr/>
        </p:nvSpPr>
        <p:spPr>
          <a:xfrm>
            <a:off x="457200" y="3108960"/>
            <a:ext cx="8229600" cy="438912"/>
          </a:xfrm>
          <a:prstGeom prst="rect">
            <a:avLst/>
          </a:prstGeom>
          <a:noFill/>
          <a:ln/>
        </p:spPr>
        <p:txBody>
          <a:bodyPr wrap="square" lIns="0" tIns="0" rIns="0" bIns="0" rtlCol="0" anchor="t"/>
          <a:lstStyle/>
          <a:p>
            <a:pPr indent="0" marL="0">
              <a:buNone/>
            </a:pPr>
            <a:r>
              <a:rPr lang="en-US" sz="1100" b="1" dirty="0">
                <a:solidFill>
                  <a:srgbClr val="1B2233"/>
                </a:solidFill>
              </a:rPr>
              <a:t>The 95% rule (your 1b-ii): </a:t>
            </a:r>
            <a:r>
              <a:rPr lang="en-US" sz="1100" dirty="0">
                <a:solidFill>
                  <a:schemeClr val="tx1"/>
                </a:solidFill>
              </a:rPr>
              <a:t>the student's PVE and MPJPE may be at most the teacher's divided by 0.95, on both AnnyOne test and 3DPW test, with fewer parameters, fewer FLOPs and faster inference. Reported against our ViT-L and against NAVER's; the stricter one is the bar.</a:t>
            </a:r>
            <a:endParaRPr lang="en-US" sz="1100" dirty="0"/>
          </a:p>
        </p:txBody>
      </p:sp>
      <p:sp>
        <p:nvSpPr>
          <p:cNvPr id="6" name="distill text"/>
          <p:cNvSpPr txBox="1"/>
          <p:nvPr/>
        </p:nvSpPr>
        <p:spPr>
          <a:xfrm>
            <a:off x="457200" y="3584448"/>
            <a:ext cx="8229600" cy="1097280"/>
          </a:xfrm>
          <a:prstGeom prst="rect">
            <a:avLst/>
          </a:prstGeom>
          <a:noFill/>
          <a:ln/>
        </p:spPr>
        <p:txBody>
          <a:bodyPr wrap="square" lIns="0" tIns="0" rIns="0" bIns="0" rtlCol="0" anchor="t"/>
          <a:lstStyle/>
          <a:p>
            <a:pPr marL="177800" indent="-177800">
              <a:spcAft>
                <a:spcPts val="200"/>
              </a:spcAft>
              <a:buSzPct val="100000"/>
              <a:buChar char="•"/>
            </a:pPr>
            <a:r>
              <a:rPr lang="en-US" sz="1000" b="1" dirty="0">
                <a:solidFill>
                  <a:schemeClr val="tx1"/>
                </a:solidFill>
              </a:rPr>
              <a:t>Recipe: </a:t>
            </a:r>
            <a:r>
              <a:rPr lang="en-US" sz="1000" dirty="0">
                <a:solidFill>
                  <a:schemeClr val="tx1"/>
                </a:solidFill>
              </a:rPr>
              <a:t>DINOv2 ViT-B backbone (NAVER's HMR-trained weights), heads copied from the teacher through a 768 → 1024 projector, the teacher's bone fix and depth targets; feature + output distillation (weight 1.0, T 4); 30 × 1,000 × batch 8 = 240,000 images, lr 3e-5.</a:t>
            </a:r>
            <a:endParaRPr lang="en-US" sz="1000" dirty="0"/>
          </a:p>
          <a:p>
            <a:pPr marL="177800" indent="-177800">
              <a:spcAft>
                <a:spcPts val="200"/>
              </a:spcAft>
              <a:buSzPct val="100000"/>
              <a:buChar char="•"/>
            </a:pPr>
            <a:r>
              <a:rPr lang="en-US" sz="1000" b="1" dirty="0">
                <a:solidFill>
                  <a:schemeClr val="tx1"/>
                </a:solidFill>
              </a:rPr>
              <a:t>Timeline: </a:t>
            </a:r>
            <a:r>
              <a:rPr lang="en-US" sz="1000" dirty="0">
                <a:solidFill>
                  <a:schemeClr val="tx1"/>
                </a:solidFill>
              </a:rPr>
              <a:t>smoke test passed end to end 18 Oct (job 3613926); full run launched 18 Oct (job 3614191, 30 epochs, 20 h limit): result this week once the queue runs it. Misses the bar with a still-falling curve: train longer, report the ratio as measured.</a:t>
            </a:r>
            <a:endParaRPr lang="en-US" sz="1000" dirty="0"/>
          </a:p>
          <a:p>
            <a:pPr marL="177800" indent="-177800">
              <a:spcAft>
                <a:spcPts val="200"/>
              </a:spcAft>
              <a:buSzPct val="100000"/>
              <a:buChar char="•"/>
            </a:pPr>
            <a:r>
              <a:rPr lang="en-US" sz="1000" b="1" dirty="0">
                <a:solidFill>
                  <a:schemeClr val="tx1"/>
                </a:solidFill>
              </a:rPr>
              <a:t>Risk: </a:t>
            </a:r>
            <a:r>
              <a:rPr lang="en-US" sz="1000" dirty="0">
                <a:solidFill>
                  <a:schemeClr val="tx1"/>
                </a:solidFill>
              </a:rPr>
              <a:t>NAVER's own ViT-B is ~15% worse than its ViT-L on synthetic BEDLAM but equal on 3DPW, so AnnyOne may miss. Your call: does a smaller Multi-HMR-style student count as “not exactly Multi-HMR”?</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the next four weeks</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48640"/>
                <a:gridCol w="1051560"/>
                <a:gridCol w="5715000"/>
                <a:gridCol w="914400"/>
              </a:tblGrid>
              <a:tr h="256032">
                <a:tc>
                  <a:txBody>
                    <a:bodyPr/>
                    <a:lstStyle/>
                    <a:p>
                      <a:pPr algn="l" indent="0" marL="0">
                        <a:buNone/>
                      </a:pPr>
                      <a:r>
                        <a:rPr lang="en-US" sz="900" b="1" dirty="0">
                          <a:solidFill>
                            <a:srgbClr val="FFFFFF"/>
                          </a:solidFill>
                        </a:rPr>
                        <a:t>week</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dates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what happens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for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900" b="1" dirty="0">
                          <a:solidFill>
                            <a:srgbClr val="1B2233"/>
                          </a:solidFill>
                        </a:rPr>
                        <a:t>1</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19–25 Oct</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NAVER baseline result (job 3614192). Partial-mask run (job 3614042) + its Relative Human; decide the final ViT-L (Sun 25). Student result (job 3614191) once the queue runs it: holdout, 3DPW test, the 95% table. Code: masked-evaluation flag; the student's shape-distillation mask. Phenotype statistics on AnnyOne (r, slope, R²).</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1a shape, 1b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2</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26 Oct – 1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Rest-pose line-up of predicted bodies (the “visibly changes” figure). Predicted fingers on real photos (every demo so far forces rest-pose hands). Old ViT-S students on the new labels. Body-joint MPJPE. Writing: Method and Data chapters.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1a,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2–8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If the student missed the bar and its curve still fell: train it longer from its last checkpoint. The 95% table against our ViT-L and NAVER's; paired bootstrap confidence intervals. Writing: Experiments chapter (depth, neck, shape mask, Relative Human).</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4</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9–15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One final table, one protocol, every model. One more seed of the final ViT-L if a slot is free. Architecture figure and module table. Freeze the numbers; start the model release with checksums.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5–6</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16–29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Temporal (2b): a 2-layer refiner over 16-frame windows of frozen per-frame features, shape pooled per track; trained on 3DPW-train tracks; judged by acceleration error and PVE against smoothing baselines.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233"/>
                          </a:solidFill>
                        </a:rPr>
                        <a:t>7–8</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30 Nov – 13 Dec</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Introduction, related work, conclusion, limitations, full revision; code clean-up (paths, environment, tests, README); presentation. Week 8 is buffer.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part (1) of your list closes around 15 Nov. Dropped: ViT-S student, children sampler runs, the depth-slope investigation (slope 0.42 becomes a stated limitation).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What I claim, what I do not, and my questions</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20). Relative Human, v5 → final: gender 46 → 64%, children AUC 0.61 → 0.72 (slide 18).</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 23).</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Does a smaller Multi-HMR-style student count as “not exactly Multi-HMR”?</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423160"/>
                <a:gridCol w="4754880"/>
              </a:tblGrid>
              <a:tr h="237744">
                <a:tc>
                  <a:txBody>
                    <a:bodyPr/>
                    <a:lstStyle/>
                    <a:p>
                      <a:pPr algn="l" indent="0" marL="0">
                        <a:buNone/>
                      </a:pPr>
                      <a:r>
                        <a:rPr lang="en-US" sz="850" b="1" dirty="0">
                          <a:solidFill>
                            <a:srgbClr val="FFFFFF"/>
                          </a:solidFill>
                        </a:rPr>
                        <a:t>job</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50" b="1" dirty="0">
                          <a:solidFill>
                            <a:srgbClr val="FFFFFF"/>
                          </a:solidFill>
                        </a:rPr>
                        <a:t>what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50" b="1" dirty="0">
                          <a:solidFill>
                            <a:srgbClr val="FFFFFF"/>
                          </a:solidFill>
                        </a:rPr>
                        <a:t>path under /netscratch/najib/multi-hmr (EXP7 = results/experiments/exp7_final_model)</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50" b="1" dirty="0">
                          <a:solidFill>
                            <a:srgbClr val="1B2233"/>
                          </a:solidFill>
                        </a:rPr>
                        <a: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v5 epoch 99: start point and reference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logs/anny_model/anny_s2_shape_v5/checkpoints/00099.pt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3611336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final model (exp7 fix arm, 10 epochs)</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EXP7/v5_pc_dist5_bonefix_v23_e10/train/checkpoints/00009.pt (3DPW test in its log)</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3611339</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control: no depth or bone fix</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EXP7/v5_root_dist1_nofix_v23_e10/ (3DPW test in its log)</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3612325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masked-shape arm (training run)</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EXP7/v5_pc_dist5_bonefix_v23_e10_shpmask/</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3614042</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partial mask, age kept (queued)</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EXP7/v5_pc_dist5_bonefix_v23_e10_shpmask_noage/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3614191</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ViT-B student, full run (smoke test 3613926)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logs/exp8_distill_vitb_3614191.out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3614192</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NAVER Anny model on both test sets (pending)</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logs/eval-test3dpw-3614192_0.out; models/multiHMR/multiHMR_672_L_anny.pt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3611285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Relative Human: v5 (_0), neck pilot (_1)</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logs/eval_rh_3611285_0.out, logs/eval_rh_3611285_1.out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3612131 / 3613616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Relative Human: final model / masked arm</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logs/eval_rh_3612131_0.out, logs/eval_rh_3613616_0.out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3612078 / 3613617</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demos, 12 images: v5 vs final; vs masked arm</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logs/demo-compare-3612078.out, logs/demo-compare-3613617.out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3612073–75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3DPW test, v23 labels: v5, v9 e62, neck pilot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logs/eval-test3dpw-361207{3,4,5}_0.out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3611284</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v23 label check (WARN; old labels 3575369 FAIL)</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results/diagnostics/check_3dpw_conversion_v23/; labels: threedpw_anny_v23/labels</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3579014</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exp6 bone fix on v5 (estimate + 2-epoch fine-tune)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results/experiments/exp6_bone_fix/anny_s2_shape_v5_00099_n200_s0/ (bone_fix.json)</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2026-10-18T16:26:55Z</dcterms:created>
  <dcterms:modified xsi:type="dcterms:W3CDTF">2026-10-18T16:26:55Z</dcterms:modified>
</cp:coreProperties>
</file>