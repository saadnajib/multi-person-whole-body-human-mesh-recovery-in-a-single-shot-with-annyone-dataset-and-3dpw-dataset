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693ace5-1b98-7bf5-5880-1bb30267148e}">
          <p14:sldIdLst>
            <p14:sldId id="256"/>
            <p14:sldId id="257"/>
            <p14:sldId id="258"/>
          </p14:sldIdLst>
        </p14:section>
        <p14:section name="Data" id="{1131c14a-347e-1086-988e-5b6f9e00118e}">
          <p14:sldIdLst>
            <p14:sldId id="259"/>
            <p14:sldId id="260"/>
            <p14:sldId id="261"/>
          </p14:sldIdLst>
        </p14:section>
        <p14:section name="Training" id="{ee895102-2fbb-3a7b-a2ce-017074c5e918}">
          <p14:sldIdLst>
            <p14:sldId id="262"/>
            <p14:sldId id="263"/>
            <p14:sldId id="264"/>
          </p14:sldIdLst>
        </p14:section>
        <p14:section name="Findings and fixes" id="{5c5ef445-aafc-1501-0f1c-22c99b4b1e38}">
          <p14:sldIdLst>
            <p14:sldId id="265"/>
            <p14:sldId id="266"/>
            <p14:sldId id="267"/>
            <p14:sldId id="268"/>
            <p14:sldId id="269"/>
            <p14:sldId id="270"/>
            <p14:sldId id="271"/>
            <p14:sldId id="272"/>
            <p14:sldId id="273"/>
            <p14:sldId id="274"/>
          </p14:sldIdLst>
        </p14:section>
        <p14:section name="Final model" id="{bc18de09-326f-1033-4956-6e63e652bee6}">
          <p14:sldIdLst>
            <p14:sldId id="275"/>
            <p14:sldId id="276"/>
          </p14:sldIdLst>
        </p14:section>
        <p14:section name="Requirements and plan" id="{e4a29e1f-6231-ec71-cadd-b4a5b53c3123}">
          <p14:sldIdLst>
            <p14:sldId id="277"/>
            <p14:sldId id="278"/>
            <p14:sldId id="279"/>
            <p14:sldId id="280"/>
            <p14:sldId id="281"/>
          </p14:sldIdLst>
        </p14:section>
        <p14:section name="Appendix" id="{5e90581a-e1ef-2a65-fc32-4a85bf3528bb}">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the smaller ViT-B student finished this morning, three times smaller than our model, but it misses your 95 percent bar on both test sets (slide 24). I will say for every number whether it is measured or only seen by eye.</a:t>
            </a:r>
          </a:p>
          <a:p>
            <a:endParaRPr lang="en-US" dirty="0"/>
          </a:p>
          <a:p>
            <a:r>
              <a:rPr lang="en-US" dirty="0"/>
              <a:t>If asked:</a:t>
            </a:r>
          </a:p>
          <a:p>
            <a:r>
              <a:rPr lang="en-US" dirty="0"/>
              <a:t>- Numbers behind the three lines: bodies were drawn at 0.63 of their true size, now 0.78; neck02 175.6 to 4.8 degrees and fingers 17.3 to 8.3 degrees; the 3DPW test error is 121.8 millimetres for v5 and 89.0 for the final model.</a:t>
            </a:r>
          </a:p>
          <a:p>
            <a:r>
              <a:rPr lang="en-US" dirty="0"/>
              <a:t>- 3DPW is 30 percent of every training batch, and on real photos gender goes from 46 to 64 percent correct.</a:t>
            </a:r>
          </a:p>
          <a:p>
            <a:r>
              <a:rPr lang="en-US" dirty="0"/>
              <a:t>- Not yet: a non-Multi-HMR model (the ViT-B student misses the 95 percent bar) and temporal modelling.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and the ViT-B student that finished this morning misses the 95 percent bar. Temporal modelling has not started. The report is a full thesis draft of 92 pages with all results in; the code still needs a clean-up and the models a release. Slide 23 has the evidence for each dot.</a:t>
            </a:r>
          </a:p>
          <a:p>
            <a:endParaRPr lang="en-US" dirty="0"/>
          </a:p>
          <a:p>
            <a:r>
              <a:rPr lang="en-US" dirty="0"/>
              <a:t>If asked:</a:t>
            </a:r>
          </a:p>
          <a:p>
            <a:r>
              <a:rPr lang="en-US" dirty="0"/>
              <a:t>- The four-step strip that was on this slide: a photo of 672 pixels; find people with a score per cell of a 48 by 48 grid; predict pose, shape and depth per person; the Anny body, a mesh you can draw and measure.</a:t>
            </a:r>
          </a:p>
          <a:p>
            <a:r>
              <a:rPr lang="en-US" dirty="0"/>
              <a:t>- 1a in detail: pose, neck and fingers fixed, best on the 3DPW test; shape, gender yes, muscle and weight not yet.</a:t>
            </a:r>
          </a:p>
          <a:p>
            <a:r>
              <a:rPr lang="en-US" dirty="0"/>
              <a:t>- 1b in detail: a new architecture that beats Multi-HMR, or a much smaller one within 95 percent; the ViT-B student misses it (slide 24).</a:t>
            </a:r>
          </a:p>
          <a:p>
            <a:r>
              <a:rPr lang="en-US" dirty="0"/>
              <a:t>- 1c: all 8,190 test images have Anny labels, with the limits stated on slide 23. 2a: 30 percent of every batch of the final model. 2b: designed, planned for weeks 5 to 6.</a:t>
            </a:r>
          </a:p>
          <a:p>
            <a:r>
              <a:rPr lang="en-US" dirty="0"/>
              <a:t>- 3: full thesis draft of 92 pages, all results in; code clean-up and model release to do.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a:p>
            <a:endParaRPr lang="en-US" dirty="0"/>
          </a:p>
          <a:p>
            <a:r>
              <a:rPr lang="en-US" dirty="0"/>
              <a:t>If asked:</a:t>
            </a:r>
          </a:p>
          <a:p>
            <a:r>
              <a:rPr lang="en-US" dirty="0"/>
              <a:t>- Backbone: DINOv2 ViT-L with 304 million parameters; the per-person head is a cross-attention head (HPH).</a:t>
            </a:r>
          </a:p>
          <a:p>
            <a:r>
              <a:rPr lang="en-US" dirty="0"/>
              <a:t>- Output layer: 163 bones times 6 rotation numbers and 11 shape values; upstream Multi-HMR predicts SMPL-X.</a:t>
            </a:r>
          </a:p>
          <a:p>
            <a:r>
              <a:rPr lang="en-US" dirty="0"/>
              <a:t>- Bone fix: one constant rotation each on neck02, the head and two hand bones, applied at the output (slide 15). 3DPW: our fitting script, three label defects fixed (slides 5 and 6), 30 percent real frames per batch (slide 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a:p>
            <a:r>
              <a:rPr lang="en-US" dirty="0"/>
              <a:t>Overlays of a good and the worst label are on slide 32.</a:t>
            </a:r>
          </a:p>
          <a:p>
            <a:r>
              <a:rPr lang="en-US" dirty="0"/>
              <a:t>- Numbers from the earlier slide face: body joints p95 21.1 millimetres; 2D error 11.5 pixels median against 11.1 for raw 3DPW; all 87 fits cover 22,912 frames, mean joint error per frame median 14.0 and maximum 79.8 millimetres; left/right and mirror tests 100 percent pass, and the loader passes labels unchanged.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a:p>
            <a:endParaRPr lang="en-US" dirty="0"/>
          </a:p>
          <a:p>
            <a:r>
              <a:rPr lang="en-US" dirty="0"/>
              <a:t>If asked:</a:t>
            </a:r>
          </a:p>
          <a:p>
            <a:r>
              <a:rPr lang="en-US" dirty="0"/>
              <a:t>- Neck card: necks looked too long or bent wrong in the overlays; the rig is fine; v5's neck02 and head bone are half a turn off and the neck skin half as thick; a pilot fix restores it (one run; on real images by eye only).</a:t>
            </a:r>
          </a:p>
          <a:p>
            <a:r>
              <a:rPr lang="en-US" dirty="0"/>
              <a:t>- Fingers card: fingers came out claw-like, and the demos already zero them; test-time zoom and a loss rebalance did not help; half the error was two flipped bones.</a:t>
            </a:r>
          </a:p>
          <a:p>
            <a:r>
              <a:rPr lang="en-US" dirty="0"/>
              <a:t>- Children card: children were reconstructed with adult proportions; the assumption was that age is not learned; they are child-like on training images and adult on real photos.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a:p>
            <a:endParaRPr lang="en-US" dirty="0"/>
          </a:p>
          <a:p>
            <a:r>
              <a:rPr lang="en-US" dirty="0"/>
              <a:t>If asked:</a:t>
            </a:r>
          </a:p>
          <a:p>
            <a:r>
              <a:rPr lang="en-US" dirty="0"/>
              <a:t>- In v5 the head lands about 64 pixels off in the image (64.5 on slide 14's pilot table, in its notes).</a:t>
            </a:r>
          </a:p>
          <a:p>
            <a:r>
              <a:rPr lang="en-US" dirty="0"/>
              <a:t>- Code: model.py places the mesh by its head joint; train.py built the transl, dist, heat-map and offset targets at joint 0.</a:t>
            </a:r>
          </a:p>
          <a:p>
            <a:r>
              <a:rPr lang="en-US" dirty="0"/>
              <a:t>- Fit for v5: predicted depth = 0.33 times true depth + 2.36 metres. Confirming control after 10 epochs: drawn size 0.59, root error 1.44 metres.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 Pilot table that was on this slide (holdout, 100 images; root error, depth slope, drawn size, head pixel error, pelvis pixel error, PVE, recall): v5: 1.21 m, 0.33, 0.63, 64.5 px, 23.4 px, 70.5 mm, 90.2%. 10-epoch control: 1.44 m, 0.34, 0.59, 64.0 px, 24.3 px, 72.2 mm, 89.4%. 10-epoch fix: 0.73 m, 0.30, 0.78, 7.6 px, 38.5 px, 75.5 mm, 87.0%. 10-epoch fix + x5: 0.54 m, 0.38, 0.84, 7.2 px, 33.1 px, 74.8 mm, 87.8%. 2-epoch control: 1.11 m, 0.33, 0.66, 58.1 px, 23.3 px, 72.3 mm, 89.8%. 2-epoch fix: 0.69 m, 0.30, 0.78, 9.6 px, 37.3 px, 77.3 mm, 87.8%. 2-epoch fix + x5: 0.66 m, 0.44, 0.80, 8.5 px, 38.1 px, 76.8 mm, 87.8%. 2-epoch fix + x20: 0.53 m, 0.43, 0.87, 8.8 px, 31.4 px, 75.7 mm, 87.4%. Fix = targets at the head; x5 / x20 = depth loss weight; controls = root targets, depth x1, same schedule; no control was run at x5 or x20.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 Columns that were on this slide: the fix with no training gave neck02 4.5 degrees, head 12.4, thickness 1.00, neck-skin error 10.8 millimetres, body PVE 71.3, head direction 19.1. The control (no fix) gave neck02 175.7, head 177.9, thickness 0.46, neck-skin error 27.9 millimetres, body PVE 76.9, head direction 13.8. v5 before: neck-skin error 27.3 millimetres, body PVE 70.5; the 2-epoch pilot: neck-skin error 10.7, body PVE 68.8. Neck-skin error is centred at neck01; head direction is the error of the whole head's direction.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for this model; the runForBus, sitOnStairs and fencing frames I have since seen in the demo montages of the final model, not in this model's renders, so I have no neck reading for them here.</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this demo draws rest-pose fingers, so predicted hands are judged only in the final model's demo, by eye (slide 31).</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On real photos with predicted fingers, by eye: Base's fingers are splayed and stiff, with one finger of the left hand sticking out, Final's are closed and bent and read as hands, but neither puts them on the real fingers (slide 31).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 Hand-size table that was on this slide (median size at the network input, share under 2 tokens): full image, 672 pixels, 2.3 tokens and 41 percent; person crop (box times 1.3) at test time, 4.2 tokens and 0 percent; children's hands on the full image, 0.7 tokens and 80 percent. Fingers set to rest pose before the fix: 15.1 degrees (the index-base flip stays). Test-time zoom: body error nearly doubles.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a:p>
            <a:endParaRPr lang="en-US" dirty="0"/>
          </a:p>
          <a:p>
            <a:r>
              <a:rPr lang="en-US" dirty="0"/>
              <a:t>If asked:</a:t>
            </a:r>
          </a:p>
          <a:p>
            <a:r>
              <a:rPr lang="en-US" dirty="0"/>
              <a:t>- Masked-arm column that was on this slide (slide 19): recall 57 percent, gender 49.3 percent, children AUC 0.71, mean predicted age 0.64 adults, 0.61 kids, 0.52 babies, 17 percent of babies below the child line 0.45.</a:t>
            </a:r>
          </a:p>
          <a:p>
            <a:r>
              <a:rPr lang="en-US" dirty="0"/>
              <a:t>- Mean predicted age, v5: adults 0.63, kids 0.61, babies 0.62; final model: 0.54, 0.50, 0.44.</a:t>
            </a:r>
          </a:p>
          <a:p>
            <a:r>
              <a:rPr lang="en-US" dirty="0"/>
              <a:t>- Synthetic side: a balanced sampler raised children per training batch from 2 to 10 percent, unproven after 2 epochs; training babies are predicted at age 0.10 against a true 0.015.</a:t>
            </a:r>
          </a:p>
          <a:p>
            <a:r>
              <a:rPr lang="en-US" dirty="0"/>
              <a:t>- Final model: women recognised (mean gender value 0.86), men mid-range (0.55). Weak age labels from Relative Human would take 1 to 2 weeks.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So on 18 October I kept the unmasked model. The follow-up run, which masks only the seven 0.5 constants and keeps age supervised, finished last night: it keeps the children, AUC 0.73 and babies at 0.47, but gender still falls to chance, 47 percent, so the age label carries the children, and gender likely leans on the constants as much as on its own label; that reading is not tested. The unmasked model stays the final model and the student's teacher.</a:t>
            </a:r>
          </a:p>
          <a:p>
            <a:endParaRPr lang="en-US" dirty="0"/>
          </a:p>
          <a:p>
            <a:r>
              <a:rPr lang="en-US" dirty="0"/>
              <a:t>If asked:</a:t>
            </a:r>
          </a:p>
          <a:p>
            <a:r>
              <a:rPr lang="en-US" dirty="0"/>
              <a:t>- Partial mask, job 3614042, Relative Human job 3616821: holdout PVE 73.0, PA-PVE 51.2, recall 87.4; 3DPW test 89.9 and 58.9, all within noise of the final model. Relative Human recall 63 percent, gender 47.4 percent with men at 0.73 and women at 0.89, both on the female side; AUC 0.727; ages adult 0.53, kid 0.51, baby 0.47; 34 percent of babies below the child line. Its demo spread was not measured, because gender had already failed the rule.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a:p>
            <a:r>
              <a:rPr lang="en-US" dirty="0"/>
              <a:t>- Rows that were in the slide table (v5, control, final model): recall 90.2, 89.0 and 87.0 percent; size ratio 0.63, 0.59 and 0.78; neck girth 0.46, 0.46 and 1.00; root error 1208, 1402 and 728 millimetres.</a:t>
            </a:r>
          </a:p>
          <a:p>
            <a:r>
              <a:rPr lang="en-US" dirty="0"/>
              <a:t>- 3DPW line that was on the slide: NAVER 126.9, v5 121.8, v9 (old best) 95.5, neck pilot 120.2, control 91.5, final 89.0 millimetres; the final model finds 99 percent of people, v9 94.</a:t>
            </a:r>
          </a:p>
          <a:p>
            <a:r>
              <a:rPr lang="en-US" dirty="0"/>
              <a:t>- Recipe line that was on the slide: 10 epochs, 40,000 images, 70 percent AnnyOne and 30 percent 3DPW-train on the corrected labels; the same recipe for both arms; one run each, no seed (noise about 7.6 millimetres PVE and about 2 recall points). Holdout numbers have the helper bones masked.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predicted hands on real photos are now shown, by eye only (slide 31): Final's fingers read as hands, but not on the real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route was the smaller-model option, and its result came in this morning: a ViT-B student distilled from the final model, 101 million parameters and 603 GFLOPs against 318 million and 1,927 for our ViT-L, so 3.1 times fewer parameters and 3.2 times fewer FLOPs, and 2.1 times faster on the same L40S. But it misses the 95 percent bar against our ViT-L on both test sets: 119.6 millimetres on the AnnyOne holdout against a bar of 77.6, and 110.1 on the 3DPW test against 93.7. It does beat NAVER's model on 3DPW, 110.1 against 126.9, with 3.76 times fewer parameters.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So which reference counts decides whether 1b moves; the details are on the next slide, and it is my first question. Temporal modelling has not started; my plan is a small refiner on top of the frozen per-frame model, in month two. The report is a full thesis draft of 92 pages with all results in, using 70.5 and 73.7 millimetres,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59.7 and student 28.5 on one L40S (job 3614191, full forward); earlier 110 and 51.4 on an A40 (smoke test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on the corrected 3DPW labels they get 121.6 and 142.6 millimetres, against 89.0 for the final model.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a:p>
            <a:r>
              <a:rPr lang="en-US" dirty="0"/>
              <a:t>- Table cells that were on this slide: 1c, v23 labels pass the post-check on 60 sequences, the independent check gives WARN (body-model limits).</a:t>
            </a:r>
          </a:p>
          <a:p>
            <a:r>
              <a:rPr lang="en-US" dirty="0"/>
              <a:t>- 1a pose, next: depth slope 0.42, placement, hard poses; predicted hands on photos are shown, by eye (slide 31).</a:t>
            </a:r>
          </a:p>
          <a:p>
            <a:r>
              <a:rPr lang="en-US" dirty="0"/>
              <a:t>- 1a shape: age partly, babies 0.44 against adults 0.54; muscle, weight, cup size and firmness about 0.5; the masked run brings variety back but loses gender, and the partial mask keeps children but loses gender (slide 19).</a:t>
            </a:r>
          </a:p>
          <a:p>
            <a:r>
              <a:rPr lang="en-US" dirty="0"/>
              <a:t>- 1b: Student 119.6 / 110.1 millimetres against bars of 77.6 / 93.7 (missed), but it beats Multi-HMR-Anny on 3DPW; next, your choice of reference, then a longer run or a different student.</a:t>
            </a:r>
          </a:p>
          <a:p>
            <a:r>
              <a:rPr lang="en-US" dirty="0"/>
              <a:t>- 2b: per-frame model only; next, a refiner on frozen per-frame tokens with 16-frame windows, weeks 5 to 6 (slide 25).</a:t>
            </a:r>
          </a:p>
          <a:p>
            <a:r>
              <a:rPr lang="en-US" dirty="0"/>
              <a:t>- 3: 98 files hard-code /netscratch and no models are released; next, the clean-up list and a model release with checksums (slide 25).</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result came in this morning, and against our own model it is a clear fail. The ViT-B student, distilled from the final model, is cheap: 101 million parameters against 318, 603 GFLOPs against 1,927, and 28.5 against 59.7 milliseconds per image on the same L40S GPU, so about three times smaller and twice as fast. But your 95 percent rule fails on both test sets: 119.6 millimetres PVE on the AnnyOne holdout against a bar of 77.6, and 110.1 on the 3DPW test against 93.7, so 62 and 24 percent worse than the teacher, although it still finds almost as many people (recall 85.4 and 99 percent). The AnnyOne curve was still falling at the end, from 130.5 to 122.8 over the last five epochs, but the 3DPW validation curve was flat, 88.0 to 87.7, so in my reading a longer run may help AnnyOne but is unlikely to close the 3DPW gap. Against NAVER's Multi-HMR-Anny the picture changes: the student is better on 3DPW, 110.1 against 126.9, with 3.76 times fewer parameters, and it meets NAVER's 3DPW bar of 133.6 but not its AnnyOne bar of 63.5, where NAVER's own number is likely in-sample. Which reference counts is your decision, and it is my first question on slide 26.</a:t>
            </a:r>
          </a:p>
          <a:p>
            <a:endParaRPr lang="en-US" dirty="0"/>
          </a:p>
          <a:p>
            <a:r>
              <a:rPr lang="en-US" dirty="0"/>
              <a:t>If asked:</a:t>
            </a:r>
          </a:p>
          <a:p>
            <a:r>
              <a:rPr lang="en-US" dirty="0"/>
              <a:t>- The run: job 3614191, 30 epochs of 1,000 steps at batch 8 on one L40S, 5.8 hours; 77 steps with NaN or Inf losses skipped; heads frozen for the first five epochs.</a:t>
            </a:r>
          </a:p>
          <a:p>
            <a:r>
              <a:rPr lang="en-US" dirty="0"/>
              <a:t>- All four bars missed: AnnyOne holdout MPJPE 127.2 against a bar of 82.0 (teacher 77.9), 3DPW MPJPE 112.0 against 92.9 (teacher 88.3); PA-PVE 80.8 against 50.3 on AnnyOne and 71.8 against 57.6 on 3DPW. Rotation errors are larger in every region but the head, most at the root, 13.5 against 8.7 degrees, and the arms, 10.6 against 8.4.</a:t>
            </a:r>
          </a:p>
          <a:p>
            <a:r>
              <a:rPr lang="en-US" dirty="0"/>
              <a:t>- Bone fix: the student's own estimate is within 0.2 to 1.8 degrees of the teacher's, and using it changes the holdout PVE by 0.1 millimetres (119.6 against 119.7), so the bone fix does not explain the gap.</a:t>
            </a:r>
          </a:p>
          <a:p>
            <a:r>
              <a:rPr lang="en-US" dirty="0"/>
              <a:t>- Cost: backbone alone 19.1 against 50.7 milliseconds; the earlier A40 smoke test gave 51.4 against 110 (2.14 times). NAVER's model has 380.9 million parameters, the same ViT-L backbone and a 76.6 million head against our 14.0; its milliseconds are not measured, because the timing code supports only our model class.</a:t>
            </a:r>
          </a:p>
          <a:p>
            <a:r>
              <a:rPr lang="en-US" dirty="0"/>
              <a:t>- Next options, both in the plan: train longer from the student's last checkpoint (epoch 29), since AnnyOne was still falling; or stop the smaller-model route and argue 1b through the baseline comparison with NAVER's model.</a:t>
            </a:r>
          </a:p>
          <a:p>
            <a:r>
              <a:rPr lang="en-US" dirty="0"/>
              <a:t>- Columns that were on this slide: GFLOPs 1,927 for our ViT-L, 603 for the student (3.19 times fewer) and 1,917 for NAVER's backbone alone; milliseconds per image on one L40S 59.7 and 28.5, NAVER's not measured.</a:t>
            </a:r>
          </a:p>
          <a:p>
            <a:r>
              <a:rPr lang="en-US" dirty="0"/>
              <a:t>- The 95 percent rule (your 1b-ii): the student's PVE and MPJPE may be at most the teacher's divided by 0.95, on AnnyOne test and 3DPW test, with fewer parameters and FLOPs and faster inference.</a:t>
            </a:r>
          </a:p>
          <a:p>
            <a:r>
              <a:rPr lang="en-US" dirty="0"/>
              <a:t>- Recipe: DINOv2 ViT-B backbone (NAVER's HMR-trained weights); heads copied from the teacher through a 768 to 1024 projector; the teacher's bone fix and depth targets; feature and output distillation, weight 1.0, temperature 4; 30 times 1,000 times batch 8 = 240,000 images, learning rate 3e-5; 5.8 hours on one L40S.</a:t>
            </a:r>
          </a:p>
          <a:p>
            <a:r>
              <a:rPr lang="en-US" dirty="0"/>
              <a:t>- Timeline: smoke test 18 October (job 3613926), full run job 3614191 (30 epochs); result 19 October: the 95 percent rule fails on both sets (+62 and +24 percent); AnnyOne still falling, 3DPW flat.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the partial-mask arm and its Relative Human check are done, on the night before this meeting: children kept, gender lost, so the unmasked model stays the final ViT-L; measure the shape values on AnnyOne properly. Week two's figures are already done, on 19 October: the rest-pose line-up and real photos with predicted fingers (slide 31), and the old ViT-S students on the new labels, 121.6 and 142.6 millimetres against 89.0 for the final model; still to do in week two are the body-joint MPJPE and the Method and Data chapters. The student finished this morning and missed the 95 percent bar on both test sets against our ViT-L, while it beats NAVER's model on 3DPW; the 95 percent table is built against both. Week three: if you agree, train it longer from its last checkpoint, since its AnnyOne curve was still falling;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a:p>
            <a:endParaRPr lang="en-US" dirty="0"/>
          </a:p>
          <a:p>
            <a:r>
              <a:rPr lang="en-US" dirty="0"/>
              <a:t>If asked:</a:t>
            </a:r>
          </a:p>
          <a:p>
            <a:r>
              <a:rPr lang="en-US" dirty="0"/>
              <a:t>- Week 1, 19 to 25 October, in full: NAVER baseline done 18 October (job 3614192); partial mask done 19 October, not adopted (slide 19); student result (job 3614191) done 19 October, failed the bar, 119.6 / 110.1 millimetres against 77.6 / 93.7; code, a masked-evaluation flag and the student's shape-distillation mask; phenotype statistics on AnnyOne (r, slope, R squared).</a:t>
            </a:r>
          </a:p>
          <a:p>
            <a:r>
              <a:rPr lang="en-US" dirty="0"/>
              <a:t>- Week 2, 26 October to 1 November: done 19 October, the rest-pose line-up and predicted-finger demos (slide 31) and the old ViT-S students on the new labels (121.6 / 142.6 millimetres); still to do, body-joint MPJPE and the Method and Data chapters.</a:t>
            </a:r>
          </a:p>
          <a:p>
            <a:r>
              <a:rPr lang="en-US" dirty="0"/>
              <a:t>- Week 3, 2 to 8 November: train the student longer from its last checkpoint, if you agree (Q1); the 95 percent table against our ViT-L and NAVER's; paired bootstrap confidence intervals; the Experiments chapter (depth, neck, shape mask, Relative Human).</a:t>
            </a:r>
          </a:p>
          <a:p>
            <a:r>
              <a:rPr lang="en-US" dirty="0"/>
              <a:t>- Week 4, 9 to 15 November: one final table, one protocol, every model; one more seed of the final ViT-L if a slot is free; architecture figure and module table; freeze the numbers; start the model release with checksums.</a:t>
            </a:r>
          </a:p>
          <a:p>
            <a:r>
              <a:rPr lang="en-US" dirty="0"/>
              <a:t>- Weeks 5 and 6, 16 to 29 November: temporal (2b), a 2-layer refiner over 16-frame windows of frozen per-frame features, shape pooled per track, trained on 3DPW-train tracks, judged by acceleration error and PVE against smoothing baselines.</a:t>
            </a:r>
          </a:p>
          <a:p>
            <a:r>
              <a:rPr lang="en-US" dirty="0"/>
              <a:t>- Weeks 7 and 8, 30 November to 13 December: introduction, related work, conclusion, limitations, full revision; code clean-up (paths, environment, tests, README); presentation. Week 8 is buffer.</a:t>
            </a:r>
          </a:p>
          <a:p>
            <a:r>
              <a:rPr lang="en-US" dirty="0"/>
              <a:t>- Part (1) of your list closes around 15 November. Dropped: ViT-S student, children sampler runs, the depth-slope investigation (slope 0.42 becomes a stated limitation).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because the ViT-B student misses the 95 percent bar against our model (slides 23 and 24).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The student, measured this morning, gets 119.6 millimetres on AnnyOne and 110.1 on 3DPW. Against our ViT-L the bars are 77.6 and 93.7, so it misses both. NAVER's model gets 60.3 on AnnyOne, likely in-sample for it, and 126.9 on 3DPW: against NAVER the bars are 63.5 and 133.6, so the student meets the 3DPW bar, beats NAVER there outright with 3.76 times fewer parameters, and misses AnnyOne.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on real photos, by eye only, Final's fingers read as hands and Base's are splayed (slide 31), but neither sits on the real fingers and there is no metric, so I claim only the 8.3 degrees.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done too: children kept, gender back to chance, so the unmasked model stays (slide 19).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the look at the hands with the bone fix is done, by eye only (slide 31): Final's fingers read as hands; next, larger crops.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old thesis draft came from the unmasked evaluation; on the same people that adds 3.8 millimetres. The README uses 70.5, and the full thesis draft now uses 70.5 for v5 and 73.7 for the final model.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3614042, done, with its Relative Human run 3616821: gender fell to chance, so it was not adopted. The ViT-B student is job 3614191 after the smoke test 3613926, done this morning: 119.6 millimetres on the AnnyOne holdout and 110.1 on the 3DPW test, so it misses the 95 percent bar against our model;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I could not show before. Left: predicted fingers on real photos, relaxation off. Base's fingers are splayed and stiff; one left-hand finger sticks out, because its left index base is still flipped. Final's are closed and bent and read as hands, curled as if fretting the guitar. Neither model puts them on the real fingers, and in most images the hands are too small to judge. Right: everyone in rest pose, so only shape differs. Base gives everyone a similar slim, flat body; Final gives the singers a fuller female shape and the bar man a broader torso; the tennis men stay slim in all three; Final-masked is close to Final. By eye only; no metric.</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of our 3DPW labels drawn on the image: the 3DPW SMPL mesh on the left of each pair, our Anny label on the right. Left, a good case: two people in courtyard_arguing, joints within 12 and 14 millimetres. Right, the worst frame of the whole check, picked on purpose: a climber at 57 millimetres, because the Anny body is thinner. The median is 14.1 millimetres, below the roughly 26 millimetres accuracy of 3DPW's own joints. The check still grades WARN: forearm ratio 0.95, thigh 1.06, and 3.2 percent of people have a joint over 100 millimetres. Head and hands are not supervised by these labels.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bugs found, fixed and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marL="203200" indent="-203200">
              <a:buSzPct val="100000"/>
              <a:buChar char="•"/>
            </a:pPr>
            <a:r>
              <a:rPr lang="en-US" sz="1600" dirty="0">
                <a:solidFill>
                  <a:schemeClr val="bg2"/>
                </a:solidFill>
              </a:rPr>
              <a:t>A hidden depth bug made bodies look too small; now fixed for size.</a:t>
            </a:r>
            <a:endParaRPr lang="en-US" sz="1800" dirty="0"/>
          </a:p>
          <a:p>
            <a:pPr algn="l" marL="203200" indent="-203200">
              <a:buSzPct val="100000"/>
              <a:buChar char="•"/>
            </a:pPr>
            <a:r>
              <a:rPr lang="en-US" sz="1600" dirty="0">
                <a:solidFill>
                  <a:schemeClr val="bg2"/>
                </a:solidFill>
              </a:rPr>
              <a:t>Flipped neck and finger bones are turned back by a fixed correction.</a:t>
            </a:r>
            <a:endParaRPr lang="en-US" sz="1800" dirty="0"/>
          </a:p>
          <a:p>
            <a:pPr algn="l" marL="203200" indent="-203200">
              <a:buSzPct val="100000"/>
              <a:buChar char="•"/>
            </a:pPr>
            <a:r>
              <a:rPr lang="en-US" sz="1600" dirty="0">
                <a:solidFill>
                  <a:schemeClr val="bg2"/>
                </a:solidFill>
              </a:rPr>
              <a:t>3DPW labels cleaned; Final's 3DPW test error is 89.0 mm (was 121.8).</a:t>
            </a:r>
            <a:endParaRPr lang="en-US" sz="1800" dirty="0"/>
          </a:p>
          <a:p>
            <a:pPr algn="l" indent="0" marL="0">
              <a:spcBef>
                <a:spcPts val="600"/>
              </a:spcBef>
              <a:buNone/>
            </a:pPr>
            <a:r>
              <a:rPr lang="en-US" sz="1600" b="1" dirty="0">
                <a:solidFill>
                  <a:srgbClr val="F4C95D"/>
                </a:solidFill>
              </a:rPr>
              <a:t>What this means: </a:t>
            </a:r>
            <a:r>
              <a:rPr lang="en-US" sz="1600" dirty="0">
                <a:solidFill>
                  <a:schemeClr val="bg2"/>
                </a:solidFill>
              </a:rPr>
              <a:t>the visible failures had concrete causes; a smaller model and video are still open.</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 two of six met</a:t>
            </a:r>
            <a:endParaRPr lang="en-US" sz="2700" dirty="0"/>
          </a:p>
        </p:txBody>
      </p:sp>
      <p:sp>
        <p:nvSpPr>
          <p:cNvPr id="3" name="goal bullets"/>
          <p:cNvSpPr txBox="1"/>
          <p:nvPr/>
        </p:nvSpPr>
        <p:spPr>
          <a:xfrm>
            <a:off x="457200" y="1188720"/>
            <a:ext cx="3749040" cy="256032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Task: </a:t>
            </a:r>
            <a:r>
              <a:rPr lang="en-US" sz="1400" dirty="0">
                <a:solidFill>
                  <a:schemeClr val="tx1"/>
                </a:solidFill>
              </a:rPr>
              <a:t>from one photo, find every person and predict pose, body shape and distance.</a:t>
            </a:r>
            <a:endParaRPr lang="en-US" sz="1400" dirty="0"/>
          </a:p>
          <a:p>
            <a:pPr marL="177800" indent="-177800">
              <a:spcAft>
                <a:spcPts val="1000"/>
              </a:spcAft>
              <a:buSzPct val="100000"/>
              <a:buChar char="•"/>
            </a:pPr>
            <a:r>
              <a:rPr lang="en-US" sz="1400" b="1" dirty="0">
                <a:solidFill>
                  <a:schemeClr val="tx1"/>
                </a:solidFill>
              </a:rPr>
              <a:t>Tested on </a:t>
            </a:r>
            <a:r>
              <a:rPr lang="en-US" sz="1400" dirty="0">
                <a:solidFill>
                  <a:schemeClr val="tx1"/>
                </a:solidFill>
              </a:rPr>
              <a:t>synthetic AnnyOne images, real 3DPW video and real tagged photos.</a:t>
            </a:r>
            <a:endParaRPr lang="en-US" sz="1400" dirty="0"/>
          </a:p>
          <a:p>
            <a:pPr marL="177800" indent="-177800">
              <a:spcAft>
                <a:spcPts val="1000"/>
              </a:spcAft>
              <a:buSzPct val="100000"/>
              <a:buChar char="•"/>
            </a:pPr>
            <a:r>
              <a:rPr lang="en-US" sz="1400" b="1" dirty="0">
                <a:solidFill>
                  <a:schemeClr val="tx1"/>
                </a:solidFill>
              </a:rPr>
              <a:t>Requirement 3: </a:t>
            </a:r>
            <a:r>
              <a:rPr lang="en-US" sz="1400" dirty="0">
                <a:solidFill>
                  <a:schemeClr val="tx1"/>
                </a:solidFill>
              </a:rPr>
              <a:t>a 92-page thesis draft exists; code clean-up still to do.</a:t>
            </a:r>
            <a:endParaRPr lang="en-US" sz="1400" dirty="0"/>
          </a:p>
        </p:txBody>
      </p:sp>
      <p:graphicFrame>
        <p:nvGraphicFramePr>
          <p:cNvPr id="3" name="requirements table"/>
          <p:cNvGraphicFramePr>
            <a:graphicFrameLocks noGrp="1"/>
          </p:cNvGraphicFramePr>
          <p:nvPr>
            <p:extLst>
              <p:ext uri="{D42A27DB-BD31-4B8C-83A1-F6EECF244321}">
                <p14:modId xmlns:p14="http://schemas.microsoft.com/office/powerpoint/2010/main" val="1579011935"/>
              </p:ext>
            </p:extLst>
          </p:nvPr>
        </p:nvGraphicFramePr>
        <p:xfrm>
          <a:off x="4480560" y="1188720"/>
          <a:ext cx="4206240" cy="914400"/>
        </p:xfrm>
        <a:graphic>
          <a:graphicData uri="http://schemas.openxmlformats.org/drawingml/2006/table">
            <a:tbl>
              <a:tblPr/>
              <a:tblGrid>
                <a:gridCol w="3063240"/>
                <a:gridCol w="1143000"/>
              </a:tblGrid>
              <a:tr h="457200">
                <a:tc>
                  <a:txBody>
                    <a:bodyPr/>
                    <a:lstStyle/>
                    <a:p>
                      <a:pPr algn="l" indent="0" marL="0">
                        <a:buNone/>
                      </a:pPr>
                      <a:r>
                        <a:rPr lang="en-US" sz="1200" b="1" dirty="0">
                          <a:solidFill>
                            <a:srgbClr val="FFFFFF"/>
                          </a:solidFill>
                        </a:rPr>
                        <a:t>Your requirement (e-mail of 18 Oct)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Status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1200" b="1" dirty="0">
                          <a:solidFill>
                            <a:srgbClr val="1B2233"/>
                          </a:solidFill>
                        </a:rPr>
                        <a:t>1a  Correct pose, visibly varied body shape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partly</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2233"/>
                          </a:solidFill>
                        </a:rPr>
                        <a:t>1b  A model that is not exactly Multi-HMR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not met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1200" b="1" dirty="0">
                          <a:solidFill>
                            <a:srgbClr val="1B2233"/>
                          </a:solidFill>
                        </a:rPr>
                        <a:t>1c, 2a  3DPW tested in Anny space and trained on</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3BA55D"/>
                          </a:solidFill>
                        </a:rPr>
                        <a:t>met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2233"/>
                          </a:solidFill>
                        </a:rPr>
                        <a:t>2b  Temporal modelling (video)</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7B8794"/>
                          </a:solidFill>
                        </a:rPr>
                        <a:t>not started</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5" name="closing line"/>
          <p:cNvSpPr txBox="1"/>
          <p:nvPr/>
        </p:nvSpPr>
        <p:spPr>
          <a:xfrm>
            <a:off x="457200" y="393192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data requirements are met; pose and shape partly; 1b and video still open.</a:t>
            </a:r>
            <a:endParaRPr lang="en-US" sz="1400" dirty="0"/>
          </a:p>
        </p:txBody>
      </p:sp>
      <p:sp>
        <p:nvSpPr>
          <p:cNvPr id="6" name="hidden slides line"/>
          <p:cNvSpPr txBox="1"/>
          <p:nvPr/>
        </p:nvSpPr>
        <p:spPr>
          <a:xfrm>
            <a:off x="457200" y="4434840"/>
            <a:ext cx="7863840" cy="228600"/>
          </a:xfrm>
          <a:prstGeom prst="rect">
            <a:avLst/>
          </a:prstGeom>
          <a:noFill/>
          <a:ln/>
        </p:spPr>
        <p:txBody>
          <a:bodyPr wrap="square" lIns="0" tIns="0" rIns="0" bIns="0" rtlCol="0" anchor="t"/>
          <a:lstStyle/>
          <a:p>
            <a:pPr indent="0" marL="0">
              <a:buNone/>
            </a:pPr>
            <a:r>
              <a:rPr lang="en-US" sz="950" dirty="0">
                <a:solidFill>
                  <a:schemeClr val="tx2"/>
                </a:solidFill>
              </a:rPr>
              <a:t>Slides 4-5, 7-9, 11, 13, 16, 19, 22 and 27-32 are hidden backup: type the number + Enter to open one.</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Multi-HMR's design plus our fixes</a:t>
            </a:r>
            <a:endParaRPr lang="en-US" sz="2700" dirty="0"/>
          </a:p>
        </p:txBody>
      </p:sp>
      <p:sp>
        <p:nvSpPr>
          <p:cNvPr id="3" name="arch box 0"/>
          <p:cNvSpPr/>
          <p:nvPr/>
        </p:nvSpPr>
        <p:spPr>
          <a:xfrm>
            <a:off x="457200" y="1188720"/>
            <a:ext cx="1481328" cy="1234440"/>
          </a:xfrm>
          <a:prstGeom prst="roundRect">
            <a:avLst>
              <a:gd name="adj" fmla="val 5926"/>
            </a:avLst>
          </a:prstGeom>
          <a:solidFill>
            <a:schemeClr val="bg2"/>
          </a:solidFill>
          <a:ln w="19050">
            <a:solidFill>
              <a:schemeClr val="bg2"/>
            </a:solidFill>
            <a:prstDash val="solid"/>
          </a:ln>
        </p:spPr>
      </p:sp>
      <p:sp>
        <p:nvSpPr>
          <p:cNvPr id="4" name="arch head 0"/>
          <p:cNvSpPr txBox="1"/>
          <p:nvPr/>
        </p:nvSpPr>
        <p:spPr>
          <a:xfrm>
            <a:off x="512064" y="1261872"/>
            <a:ext cx="1371600"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600200"/>
            <a:ext cx="1335024" cy="777240"/>
          </a:xfrm>
          <a:prstGeom prst="rect">
            <a:avLst/>
          </a:prstGeom>
          <a:noFill/>
          <a:ln/>
        </p:spPr>
        <p:txBody>
          <a:bodyPr wrap="square" lIns="0" tIns="0" rIns="0" bIns="0" rtlCol="0" anchor="t"/>
          <a:lstStyle/>
          <a:p>
            <a:pPr algn="ctr" indent="0" marL="0">
              <a:buNone/>
            </a:pPr>
            <a:r>
              <a:rPr lang="en-US" sz="1200" dirty="0">
                <a:solidFill>
                  <a:schemeClr val="tx2"/>
                </a:solidFill>
              </a:rPr>
              <a:t>resized to a 672 × 672 image</a:t>
            </a:r>
            <a:endParaRPr lang="en-US" sz="1200" dirty="0"/>
          </a:p>
        </p:txBody>
      </p:sp>
      <p:sp>
        <p:nvSpPr>
          <p:cNvPr id="6" name="arch arrow 0"/>
          <p:cNvSpPr/>
          <p:nvPr/>
        </p:nvSpPr>
        <p:spPr>
          <a:xfrm>
            <a:off x="1965960" y="1805940"/>
            <a:ext cx="150876" cy="0"/>
          </a:xfrm>
          <a:prstGeom prst="line">
            <a:avLst/>
          </a:prstGeom>
          <a:noFill/>
          <a:ln w="19050">
            <a:solidFill>
              <a:schemeClr val="tx2"/>
            </a:solidFill>
            <a:prstDash val="solid"/>
            <a:tailEnd type="triangle"/>
          </a:ln>
        </p:spPr>
      </p:sp>
      <p:sp>
        <p:nvSpPr>
          <p:cNvPr id="7" name="arch box 1"/>
          <p:cNvSpPr/>
          <p:nvPr/>
        </p:nvSpPr>
        <p:spPr>
          <a:xfrm>
            <a:off x="2144268" y="1188720"/>
            <a:ext cx="1481328" cy="1234440"/>
          </a:xfrm>
          <a:prstGeom prst="roundRect">
            <a:avLst>
              <a:gd name="adj" fmla="val 5926"/>
            </a:avLst>
          </a:prstGeom>
          <a:solidFill>
            <a:schemeClr val="bg2"/>
          </a:solidFill>
          <a:ln w="19050">
            <a:solidFill>
              <a:schemeClr val="bg2"/>
            </a:solidFill>
            <a:prstDash val="solid"/>
          </a:ln>
        </p:spPr>
      </p:sp>
      <p:sp>
        <p:nvSpPr>
          <p:cNvPr id="8" name="arch head 1"/>
          <p:cNvSpPr txBox="1"/>
          <p:nvPr/>
        </p:nvSpPr>
        <p:spPr>
          <a:xfrm>
            <a:off x="2199132" y="1261872"/>
            <a:ext cx="1371600"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600200"/>
            <a:ext cx="1335024" cy="777240"/>
          </a:xfrm>
          <a:prstGeom prst="rect">
            <a:avLst/>
          </a:prstGeom>
          <a:noFill/>
          <a:ln/>
        </p:spPr>
        <p:txBody>
          <a:bodyPr wrap="square" lIns="0" tIns="0" rIns="0" bIns="0" rtlCol="0" anchor="t"/>
          <a:lstStyle/>
          <a:p>
            <a:pPr algn="ctr" indent="0" marL="0">
              <a:buNone/>
            </a:pPr>
            <a:r>
              <a:rPr lang="en-US" sz="1200" dirty="0">
                <a:solidFill>
                  <a:schemeClr val="tx2"/>
                </a:solidFill>
              </a:rPr>
              <a:t>DINOv2 ViT-L: a 48 × 48 grid of features</a:t>
            </a:r>
            <a:endParaRPr lang="en-US" sz="1200" dirty="0"/>
          </a:p>
        </p:txBody>
      </p:sp>
      <p:sp>
        <p:nvSpPr>
          <p:cNvPr id="10" name="arch arrow 1"/>
          <p:cNvSpPr/>
          <p:nvPr/>
        </p:nvSpPr>
        <p:spPr>
          <a:xfrm>
            <a:off x="3653028" y="1805940"/>
            <a:ext cx="150876" cy="0"/>
          </a:xfrm>
          <a:prstGeom prst="line">
            <a:avLst/>
          </a:prstGeom>
          <a:noFill/>
          <a:ln w="19050">
            <a:solidFill>
              <a:schemeClr val="tx2"/>
            </a:solidFill>
            <a:prstDash val="solid"/>
            <a:tailEnd type="triangle"/>
          </a:ln>
        </p:spPr>
      </p:sp>
      <p:sp>
        <p:nvSpPr>
          <p:cNvPr id="11" name="arch box 2"/>
          <p:cNvSpPr/>
          <p:nvPr/>
        </p:nvSpPr>
        <p:spPr>
          <a:xfrm>
            <a:off x="3831336" y="1188720"/>
            <a:ext cx="1481328" cy="1234440"/>
          </a:xfrm>
          <a:prstGeom prst="roundRect">
            <a:avLst>
              <a:gd name="adj" fmla="val 5926"/>
            </a:avLst>
          </a:prstGeom>
          <a:solidFill>
            <a:srgbClr val="D3ECEE"/>
          </a:solidFill>
          <a:ln w="19050">
            <a:solidFill>
              <a:srgbClr val="0E7C86"/>
            </a:solidFill>
            <a:prstDash val="solid"/>
          </a:ln>
        </p:spPr>
      </p:sp>
      <p:sp>
        <p:nvSpPr>
          <p:cNvPr id="12" name="arch head 2"/>
          <p:cNvSpPr txBox="1"/>
          <p:nvPr/>
        </p:nvSpPr>
        <p:spPr>
          <a:xfrm>
            <a:off x="3886200" y="1261872"/>
            <a:ext cx="1371600"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600200"/>
            <a:ext cx="1335024" cy="777240"/>
          </a:xfrm>
          <a:prstGeom prst="rect">
            <a:avLst/>
          </a:prstGeom>
          <a:noFill/>
          <a:ln/>
        </p:spPr>
        <p:txBody>
          <a:bodyPr wrap="square" lIns="0" tIns="0" rIns="0" bIns="0" rtlCol="0" anchor="t"/>
          <a:lstStyle/>
          <a:p>
            <a:pPr algn="ctr" indent="0" marL="0">
              <a:buNone/>
            </a:pPr>
            <a:r>
              <a:rPr lang="en-US" sz="1200" dirty="0">
                <a:solidFill>
                  <a:schemeClr val="tx2"/>
                </a:solidFill>
              </a:rPr>
              <a:t>is a person's head in this cell?</a:t>
            </a:r>
            <a:endParaRPr lang="en-US" sz="1200" dirty="0"/>
          </a:p>
        </p:txBody>
      </p:sp>
      <p:sp>
        <p:nvSpPr>
          <p:cNvPr id="14" name="arch arrow 2"/>
          <p:cNvSpPr/>
          <p:nvPr/>
        </p:nvSpPr>
        <p:spPr>
          <a:xfrm>
            <a:off x="5340096" y="1805940"/>
            <a:ext cx="150876" cy="0"/>
          </a:xfrm>
          <a:prstGeom prst="line">
            <a:avLst/>
          </a:prstGeom>
          <a:noFill/>
          <a:ln w="19050">
            <a:solidFill>
              <a:schemeClr val="tx2"/>
            </a:solidFill>
            <a:prstDash val="solid"/>
            <a:tailEnd type="triangle"/>
          </a:ln>
        </p:spPr>
      </p:sp>
      <p:sp>
        <p:nvSpPr>
          <p:cNvPr id="15" name="arch box 3"/>
          <p:cNvSpPr/>
          <p:nvPr/>
        </p:nvSpPr>
        <p:spPr>
          <a:xfrm>
            <a:off x="5518404" y="1188720"/>
            <a:ext cx="1481328" cy="1234440"/>
          </a:xfrm>
          <a:prstGeom prst="roundRect">
            <a:avLst>
              <a:gd name="adj" fmla="val 5926"/>
            </a:avLst>
          </a:prstGeom>
          <a:solidFill>
            <a:srgbClr val="D3ECEE"/>
          </a:solidFill>
          <a:ln w="19050">
            <a:solidFill>
              <a:srgbClr val="0E7C86"/>
            </a:solidFill>
            <a:prstDash val="solid"/>
          </a:ln>
        </p:spPr>
      </p:sp>
      <p:sp>
        <p:nvSpPr>
          <p:cNvPr id="16" name="arch head 3"/>
          <p:cNvSpPr txBox="1"/>
          <p:nvPr/>
        </p:nvSpPr>
        <p:spPr>
          <a:xfrm>
            <a:off x="5573268" y="1261872"/>
            <a:ext cx="1371600"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600200"/>
            <a:ext cx="1335024" cy="777240"/>
          </a:xfrm>
          <a:prstGeom prst="rect">
            <a:avLst/>
          </a:prstGeom>
          <a:noFill/>
          <a:ln/>
        </p:spPr>
        <p:txBody>
          <a:bodyPr wrap="square" lIns="0" tIns="0" rIns="0" bIns="0" rtlCol="0" anchor="t"/>
          <a:lstStyle/>
          <a:p>
            <a:pPr algn="ctr" indent="0" marL="0">
              <a:buNone/>
            </a:pPr>
            <a:r>
              <a:rPr lang="en-US" sz="1200" dirty="0">
                <a:solidFill>
                  <a:schemeClr val="tx2"/>
                </a:solidFill>
              </a:rPr>
              <a:t>pose, 11 shape values, distance</a:t>
            </a:r>
            <a:endParaRPr lang="en-US" sz="1200" dirty="0"/>
          </a:p>
        </p:txBody>
      </p:sp>
      <p:sp>
        <p:nvSpPr>
          <p:cNvPr id="18" name="arch arrow 3"/>
          <p:cNvSpPr/>
          <p:nvPr/>
        </p:nvSpPr>
        <p:spPr>
          <a:xfrm>
            <a:off x="7027164" y="1805940"/>
            <a:ext cx="150876" cy="0"/>
          </a:xfrm>
          <a:prstGeom prst="line">
            <a:avLst/>
          </a:prstGeom>
          <a:noFill/>
          <a:ln w="19050">
            <a:solidFill>
              <a:schemeClr val="tx2"/>
            </a:solidFill>
            <a:prstDash val="solid"/>
            <a:tailEnd type="triangle"/>
          </a:ln>
        </p:spPr>
      </p:sp>
      <p:sp>
        <p:nvSpPr>
          <p:cNvPr id="19" name="arch box 4"/>
          <p:cNvSpPr/>
          <p:nvPr/>
        </p:nvSpPr>
        <p:spPr>
          <a:xfrm>
            <a:off x="7205472" y="1188720"/>
            <a:ext cx="1481328" cy="1234440"/>
          </a:xfrm>
          <a:prstGeom prst="roundRect">
            <a:avLst>
              <a:gd name="adj" fmla="val 5926"/>
            </a:avLst>
          </a:prstGeom>
          <a:solidFill>
            <a:srgbClr val="D3ECEE"/>
          </a:solidFill>
          <a:ln w="19050">
            <a:solidFill>
              <a:srgbClr val="0E7C86"/>
            </a:solidFill>
            <a:prstDash val="solid"/>
          </a:ln>
        </p:spPr>
      </p:sp>
      <p:sp>
        <p:nvSpPr>
          <p:cNvPr id="20" name="arch head 4"/>
          <p:cNvSpPr txBox="1"/>
          <p:nvPr/>
        </p:nvSpPr>
        <p:spPr>
          <a:xfrm>
            <a:off x="7260336" y="1261872"/>
            <a:ext cx="1371600"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600200"/>
            <a:ext cx="1335024" cy="777240"/>
          </a:xfrm>
          <a:prstGeom prst="rect">
            <a:avLst/>
          </a:prstGeom>
          <a:noFill/>
          <a:ln/>
        </p:spPr>
        <p:txBody>
          <a:bodyPr wrap="square" lIns="0" tIns="0" rIns="0" bIns="0" rtlCol="0" anchor="t"/>
          <a:lstStyle/>
          <a:p>
            <a:pPr algn="ctr" indent="0" marL="0">
              <a:buNone/>
            </a:pPr>
            <a:r>
              <a:rPr lang="en-US" sz="1200" dirty="0">
                <a:solidFill>
                  <a:schemeClr val="tx2"/>
                </a:solidFill>
              </a:rPr>
              <a:t>a mesh, placed at that distance</a:t>
            </a:r>
            <a:endParaRPr lang="en-US" sz="1200" dirty="0"/>
          </a:p>
        </p:txBody>
      </p:sp>
      <p:sp>
        <p:nvSpPr>
          <p:cNvPr id="22" name="ours text"/>
          <p:cNvSpPr txBox="1"/>
          <p:nvPr/>
        </p:nvSpPr>
        <p:spPr>
          <a:xfrm>
            <a:off x="457200" y="2697480"/>
            <a:ext cx="8229600" cy="118872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Ours (teal boxes): </a:t>
            </a:r>
            <a:r>
              <a:rPr lang="en-US" sz="1400" dirty="0">
                <a:solidFill>
                  <a:schemeClr val="tx1"/>
                </a:solidFill>
              </a:rPr>
              <a:t>output sized for Anny, and a bone fix with no new parameters.</a:t>
            </a:r>
            <a:endParaRPr lang="en-US" sz="1400" dirty="0"/>
          </a:p>
          <a:p>
            <a:pPr marL="177800" indent="-177800">
              <a:spcAft>
                <a:spcPts val="600"/>
              </a:spcAft>
              <a:buSzPct val="100000"/>
              <a:buChar char="•"/>
            </a:pPr>
            <a:r>
              <a:rPr lang="en-US" sz="1400" b="1" dirty="0">
                <a:solidFill>
                  <a:schemeClr val="tx1"/>
                </a:solidFill>
              </a:rPr>
              <a:t>Ours: </a:t>
            </a:r>
            <a:r>
              <a:rPr lang="en-US" sz="1400" dirty="0">
                <a:solidFill>
                  <a:schemeClr val="tx1"/>
                </a:solidFill>
              </a:rPr>
              <a:t>training targets moved to the head (the depth fix); 3DPW converted to Anny.</a:t>
            </a:r>
            <a:endParaRPr lang="en-US" sz="1400" dirty="0"/>
          </a:p>
          <a:p>
            <a:pPr marL="177800" indent="-177800">
              <a:spcAft>
                <a:spcPts val="600"/>
              </a:spcAft>
              <a:buSzPct val="100000"/>
              <a:buChar char="•"/>
            </a:pPr>
            <a:r>
              <a:rPr lang="en-US" sz="1400" b="1" dirty="0">
                <a:solidFill>
                  <a:schemeClr val="tx1"/>
                </a:solidFill>
              </a:rPr>
              <a:t>Not ours: </a:t>
            </a:r>
            <a:r>
              <a:rPr lang="en-US" sz="1400" dirty="0">
                <a:solidFill>
                  <a:schemeClr val="tx1"/>
                </a:solidFill>
              </a:rPr>
              <a:t>the network design and its starting weights are Multi-HMR's (NAVER).</a:t>
            </a:r>
            <a:endParaRPr lang="en-US" sz="1400" dirty="0"/>
          </a:p>
        </p:txBody>
      </p:sp>
      <p:sp>
        <p:nvSpPr>
          <p:cNvPr id="23" name="closing line"/>
          <p:cNvSpPr txBox="1"/>
          <p:nvPr/>
        </p:nvSpPr>
        <p:spPr>
          <a:xfrm>
            <a:off x="457200" y="406908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we changed outputs, training and data, not the network design; so requirement 1b is still open.</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fixed, now safe to train on</a:t>
            </a:r>
            <a:endParaRPr lang="en-US" sz="2700" dirty="0"/>
          </a:p>
        </p:txBody>
      </p:sp>
      <p:graphicFrame>
        <p:nvGraphicFramePr>
          <p:cNvPr id="7" name="defects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108960"/>
                <a:gridCol w="2377440"/>
                <a:gridCol w="2743200"/>
              </a:tblGrid>
              <a:tr h="411480">
                <a:tc>
                  <a:txBody>
                    <a:bodyPr/>
                    <a:lstStyle/>
                    <a:p>
                      <a:pPr algn="l" indent="0" marL="0">
                        <a:buNone/>
                      </a:pPr>
                      <a:r>
                        <a:rPr lang="en-US" sz="1200" b="1" dirty="0">
                          <a:solidFill>
                            <a:srgbClr val="FFFFFF"/>
                          </a:solidFill>
                        </a:rPr>
                        <a:t>Defect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Before (15 Oct)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Now (fixed 16–18 Oct)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411480">
                <a:tc>
                  <a:txBody>
                    <a:bodyPr/>
                    <a:lstStyle/>
                    <a:p>
                      <a:pPr algn="l" indent="0" marL="0">
                        <a:buNone/>
                      </a:pPr>
                      <a:r>
                        <a:rPr lang="en-US" sz="1200" b="1" dirty="0">
                          <a:solidFill>
                            <a:srgbClr val="1B2233"/>
                          </a:solidFill>
                        </a:rPr>
                        <a:t>Gender label reversed</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men 1, women 0</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men 0, women 1 (Anny's convention)</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11480">
                <a:tc>
                  <a:txBody>
                    <a:bodyPr/>
                    <a:lstStyle/>
                    <a:p>
                      <a:pPr algn="l" indent="0" marL="0">
                        <a:buNone/>
                      </a:pPr>
                      <a:r>
                        <a:rPr lang="en-US" sz="1200" b="1" dirty="0">
                          <a:solidFill>
                            <a:srgbClr val="1B2233"/>
                          </a:solidFill>
                        </a:rPr>
                        <a:t>Second person unlabelled in two-person images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407 of 960 images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0 of 1,080 images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11480">
                <a:tc>
                  <a:txBody>
                    <a:bodyPr/>
                    <a:lstStyle/>
                    <a:p>
                      <a:pPr algn="l" indent="0" marL="0">
                        <a:buNone/>
                      </a:pPr>
                      <a:r>
                        <a:rPr lang="en-US" sz="1200" b="1" dirty="0">
                          <a:solidFill>
                            <a:srgbClr val="1B2233"/>
                          </a:solidFill>
                        </a:rPr>
                        <a:t>Label images missing (lost image files)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 sequences with no or too few labels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re-extracted: 16,694 images, 22,749 people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check bullets"/>
          <p:cNvSpPr txBox="1"/>
          <p:nvPr/>
        </p:nvSpPr>
        <p:spPr>
          <a:xfrm>
            <a:off x="457200" y="3017520"/>
            <a:ext cx="8229600" cy="96012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tx1"/>
                </a:solidFill>
              </a:rPr>
              <a:t>Body joints: </a:t>
            </a:r>
            <a:r>
              <a:rPr lang="en-US" sz="1400" dirty="0">
                <a:solidFill>
                  <a:schemeClr val="tx1"/>
                </a:solidFill>
              </a:rPr>
              <a:t>14.1 mm off 3DPW's (median), less than 3DPW's own ~26 mm error.</a:t>
            </a:r>
            <a:endParaRPr lang="en-US" sz="1400" dirty="0"/>
          </a:p>
          <a:p>
            <a:pPr marL="177800" indent="-177800">
              <a:spcAft>
                <a:spcPts val="400"/>
              </a:spcAft>
              <a:buSzPct val="100000"/>
              <a:buChar char="•"/>
            </a:pPr>
            <a:r>
              <a:rPr lang="en-US" sz="1400" b="1" dirty="0">
                <a:solidFill>
                  <a:schemeClr val="tx1"/>
                </a:solidFill>
              </a:rPr>
              <a:t>Overall grade: </a:t>
            </a:r>
            <a:r>
              <a:rPr lang="en-US" sz="1400" dirty="0">
                <a:solidFill>
                  <a:schemeClr val="tx1"/>
                </a:solidFill>
              </a:rPr>
              <a:t>FAIL before the re-fit, WARN now.</a:t>
            </a:r>
            <a:endParaRPr lang="en-US" sz="1400" dirty="0"/>
          </a:p>
          <a:p>
            <a:pPr marL="177800" indent="-177800">
              <a:spcAft>
                <a:spcPts val="400"/>
              </a:spcAft>
              <a:buSzPct val="100000"/>
              <a:buChar char="•"/>
            </a:pPr>
            <a:r>
              <a:rPr lang="en-US" sz="1400" b="1" dirty="0">
                <a:solidFill>
                  <a:schemeClr val="tx1"/>
                </a:solidFill>
              </a:rPr>
              <a:t>Remaining warnings: </a:t>
            </a:r>
            <a:r>
              <a:rPr lang="en-US" sz="1400" dirty="0">
                <a:solidFill>
                  <a:schemeClr val="tx1"/>
                </a:solidFill>
              </a:rPr>
              <a:t>Anny and SMPL bodies differ (limb lengths, hip); not label bugs.</a:t>
            </a:r>
            <a:endParaRPr lang="en-US" sz="1400" dirty="0"/>
          </a:p>
        </p:txBody>
      </p:sp>
      <p:sp>
        <p:nvSpPr>
          <p:cNvPr id="5" name="closing line"/>
          <p:cNvSpPr txBox="1"/>
          <p:nvPr/>
        </p:nvSpPr>
        <p:spPr>
          <a:xfrm>
            <a:off x="457200" y="406908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3DPW labels can be trusted for training and testing, within the stated limits.</a:t>
            </a:r>
            <a:endParaRPr lang="en-US" sz="1400" dirty="0"/>
          </a:p>
        </p:txBody>
      </p:sp>
      <p:sp>
        <p:nvSpPr>
          <p:cNvPr id="6"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check_3dpw_conversion.sh, job 3611284 on the re-fit labels (old labels: 3575369); 3,314 people, 2,360 images, 59 sequences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Three failures, each explained by an untested guess</a:t>
            </a:r>
            <a:endParaRPr lang="en-US" sz="2700" dirty="0"/>
          </a:p>
        </p:txBody>
      </p:sp>
      <p:graphicFrame>
        <p:nvGraphicFramePr>
          <p:cNvPr id="11" name="failures 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94560"/>
                <a:gridCol w="2651760"/>
                <a:gridCol w="3383280"/>
              </a:tblGrid>
              <a:tr h="502920">
                <a:tc>
                  <a:txBody>
                    <a:bodyPr/>
                    <a:lstStyle/>
                    <a:p>
                      <a:pPr algn="l" indent="0" marL="0">
                        <a:buNone/>
                      </a:pPr>
                      <a:r>
                        <a:rPr lang="en-US" sz="1300" b="1" dirty="0">
                          <a:solidFill>
                            <a:srgbClr val="FFFFFF"/>
                          </a:solidFill>
                        </a:rPr>
                        <a:t>Failure</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Old guess (untested)</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What we found</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502920">
                <a:tc>
                  <a:txBody>
                    <a:bodyPr/>
                    <a:lstStyle/>
                    <a:p>
                      <a:pPr algn="l" indent="0" marL="0">
                        <a:buNone/>
                      </a:pPr>
                      <a:r>
                        <a:rPr lang="en-US" sz="1300" b="1" dirty="0">
                          <a:solidFill>
                            <a:srgbClr val="1B2233"/>
                          </a:solidFill>
                        </a:rPr>
                        <a:t>Neck too long or bent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a rig or body-model problem</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233"/>
                          </a:solidFill>
                        </a:rPr>
                        <a:t>Base (v5): two neck bones half a turn off</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502920">
                <a:tc>
                  <a:txBody>
                    <a:bodyPr/>
                    <a:lstStyle/>
                    <a:p>
                      <a:pPr algn="l" indent="0" marL="0">
                        <a:buNone/>
                      </a:pPr>
                      <a:r>
                        <a:rPr lang="en-US" sz="1300" b="1" dirty="0">
                          <a:solidFill>
                            <a:srgbClr val="1B2233"/>
                          </a:solidFill>
                        </a:rPr>
                        <a:t>Claw-like fingers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dirty="0">
                          <a:solidFill>
                            <a:srgbClr val="1B2233"/>
                          </a:solidFill>
                        </a:rPr>
                        <a:t>too few pixels on the hands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b="1" dirty="0">
                          <a:solidFill>
                            <a:srgbClr val="1B2233"/>
                          </a:solidFill>
                        </a:rPr>
                        <a:t>half the error: two flipped hand bones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502920">
                <a:tc>
                  <a:txBody>
                    <a:bodyPr/>
                    <a:lstStyle/>
                    <a:p>
                      <a:pPr algn="l" indent="0" marL="0">
                        <a:buNone/>
                      </a:pPr>
                      <a:r>
                        <a:rPr lang="en-US" sz="1300" b="1" dirty="0">
                          <a:solidFill>
                            <a:srgbClr val="1B2233"/>
                          </a:solidFill>
                        </a:rPr>
                        <a:t>Children look adult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age is not learned</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233"/>
                          </a:solidFill>
                        </a:rPr>
                        <a:t>child-like on training images, adult on real photos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method bullet"/>
          <p:cNvSpPr txBox="1"/>
          <p:nvPr/>
        </p:nvSpPr>
        <p:spPr>
          <a:xfrm>
            <a:off x="457200" y="3429000"/>
            <a:ext cx="8229600" cy="36576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Method: </a:t>
            </a:r>
            <a:r>
              <a:rPr lang="en-US" sz="1400" dirty="0">
                <a:solidFill>
                  <a:schemeClr val="tx1"/>
                </a:solidFill>
              </a:rPr>
              <a:t>each guess was tested on its own before any fix (slide 11).</a:t>
            </a:r>
            <a:endParaRPr lang="en-US" sz="1400" dirty="0"/>
          </a:p>
        </p:txBody>
      </p:sp>
      <p:sp>
        <p:nvSpPr>
          <p:cNvPr id="5" name="closing line"/>
          <p:cNvSpPr txBox="1"/>
          <p:nvPr/>
        </p:nvSpPr>
        <p:spPr>
          <a:xfrm>
            <a:off x="457200" y="402336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failures had specific causes we could measure, not the vague ones assumed before.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bug: model uses the head, training the pelvis</a:t>
            </a:r>
            <a:endParaRPr lang="en-US" sz="2700" dirty="0"/>
          </a:p>
        </p:txBody>
      </p:sp>
      <p:sp>
        <p:nvSpPr>
          <p:cNvPr id="3" name="Model: placed by the head head"/>
          <p:cNvSpPr/>
          <p:nvPr/>
        </p:nvSpPr>
        <p:spPr>
          <a:xfrm>
            <a:off x="1234440" y="1188720"/>
            <a:ext cx="457200" cy="457200"/>
          </a:xfrm>
          <a:prstGeom prst="ellipse">
            <a:avLst/>
          </a:prstGeom>
          <a:solidFill>
            <a:schemeClr val="bg2"/>
          </a:solidFill>
          <a:ln w="19050">
            <a:solidFill>
              <a:schemeClr val="tx2"/>
            </a:solidFill>
            <a:prstDash val="solid"/>
          </a:ln>
        </p:spPr>
      </p:sp>
      <p:sp>
        <p:nvSpPr>
          <p:cNvPr id="4" name="Model: placed by the head body"/>
          <p:cNvSpPr/>
          <p:nvPr/>
        </p:nvSpPr>
        <p:spPr>
          <a:xfrm>
            <a:off x="1463040" y="1645920"/>
            <a:ext cx="0" cy="1188720"/>
          </a:xfrm>
          <a:prstGeom prst="line">
            <a:avLst/>
          </a:prstGeom>
          <a:noFill/>
          <a:ln w="25400">
            <a:solidFill>
              <a:schemeClr val="tx2"/>
            </a:solidFill>
            <a:prstDash val="solid"/>
          </a:ln>
        </p:spPr>
      </p:sp>
      <p:sp>
        <p:nvSpPr>
          <p:cNvPr id="5" name="Model: placed by the head arms"/>
          <p:cNvSpPr/>
          <p:nvPr/>
        </p:nvSpPr>
        <p:spPr>
          <a:xfrm>
            <a:off x="1005840" y="1901952"/>
            <a:ext cx="914400" cy="27432"/>
          </a:xfrm>
          <a:prstGeom prst="rect">
            <a:avLst/>
          </a:prstGeom>
          <a:solidFill>
            <a:schemeClr val="tx2"/>
          </a:solidFill>
          <a:ln w="12700">
            <a:solidFill>
              <a:schemeClr val="tx2"/>
            </a:solidFill>
            <a:prstDash val="solid"/>
          </a:ln>
        </p:spPr>
      </p:sp>
      <p:sp>
        <p:nvSpPr>
          <p:cNvPr id="6" name="Model: placed by the head legL"/>
          <p:cNvSpPr/>
          <p:nvPr/>
        </p:nvSpPr>
        <p:spPr>
          <a:xfrm flipH="1">
            <a:off x="1051560" y="2834640"/>
            <a:ext cx="411480" cy="822960"/>
          </a:xfrm>
          <a:prstGeom prst="line">
            <a:avLst/>
          </a:prstGeom>
          <a:noFill/>
          <a:ln w="25400">
            <a:solidFill>
              <a:schemeClr val="tx2"/>
            </a:solidFill>
            <a:prstDash val="solid"/>
          </a:ln>
        </p:spPr>
      </p:sp>
      <p:sp>
        <p:nvSpPr>
          <p:cNvPr id="7" name="Model: placed by the head legR"/>
          <p:cNvSpPr/>
          <p:nvPr/>
        </p:nvSpPr>
        <p:spPr>
          <a:xfrm>
            <a:off x="1463040" y="2834640"/>
            <a:ext cx="411480" cy="822960"/>
          </a:xfrm>
          <a:prstGeom prst="line">
            <a:avLst/>
          </a:prstGeom>
          <a:noFill/>
          <a:ln w="25400">
            <a:solidFill>
              <a:schemeClr val="tx2"/>
            </a:solidFill>
            <a:prstDash val="solid"/>
          </a:ln>
        </p:spPr>
      </p:sp>
      <p:sp>
        <p:nvSpPr>
          <p:cNvPr id="8" name="Model: placed by the head anchor"/>
          <p:cNvSpPr/>
          <p:nvPr/>
        </p:nvSpPr>
        <p:spPr>
          <a:xfrm>
            <a:off x="1353312" y="1307592"/>
            <a:ext cx="219456" cy="219456"/>
          </a:xfrm>
          <a:prstGeom prst="ellipse">
            <a:avLst/>
          </a:prstGeom>
          <a:solidFill>
            <a:srgbClr val="0E7C86"/>
          </a:solidFill>
          <a:ln w="12700">
            <a:solidFill>
              <a:srgbClr val="0E7C86"/>
            </a:solidFill>
            <a:prstDash val="solid"/>
          </a:ln>
        </p:spPr>
      </p:sp>
      <p:sp>
        <p:nvSpPr>
          <p:cNvPr id="9" name="Model: placed by the head cap"/>
          <p:cNvSpPr txBox="1"/>
          <p:nvPr/>
        </p:nvSpPr>
        <p:spPr>
          <a:xfrm>
            <a:off x="457200" y="3749040"/>
            <a:ext cx="2011680" cy="274320"/>
          </a:xfrm>
          <a:prstGeom prst="rect">
            <a:avLst/>
          </a:prstGeom>
          <a:noFill/>
          <a:ln/>
        </p:spPr>
        <p:txBody>
          <a:bodyPr wrap="square" lIns="0" tIns="0" rIns="0" bIns="0" rtlCol="0" anchor="ctr"/>
          <a:lstStyle/>
          <a:p>
            <a:pPr algn="ctr" indent="0" marL="0">
              <a:buNone/>
            </a:pPr>
            <a:r>
              <a:rPr lang="en-US" sz="1300" b="1" dirty="0">
                <a:solidFill>
                  <a:schemeClr val="tx1"/>
                </a:solidFill>
              </a:rPr>
              <a:t>Model: placed by the head</a:t>
            </a:r>
            <a:endParaRPr lang="en-US" sz="1300" dirty="0"/>
          </a:p>
        </p:txBody>
      </p:sp>
      <p:sp>
        <p:nvSpPr>
          <p:cNvPr id="10" name="Model: placed by the head note"/>
          <p:cNvSpPr txBox="1"/>
          <p:nvPr/>
        </p:nvSpPr>
        <p:spPr>
          <a:xfrm>
            <a:off x="457200" y="4023360"/>
            <a:ext cx="2011680" cy="548640"/>
          </a:xfrm>
          <a:prstGeom prst="rect">
            <a:avLst/>
          </a:prstGeom>
          <a:noFill/>
          <a:ln/>
        </p:spPr>
        <p:txBody>
          <a:bodyPr wrap="square" lIns="0" tIns="0" rIns="0" bIns="0" rtlCol="0" anchor="t"/>
          <a:lstStyle/>
          <a:p>
            <a:pPr algn="ctr" indent="0" marL="0">
              <a:buNone/>
            </a:pPr>
            <a:r>
              <a:rPr lang="en-US" sz="1200" dirty="0">
                <a:solidFill>
                  <a:schemeClr val="tx2"/>
                </a:solidFill>
              </a:rPr>
              <a:t>the network puts each body at its head joint</a:t>
            </a:r>
            <a:endParaRPr lang="en-US" sz="1200" dirty="0"/>
          </a:p>
        </p:txBody>
      </p:sp>
      <p:sp>
        <p:nvSpPr>
          <p:cNvPr id="11" name="Training target: the pelvis head"/>
          <p:cNvSpPr/>
          <p:nvPr/>
        </p:nvSpPr>
        <p:spPr>
          <a:xfrm>
            <a:off x="3703320" y="1188720"/>
            <a:ext cx="457200" cy="457200"/>
          </a:xfrm>
          <a:prstGeom prst="ellipse">
            <a:avLst/>
          </a:prstGeom>
          <a:solidFill>
            <a:schemeClr val="bg2"/>
          </a:solidFill>
          <a:ln w="19050">
            <a:solidFill>
              <a:schemeClr val="tx2"/>
            </a:solidFill>
            <a:prstDash val="solid"/>
          </a:ln>
        </p:spPr>
      </p:sp>
      <p:sp>
        <p:nvSpPr>
          <p:cNvPr id="12" name="Training target: the pelvis body"/>
          <p:cNvSpPr/>
          <p:nvPr/>
        </p:nvSpPr>
        <p:spPr>
          <a:xfrm>
            <a:off x="3931920" y="1645920"/>
            <a:ext cx="0" cy="1188720"/>
          </a:xfrm>
          <a:prstGeom prst="line">
            <a:avLst/>
          </a:prstGeom>
          <a:noFill/>
          <a:ln w="25400">
            <a:solidFill>
              <a:schemeClr val="tx2"/>
            </a:solidFill>
            <a:prstDash val="solid"/>
          </a:ln>
        </p:spPr>
      </p:sp>
      <p:sp>
        <p:nvSpPr>
          <p:cNvPr id="13" name="Training target: the pelvis arms"/>
          <p:cNvSpPr/>
          <p:nvPr/>
        </p:nvSpPr>
        <p:spPr>
          <a:xfrm>
            <a:off x="3474720" y="1901952"/>
            <a:ext cx="914400" cy="27432"/>
          </a:xfrm>
          <a:prstGeom prst="rect">
            <a:avLst/>
          </a:prstGeom>
          <a:solidFill>
            <a:schemeClr val="tx2"/>
          </a:solidFill>
          <a:ln w="12700">
            <a:solidFill>
              <a:schemeClr val="tx2"/>
            </a:solidFill>
            <a:prstDash val="solid"/>
          </a:ln>
        </p:spPr>
      </p:sp>
      <p:sp>
        <p:nvSpPr>
          <p:cNvPr id="14" name="Training target: the pelvis legL"/>
          <p:cNvSpPr/>
          <p:nvPr/>
        </p:nvSpPr>
        <p:spPr>
          <a:xfrm flipH="1">
            <a:off x="3520440" y="2834640"/>
            <a:ext cx="411480" cy="822960"/>
          </a:xfrm>
          <a:prstGeom prst="line">
            <a:avLst/>
          </a:prstGeom>
          <a:noFill/>
          <a:ln w="25400">
            <a:solidFill>
              <a:schemeClr val="tx2"/>
            </a:solidFill>
            <a:prstDash val="solid"/>
          </a:ln>
        </p:spPr>
      </p:sp>
      <p:sp>
        <p:nvSpPr>
          <p:cNvPr id="15" name="Training target: the pelvis legR"/>
          <p:cNvSpPr/>
          <p:nvPr/>
        </p:nvSpPr>
        <p:spPr>
          <a:xfrm>
            <a:off x="3931920" y="2834640"/>
            <a:ext cx="411480" cy="822960"/>
          </a:xfrm>
          <a:prstGeom prst="line">
            <a:avLst/>
          </a:prstGeom>
          <a:noFill/>
          <a:ln w="25400">
            <a:solidFill>
              <a:schemeClr val="tx2"/>
            </a:solidFill>
            <a:prstDash val="solid"/>
          </a:ln>
        </p:spPr>
      </p:sp>
      <p:sp>
        <p:nvSpPr>
          <p:cNvPr id="16" name="Training target: the pelvis anchor"/>
          <p:cNvSpPr/>
          <p:nvPr/>
        </p:nvSpPr>
        <p:spPr>
          <a:xfrm>
            <a:off x="3822192" y="2724912"/>
            <a:ext cx="219456" cy="219456"/>
          </a:xfrm>
          <a:prstGeom prst="ellipse">
            <a:avLst/>
          </a:prstGeom>
          <a:solidFill>
            <a:srgbClr val="E8792B"/>
          </a:solidFill>
          <a:ln w="12700">
            <a:solidFill>
              <a:srgbClr val="E8792B"/>
            </a:solidFill>
            <a:prstDash val="solid"/>
          </a:ln>
        </p:spPr>
      </p:sp>
      <p:sp>
        <p:nvSpPr>
          <p:cNvPr id="17" name="Training target: the pelvis cap"/>
          <p:cNvSpPr txBox="1"/>
          <p:nvPr/>
        </p:nvSpPr>
        <p:spPr>
          <a:xfrm>
            <a:off x="2926080" y="3749040"/>
            <a:ext cx="2011680" cy="274320"/>
          </a:xfrm>
          <a:prstGeom prst="rect">
            <a:avLst/>
          </a:prstGeom>
          <a:noFill/>
          <a:ln/>
        </p:spPr>
        <p:txBody>
          <a:bodyPr wrap="square" lIns="0" tIns="0" rIns="0" bIns="0" rtlCol="0" anchor="ctr"/>
          <a:lstStyle/>
          <a:p>
            <a:pPr algn="ctr" indent="0" marL="0">
              <a:buNone/>
            </a:pPr>
            <a:r>
              <a:rPr lang="en-US" sz="1300" b="1" dirty="0">
                <a:solidFill>
                  <a:schemeClr val="tx1"/>
                </a:solidFill>
              </a:rPr>
              <a:t>Training target: the pelvis</a:t>
            </a:r>
            <a:endParaRPr lang="en-US" sz="1300" dirty="0"/>
          </a:p>
        </p:txBody>
      </p:sp>
      <p:sp>
        <p:nvSpPr>
          <p:cNvPr id="18" name="Training target: the pelvis note"/>
          <p:cNvSpPr txBox="1"/>
          <p:nvPr/>
        </p:nvSpPr>
        <p:spPr>
          <a:xfrm>
            <a:off x="2926080" y="4023360"/>
            <a:ext cx="2011680" cy="548640"/>
          </a:xfrm>
          <a:prstGeom prst="rect">
            <a:avLst/>
          </a:prstGeom>
          <a:noFill/>
          <a:ln/>
        </p:spPr>
        <p:txBody>
          <a:bodyPr wrap="square" lIns="0" tIns="0" rIns="0" bIns="0" rtlCol="0" anchor="t"/>
          <a:lstStyle/>
          <a:p>
            <a:pPr algn="ctr" indent="0" marL="0">
              <a:buNone/>
            </a:pPr>
            <a:r>
              <a:rPr lang="en-US" sz="1200" dirty="0">
                <a:solidFill>
                  <a:schemeClr val="tx2"/>
                </a:solidFill>
              </a:rPr>
              <a:t>position and distance targets were built at the pelvis</a:t>
            </a:r>
            <a:endParaRPr lang="en-US" sz="1200" dirty="0"/>
          </a:p>
        </p:txBody>
      </p:sp>
      <p:sp>
        <p:nvSpPr>
          <p:cNvPr id="19" name="bug text"/>
          <p:cNvSpPr txBox="1"/>
          <p:nvPr/>
        </p:nvSpPr>
        <p:spPr>
          <a:xfrm>
            <a:off x="5669280" y="1234440"/>
            <a:ext cx="3017520" cy="2103120"/>
          </a:xfrm>
          <a:prstGeom prst="rect">
            <a:avLst/>
          </a:prstGeom>
          <a:noFill/>
          <a:ln/>
        </p:spPr>
        <p:txBody>
          <a:bodyPr wrap="square" lIns="0" tIns="0" rIns="0" bIns="0" rtlCol="0" anchor="t"/>
          <a:lstStyle/>
          <a:p>
            <a:pPr marL="177800" indent="-177800">
              <a:spcAft>
                <a:spcPts val="800"/>
              </a:spcAft>
              <a:buSzPct val="100000"/>
              <a:buChar char="•"/>
            </a:pPr>
            <a:r>
              <a:rPr lang="en-US" sz="1300" b="1" dirty="0">
                <a:solidFill>
                  <a:schemeClr val="tx1"/>
                </a:solidFill>
              </a:rPr>
              <a:t>Result in Base: </a:t>
            </a:r>
            <a:r>
              <a:rPr lang="en-US" sz="1300" dirty="0">
                <a:solidFill>
                  <a:schemeClr val="tx1"/>
                </a:solidFill>
              </a:rPr>
              <a:t>all 222 holdout people were placed too far away.</a:t>
            </a:r>
            <a:endParaRPr lang="en-US" sz="1300" dirty="0"/>
          </a:p>
          <a:p>
            <a:pPr marL="177800" indent="-177800">
              <a:spcAft>
                <a:spcPts val="800"/>
              </a:spcAft>
              <a:buSzPct val="100000"/>
              <a:buChar char="•"/>
            </a:pPr>
            <a:r>
              <a:rPr lang="en-US" sz="1300" b="1" dirty="0">
                <a:solidFill>
                  <a:schemeClr val="tx1"/>
                </a:solidFill>
              </a:rPr>
              <a:t>Drawn size: </a:t>
            </a:r>
            <a:r>
              <a:rPr lang="en-US" sz="1300" dirty="0">
                <a:solidFill>
                  <a:schemeClr val="tx1"/>
                </a:solidFill>
              </a:rPr>
              <a:t>0.63 of the true size, though the 3D height was right.</a:t>
            </a:r>
            <a:endParaRPr lang="en-US" sz="1300" dirty="0"/>
          </a:p>
          <a:p>
            <a:pPr marL="177800" indent="-177800">
              <a:spcAft>
                <a:spcPts val="800"/>
              </a:spcAft>
              <a:buSzPct val="100000"/>
              <a:buChar char="•"/>
            </a:pPr>
            <a:r>
              <a:rPr lang="en-US" sz="1300" b="1" dirty="0">
                <a:solidFill>
                  <a:schemeClr val="tx1"/>
                </a:solidFill>
              </a:rPr>
              <a:t>Hidden: </a:t>
            </a:r>
            <a:r>
              <a:rPr lang="en-US" sz="1300" dirty="0">
                <a:solidFill>
                  <a:schemeClr val="tx1"/>
                </a:solidFill>
              </a:rPr>
              <a:t>our usual error is pelvis-centred, so it never showed the bug.</a:t>
            </a:r>
            <a:endParaRPr lang="en-US" sz="1300" dirty="0"/>
          </a:p>
        </p:txBody>
      </p:sp>
      <p:sp>
        <p:nvSpPr>
          <p:cNvPr id="20" name="closing line"/>
          <p:cNvSpPr txBox="1"/>
          <p:nvPr/>
        </p:nvSpPr>
        <p:spPr>
          <a:xfrm>
            <a:off x="5669280" y="3429000"/>
            <a:ext cx="3017520" cy="914400"/>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a control run confirms the cause; moving the targets to the head is the depth fix.</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placement error almost halved</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1645920"/>
                <a:gridCol w="1645920"/>
                <a:gridCol w="1645920"/>
              </a:tblGrid>
              <a:tr h="384048">
                <a:tc>
                  <a:txBody>
                    <a:bodyPr/>
                    <a:lstStyle/>
                    <a:p>
                      <a:pPr algn="l" indent="0" marL="0">
                        <a:buNone/>
                      </a:pPr>
                      <a:r>
                        <a:rPr lang="en-US" sz="1300" b="1" dirty="0">
                          <a:solidFill>
                            <a:srgbClr val="FFFFFF"/>
                          </a:solidFill>
                        </a:rPr>
                        <a:t>AnnyOne holdout, 100 images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Base (v5)</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Control</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Final</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384048">
                <a:tc>
                  <a:txBody>
                    <a:bodyPr/>
                    <a:lstStyle/>
                    <a:p>
                      <a:pPr algn="l" indent="0" marL="0">
                        <a:buNone/>
                      </a:pPr>
                      <a:r>
                        <a:rPr lang="en-US" sz="1300" b="1" dirty="0">
                          <a:solidFill>
                            <a:srgbClr val="1B2233"/>
                          </a:solidFill>
                        </a:rPr>
                        <a:t>placement error (3D, at the pelvis)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1.21 m</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1.40 m</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233"/>
                          </a:solidFill>
                        </a:rPr>
                        <a:t>0.73 m</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84048">
                <a:tc>
                  <a:txBody>
                    <a:bodyPr/>
                    <a:lstStyle/>
                    <a:p>
                      <a:pPr algn="l" indent="0" marL="0">
                        <a:buNone/>
                      </a:pPr>
                      <a:r>
                        <a:rPr lang="en-US" sz="1300" b="1" dirty="0">
                          <a:solidFill>
                            <a:srgbClr val="1B2233"/>
                          </a:solidFill>
                        </a:rPr>
                        <a:t>drawn size (1 = right)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dirty="0">
                          <a:solidFill>
                            <a:srgbClr val="1B2233"/>
                          </a:solidFill>
                        </a:rPr>
                        <a:t>0.63</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dirty="0">
                          <a:solidFill>
                            <a:srgbClr val="1B2233"/>
                          </a:solidFill>
                        </a:rPr>
                        <a:t>0.59</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b="1" dirty="0">
                          <a:solidFill>
                            <a:srgbClr val="1B2233"/>
                          </a:solidFill>
                        </a:rPr>
                        <a:t>0.78</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84048">
                <a:tc>
                  <a:txBody>
                    <a:bodyPr/>
                    <a:lstStyle/>
                    <a:p>
                      <a:pPr algn="l" indent="0" marL="0">
                        <a:buNone/>
                      </a:pPr>
                      <a:r>
                        <a:rPr lang="en-US" sz="1300" b="1" dirty="0">
                          <a:solidFill>
                            <a:srgbClr val="1B2233"/>
                          </a:solidFill>
                        </a:rPr>
                        <a:t>near/far scaling (1 = right)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0.33</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0.28</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233"/>
                          </a:solidFill>
                        </a:rPr>
                        <a:t>0.42</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x text"/>
          <p:cNvSpPr txBox="1"/>
          <p:nvPr/>
        </p:nvSpPr>
        <p:spPr>
          <a:xfrm>
            <a:off x="457200" y="2926080"/>
            <a:ext cx="8229600" cy="96012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tx1"/>
                </a:solidFill>
              </a:rPr>
              <a:t>Final vs Control </a:t>
            </a:r>
            <a:r>
              <a:rPr lang="en-US" sz="1400" dirty="0">
                <a:solidFill>
                  <a:schemeClr val="tx1"/>
                </a:solidFill>
              </a:rPr>
              <a:t>(same training, fixes off): placement error 0.73 m vs 1.40 m.</a:t>
            </a:r>
            <a:endParaRPr lang="en-US" sz="1400" dirty="0"/>
          </a:p>
          <a:p>
            <a:pPr marL="177800" indent="-177800">
              <a:spcAft>
                <a:spcPts val="400"/>
              </a:spcAft>
              <a:buSzPct val="100000"/>
              <a:buChar char="•"/>
            </a:pPr>
            <a:r>
              <a:rPr lang="en-US" sz="1400" b="1" dirty="0">
                <a:solidFill>
                  <a:schemeClr val="tx1"/>
                </a:solidFill>
              </a:rPr>
              <a:t>Not fixed: </a:t>
            </a:r>
            <a:r>
              <a:rPr lang="en-US" sz="1400" dirty="0">
                <a:solidFill>
                  <a:schemeClr val="tx1"/>
                </a:solidFill>
              </a:rPr>
              <a:t>near and far people are still squeezed toward similar depths.</a:t>
            </a:r>
            <a:endParaRPr lang="en-US" sz="1400" dirty="0"/>
          </a:p>
          <a:p>
            <a:pPr marL="177800" indent="-177800">
              <a:spcAft>
                <a:spcPts val="400"/>
              </a:spcAft>
              <a:buSzPct val="100000"/>
              <a:buChar char="•"/>
            </a:pPr>
            <a:r>
              <a:rPr lang="en-US" sz="1400" b="1" dirty="0">
                <a:solidFill>
                  <a:schemeClr val="tx1"/>
                </a:solidFill>
              </a:rPr>
              <a:t>Likely cost: </a:t>
            </a:r>
            <a:r>
              <a:rPr lang="en-US" sz="1400" dirty="0">
                <a:solidFill>
                  <a:schemeClr val="tx1"/>
                </a:solidFill>
              </a:rPr>
              <a:t>2 points fewer people found (recall); surface error (PVE) within noise.</a:t>
            </a:r>
            <a:endParaRPr lang="en-US" sz="1400" dirty="0"/>
          </a:p>
        </p:txBody>
      </p:sp>
      <p:sp>
        <p:nvSpPr>
          <p:cNvPr id="5" name="closing line"/>
          <p:cNvSpPr txBox="1"/>
          <p:nvPr/>
        </p:nvSpPr>
        <p:spPr>
          <a:xfrm>
            <a:off x="457200" y="397764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bodies are placed much better, but telling near from far is still the main open problem.</a:t>
            </a:r>
            <a:endParaRPr lang="en-US" sz="1400" dirty="0"/>
          </a:p>
        </p:txBody>
      </p:sp>
      <p:sp>
        <p:nvSpPr>
          <p:cNvPr id="6" name="source line"/>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exp7 jobs 3611336 (Final) and 3611339 (Control); the seven depth pilots are in the speaker notes.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bones were half a turn off; now fixed</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937760" cy="914400"/>
        </p:xfrm>
        <a:graphic>
          <a:graphicData uri="http://schemas.openxmlformats.org/drawingml/2006/table">
            <a:tbl>
              <a:tblPr/>
              <a:tblGrid>
                <a:gridCol w="2057400"/>
                <a:gridCol w="914400"/>
                <a:gridCol w="1005840"/>
                <a:gridCol w="960120"/>
              </a:tblGrid>
              <a:tr h="429768">
                <a:tc>
                  <a:txBody>
                    <a:bodyPr/>
                    <a:lstStyle/>
                    <a:p>
                      <a:pPr algn="l" indent="0" marL="0">
                        <a:buNone/>
                      </a:pPr>
                      <a:r>
                        <a:rPr lang="en-US" sz="1200" b="1" dirty="0">
                          <a:solidFill>
                            <a:srgbClr val="FFFFFF"/>
                          </a:solidFill>
                        </a:rPr>
                        <a:t>AnnyOne holdout, 100 images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Base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Pilot fix (2 epochs)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Final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429768">
                <a:tc>
                  <a:txBody>
                    <a:bodyPr/>
                    <a:lstStyle/>
                    <a:p>
                      <a:pPr algn="l" indent="0" marL="0">
                        <a:buNone/>
                      </a:pPr>
                      <a:r>
                        <a:rPr lang="en-US" sz="1200" b="1" dirty="0">
                          <a:solidFill>
                            <a:srgbClr val="1B2233"/>
                          </a:solidFill>
                        </a:rPr>
                        <a:t>neck02 bone, degrees off</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4.8°</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29768">
                <a:tc>
                  <a:txBody>
                    <a:bodyPr/>
                    <a:lstStyle/>
                    <a:p>
                      <a:pPr algn="l" indent="0" marL="0">
                        <a:buNone/>
                      </a:pPr>
                      <a:r>
                        <a:rPr lang="en-US" sz="1200" b="1" dirty="0">
                          <a:solidFill>
                            <a:srgbClr val="1B2233"/>
                          </a:solidFill>
                        </a:rPr>
                        <a:t>head bone, degrees off</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8.9°</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29768">
                <a:tc>
                  <a:txBody>
                    <a:bodyPr/>
                    <a:lstStyle/>
                    <a:p>
                      <a:pPr algn="l" indent="0" marL="0">
                        <a:buNone/>
                      </a:pPr>
                      <a:r>
                        <a:rPr lang="en-US" sz="1200" b="1" dirty="0">
                          <a:solidFill>
                            <a:srgbClr val="1B2233"/>
                          </a:solidFill>
                        </a:rPr>
                        <a:t>neck thickness (1 = right)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29768">
                <a:tc>
                  <a:txBody>
                    <a:bodyPr/>
                    <a:lstStyle/>
                    <a:p>
                      <a:pPr algn="l" indent="0" marL="0">
                        <a:buNone/>
                      </a:pPr>
                      <a:r>
                        <a:rPr lang="en-US" sz="1200" b="1" dirty="0">
                          <a:solidFill>
                            <a:srgbClr val="1B2233"/>
                          </a:solidFill>
                        </a:rPr>
                        <a:t>head direction error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13.1°</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neck text"/>
          <p:cNvSpPr txBox="1"/>
          <p:nvPr/>
        </p:nvSpPr>
        <p:spPr>
          <a:xfrm>
            <a:off x="5623560" y="1188720"/>
            <a:ext cx="3063240" cy="2651760"/>
          </a:xfrm>
          <a:prstGeom prst="rect">
            <a:avLst/>
          </a:prstGeom>
          <a:noFill/>
          <a:ln/>
        </p:spPr>
        <p:txBody>
          <a:bodyPr wrap="square" lIns="0" tIns="0" rIns="0" bIns="0" rtlCol="0" anchor="t"/>
          <a:lstStyle/>
          <a:p>
            <a:pPr marL="177800" indent="-177800">
              <a:spcAft>
                <a:spcPts val="800"/>
              </a:spcAft>
              <a:buSzPct val="100000"/>
              <a:buChar char="•"/>
            </a:pPr>
            <a:r>
              <a:rPr lang="en-US" sz="1300" b="1" dirty="0">
                <a:solidFill>
                  <a:schemeClr val="tx1"/>
                </a:solidFill>
              </a:rPr>
              <a:t>Cause: </a:t>
            </a:r>
            <a:r>
              <a:rPr lang="en-US" sz="1300" dirty="0">
                <a:solidFill>
                  <a:schemeClr val="tx1"/>
                </a:solidFill>
              </a:rPr>
              <a:t>two neck bones turned about 180°; they cancel, so the usual error missed it.</a:t>
            </a:r>
            <a:endParaRPr lang="en-US" sz="1300" dirty="0"/>
          </a:p>
          <a:p>
            <a:pPr marL="177800" indent="-177800">
              <a:spcAft>
                <a:spcPts val="800"/>
              </a:spcAft>
              <a:buSzPct val="100000"/>
              <a:buChar char="•"/>
            </a:pPr>
            <a:r>
              <a:rPr lang="en-US" sz="1300" b="1" dirty="0">
                <a:solidFill>
                  <a:schemeClr val="tx1"/>
                </a:solidFill>
              </a:rPr>
              <a:t>Fix: </a:t>
            </a:r>
            <a:r>
              <a:rPr lang="en-US" sz="1300" dirty="0">
                <a:solidFill>
                  <a:schemeClr val="tx1"/>
                </a:solidFill>
              </a:rPr>
              <a:t>one constant turn per bone at the output, no new parameters.</a:t>
            </a:r>
            <a:endParaRPr lang="en-US" sz="1300" dirty="0"/>
          </a:p>
          <a:p>
            <a:pPr marL="177800" indent="-177800">
              <a:spcAft>
                <a:spcPts val="800"/>
              </a:spcAft>
              <a:buSzPct val="100000"/>
              <a:buChar char="•"/>
            </a:pPr>
            <a:r>
              <a:rPr lang="en-US" sz="1300" b="1" dirty="0">
                <a:solidFill>
                  <a:schemeClr val="tx1"/>
                </a:solidFill>
              </a:rPr>
              <a:t>Caveat: </a:t>
            </a:r>
            <a:r>
              <a:rPr lang="en-US" sz="1300" dirty="0">
                <a:solidFill>
                  <a:schemeClr val="tx1"/>
                </a:solidFill>
              </a:rPr>
              <a:t>head direction a little worse than Base (13.1° vs 12.0°).</a:t>
            </a:r>
            <a:endParaRPr lang="en-US" sz="1300" dirty="0"/>
          </a:p>
        </p:txBody>
      </p:sp>
      <p:sp>
        <p:nvSpPr>
          <p:cNvPr id="5" name="closing line"/>
          <p:cNvSpPr txBox="1"/>
          <p:nvPr/>
        </p:nvSpPr>
        <p:spPr>
          <a:xfrm>
            <a:off x="457200" y="393192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thin, bent necks came from two flipped bones, and the fix holds in Final.</a:t>
            </a:r>
            <a:endParaRPr lang="en-US" sz="1400" dirty="0"/>
          </a:p>
        </p:txBody>
      </p:sp>
      <p:sp>
        <p:nvSpPr>
          <p:cNvPr id="6" name="source line"/>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pilot: exp6 job 3579014; Final: exp7 job 3611336. Bone errors: median vs truth, relative to the parent bone.</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turning two flipped bones back halves the error</a:t>
            </a:r>
            <a:endParaRPr lang="en-US" sz="2700" dirty="0"/>
          </a:p>
        </p:txBody>
      </p:sp>
      <p:graphicFrame>
        <p:nvGraphicFramePr>
          <p:cNvPr id="18" name="finger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023360"/>
                <a:gridCol w="1920240"/>
                <a:gridCol w="2286000"/>
              </a:tblGrid>
              <a:tr h="384048">
                <a:tc>
                  <a:txBody>
                    <a:bodyPr/>
                    <a:lstStyle/>
                    <a:p>
                      <a:pPr algn="l" indent="0" marL="0">
                        <a:buNone/>
                      </a:pPr>
                      <a:r>
                        <a:rPr lang="en-US" sz="1300" b="1" dirty="0">
                          <a:solidFill>
                            <a:srgbClr val="FFFFFF"/>
                          </a:solidFill>
                        </a:rPr>
                        <a:t>What we tried (AnnyOne holdout)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Finger error</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300" b="1" dirty="0">
                          <a:solidFill>
                            <a:srgbClr val="FFFFFF"/>
                          </a:solidFill>
                        </a:rPr>
                        <a:t>Result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84048">
                <a:tc>
                  <a:txBody>
                    <a:bodyPr/>
                    <a:lstStyle/>
                    <a:p>
                      <a:pPr algn="l" indent="0" marL="0">
                        <a:buNone/>
                      </a:pPr>
                      <a:r>
                        <a:rPr lang="en-US" sz="1300" b="1" dirty="0">
                          <a:solidFill>
                            <a:srgbClr val="1B2233"/>
                          </a:solidFill>
                        </a:rPr>
                        <a:t>Before: Base, predicted fingers</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17.3°</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starting point</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B2233"/>
                          </a:solidFill>
                        </a:rPr>
                        <a:t>Zoom in on the person at test time</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dirty="0">
                          <a:solidFill>
                            <a:srgbClr val="1B2233"/>
                          </a:solidFill>
                        </a:rPr>
                        <a:t>17.2°</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300" dirty="0">
                          <a:solidFill>
                            <a:srgbClr val="7B8794"/>
                          </a:solidFill>
                        </a:rPr>
                        <a:t>no help</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84048">
                <a:tc>
                  <a:txBody>
                    <a:bodyPr/>
                    <a:lstStyle/>
                    <a:p>
                      <a:pPr algn="l" indent="0" marL="0">
                        <a:buNone/>
                      </a:pPr>
                      <a:r>
                        <a:rPr lang="en-US" sz="1300" b="1" dirty="0">
                          <a:solidFill>
                            <a:srgbClr val="1B2233"/>
                          </a:solidFill>
                        </a:rPr>
                        <a:t>Rebalanced rotation loss (hands 33%)</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3"/>
                          </a:solidFill>
                        </a:rPr>
                        <a:t>17.5° (control 17.4°)</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7B8794"/>
                          </a:solidFill>
                        </a:rPr>
                        <a:t>no help</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B2233"/>
                          </a:solidFill>
                        </a:rPr>
                        <a:t>Turn the two flipped bones back (Final)</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300" b="1" dirty="0">
                          <a:solidFill>
                            <a:srgbClr val="1B2233"/>
                          </a:solidFill>
                        </a:rPr>
                        <a:t>8.3° (control 17.4°)</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300" b="1" dirty="0">
                          <a:solidFill>
                            <a:srgbClr val="3BA55D"/>
                          </a:solidFill>
                        </a:rPr>
                        <a:t>error halved</a:t>
                      </a:r>
                      <a:endParaRPr lang="en-US" sz="13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ger text"/>
          <p:cNvSpPr txBox="1"/>
          <p:nvPr/>
        </p:nvSpPr>
        <p:spPr>
          <a:xfrm>
            <a:off x="457200" y="3246120"/>
            <a:ext cx="8229600" cy="68580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tx1"/>
                </a:solidFill>
              </a:rPr>
              <a:t>Cause: </a:t>
            </a:r>
            <a:r>
              <a:rPr lang="en-US" sz="1400" dirty="0">
                <a:solidFill>
                  <a:schemeClr val="tx1"/>
                </a:solidFill>
              </a:rPr>
              <a:t>two hand bones were turned about 180°, like the neck bones; same fix.</a:t>
            </a:r>
            <a:endParaRPr lang="en-US" sz="1400" dirty="0"/>
          </a:p>
          <a:p>
            <a:pPr marL="177800" indent="-177800">
              <a:spcAft>
                <a:spcPts val="400"/>
              </a:spcAft>
              <a:buSzPct val="100000"/>
              <a:buChar char="•"/>
            </a:pPr>
            <a:r>
              <a:rPr lang="en-US" sz="1400" b="1" dirty="0">
                <a:solidFill>
                  <a:schemeClr val="tx1"/>
                </a:solidFill>
              </a:rPr>
              <a:t>By eye: </a:t>
            </a:r>
            <a:r>
              <a:rPr lang="en-US" sz="1400" dirty="0">
                <a:solidFill>
                  <a:schemeClr val="tx1"/>
                </a:solidFill>
              </a:rPr>
              <a:t>Final's fingers look like hands, but not on the real fingers (slide 31).</a:t>
            </a:r>
            <a:endParaRPr lang="en-US" sz="1400" dirty="0"/>
          </a:p>
        </p:txBody>
      </p:sp>
      <p:sp>
        <p:nvSpPr>
          <p:cNvPr id="5" name="closing line"/>
          <p:cNvSpPr txBox="1"/>
          <p:nvPr/>
        </p:nvSpPr>
        <p:spPr>
          <a:xfrm>
            <a:off x="457200" y="402336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claw-like fingers were mostly a bone bug, not too few pixels on the hands.</a:t>
            </a:r>
            <a:endParaRPr lang="en-US" sz="1400" dirty="0"/>
          </a:p>
        </p:txBody>
      </p:sp>
      <p:sp>
        <p:nvSpPr>
          <p:cNvPr id="6" name="source line"/>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jobs 3571960 and 3571959 (before), exp6 3579014 (pilot fix), exp7 3611336 / 3611339 (Final / Control).</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Real photos: gender and children improve, but not solved</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743200"/>
                <a:gridCol w="1188720"/>
                <a:gridCol w="1188720"/>
              </a:tblGrid>
              <a:tr h="457200">
                <a:tc>
                  <a:txBody>
                    <a:bodyPr/>
                    <a:lstStyle/>
                    <a:p>
                      <a:pPr algn="l" indent="0" marL="0">
                        <a:buNone/>
                      </a:pPr>
                      <a:r>
                        <a:rPr lang="en-US" sz="1200" b="1" dirty="0">
                          <a:solidFill>
                            <a:srgbClr val="FFFFFF"/>
                          </a:solidFill>
                        </a:rPr>
                        <a:t>Relative Human, real photos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Base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Final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457200">
                <a:tc>
                  <a:txBody>
                    <a:bodyPr/>
                    <a:lstStyle/>
                    <a:p>
                      <a:pPr algn="l" indent="0" marL="0">
                        <a:buNone/>
                      </a:pPr>
                      <a:r>
                        <a:rPr lang="en-US" sz="1200" b="1" dirty="0">
                          <a:solidFill>
                            <a:srgbClr val="1B2233"/>
                          </a:solidFill>
                        </a:rPr>
                        <a:t>people found (recall)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65%</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57200">
                <a:tc>
                  <a:txBody>
                    <a:bodyPr/>
                    <a:lstStyle/>
                    <a:p>
                      <a:pPr algn="l" indent="0" marL="0">
                        <a:buNone/>
                      </a:pPr>
                      <a:r>
                        <a:rPr lang="en-US" sz="1200" b="1" dirty="0">
                          <a:solidFill>
                            <a:srgbClr val="1B2233"/>
                          </a:solidFill>
                        </a:rPr>
                        <a:t>gender correct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46.5%</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64.2%</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57200">
                <a:tc>
                  <a:txBody>
                    <a:bodyPr/>
                    <a:lstStyle/>
                    <a:p>
                      <a:pPr algn="l" indent="0" marL="0">
                        <a:buNone/>
                      </a:pPr>
                      <a:r>
                        <a:rPr lang="en-US" sz="1200" b="1" dirty="0">
                          <a:solidFill>
                            <a:srgbClr val="1B2233"/>
                          </a:solidFill>
                        </a:rPr>
                        <a:t>children vs adults: ranking quality (AUC, 0.5 = guessing)</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0.61</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0.72</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457200">
                <a:tc>
                  <a:txBody>
                    <a:bodyPr/>
                    <a:lstStyle/>
                    <a:p>
                      <a:pPr algn="l" indent="0" marL="0">
                        <a:buNone/>
                      </a:pPr>
                      <a:r>
                        <a:rPr lang="en-US" sz="1200" b="1" dirty="0">
                          <a:solidFill>
                            <a:srgbClr val="1B2233"/>
                          </a:solidFill>
                        </a:rPr>
                        <a:t>babies below the child line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49%</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child text"/>
          <p:cNvSpPr txBox="1"/>
          <p:nvPr/>
        </p:nvSpPr>
        <p:spPr>
          <a:xfrm>
            <a:off x="5806440" y="1188720"/>
            <a:ext cx="2880360" cy="2651760"/>
          </a:xfrm>
          <a:prstGeom prst="rect">
            <a:avLst/>
          </a:prstGeom>
          <a:noFill/>
          <a:ln/>
        </p:spPr>
        <p:txBody>
          <a:bodyPr wrap="square" lIns="0" tIns="0" rIns="0" bIns="0" rtlCol="0" anchor="t"/>
          <a:lstStyle/>
          <a:p>
            <a:pPr marL="177800" indent="-177800">
              <a:spcAft>
                <a:spcPts val="800"/>
              </a:spcAft>
              <a:buSzPct val="100000"/>
              <a:buChar char="•"/>
            </a:pPr>
            <a:r>
              <a:rPr lang="en-US" sz="1300" b="1" dirty="0">
                <a:solidFill>
                  <a:schemeClr val="tx1"/>
                </a:solidFill>
              </a:rPr>
              <a:t>Base: </a:t>
            </a:r>
            <a:r>
              <a:rPr lang="en-US" sz="1300" dirty="0">
                <a:solidFill>
                  <a:schemeClr val="tx1"/>
                </a:solidFill>
              </a:rPr>
              <a:t>everyone got the average body: gender at chance, children as short adults.</a:t>
            </a:r>
            <a:endParaRPr lang="en-US" sz="1300" dirty="0"/>
          </a:p>
          <a:p>
            <a:pPr marL="177800" indent="-177800">
              <a:spcAft>
                <a:spcPts val="800"/>
              </a:spcAft>
              <a:buSzPct val="100000"/>
              <a:buChar char="•"/>
            </a:pPr>
            <a:r>
              <a:rPr lang="en-US" sz="1300" b="1" dirty="0">
                <a:solidFill>
                  <a:schemeClr val="tx1"/>
                </a:solidFill>
              </a:rPr>
              <a:t>Final: </a:t>
            </a:r>
            <a:r>
              <a:rPr lang="en-US" sz="1300" dirty="0">
                <a:solidFill>
                  <a:schemeClr val="tx1"/>
                </a:solidFill>
              </a:rPr>
              <a:t>women recognised clearly, men still in the middle.</a:t>
            </a:r>
            <a:endParaRPr lang="en-US" sz="1300" dirty="0"/>
          </a:p>
          <a:p>
            <a:pPr marL="177800" indent="-177800">
              <a:spcAft>
                <a:spcPts val="800"/>
              </a:spcAft>
              <a:buSzPct val="100000"/>
              <a:buChar char="•"/>
            </a:pPr>
            <a:r>
              <a:rPr lang="en-US" sz="1300" b="1" dirty="0">
                <a:solidFill>
                  <a:schemeClr val="tx1"/>
                </a:solidFill>
              </a:rPr>
              <a:t>Not solved: </a:t>
            </a:r>
            <a:r>
              <a:rPr lang="en-US" sz="1300" dirty="0">
                <a:solidFill>
                  <a:schemeClr val="tx1"/>
                </a:solidFill>
              </a:rPr>
              <a:t>kids still near adult age; our demo child gets an adult body.</a:t>
            </a:r>
            <a:endParaRPr lang="en-US" sz="1300" dirty="0"/>
          </a:p>
        </p:txBody>
      </p:sp>
      <p:sp>
        <p:nvSpPr>
          <p:cNvPr id="5" name="closing line"/>
          <p:cNvSpPr txBox="1"/>
          <p:nvPr/>
        </p:nvSpPr>
        <p:spPr>
          <a:xfrm>
            <a:off x="457200" y="397764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a measured step forward on real photos, but children are not solved.</a:t>
            </a:r>
            <a:endParaRPr lang="en-US" sz="1400" dirty="0"/>
          </a:p>
        </p:txBody>
      </p:sp>
      <p:sp>
        <p:nvSpPr>
          <p:cNvPr id="6" name="source line"/>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Relative Human val, 635 images, 2,130 people; detected people only; one run each; eval jobs 3611285 / 3612131.</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Result, 19 Oct. </a:t>
            </a:r>
            <a:r>
              <a:rPr lang="en-US" sz="1100" dirty="0">
                <a:solidFill>
                  <a:schemeClr val="tx1"/>
                </a:solidFill>
              </a:rPr>
              <a:t>Partial mask (seven 0.5 constants masked, age kept; jobs 3614042, 3616821): children kept (AUC 0.73, babies 0.47) but gender at chance (47%). So age carries the children; gender likely leans on the constants too (untested). The unmasked model stays the final model and the student's teacher.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hold together against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840480"/>
                <a:gridCol w="1463040"/>
                <a:gridCol w="1463040"/>
                <a:gridCol w="1463040"/>
              </a:tblGrid>
              <a:tr h="292608">
                <a:tc>
                  <a:txBody>
                    <a:bodyPr/>
                    <a:lstStyle/>
                    <a:p>
                      <a:pPr algn="l" indent="0" marL="0">
                        <a:buNone/>
                      </a:pP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Base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Control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Final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502920">
                <a:tc>
                  <a:txBody>
                    <a:bodyPr/>
                    <a:lstStyle/>
                    <a:p>
                      <a:pPr algn="l" indent="0" marL="0">
                        <a:buNone/>
                      </a:pPr>
                      <a:r>
                        <a:rPr lang="en-US" sz="1200" b="1" dirty="0">
                          <a:solidFill>
                            <a:srgbClr val="1B2233"/>
                          </a:solidFill>
                        </a:rPr>
                        <a:t>Synthetic holdout: surface error (PVE) / shape+pose error after alignment (PA-PVE),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 53.3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 / 56.4</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 / 50.3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47472">
                <a:tc>
                  <a:txBody>
                    <a:bodyPr/>
                    <a:lstStyle/>
                    <a:p>
                      <a:pPr algn="l" indent="0" marL="0">
                        <a:buNone/>
                      </a:pPr>
                      <a:r>
                        <a:rPr lang="en-US" sz="1200" b="1" dirty="0">
                          <a:solidFill>
                            <a:srgbClr val="1B2233"/>
                          </a:solidFill>
                        </a:rPr>
                        <a:t>Real 3DPW test: surface error (PVE),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121.8</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91.5</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89.0</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47472">
                <a:tc>
                  <a:txBody>
                    <a:bodyPr/>
                    <a:lstStyle/>
                    <a:p>
                      <a:pPr algn="l" indent="0" marL="0">
                        <a:buNone/>
                      </a:pPr>
                      <a:r>
                        <a:rPr lang="en-US" sz="1200" b="1" dirty="0">
                          <a:solidFill>
                            <a:srgbClr val="1B2233"/>
                          </a:solidFill>
                        </a:rPr>
                        <a:t>Placement error (synthetic holdout)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1.40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0.73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47472">
                <a:tc>
                  <a:txBody>
                    <a:bodyPr/>
                    <a:lstStyle/>
                    <a:p>
                      <a:pPr algn="l" indent="0" marL="0">
                        <a:buNone/>
                      </a:pPr>
                      <a:r>
                        <a:rPr lang="en-US" sz="1200" b="1" dirty="0">
                          <a:solidFill>
                            <a:srgbClr val="1B2233"/>
                          </a:solidFill>
                        </a:rPr>
                        <a:t>Neck / finger bone error (about 180° = flipped)</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C0392B"/>
                          </a:solidFill>
                        </a:rPr>
                        <a:t>175.6° / 17.3°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C0392B"/>
                          </a:solidFill>
                        </a:rPr>
                        <a:t>175.8° / 17.4°</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 / 8.3°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457200" y="3154680"/>
            <a:ext cx="8229600" cy="868680"/>
          </a:xfrm>
          <a:prstGeom prst="rect">
            <a:avLst/>
          </a:prstGeom>
          <a:noFill/>
          <a:ln/>
        </p:spPr>
        <p:txBody>
          <a:bodyPr wrap="square" lIns="0" tIns="0" rIns="0" bIns="0" rtlCol="0" anchor="t"/>
          <a:lstStyle/>
          <a:p>
            <a:pPr marL="177800" indent="-177800">
              <a:spcAft>
                <a:spcPts val="300"/>
              </a:spcAft>
              <a:buSzPct val="100000"/>
              <a:buChar char="•"/>
            </a:pPr>
            <a:r>
              <a:rPr lang="en-US" sz="1300" b="1" dirty="0">
                <a:solidFill>
                  <a:schemeClr val="tx1"/>
                </a:solidFill>
              </a:rPr>
              <a:t>Real photos: </a:t>
            </a:r>
            <a:r>
              <a:rPr lang="en-US" sz="1300" dirty="0">
                <a:solidFill>
                  <a:schemeClr val="tx1"/>
                </a:solidFill>
              </a:rPr>
              <a:t>Final beats Multi-HMR-Anny on 3DPW test, 89.0 vs 126.9 mm.</a:t>
            </a:r>
            <a:endParaRPr lang="en-US" sz="1300" dirty="0"/>
          </a:p>
          <a:p>
            <a:pPr marL="177800" indent="-177800">
              <a:spcAft>
                <a:spcPts val="300"/>
              </a:spcAft>
              <a:buSzPct val="100000"/>
              <a:buChar char="•"/>
            </a:pPr>
            <a:r>
              <a:rPr lang="en-US" sz="1300" b="1" dirty="0">
                <a:solidFill>
                  <a:schemeClr val="tx1"/>
                </a:solidFill>
              </a:rPr>
              <a:t>Most of the gain </a:t>
            </a:r>
            <a:r>
              <a:rPr lang="en-US" sz="1300" dirty="0">
                <a:solidFill>
                  <a:schemeClr val="tx1"/>
                </a:solidFill>
              </a:rPr>
              <a:t>over Base comes from training on 3DPW; Control already gets 91.5.</a:t>
            </a:r>
            <a:endParaRPr lang="en-US" sz="1300" dirty="0"/>
          </a:p>
          <a:p>
            <a:pPr marL="177800" indent="-177800">
              <a:spcAft>
                <a:spcPts val="300"/>
              </a:spcAft>
              <a:buSzPct val="100000"/>
              <a:buChar char="•"/>
            </a:pPr>
            <a:r>
              <a:rPr lang="en-US" sz="1300" b="1" dirty="0">
                <a:solidFill>
                  <a:schemeClr val="tx1"/>
                </a:solidFill>
              </a:rPr>
              <a:t>Cost: </a:t>
            </a:r>
            <a:r>
              <a:rPr lang="en-US" sz="1300" dirty="0">
                <a:solidFill>
                  <a:schemeClr val="tx1"/>
                </a:solidFill>
              </a:rPr>
              <a:t>2 points fewer people found (recall); near/far scaling (1 = right) only 0.42.</a:t>
            </a:r>
            <a:endParaRPr lang="en-US" sz="1300" dirty="0"/>
          </a:p>
        </p:txBody>
      </p:sp>
      <p:sp>
        <p:nvSpPr>
          <p:cNvPr id="5" name="closing line"/>
          <p:cNvSpPr txBox="1"/>
          <p:nvPr/>
        </p:nvSpPr>
        <p:spPr>
          <a:xfrm>
            <a:off x="457200" y="4087368"/>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fixes work together, and Final is our best model on real 3DPW video.</a:t>
            </a:r>
            <a:endParaRPr lang="en-US" sz="1400" dirty="0"/>
          </a:p>
        </p:txBody>
      </p:sp>
      <p:sp>
        <p:nvSpPr>
          <p:cNvPr id="6" name="final source"/>
          <p:cNvSpPr txBox="1"/>
          <p:nvPr/>
        </p:nvSpPr>
        <p:spPr>
          <a:xfrm>
            <a:off x="457200" y="4480560"/>
            <a:ext cx="8229600" cy="219456"/>
          </a:xfrm>
          <a:prstGeom prst="rect">
            <a:avLst/>
          </a:prstGeom>
          <a:noFill/>
          <a:ln/>
        </p:spPr>
        <p:txBody>
          <a:bodyPr wrap="square" lIns="0" tIns="0" rIns="0" bIns="0" rtlCol="0" anchor="t"/>
          <a:lstStyle/>
          <a:p>
            <a:pPr indent="0" marL="0">
              <a:buNone/>
            </a:pPr>
            <a:r>
              <a:rPr lang="en-US" sz="1000" b="1" dirty="0">
                <a:solidFill>
                  <a:srgbClr val="1B2233"/>
                </a:solidFill>
              </a:rPr>
              <a:t>Source: </a:t>
            </a:r>
            <a:r>
              <a:rPr lang="en-US" sz="1000" dirty="0">
                <a:solidFill>
                  <a:schemeClr val="tx2"/>
                </a:solidFill>
              </a:rPr>
              <a:t>exp7 jobs 3611336 (Final), 3611339 (Control); Base: 3612073; Multi-HMR-Anny: 3614192. One run each, no seed (noise ~7.6 mm PVE).</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Real photos by eye: men look male, children still adult</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182880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flat chest, broader shoulders; Base gave them breasts.</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still gets an adult body; hard poses still poor.</a:t>
            </a:r>
            <a:endParaRPr lang="en-US" sz="1400" dirty="0"/>
          </a:p>
          <a:p>
            <a:pPr marL="177800" indent="-177800">
              <a:spcAft>
                <a:spcPts val="800"/>
              </a:spcAft>
              <a:buSzPct val="100000"/>
              <a:buChar char="•"/>
            </a:pPr>
            <a:r>
              <a:rPr lang="en-US" sz="1400" b="1" dirty="0">
                <a:solidFill>
                  <a:schemeClr val="tx1"/>
                </a:solidFill>
              </a:rPr>
              <a:t>Measured: </a:t>
            </a:r>
            <a:r>
              <a:rPr lang="en-US" sz="1400" dirty="0">
                <a:solidFill>
                  <a:schemeClr val="tx1"/>
                </a:solidFill>
              </a:rPr>
              <a:t>gender correct on real photos 46.5% → 64.2% (Relative Human, slide 18).</a:t>
            </a:r>
            <a:endParaRPr lang="en-US" sz="1400" dirty="0"/>
          </a:p>
        </p:txBody>
      </p:sp>
      <p:sp>
        <p:nvSpPr>
          <p:cNvPr id="5" name="closing line"/>
          <p:cNvSpPr txBox="1"/>
          <p:nvPr/>
        </p:nvSpPr>
        <p:spPr>
          <a:xfrm>
            <a:off x="4344497" y="3108960"/>
            <a:ext cx="4342303" cy="731520"/>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the shape change is visible by eye and confirmed by measurement; age is not fixed.</a:t>
            </a:r>
            <a:endParaRPr lang="en-US" sz="1400" dirty="0"/>
          </a:p>
        </p:txBody>
      </p:sp>
      <p:sp>
        <p:nvSpPr>
          <p:cNvPr id="6" name="real photos source"/>
          <p:cNvSpPr txBox="1"/>
          <p:nvPr/>
        </p:nvSpPr>
        <p:spPr>
          <a:xfrm>
            <a:off x="4344497" y="4069080"/>
            <a:ext cx="4342303" cy="594360"/>
          </a:xfrm>
          <a:prstGeom prst="rect">
            <a:avLst/>
          </a:prstGeom>
          <a:noFill/>
          <a:ln/>
        </p:spPr>
        <p:txBody>
          <a:bodyPr wrap="square" lIns="0" tIns="0" rIns="0" bIns="0" rtlCol="0" anchor="b"/>
          <a:lstStyle/>
          <a:p>
            <a:pPr indent="0" marL="0">
              <a:buNone/>
            </a:pPr>
            <a:r>
              <a:rPr lang="en-US" sz="1000" b="1" dirty="0">
                <a:solidFill>
                  <a:srgbClr val="1B2233"/>
                </a:solidFill>
              </a:rPr>
              <a:t>Source: </a:t>
            </a:r>
            <a:r>
              <a:rPr lang="en-US" sz="1000" dirty="0">
                <a:solidFill>
                  <a:schemeClr val="tx2"/>
                </a:solidFill>
              </a:rPr>
              <a:t>demo job 3612078, 4 photos + 8 3DPW-test frames, never trained on; left v5 = Base, right Final. Pictures judged by eye; the gender line is measured (job 3612131).</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Requirements: data done, pose and shape partly, 1b open</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03120"/>
                <a:gridCol w="1188720"/>
                <a:gridCol w="2926080"/>
                <a:gridCol w="2011680"/>
              </a:tblGrid>
              <a:tr h="274320">
                <a:tc>
                  <a:txBody>
                    <a:bodyPr/>
                    <a:lstStyle/>
                    <a:p>
                      <a:pPr algn="l" indent="0" marL="0">
                        <a:buNone/>
                      </a:pPr>
                      <a:r>
                        <a:rPr lang="en-US" sz="1100" b="1" dirty="0">
                          <a:solidFill>
                            <a:srgbClr val="FFFFFF"/>
                          </a:solidFill>
                        </a:rPr>
                        <a:t>requirement</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status</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evidence</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next</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02920">
                <a:tc>
                  <a:txBody>
                    <a:bodyPr/>
                    <a:lstStyle/>
                    <a:p>
                      <a:pPr algn="l" indent="0" marL="0">
                        <a:buNone/>
                      </a:pPr>
                      <a:r>
                        <a:rPr lang="en-US" sz="1100" b="1" dirty="0">
                          <a:solidFill>
                            <a:srgbClr val="1B2233"/>
                          </a:solidFill>
                        </a:rPr>
                        <a:t>1a  pose correct</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E8792B"/>
                          </a:solidFill>
                        </a:rPr>
                        <a:t>partly</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neck and fingers fixed; best 3DPW test error, 89.0 mm</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near/far depth, placement, hard poses</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02920">
                <a:tc>
                  <a:txBody>
                    <a:bodyPr/>
                    <a:lstStyle/>
                    <a:p>
                      <a:pPr algn="l" indent="0" marL="0">
                        <a:buNone/>
                      </a:pPr>
                      <a:r>
                        <a:rPr lang="en-US" sz="1100" b="1" dirty="0">
                          <a:solidFill>
                            <a:srgbClr val="1B2233"/>
                          </a:solidFill>
                        </a:rPr>
                        <a:t>1a  shape changes per person</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b="1" dirty="0">
                          <a:solidFill>
                            <a:srgbClr val="E8792B"/>
                          </a:solidFill>
                        </a:rPr>
                        <a:t>partly, at risk</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gender yes (64% on real photos); muscle, weight stuck near 0.5</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free shape without losing gender</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02920">
                <a:tc>
                  <a:txBody>
                    <a:bodyPr/>
                    <a:lstStyle/>
                    <a:p>
                      <a:pPr algn="l" indent="0" marL="0">
                        <a:buNone/>
                      </a:pPr>
                      <a:r>
                        <a:rPr lang="en-US" sz="1100" b="1" dirty="0">
                          <a:solidFill>
                            <a:srgbClr val="1B2233"/>
                          </a:solidFill>
                        </a:rPr>
                        <a:t>1b  not exactly Multi-HMR</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0392B"/>
                          </a:solidFill>
                        </a:rPr>
                        <a:t>not met</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Student misses the 95% bar on both test sets</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your choice of reference (slide 24)</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02920">
                <a:tc>
                  <a:txBody>
                    <a:bodyPr/>
                    <a:lstStyle/>
                    <a:p>
                      <a:pPr algn="l" indent="0" marL="0">
                        <a:buNone/>
                      </a:pPr>
                      <a:r>
                        <a:rPr lang="en-US" sz="1100" b="1" dirty="0">
                          <a:solidFill>
                            <a:srgbClr val="1B2233"/>
                          </a:solidFill>
                        </a:rPr>
                        <a:t>1c, 2a  3DPW in Anny space, used in training</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b="1" dirty="0">
                          <a:solidFill>
                            <a:srgbClr val="3BA55D"/>
                          </a:solidFill>
                        </a:rPr>
                        <a:t>met</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labels pass our check; 30% of every training batch</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state the limits in the thesis</a:t>
                      </a:r>
                      <a:endParaRPr lang="en-US" sz="11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other requirements"/>
          <p:cNvSpPr txBox="1"/>
          <p:nvPr/>
        </p:nvSpPr>
        <p:spPr>
          <a:xfrm>
            <a:off x="457200" y="3520440"/>
            <a:ext cx="8229600" cy="64008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tx1"/>
                </a:solidFill>
              </a:rPr>
              <a:t>2b temporal: </a:t>
            </a:r>
            <a:r>
              <a:rPr lang="en-US" sz="1400" dirty="0">
                <a:solidFill>
                  <a:schemeClr val="tx1"/>
                </a:solidFill>
              </a:rPr>
              <a:t>not started; a video refiner is planned for weeks 5–6.</a:t>
            </a:r>
            <a:endParaRPr lang="en-US" sz="1400" dirty="0"/>
          </a:p>
          <a:p>
            <a:pPr marL="177800" indent="-177800">
              <a:spcAft>
                <a:spcPts val="400"/>
              </a:spcAft>
              <a:buSzPct val="100000"/>
              <a:buChar char="•"/>
            </a:pPr>
            <a:r>
              <a:rPr lang="en-US" sz="1400" b="1" dirty="0">
                <a:solidFill>
                  <a:schemeClr val="tx1"/>
                </a:solidFill>
              </a:rPr>
              <a:t>3 report and code: </a:t>
            </a:r>
            <a:r>
              <a:rPr lang="en-US" sz="1400" dirty="0">
                <a:solidFill>
                  <a:schemeClr val="tx1"/>
                </a:solidFill>
              </a:rPr>
              <a:t>92-page draft done; code clean-up and model release to do.</a:t>
            </a:r>
            <a:endParaRPr lang="en-US" sz="1400" dirty="0"/>
          </a:p>
        </p:txBody>
      </p:sp>
      <p:sp>
        <p:nvSpPr>
          <p:cNvPr id="5" name="closing line"/>
          <p:cNvSpPr txBox="1"/>
          <p:nvPr/>
        </p:nvSpPr>
        <p:spPr>
          <a:xfrm>
            <a:off x="457200" y="420624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two requirements met; 1b depends on your choice of reference, and video has not started.</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Student: three times smaller, but misses the 95% bar</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377440"/>
                <a:gridCol w="1371600"/>
                <a:gridCol w="2240280"/>
                <a:gridCol w="2240280"/>
              </a:tblGrid>
              <a:tr h="347472">
                <a:tc>
                  <a:txBody>
                    <a:bodyPr/>
                    <a:lstStyle/>
                    <a:p>
                      <a:pPr algn="l" indent="0" marL="0">
                        <a:buNone/>
                      </a:pPr>
                      <a:r>
                        <a:rPr lang="en-US" sz="1200" b="1" dirty="0">
                          <a:solidFill>
                            <a:srgbClr val="FFFFFF"/>
                          </a:solidFill>
                        </a:rPr>
                        <a:t>model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parameters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holdout surface error (PVE)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3DPW test surface error (PVE)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47472">
                <a:tc>
                  <a:txBody>
                    <a:bodyPr/>
                    <a:lstStyle/>
                    <a:p>
                      <a:pPr algn="l" indent="0" marL="0">
                        <a:buNone/>
                      </a:pPr>
                      <a:r>
                        <a:rPr lang="en-US" sz="1200" b="1" dirty="0">
                          <a:solidFill>
                            <a:srgbClr val="1B2233"/>
                          </a:solidFill>
                        </a:rPr>
                        <a:t>Final (the teacher)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318.4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73.7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B2233"/>
                          </a:solidFill>
                        </a:rPr>
                        <a:t>Student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1B2233"/>
                          </a:solidFill>
                        </a:rPr>
                        <a:t>101.4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1B2233"/>
                          </a:solidFill>
                        </a:rPr>
                        <a:t>119.6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1B2233"/>
                          </a:solidFill>
                        </a:rPr>
                        <a:t>110.1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347472">
                <a:tc>
                  <a:txBody>
                    <a:bodyPr/>
                    <a:lstStyle/>
                    <a:p>
                      <a:pPr algn="l" indent="0" marL="0">
                        <a:buNone/>
                      </a:pPr>
                      <a:r>
                        <a:rPr lang="en-US" sz="1200" b="1" dirty="0">
                          <a:solidFill>
                            <a:srgbClr val="1B2233"/>
                          </a:solidFill>
                        </a:rPr>
                        <a:t>Multi-HMR-Anny (NAVER)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380.9 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60.3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126.9 mm</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1B2233"/>
                          </a:solidFill>
                        </a:rPr>
                        <a:t>95% bar against Final</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 77.6: missed</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 93.7: missed</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distill text"/>
          <p:cNvSpPr txBox="1"/>
          <p:nvPr/>
        </p:nvSpPr>
        <p:spPr>
          <a:xfrm>
            <a:off x="457200" y="2926080"/>
            <a:ext cx="8229600" cy="96012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tx1"/>
                </a:solidFill>
              </a:rPr>
              <a:t>Student: </a:t>
            </a:r>
            <a:r>
              <a:rPr lang="en-US" sz="1300" dirty="0">
                <a:solidFill>
                  <a:schemeClr val="tx1"/>
                </a:solidFill>
              </a:rPr>
              <a:t>a small model taught by the big one (Final); 3.14× smaller, 2.10× faster.</a:t>
            </a:r>
            <a:endParaRPr lang="en-US" sz="1300" dirty="0"/>
          </a:p>
          <a:p>
            <a:pPr marL="177800" indent="-177800">
              <a:spcAft>
                <a:spcPts val="400"/>
              </a:spcAft>
              <a:buSzPct val="100000"/>
              <a:buChar char="•"/>
            </a:pPr>
            <a:r>
              <a:rPr lang="en-US" sz="1300" b="1" dirty="0">
                <a:solidFill>
                  <a:schemeClr val="tx1"/>
                </a:solidFill>
              </a:rPr>
              <a:t>Against Final: </a:t>
            </a:r>
            <a:r>
              <a:rPr lang="en-US" sz="1300" dirty="0">
                <a:solidFill>
                  <a:schemeClr val="tx1"/>
                </a:solidFill>
              </a:rPr>
              <a:t>both 95% bars missed; against Multi-HMR-Anny it wins on 3DPW (110.1 vs 126.9).</a:t>
            </a:r>
            <a:endParaRPr lang="en-US" sz="1300" dirty="0"/>
          </a:p>
          <a:p>
            <a:pPr marL="177800" indent="-177800">
              <a:spcAft>
                <a:spcPts val="400"/>
              </a:spcAft>
              <a:buSzPct val="100000"/>
              <a:buChar char="•"/>
            </a:pPr>
            <a:r>
              <a:rPr lang="en-US" sz="1300" b="1" dirty="0">
                <a:solidFill>
                  <a:schemeClr val="tx1"/>
                </a:solidFill>
              </a:rPr>
              <a:t>Bars against Multi-HMR-Anny </a:t>
            </a:r>
            <a:r>
              <a:rPr lang="en-US" sz="1300" dirty="0">
                <a:solidFill>
                  <a:schemeClr val="tx1"/>
                </a:solidFill>
              </a:rPr>
              <a:t>(63.5, 133.6 mm): 3DPW met with 3.76× fewer parameters, holdout missed.</a:t>
            </a:r>
            <a:endParaRPr lang="en-US" sz="1300" dirty="0"/>
          </a:p>
        </p:txBody>
      </p:sp>
      <p:sp>
        <p:nvSpPr>
          <p:cNvPr id="5" name="closing line"/>
          <p:cNvSpPr txBox="1"/>
          <p:nvPr/>
        </p:nvSpPr>
        <p:spPr>
          <a:xfrm>
            <a:off x="457200" y="3959352"/>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against Final, 1b is not met; against Multi-HMR-Anny it may be. Your call (slide 26).</a:t>
            </a:r>
            <a:endParaRPr lang="en-US" sz="1400" dirty="0"/>
          </a:p>
        </p:txBody>
      </p:sp>
      <p:sp>
        <p:nvSpPr>
          <p:cNvPr id="6" name="source line"/>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950" b="1" dirty="0">
                <a:solidFill>
                  <a:srgbClr val="1B2233"/>
                </a:solidFill>
              </a:rPr>
              <a:t>Source: </a:t>
            </a:r>
            <a:r>
              <a:rPr lang="en-US" sz="950" dirty="0">
                <a:solidFill>
                  <a:schemeClr val="tx2"/>
                </a:solidFill>
              </a:rPr>
              <a:t>*probably seen in training: Multi-HMR-Anny trained on all of AnnyOne. Parameters measured; 2.10× = 28.5 vs 59.7 ms on one L40S. Jobs: Student 3614191; Multi-HMR-Anny 3614192, 3614947.</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part 1 by 15 Nov, then video and writing</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685800"/>
                <a:gridCol w="1417320"/>
                <a:gridCol w="5120640"/>
                <a:gridCol w="1005840"/>
              </a:tblGrid>
              <a:tr h="292608">
                <a:tc>
                  <a:txBody>
                    <a:bodyPr/>
                    <a:lstStyle/>
                    <a:p>
                      <a:pPr algn="l" indent="0" marL="0">
                        <a:buNone/>
                      </a:pPr>
                      <a:r>
                        <a:rPr lang="en-US" sz="1200" b="1" dirty="0">
                          <a:solidFill>
                            <a:srgbClr val="FFFFFF"/>
                          </a:solidFill>
                        </a:rPr>
                        <a:t>weeks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200" b="1" dirty="0">
                          <a:solidFill>
                            <a:srgbClr val="FFFFFF"/>
                          </a:solidFill>
                        </a:rPr>
                        <a:t>dates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200" b="1" dirty="0">
                          <a:solidFill>
                            <a:srgbClr val="FFFFFF"/>
                          </a:solidFill>
                        </a:rPr>
                        <a:t>what happens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200" b="1" dirty="0">
                          <a:solidFill>
                            <a:srgbClr val="FFFFFF"/>
                          </a:solidFill>
                        </a:rPr>
                        <a:t>for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38912">
                <a:tc>
                  <a:txBody>
                    <a:bodyPr/>
                    <a:lstStyle/>
                    <a:p>
                      <a:pPr algn="l" indent="0" marL="0">
                        <a:buNone/>
                      </a:pPr>
                      <a:r>
                        <a:rPr lang="en-US" sz="1200" b="1" dirty="0">
                          <a:solidFill>
                            <a:srgbClr val="1B2233"/>
                          </a:solidFill>
                        </a:rPr>
                        <a:t>1–2</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19 Oct – 1 Nov</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Shape statistics on AnnyOne; joint error; Method and Data chapters</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1a, 1b, 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233"/>
                          </a:solidFill>
                        </a:rPr>
                        <a:t>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2–8 Nov</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Train the Student longer, if you agree (Q1); confidence intervals; Experiments chapter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1b, 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38912">
                <a:tc>
                  <a:txBody>
                    <a:bodyPr/>
                    <a:lstStyle/>
                    <a:p>
                      <a:pPr algn="l" indent="0" marL="0">
                        <a:buNone/>
                      </a:pPr>
                      <a:r>
                        <a:rPr lang="en-US" sz="1200" b="1" dirty="0">
                          <a:solidFill>
                            <a:srgbClr val="1B2233"/>
                          </a:solidFill>
                        </a:rPr>
                        <a:t>4</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9–15 Nov</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One final table for every model; freeze the numbers; start the model release</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233"/>
                          </a:solidFill>
                        </a:rPr>
                        <a:t>1b, 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233"/>
                          </a:solidFill>
                        </a:rPr>
                        <a:t>5–8</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16 Nov – 13 Dec</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Video (temporal) refiner in weeks 5–6; then writing, code clean-up, talk; week 8 buffer</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200" dirty="0">
                          <a:solidFill>
                            <a:srgbClr val="1B2233"/>
                          </a:solidFill>
                        </a:rPr>
                        <a:t>2b, 3</a:t>
                      </a:r>
                      <a:endParaRPr lang="en-US" sz="1200" dirty="0"/>
                    </a:p>
                  </a:txBody>
                  <a:tcPr marL="73152" marR="73152" marT="27432" marB="27432"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plan bullets"/>
          <p:cNvSpPr txBox="1"/>
          <p:nvPr/>
        </p:nvSpPr>
        <p:spPr>
          <a:xfrm>
            <a:off x="457200" y="3337560"/>
            <a:ext cx="8229600" cy="64008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chemeClr val="tx1"/>
                </a:solidFill>
              </a:rPr>
              <a:t>Already done: </a:t>
            </a:r>
            <a:r>
              <a:rPr lang="en-US" sz="1400" dirty="0">
                <a:solidFill>
                  <a:schemeClr val="tx1"/>
                </a:solidFill>
              </a:rPr>
              <a:t>Multi-HMR-Anny baseline, partial-mask run, Student result, finger demos.</a:t>
            </a:r>
            <a:endParaRPr lang="en-US" sz="1400" dirty="0"/>
          </a:p>
          <a:p>
            <a:pPr marL="177800" indent="-177800">
              <a:spcAft>
                <a:spcPts val="400"/>
              </a:spcAft>
              <a:buSzPct val="100000"/>
              <a:buChar char="•"/>
            </a:pPr>
            <a:r>
              <a:rPr lang="en-US" sz="1400" b="1" dirty="0">
                <a:solidFill>
                  <a:schemeClr val="tx1"/>
                </a:solidFill>
              </a:rPr>
              <a:t>Dropped: </a:t>
            </a:r>
            <a:r>
              <a:rPr lang="en-US" sz="1400" dirty="0">
                <a:solidFill>
                  <a:schemeClr val="tx1"/>
                </a:solidFill>
              </a:rPr>
              <a:t>ViT-S student, children sampler runs, near/far scaling study (now a stated limit).</a:t>
            </a:r>
            <a:endParaRPr lang="en-US" sz="1400" dirty="0"/>
          </a:p>
        </p:txBody>
      </p:sp>
      <p:sp>
        <p:nvSpPr>
          <p:cNvPr id="5" name="closing line"/>
          <p:cNvSpPr txBox="1"/>
          <p:nvPr/>
        </p:nvSpPr>
        <p:spPr>
          <a:xfrm>
            <a:off x="457200" y="4069080"/>
            <a:ext cx="8229600" cy="329184"/>
          </a:xfrm>
          <a:prstGeom prst="rect">
            <a:avLst/>
          </a:prstGeom>
          <a:noFill/>
          <a:ln/>
        </p:spPr>
        <p:txBody>
          <a:bodyPr wrap="square" lIns="0" tIns="0" rIns="0" bIns="0" rtlCol="0" anchor="t"/>
          <a:lstStyle/>
          <a:p>
            <a:pPr indent="0" marL="0">
              <a:buNone/>
            </a:pPr>
            <a:r>
              <a:rPr lang="en-US" sz="1400" b="1" dirty="0">
                <a:solidFill>
                  <a:srgbClr val="1B2233"/>
                </a:solidFill>
              </a:rPr>
              <a:t>What this means: </a:t>
            </a:r>
            <a:r>
              <a:rPr lang="en-US" sz="1400" dirty="0">
                <a:solidFill>
                  <a:schemeClr val="tx1"/>
                </a:solidFill>
              </a:rPr>
              <a:t>four weeks for part 1, two for video, two for writing and buffer.</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The fixes are measured; four questions decide what is next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rgbClr val="F4C95D"/>
                </a:solidFill>
              </a:rPr>
              <a:t>Claimed, measured: </a:t>
            </a:r>
            <a:r>
              <a:rPr lang="en-US" sz="1500" dirty="0">
                <a:solidFill>
                  <a:schemeClr val="bg2"/>
                </a:solidFill>
              </a:rPr>
              <a:t>depth bug, flipped neck and finger bones, 3DPW label defects; all fixed.</a:t>
            </a:r>
            <a:endParaRPr lang="en-US" sz="1500" dirty="0"/>
          </a:p>
          <a:p>
            <a:pPr algn="l" marL="177800" indent="-177800">
              <a:spcAft>
                <a:spcPts val="600"/>
              </a:spcAft>
              <a:buSzPct val="100000"/>
              <a:buChar char="•"/>
            </a:pPr>
            <a:r>
              <a:rPr lang="en-US" sz="1500" b="1" dirty="0">
                <a:solidFill>
                  <a:srgbClr val="F4C95D"/>
                </a:solidFill>
              </a:rPr>
              <a:t>Claimed: </a:t>
            </a:r>
            <a:r>
              <a:rPr lang="en-US" sz="1500" dirty="0">
                <a:solidFill>
                  <a:schemeClr val="bg2"/>
                </a:solidFill>
              </a:rPr>
              <a:t>Final has our best 3DPW test surface error (PVE), 89.0 mm (Base 121.8).</a:t>
            </a:r>
            <a:endParaRPr lang="en-US" sz="1500" dirty="0"/>
          </a:p>
          <a:p>
            <a:pPr algn="l" marL="177800" indent="-177800">
              <a:spcAft>
                <a:spcPts val="600"/>
              </a:spcAft>
              <a:buSzPct val="100000"/>
              <a:buChar char="•"/>
            </a:pPr>
            <a:r>
              <a:rPr lang="en-US" sz="1500" b="1" dirty="0">
                <a:solidFill>
                  <a:srgbClr val="F4C95D"/>
                </a:solidFill>
              </a:rPr>
              <a:t>Not claimed: </a:t>
            </a:r>
            <a:r>
              <a:rPr lang="en-US" sz="1500" dirty="0">
                <a:solidFill>
                  <a:schemeClr val="bg2"/>
                </a:solidFill>
              </a:rPr>
              <a:t>proof over several runs, solved children, correct near/far depth, a non-Multi-HMR model.</a:t>
            </a:r>
            <a:endParaRPr lang="en-US" sz="1500" dirty="0"/>
          </a:p>
          <a:p>
            <a:pPr algn="l" indent="0" marL="0">
              <a:spcBef>
                <a:spcPts val="600"/>
              </a:spcBef>
              <a:buNone/>
            </a:pPr>
            <a:r>
              <a:rPr lang="en-US" sz="1500" b="1" dirty="0">
                <a:solidFill>
                  <a:srgbClr val="F4C95D"/>
                </a:solidFill>
              </a:rPr>
              <a:t>What this means: </a:t>
            </a:r>
            <a:r>
              <a:rPr lang="en-US" sz="1500" dirty="0">
                <a:solidFill>
                  <a:schemeClr val="bg2"/>
                </a:solidFill>
              </a:rPr>
              <a:t>the fixes are real; the next steps depend on your answers below.</a:t>
            </a:r>
            <a:endParaRPr lang="en-US" sz="1500" dirty="0"/>
          </a:p>
        </p:txBody>
      </p:sp>
      <p:graphicFrame>
        <p:nvGraphicFramePr>
          <p:cNvPr id="27" name="question table"/>
          <p:cNvGraphicFramePr>
            <a:graphicFrameLocks noGrp="1"/>
          </p:cNvGraphicFramePr>
          <p:nvPr>
            <p:extLst>
              <p:ext uri="{D42A27DB-BD31-4B8C-83A1-F6EECF244321}">
                <p14:modId xmlns:p14="http://schemas.microsoft.com/office/powerpoint/2010/main" val="1579011935"/>
              </p:ext>
            </p:extLst>
          </p:nvPr>
        </p:nvGraphicFramePr>
        <p:xfrm>
          <a:off x="548640" y="3310128"/>
          <a:ext cx="8046720" cy="914400"/>
        </p:xfrm>
        <a:graphic>
          <a:graphicData uri="http://schemas.openxmlformats.org/drawingml/2006/table">
            <a:tbl>
              <a:tblPr/>
              <a:tblGrid>
                <a:gridCol w="411480"/>
                <a:gridCol w="7635240"/>
              </a:tblGrid>
              <a:tr h="265176">
                <a:tc>
                  <a:txBody>
                    <a:bodyPr/>
                    <a:lstStyle/>
                    <a:p>
                      <a:pPr algn="ctr" indent="0" marL="0">
                        <a:buNone/>
                      </a:pPr>
                      <a:r>
                        <a:rPr lang="en-US" sz="1200" b="1" dirty="0">
                          <a:solidFill>
                            <a:srgbClr val="F4C95D"/>
                          </a:solidFill>
                        </a:rPr>
                        <a:t>#</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c>
                  <a:txBody>
                    <a:bodyPr/>
                    <a:lstStyle/>
                    <a:p>
                      <a:pPr algn="l" indent="0" marL="0">
                        <a:buNone/>
                      </a:pPr>
                      <a:r>
                        <a:rPr lang="en-US" sz="1200" b="1" dirty="0">
                          <a:solidFill>
                            <a:srgbClr val="F4C95D"/>
                          </a:solidFill>
                        </a:rPr>
                        <a:t>Questions for you</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r>
              <a:tr h="265176">
                <a:tc>
                  <a:txBody>
                    <a:bodyPr/>
                    <a:lstStyle/>
                    <a:p>
                      <a:pPr algn="ctr" indent="0" marL="0">
                        <a:buNone/>
                      </a:pPr>
                      <a:r>
                        <a:rPr lang="en-US" sz="1200" b="1" dirty="0">
                          <a:solidFill>
                            <a:srgbClr val="F4C95D"/>
                          </a:solidFill>
                        </a:rPr>
                        <a:t>1</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B3550"/>
                    </a:solidFill>
                  </a:tcPr>
                </a:tc>
                <a:tc>
                  <a:txBody>
                    <a:bodyPr/>
                    <a:lstStyle/>
                    <a:p>
                      <a:pPr algn="l" indent="0" marL="0">
                        <a:buNone/>
                      </a:pPr>
                      <a:r>
                        <a:rPr lang="en-US" sz="1200" dirty="0">
                          <a:solidFill>
                            <a:srgbClr val="EEF2F7"/>
                          </a:solidFill>
                        </a:rPr>
                        <a:t>(1b) 95% bar against Final, Multi-HMR-Anny, or both? Does a smaller student count?</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B3550"/>
                    </a:solidFill>
                  </a:tcPr>
                </a:tc>
              </a:tr>
              <a:tr h="265176">
                <a:tc>
                  <a:txBody>
                    <a:bodyPr/>
                    <a:lstStyle/>
                    <a:p>
                      <a:pPr algn="ctr" indent="0" marL="0">
                        <a:buNone/>
                      </a:pPr>
                      <a:r>
                        <a:rPr lang="en-US" sz="1200" b="1" dirty="0">
                          <a:solidFill>
                            <a:srgbClr val="F4C95D"/>
                          </a:solidFill>
                        </a:rPr>
                        <a:t>2</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c>
                  <a:txBody>
                    <a:bodyPr/>
                    <a:lstStyle/>
                    <a:p>
                      <a:pPr algn="l" indent="0" marL="0">
                        <a:buNone/>
                      </a:pPr>
                      <a:r>
                        <a:rPr lang="en-US" sz="1200" dirty="0">
                          <a:solidFill>
                            <a:srgbClr val="EEF2F7"/>
                          </a:solidFill>
                        </a:rPr>
                        <a:t>(2b) Does a video refiner on frozen per-frame features count as “understands motion”?</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r>
              <a:tr h="265176">
                <a:tc>
                  <a:txBody>
                    <a:bodyPr/>
                    <a:lstStyle/>
                    <a:p>
                      <a:pPr algn="ctr" indent="0" marL="0">
                        <a:buNone/>
                      </a:pPr>
                      <a:r>
                        <a:rPr lang="en-US" sz="1200" b="1" dirty="0">
                          <a:solidFill>
                            <a:srgbClr val="F4C95D"/>
                          </a:solidFill>
                        </a:rPr>
                        <a:t>3</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B3550"/>
                    </a:solidFill>
                  </a:tcPr>
                </a:tc>
                <a:tc>
                  <a:txBody>
                    <a:bodyPr/>
                    <a:lstStyle/>
                    <a:p>
                      <a:pPr algn="l" indent="0" marL="0">
                        <a:buNone/>
                      </a:pPr>
                      <a:r>
                        <a:rPr lang="en-US" sz="1200" dirty="0">
                          <a:solidFill>
                            <a:srgbClr val="EEF2F7"/>
                          </a:solidFill>
                        </a:rPr>
                        <a:t>Children: a stated limitation, or 1–2 weeks of weak age labels from Relative Human?</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B3550"/>
                    </a:solidFill>
                  </a:tcPr>
                </a:tc>
              </a:tr>
              <a:tr h="265176">
                <a:tc>
                  <a:txBody>
                    <a:bodyPr/>
                    <a:lstStyle/>
                    <a:p>
                      <a:pPr algn="ctr" indent="0" marL="0">
                        <a:buNone/>
                      </a:pPr>
                      <a:r>
                        <a:rPr lang="en-US" sz="1200" b="1" dirty="0">
                          <a:solidFill>
                            <a:srgbClr val="F4C95D"/>
                          </a:solidFill>
                        </a:rPr>
                        <a:t>4</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c>
                  <a:txBody>
                    <a:bodyPr/>
                    <a:lstStyle/>
                    <a:p>
                      <a:pPr algn="l" indent="0" marL="0">
                        <a:buNone/>
                      </a:pPr>
                      <a:r>
                        <a:rPr lang="en-US" sz="1200" dirty="0">
                          <a:solidFill>
                            <a:srgbClr val="EEF2F7"/>
                          </a:solidFill>
                        </a:rPr>
                        <a:t>When is the submission date?</a:t>
                      </a:r>
                      <a:endParaRPr lang="en-US" sz="1200" dirty="0"/>
                    </a:p>
                  </a:txBody>
                  <a:tcPr marL="73152" marR="73152" marT="18288" marB="18288" anchor="ctr">
                    <a:lnL w="12700" cap="flat" cmpd="sng" algn="ctr">
                      <a:solidFill>
                        <a:srgbClr val="1B2233"/>
                      </a:solidFill>
                      <a:prstDash val="solid"/>
                      <a:round/>
                      <a:headEnd type="none" w="med" len="med"/>
                      <a:tailEnd type="none" w="med" len="med"/>
                    </a:lnL>
                    <a:lnR w="12700" cap="flat" cmpd="sng" algn="ctr">
                      <a:solidFill>
                        <a:srgbClr val="1B2233"/>
                      </a:solidFill>
                      <a:prstDash val="solid"/>
                      <a:round/>
                      <a:headEnd type="none" w="med" len="med"/>
                      <a:tailEnd type="none" w="med" len="med"/>
                    </a:lnR>
                    <a:lnT w="12700" cap="flat" cmpd="sng" algn="ctr">
                      <a:solidFill>
                        <a:srgbClr val="1B2233"/>
                      </a:solidFill>
                      <a:prstDash val="solid"/>
                      <a:round/>
                      <a:headEnd type="none" w="med" len="med"/>
                      <a:tailEnd type="none" w="med" len="med"/>
                    </a:lnT>
                    <a:lnB w="12700" cap="flat" cmpd="sng" algn="ctr">
                      <a:solidFill>
                        <a:srgbClr val="1B2233"/>
                      </a:solidFill>
                      <a:prstDash val="solid"/>
                      <a:round/>
                      <a:headEnd type="none" w="med" len="med"/>
                      <a:tailEnd type="none" w="med" len="med"/>
                    </a:lnB>
                    <a:solidFill>
                      <a:srgbClr val="243049"/>
                    </a:solidFill>
                  </a:tcPr>
                </a:tc>
              </a:tr>
            </a:tbl>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by eye on slide 31;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3BA55D"/>
          </a:solidFill>
          <a:ln w="12700">
            <a:solidFill>
              <a:srgbClr val="3BA55D"/>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Done: </a:t>
            </a:r>
            <a:r>
              <a:rPr lang="en-US" sz="1200" dirty="0">
                <a:solidFill>
                  <a:schemeClr val="tx2"/>
                </a:solidFill>
              </a:rPr>
              <a:t>the thesis draft uses 70.5 / 73.7 mm.</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(done; not adopted)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done, 119.6 / 110.1 mm (smoke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Real photos: predicted fingers and rest-pose line-up</a:t>
            </a:r>
            <a:endParaRPr lang="en-US" sz="2700" dirty="0"/>
          </a:p>
        </p:txBody>
      </p:sp>
      <p:sp>
        <p:nvSpPr>
          <p:cNvPr id="3" name="header Base 1.45"/>
          <p:cNvSpPr txBox="1"/>
          <p:nvPr/>
        </p:nvSpPr>
        <p:spPr>
          <a:xfrm>
            <a:off x="1325880" y="1143000"/>
            <a:ext cx="1170709"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4" name="header Final 2.77"/>
          <p:cNvSpPr txBox="1"/>
          <p:nvPr/>
        </p:nvSpPr>
        <p:spPr>
          <a:xfrm>
            <a:off x="2532611" y="1143000"/>
            <a:ext cx="1170709"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pic>
        <p:nvPicPr>
          <p:cNvPr id="5" name="figure fingers_base_vs_final.jpg" descr="Predicted fingers on real photos, Base left and Final right: a party photo (top) and the 3DPW guitar frame (bottom); Base's fingers splayed, Final's closed and bent">    </p:cNvPr>
          <p:cNvPicPr>
            <a:picLocks noChangeAspect="1"/>
          </p:cNvPicPr>
          <p:nvPr/>
        </p:nvPicPr>
        <p:blipFill>
          <a:blip r:embed="rId1"/>
          <a:stretch>
            <a:fillRect/>
          </a:stretch>
        </p:blipFill>
        <p:spPr>
          <a:xfrm>
            <a:off x="1325880" y="1444752"/>
            <a:ext cx="2377440" cy="2377440"/>
          </a:xfrm>
          <a:prstGeom prst="rect">
            <a:avLst/>
          </a:prstGeom>
        </p:spPr>
      </p:pic>
      <p:sp>
        <p:nvSpPr>
          <p:cNvPr id="6" name="row label Party photo"/>
          <p:cNvSpPr txBox="1"/>
          <p:nvPr/>
        </p:nvSpPr>
        <p:spPr>
          <a:xfrm>
            <a:off x="457200" y="1444752"/>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Party photo</a:t>
            </a:r>
            <a:endParaRPr lang="en-US" sz="1000" dirty="0"/>
          </a:p>
        </p:txBody>
      </p:sp>
      <p:sp>
        <p:nvSpPr>
          <p:cNvPr id="7" name="row label 3DPW test: guitar"/>
          <p:cNvSpPr txBox="1"/>
          <p:nvPr/>
        </p:nvSpPr>
        <p:spPr>
          <a:xfrm>
            <a:off x="457200" y="2651483"/>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3DPW test: guitar</a:t>
            </a:r>
            <a:endParaRPr lang="en-US" sz="1000" dirty="0"/>
          </a:p>
        </p:txBody>
      </p:sp>
      <p:sp>
        <p:nvSpPr>
          <p:cNvPr id="8" name="caption Predicted fingers, zoomed (job 3615018)"/>
          <p:cNvSpPr txBox="1"/>
          <p:nvPr/>
        </p:nvSpPr>
        <p:spPr>
          <a:xfrm>
            <a:off x="1325880" y="3849624"/>
            <a:ext cx="2377440" cy="182880"/>
          </a:xfrm>
          <a:prstGeom prst="rect">
            <a:avLst/>
          </a:prstGeom>
          <a:noFill/>
          <a:ln/>
        </p:spPr>
        <p:txBody>
          <a:bodyPr wrap="square" lIns="0" tIns="0" rIns="0" bIns="0" rtlCol="0" anchor="t"/>
          <a:lstStyle/>
          <a:p>
            <a:pPr algn="ctr" indent="0" marL="0">
              <a:buNone/>
            </a:pPr>
            <a:r>
              <a:rPr lang="en-US" sz="1000" dirty="0">
                <a:solidFill>
                  <a:schemeClr val="tx2"/>
                </a:solidFill>
              </a:rPr>
              <a:t>Predicted fingers, zoomed (job 3615018)</a:t>
            </a:r>
            <a:endParaRPr lang="en-US" sz="1000" dirty="0"/>
          </a:p>
        </p:txBody>
      </p:sp>
      <p:sp>
        <p:nvSpPr>
          <p:cNvPr id="9" name="header Base 4.80"/>
          <p:cNvSpPr txBox="1"/>
          <p:nvPr/>
        </p:nvSpPr>
        <p:spPr>
          <a:xfrm>
            <a:off x="4389120" y="1143000"/>
            <a:ext cx="1410436"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10" name="header Final 6.38"/>
          <p:cNvSpPr txBox="1"/>
          <p:nvPr/>
        </p:nvSpPr>
        <p:spPr>
          <a:xfrm>
            <a:off x="5832742" y="1143000"/>
            <a:ext cx="1410436"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sp>
        <p:nvSpPr>
          <p:cNvPr id="11" name="header Final-masked 7.96"/>
          <p:cNvSpPr txBox="1"/>
          <p:nvPr/>
        </p:nvSpPr>
        <p:spPr>
          <a:xfrm>
            <a:off x="7276364" y="1143000"/>
            <a:ext cx="1410436" cy="256032"/>
          </a:xfrm>
          <a:prstGeom prst="rect">
            <a:avLst/>
          </a:prstGeom>
          <a:solidFill>
            <a:srgbClr val="E8792B"/>
          </a:solidFill>
          <a:ln/>
        </p:spPr>
        <p:txBody>
          <a:bodyPr wrap="square" lIns="0" tIns="0" rIns="0" bIns="0" rtlCol="0" anchor="ctr"/>
          <a:lstStyle/>
          <a:p>
            <a:pPr algn="ctr" indent="0" marL="0">
              <a:buNone/>
            </a:pPr>
            <a:r>
              <a:rPr lang="en-US" sz="1200" b="1" dirty="0">
                <a:solidFill>
                  <a:srgbClr val="FFFFFF"/>
                </a:solidFill>
              </a:rPr>
              <a:t>Final-masked</a:t>
            </a:r>
            <a:endParaRPr lang="en-US" sz="1200" dirty="0"/>
          </a:p>
        </p:txBody>
      </p:sp>
      <p:pic>
        <p:nvPicPr>
          <p:cNvPr id="12" name="figure rest_pose_lineup_stage.jpg" descr="Stage photo, every detected person in rest pose: Base, Final, Final-masked; Final gives the singers a fuller female shape">    </p:cNvPr>
          <p:cNvPicPr>
            <a:picLocks noChangeAspect="1"/>
          </p:cNvPicPr>
          <p:nvPr/>
        </p:nvPicPr>
        <p:blipFill>
          <a:blip r:embed="rId2"/>
          <a:stretch>
            <a:fillRect/>
          </a:stretch>
        </p:blipFill>
        <p:spPr>
          <a:xfrm>
            <a:off x="4389120" y="1444752"/>
            <a:ext cx="4297680" cy="1111755"/>
          </a:xfrm>
          <a:prstGeom prst="rect">
            <a:avLst/>
          </a:prstGeom>
        </p:spPr>
      </p:pic>
      <p:sp>
        <p:nvSpPr>
          <p:cNvPr id="13" name="caption Stage photo: three singers, rest pose (job 3615019)"/>
          <p:cNvSpPr txBox="1"/>
          <p:nvPr/>
        </p:nvSpPr>
        <p:spPr>
          <a:xfrm>
            <a:off x="4389120" y="2574795"/>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Stage photo: three singers, rest pose (job 3615019)</a:t>
            </a:r>
            <a:endParaRPr lang="en-US" sz="1000" dirty="0"/>
          </a:p>
        </p:txBody>
      </p:sp>
      <p:pic>
        <p:nvPicPr>
          <p:cNvPr id="14" name="figure rest_pose_lineup_tennis.jpg" descr="Tennis photo, every detected person in rest pose: Base, Final, Final-masked; the men stay slim in all three">    </p:cNvPr>
          <p:cNvPicPr>
            <a:picLocks noChangeAspect="1"/>
          </p:cNvPicPr>
          <p:nvPr/>
        </p:nvPicPr>
        <p:blipFill>
          <a:blip r:embed="rId3"/>
          <a:stretch>
            <a:fillRect/>
          </a:stretch>
        </p:blipFill>
        <p:spPr>
          <a:xfrm>
            <a:off x="4389120" y="2775963"/>
            <a:ext cx="4297680" cy="947186"/>
          </a:xfrm>
          <a:prstGeom prst="rect">
            <a:avLst/>
          </a:prstGeom>
        </p:spPr>
      </p:pic>
      <p:sp>
        <p:nvSpPr>
          <p:cNvPr id="15" name="caption Tennis photo: five men, rest pose"/>
          <p:cNvSpPr txBox="1"/>
          <p:nvPr/>
        </p:nvSpPr>
        <p:spPr>
          <a:xfrm>
            <a:off x="4389120" y="3741437"/>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Tennis photo: five men, rest pose</a:t>
            </a:r>
            <a:endParaRPr lang="en-US" sz="1000" dirty="0"/>
          </a:p>
        </p:txBody>
      </p:sp>
      <p:sp>
        <p:nvSpPr>
          <p:cNvPr id="16" name="by-eye readings"/>
          <p:cNvSpPr txBox="1"/>
          <p:nvPr/>
        </p:nvSpPr>
        <p:spPr>
          <a:xfrm>
            <a:off x="457200" y="4041648"/>
            <a:ext cx="8229600" cy="658368"/>
          </a:xfrm>
          <a:prstGeom prst="rect">
            <a:avLst/>
          </a:prstGeom>
          <a:noFill/>
          <a:ln/>
        </p:spPr>
        <p:txBody>
          <a:bodyPr wrap="square" lIns="0" tIns="0" rIns="0" bIns="0" rtlCol="0" anchor="t"/>
          <a:lstStyle/>
          <a:p>
            <a:pPr indent="0" marL="0">
              <a:buNone/>
            </a:pPr>
            <a:r>
              <a:rPr lang="en-US" sz="1050" dirty="0">
                <a:solidFill>
                  <a:schemeClr val="tx1"/>
                </a:solidFill>
              </a:rPr>
              <a:t>Fingers: Base's are splayed and stiff, one left-hand finger sticking out (its metacarpal1.L still flipped); Final's are closed and bent and read as hands. Neither puts them on the real fingers; most hands are too small to judge.</a:t>
            </a:r>
            <a:endParaRPr lang="en-US" sz="1050" dirty="0"/>
          </a:p>
          <a:p>
            <a:pPr indent="0" marL="0">
              <a:buNone/>
            </a:pPr>
            <a:r>
              <a:rPr lang="en-US" sz="1050" dirty="0">
                <a:solidFill>
                  <a:schemeClr val="tx1"/>
                </a:solidFill>
              </a:rPr>
              <a:t>Shape: Base gives everyone a similar slim, flat body; Final gives the singers a fuller female shape; the tennis men stay slim in all three; Final-masked is close to Final. By eye only, demo setting (box placement); no metric on real photos.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on the image: a good case and the worst case</a:t>
            </a:r>
            <a:endParaRPr lang="en-US" sz="2700" dirty="0"/>
          </a:p>
        </p:txBody>
      </p:sp>
      <p:sp>
        <p:nvSpPr>
          <p:cNvPr id="3" name="header Good case: 12 / 14 mm"/>
          <p:cNvSpPr txBox="1"/>
          <p:nvPr/>
        </p:nvSpPr>
        <p:spPr>
          <a:xfrm>
            <a:off x="457200" y="1207008"/>
            <a:ext cx="3749040"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Good case: 12 / 14 mm</a:t>
            </a:r>
            <a:endParaRPr lang="en-US" sz="1200" dirty="0"/>
          </a:p>
        </p:txBody>
      </p:sp>
      <p:sp>
        <p:nvSpPr>
          <p:cNvPr id="4" name="caption 3DPW SMPL mesh  |  our Anny label 0.50"/>
          <p:cNvSpPr txBox="1"/>
          <p:nvPr/>
        </p:nvSpPr>
        <p:spPr>
          <a:xfrm>
            <a:off x="457200" y="1481328"/>
            <a:ext cx="3749040" cy="182880"/>
          </a:xfrm>
          <a:prstGeom prst="rect">
            <a:avLst/>
          </a:prstGeom>
          <a:noFill/>
          <a:ln/>
        </p:spPr>
        <p:txBody>
          <a:bodyPr wrap="square" lIns="0" tIns="0" rIns="0" bIns="0" rtlCol="0" anchor="t"/>
          <a:lstStyle/>
          <a:p>
            <a:pPr algn="ctr" indent="0" marL="0">
              <a:buNone/>
            </a:pPr>
            <a:r>
              <a:rPr lang="en-US" sz="1000" dirty="0">
                <a:solidFill>
                  <a:schemeClr val="tx2"/>
                </a:solidFill>
              </a:rPr>
              <a:t>3DPW SMPL mesh  |  our Anny label</a:t>
            </a:r>
            <a:endParaRPr lang="en-US" sz="1000" dirty="0"/>
          </a:p>
        </p:txBody>
      </p:sp>
      <p:pic>
        <p:nvPicPr>
          <p:cNvPr id="5" name="figure label_check_courtyard.jpg" descr="3DPW courtyard_arguing_00 image 24, two people: 3DPW SMPL mesh (orange) and our Anny label (blue); joints match to 12 and 14 mm">    </p:cNvPr>
          <p:cNvPicPr>
            <a:picLocks noChangeAspect="1"/>
          </p:cNvPicPr>
          <p:nvPr/>
        </p:nvPicPr>
        <p:blipFill>
          <a:blip r:embed="rId1"/>
          <a:stretch>
            <a:fillRect/>
          </a:stretch>
        </p:blipFill>
        <p:spPr>
          <a:xfrm>
            <a:off x="457200" y="1682496"/>
            <a:ext cx="3749040" cy="2284734"/>
          </a:xfrm>
          <a:prstGeom prst="rect">
            <a:avLst/>
          </a:prstGeom>
        </p:spPr>
      </p:pic>
      <p:sp>
        <p:nvSpPr>
          <p:cNvPr id="6" name="header Worst case: 57 mm"/>
          <p:cNvSpPr txBox="1"/>
          <p:nvPr/>
        </p:nvSpPr>
        <p:spPr>
          <a:xfrm>
            <a:off x="4937760" y="1207008"/>
            <a:ext cx="3749040" cy="256032"/>
          </a:xfrm>
          <a:prstGeom prst="rect">
            <a:avLst/>
          </a:prstGeom>
          <a:solidFill>
            <a:srgbClr val="E8792B"/>
          </a:solidFill>
          <a:ln/>
        </p:spPr>
        <p:txBody>
          <a:bodyPr wrap="square" lIns="0" tIns="0" rIns="0" bIns="0" rtlCol="0" anchor="ctr"/>
          <a:lstStyle/>
          <a:p>
            <a:pPr algn="ctr" indent="0" marL="0">
              <a:buNone/>
            </a:pPr>
            <a:r>
              <a:rPr lang="en-US" sz="1200" b="1" dirty="0">
                <a:solidFill>
                  <a:srgbClr val="FFFFFF"/>
                </a:solidFill>
              </a:rPr>
              <a:t>Worst case: 57 mm</a:t>
            </a:r>
            <a:endParaRPr lang="en-US" sz="1200" dirty="0"/>
          </a:p>
        </p:txBody>
      </p:sp>
      <p:sp>
        <p:nvSpPr>
          <p:cNvPr id="7" name="caption 3DPW SMPL mesh  |  our Anny label 5.40"/>
          <p:cNvSpPr txBox="1"/>
          <p:nvPr/>
        </p:nvSpPr>
        <p:spPr>
          <a:xfrm>
            <a:off x="4937760" y="1481328"/>
            <a:ext cx="3749040" cy="182880"/>
          </a:xfrm>
          <a:prstGeom prst="rect">
            <a:avLst/>
          </a:prstGeom>
          <a:noFill/>
          <a:ln/>
        </p:spPr>
        <p:txBody>
          <a:bodyPr wrap="square" lIns="0" tIns="0" rIns="0" bIns="0" rtlCol="0" anchor="t"/>
          <a:lstStyle/>
          <a:p>
            <a:pPr algn="ctr" indent="0" marL="0">
              <a:buNone/>
            </a:pPr>
            <a:r>
              <a:rPr lang="en-US" sz="1000" dirty="0">
                <a:solidFill>
                  <a:schemeClr val="tx2"/>
                </a:solidFill>
              </a:rPr>
              <a:t>3DPW SMPL mesh  |  our Anny label</a:t>
            </a:r>
            <a:endParaRPr lang="en-US" sz="1000" dirty="0"/>
          </a:p>
        </p:txBody>
      </p:sp>
      <p:pic>
        <p:nvPicPr>
          <p:cNvPr id="8" name="figure label_check_climbing.jpg" descr="3DPW outdoors_climbing_02 image 633: 3DPW SMPL mesh (orange) and our Anny label (blue); the worst joint error of the check, 57 mm, the Anny body thinner than the climber">    </p:cNvPr>
          <p:cNvPicPr>
            <a:picLocks noChangeAspect="1"/>
          </p:cNvPicPr>
          <p:nvPr/>
        </p:nvPicPr>
        <p:blipFill>
          <a:blip r:embed="rId2"/>
          <a:stretch>
            <a:fillRect/>
          </a:stretch>
        </p:blipFill>
        <p:spPr>
          <a:xfrm>
            <a:off x="4937760" y="1682496"/>
            <a:ext cx="3749040" cy="2284734"/>
          </a:xfrm>
          <a:prstGeom prst="rect">
            <a:avLst/>
          </a:prstGeom>
        </p:spPr>
      </p:pic>
      <p:sp>
        <p:nvSpPr>
          <p:cNvPr id="9" name="reading"/>
          <p:cNvSpPr txBox="1"/>
          <p:nvPr/>
        </p:nvSpPr>
        <p:spPr>
          <a:xfrm>
            <a:off x="457200" y="4040382"/>
            <a:ext cx="8229600" cy="438912"/>
          </a:xfrm>
          <a:prstGeom prst="rect">
            <a:avLst/>
          </a:prstGeom>
          <a:noFill/>
          <a:ln/>
        </p:spPr>
        <p:txBody>
          <a:bodyPr wrap="square" lIns="0" tIns="0" rIns="0" bIns="0" rtlCol="0" anchor="t"/>
          <a:lstStyle/>
          <a:p>
            <a:pPr indent="0" marL="0">
              <a:buNone/>
            </a:pPr>
            <a:r>
              <a:rPr lang="en-US" sz="1050" dirty="0">
                <a:solidFill>
                  <a:schemeClr val="tx1"/>
                </a:solidFill>
              </a:rPr>
              <a:t>Red = 3DPW joints, green = our Anny joints. Body joints match to 14.1 mm (median over 3,314 people); the worst frame is 57 mm (the Anny body is thinner than the climber). Head and hands stay at rest in every label.</a:t>
            </a:r>
            <a:endParaRPr lang="en-US" sz="1050" dirty="0"/>
          </a:p>
        </p:txBody>
      </p:sp>
      <p:sp>
        <p:nvSpPr>
          <p:cNvPr id="10" name="source"/>
          <p:cNvSpPr txBox="1"/>
          <p:nvPr/>
        </p:nvSpPr>
        <p:spPr>
          <a:xfrm>
            <a:off x="457200" y="4497582"/>
            <a:ext cx="8229600" cy="164592"/>
          </a:xfrm>
          <a:prstGeom prst="rect">
            <a:avLst/>
          </a:prstGeom>
          <a:noFill/>
          <a:ln/>
        </p:spPr>
        <p:txBody>
          <a:bodyPr wrap="square" lIns="0" tIns="0" rIns="0" bIns="0" rtlCol="0" anchor="t"/>
          <a:lstStyle/>
          <a:p>
            <a:pPr indent="0" marL="0">
              <a:buNone/>
            </a:pPr>
            <a:r>
              <a:rPr lang="en-US" sz="900" dirty="0">
                <a:solidFill>
                  <a:schemeClr val="tx2"/>
                </a:solidFill>
              </a:rPr>
              <a:t>conversion check, job 3611284; slides 5-6</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2026-10-20T01:37:44Z</dcterms:created>
  <dcterms:modified xsi:type="dcterms:W3CDTF">2026-10-20T01:37:44Z</dcterms:modified>
</cp:coreProperties>
</file>