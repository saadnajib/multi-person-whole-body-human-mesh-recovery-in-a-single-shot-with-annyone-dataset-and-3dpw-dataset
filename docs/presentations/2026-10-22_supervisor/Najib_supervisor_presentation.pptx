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Multi-Person Human Mesh Recovery</a:t>
            </a:r>
          </a:p>
          <a:p/>
          <a:p>
            <a:r>
              <a:t>SPEAKING SCRIPT</a:t>
            </a:r>
          </a:p>
          <a:p>
            <a:r>
              <a:t>My thesis studies how to recover a three-dimensional body for each person visible in one photograph. A body mesh is a surface made from many connected points, like a digital mannequin. It represents body pose and shape, rather than just a few joints. The main model in this presentation is my smaller student model. It learns from labelled examples and from a larger teacher. I will explain the starting system, what the student learns, how I converted real-image labels into the Anny body format, and the measured trade-off between speed and reconstruction quality. The illustrations on this first slide show earlier Base and teacher outputs; the student results will be identified separately.</a:t>
            </a:r>
          </a:p>
          <a:p/>
          <a:p>
            <a:r>
              <a:t>POINT / DEMO CUE</a:t>
            </a:r>
          </a:p>
          <a:p>
            <a:r>
              <a:t>Introduce the task before using abbreviations.</a:t>
            </a:r>
          </a:p>
          <a:p/>
          <a:p>
            <a:r>
              <a:t>TRANSITION</a:t>
            </a:r>
          </a:p>
          <a:p>
            <a:r>
              <a:t>First, why is this problem difficult?</a:t>
            </a:r>
          </a:p>
          <a:p/>
          <a:p>
            <a:r>
              <a:t>SOURCE</a:t>
            </a:r>
          </a:p>
          <a:p>
            <a:r>
              <a:t>Muhammad Saad Najib · Supervisor presentation · 22 October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One photograph, several difficult decisions</a:t>
            </a:r>
          </a:p>
          <a:p/>
          <a:p>
            <a:r>
              <a:t>SPEAKING SCRIPT</a:t>
            </a:r>
          </a:p>
          <a:p>
            <a:r>
              <a:t>A photograph shows a flat image, but our output must describe a three-dimensional body. Several different bodies and distances can produce a similar picture, especially when clothing or another person hides part of the body. There are two additional challenges in this project. First, synthetic training images come with detailed labels, while real photos look different and have less complete supervision. Second, the larger model is expensive to run. My question is therefore whether a smaller student can learn enough from a stronger teacher and from both datasets to provide useful results with lower inference cost. I evaluate this as a trade-off: a faster result is valuable, but I also need to show how much reconstruction accuracy is lost.</a:t>
            </a:r>
          </a:p>
          <a:p/>
          <a:p>
            <a:r>
              <a:t>POINT / DEMO CUE</a:t>
            </a:r>
          </a:p>
          <a:p>
            <a:r>
              <a:t>Point to the three challenges from left to right.</a:t>
            </a:r>
          </a:p>
          <a:p/>
          <a:p>
            <a:r>
              <a:t>TRANSITION</a:t>
            </a:r>
          </a:p>
          <a:p>
            <a:r>
              <a:t>The starting point is Multi-HMR.</a:t>
            </a:r>
          </a:p>
          <a:p/>
          <a:p>
            <a:r>
              <a:t>SOURCE</a:t>
            </a:r>
          </a:p>
          <a:p>
            <a:r>
              <a:t>Thesis revision, 22 Oct 2026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Baseline: one image → multiple 3D bodies</a:t>
            </a:r>
          </a:p>
          <a:p/>
          <a:p>
            <a:r>
              <a:t>SPEAKING SCRIPT</a:t>
            </a:r>
          </a:p>
          <a:p>
            <a:r>
              <a:t>This is the baseline pipeline. The RGB image is resized and padded to the model input size. The DINOv2 encoder turns it into image features, which can be thought of as descriptions of small image regions. A detection head identifies person anchors and their image offsets. The person decoder uses cross-attention to combine information about each person with the rest of the image. It predicts the parameters needed by a body model, and the body layer converts those parameters into a mesh. Camera information helps place the mesh in three-dimensional space. The original Multi-HMR work also describes an SMPL-X version; our external reference is specifically NAVER’s released Anny checkpoint. This distinction matters when comparing outputs and model sizes.</a:t>
            </a:r>
          </a:p>
          <a:p/>
          <a:p>
            <a:r>
              <a:t>POINT / DEMO CUE</a:t>
            </a:r>
          </a:p>
          <a:p>
            <a:r>
              <a:t>Trace the arrows. Define encoder and decoder in plain words.</a:t>
            </a:r>
          </a:p>
          <a:p/>
          <a:p>
            <a:r>
              <a:t>TRANSITION</a:t>
            </a:r>
          </a:p>
          <a:p>
            <a:r>
              <a:t>My student preserves this general pipeline but uses a smaller encoder.</a:t>
            </a:r>
          </a:p>
          <a:p/>
          <a:p>
            <a:r>
              <a:t>SOURCE</a:t>
            </a:r>
          </a:p>
          <a:p>
            <a:r>
              <a:t>Sources: Multi-HMR (Baradel et al., 2024); released NAVER Anny checkpoint; thesis §4.2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The student learns from labels and a frozen teacher</a:t>
            </a:r>
          </a:p>
          <a:p/>
          <a:p>
            <a:r>
              <a:t>SPEAKING SCRIPT</a:t>
            </a:r>
          </a:p>
          <a:p>
            <a:r>
              <a:t>Both branches receive the same image and camera information. The larger teacher has a ViT-L encoder and remains frozen, meaning training does not update its weights. The student uses a smaller ViT-B encoder. Because its feature width is 768 rather than 1,024, a small trainable projector converts its features to the width expected by the transferred prediction heads. There are three sources of learning. Dataset labels provide the supervised loss. Teacher features provide the feature-distillation loss. Teacher body parameters provide the output-distillation loss. These losses update the student, while teacher targets are detached from gradient updates. The copied heads are frozen initially, then trained. At deployment the teacher is removed, but the projector stays because the student heads need its output.</a:t>
            </a:r>
          </a:p>
          <a:p/>
          <a:p>
            <a:r>
              <a:t>POINT / DEMO CUE</a:t>
            </a:r>
          </a:p>
          <a:p>
            <a:r>
              <a:t>Point to gold arrows as teacher guidance and the bottom line as label supervision.</a:t>
            </a:r>
          </a:p>
          <a:p/>
          <a:p>
            <a:r>
              <a:t>TRANSITION</a:t>
            </a:r>
          </a:p>
          <a:p>
            <a:r>
              <a:t>Next, what exactly does the network predict?</a:t>
            </a:r>
          </a:p>
          <a:p/>
          <a:p>
            <a:r>
              <a:t>SOURCE</a:t>
            </a:r>
          </a:p>
          <a:p>
            <a:r>
              <a:t>Sources: thesis §4.1, §4.8; model.py; distill.py; train.py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What goes in, and what comes out?</a:t>
            </a:r>
          </a:p>
          <a:p/>
          <a:p>
            <a:r>
              <a:t>SPEAKING SCRIPT</a:t>
            </a:r>
          </a:p>
          <a:p>
            <a:r>
              <a:t>The input used at inference is an RGB image and camera intrinsics. When the camera calibration is unavailable, the demo uses an assumed field of view, which can affect recovered depth. For each detected person, the model predicts bone rotations, eleven Anny body-shape parameters, and quantities describing the head anchor’s image location and depth. Rotations describe articulation, while shape parameters control aspects such as height and body proportions. The Anny layer converts these parameters into a mesh and joints. The mesh is then translated so its head anchor reaches the predicted camera-space position. During training, labels provide target parameters and geometry. At inference those targets are absent: the model must estimate everything from the image and camera information.</a:t>
            </a:r>
          </a:p>
          <a:p/>
          <a:p>
            <a:r>
              <a:t>POINT / DEMO CUE</a:t>
            </a:r>
          </a:p>
          <a:p>
            <a:r>
              <a:t>Use pose, shape and placement as three separate ideas.</a:t>
            </a:r>
          </a:p>
          <a:p/>
          <a:p>
            <a:r>
              <a:t>TRANSITION</a:t>
            </a:r>
          </a:p>
          <a:p>
            <a:r>
              <a:t>The losses tell the student which parts of its answer need to improve.</a:t>
            </a:r>
          </a:p>
          <a:p/>
          <a:p>
            <a:r>
              <a:t>SOURCE</a:t>
            </a:r>
          </a:p>
          <a:p>
            <a:r>
              <a:t>Sources: thesis §4.2; model.py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Supervised losses: compare predictions with labels</a:t>
            </a:r>
          </a:p>
          <a:p/>
          <a:p>
            <a:r>
              <a:t>SPEAKING SCRIPT</a:t>
            </a:r>
          </a:p>
          <a:p>
            <a:r>
              <a:t>A loss is a numerical penalty for a mismatch during training. Here the penalties measure several different parts of the prediction. Detection and offset losses help find people and locate their anchors. Pose and shape losses compare the predicted body parameters with their labels. Depth and translation losses teach camera-space placement. The three-dimensional joint and vertex losses compare bodies after moving each pelvis to the origin, so they measure body geometry without absolute translation. The two-dimensional losses project the body back onto the image and measure alignment there. This is why a low centred body error does not automatically mean correct placement in the photo. The student receives all these supervised terms plus the two teacher-guidance terms on the next slide.</a:t>
            </a:r>
          </a:p>
          <a:p/>
          <a:p>
            <a:r>
              <a:t>POINT / DEMO CUE</a:t>
            </a:r>
          </a:p>
          <a:p>
            <a:r>
              <a:t>Read purposes, not every formula. Full weights and equations are in the backup.</a:t>
            </a:r>
          </a:p>
          <a:p/>
          <a:p>
            <a:r>
              <a:t>TRANSITION</a:t>
            </a:r>
          </a:p>
          <a:p>
            <a:r>
              <a:t>Distillation adds information from the teacher.</a:t>
            </a:r>
          </a:p>
          <a:p/>
          <a:p>
            <a:r>
              <a:t>SOURCE</a:t>
            </a:r>
          </a:p>
          <a:p>
            <a:r>
              <a:t>Sources: thesis §4.3; Table T02; exact formulas in backup slides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Knowledge distillation: two kinds of teacher guidance</a:t>
            </a:r>
          </a:p>
          <a:p/>
          <a:p>
            <a:r>
              <a:t>SPEAKING SCRIPT</a:t>
            </a:r>
          </a:p>
          <a:p>
            <a:r>
              <a:t>Knowledge distillation means using a larger trained model to guide a smaller one. The first form is feature distillation: the student’s projected image features are encouraged to resemble the teacher’s features. The implementation turns feature channels into softened distributions and compares them with KL divergence. A temperature of four controls that softening. The second form is output distillation: the student is encouraged to predict similar rotations, body-shape parameters and depth. During training the two models use the same labelled person locations, so outputs can be compared person by person. Teacher predictions are useful guidance, but they can also contain mistakes. Ground-truth supervision remains present. The exact reductions and weights are included in the backup slides for technical questions.</a:t>
            </a:r>
          </a:p>
          <a:p/>
          <a:p>
            <a:r>
              <a:t>POINT / DEMO CUE</a:t>
            </a:r>
          </a:p>
          <a:p>
            <a:r>
              <a:t>Clarify that the teacher supplies guidance; it does not create new verified ground truth.</a:t>
            </a:r>
          </a:p>
          <a:p/>
          <a:p>
            <a:r>
              <a:t>TRANSITION</a:t>
            </a:r>
          </a:p>
          <a:p>
            <a:r>
              <a:t>Here is the training recipe used for the reported student.</a:t>
            </a:r>
          </a:p>
          <a:p/>
          <a:p>
            <a:r>
              <a:t>SOURCE</a:t>
            </a:r>
          </a:p>
          <a:p>
            <a:r>
              <a:t>Sources: thesis §4.8; distill.py; loss.py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Training recipe for the reported student</a:t>
            </a:r>
          </a:p>
          <a:p/>
          <a:p>
            <a:r>
              <a:t>SPEAKING SCRIPT</a:t>
            </a:r>
          </a:p>
          <a:p>
            <a:r>
              <a:t>The reported student is the completed thirty-epoch ViT-B run. Each epoch has one thousand optimizer steps, with eight images in a batch, giving two hundred and forty thousand sampled image presentations over training. These are not necessarily unique images. The sampler draws about seventy percent synthetic AnnyOne images and thirty percent converted 3DPW training images. This is an image ratio; the person ratio differs because images contain different numbers of people. The student starts with an HMR-trained ViT-B backbone and copied teacher heads. The heads stay frozen for the first five epochs, then train with the student. The learning rate starts at three times ten to the minus five and halves every twelve epochs. Student-specific output calibration is estimated after training.</a:t>
            </a:r>
          </a:p>
          <a:p/>
          <a:p>
            <a:r>
              <a:t>POINT / DEMO CUE</a:t>
            </a:r>
          </a:p>
          <a:p>
            <a:r>
              <a:t>Emphasize this is the confirmed 30-epoch checkpoint, not an unverified longer run.</a:t>
            </a:r>
          </a:p>
          <a:p/>
          <a:p>
            <a:r>
              <a:t>TRANSITION</a:t>
            </a:r>
          </a:p>
          <a:p>
            <a:r>
              <a:t>I use several metrics because a single number does not describe the entire result.</a:t>
            </a:r>
          </a:p>
          <a:p/>
          <a:p>
            <a:r>
              <a:t>SOURCE</a:t>
            </a:r>
          </a:p>
          <a:p>
            <a:r>
              <a:t>Sources: thesis Table T11; exp8_distill_vitb.sh; job 3614191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How reconstruction quality is measured</a:t>
            </a:r>
          </a:p>
          <a:p/>
          <a:p>
            <a:r>
              <a:t>SPEAKING SCRIPT</a:t>
            </a:r>
          </a:p>
          <a:p>
            <a:r>
              <a:t>PVE is the average distance between corresponding mesh surface points after aligning the pelvis. A value of one hundred millimetres means an average point error of ten centimetres under that evaluation alignment. PA-PVE goes further: it optimally rotates, translates and scales the predicted body before measuring error. It is therefore useful for examining pose and shape, but can hide errors in global size and orientation. MPJPE performs a similar comparison using joint positions rather than surface vertices. Recall records how many labelled people were recovered, because a geometry score on matched people cannot describe missed detections. Finally, parameters, operation count and measured latency describe computational cost. These metrics answer different questions and should be presented together.</a:t>
            </a:r>
          </a:p>
          <a:p/>
          <a:p>
            <a:r>
              <a:t>POINT / DEMO CUE</a:t>
            </a:r>
          </a:p>
          <a:p>
            <a:r>
              <a:t>Explain millimetres with a centimetre example. Do not call PA-PVE a placement metric.</a:t>
            </a:r>
          </a:p>
          <a:p/>
          <a:p>
            <a:r>
              <a:t>TRANSITION</a:t>
            </a:r>
          </a:p>
          <a:p>
            <a:r>
              <a:t>These are the measured reconstruction results.</a:t>
            </a:r>
          </a:p>
          <a:p/>
          <a:p>
            <a:r>
              <a:t>SOURCE</a:t>
            </a:r>
          </a:p>
          <a:p>
            <a:r>
              <a:t>Sources: thesis §4.10; Table T07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The student loses accuracy relative to its teacher</a:t>
            </a:r>
          </a:p>
          <a:p/>
          <a:p>
            <a:r>
              <a:t>SPEAKING SCRIPT</a:t>
            </a:r>
          </a:p>
          <a:p>
            <a:r>
              <a:t>The teacher is the strongest of our two trained models on these reconstruction measurements. On the synthetic holdout, the student’s PVE is 119.6 millimetres compared with 73.7 for the teacher. On the converted 3DPW test set, the student reaches 110.1 millimetres compared with 89.0 for the teacher. Both recover ninety-nine percent of labelled people under this evaluation. The student has lower 3DPW PVE than the released baseline, but its PA-PVE is slightly higher than that baseline’s. There are important comparison limits: the released baseline may have seen the synthetic holdout images, and it does not have the same real-image training exposure. Also, these 3DPW numbers use Anny labels, so they should not be compared directly with published SMPL-space scores.</a:t>
            </a:r>
          </a:p>
          <a:p/>
          <a:p>
            <a:r>
              <a:t>POINT / DEMO CUE</a:t>
            </a:r>
          </a:p>
          <a:p>
            <a:r>
              <a:t>Read one dataset at a time. Point out the PA-PVE reversal against the baseline.</a:t>
            </a:r>
          </a:p>
          <a:p/>
          <a:p>
            <a:r>
              <a:t>TRANSITION</a:t>
            </a:r>
          </a:p>
          <a:p>
            <a:r>
              <a:t>The benefit of the student appears in computational cost.</a:t>
            </a:r>
          </a:p>
          <a:p/>
          <a:p>
            <a:r>
              <a:t>SOURCE</a:t>
            </a:r>
          </a:p>
          <a:p>
            <a:r>
              <a:t>Sources: thesis Tables T16–T17; jobs 3614191, 3611336, 3614192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The student is smaller and faster</a:t>
            </a:r>
          </a:p>
          <a:p/>
          <a:p>
            <a:r>
              <a:t>SPEAKING SCRIPT</a:t>
            </a:r>
          </a:p>
          <a:p>
            <a:r>
              <a:t>This slide compares the student with its teacher under the same recorded L40S benchmark. The student has about one hundred and one million parameters, compared with about three hundred and eighteen million for the teacher. It also uses roughly one third of the counted computation. The median model forward time falls from 59.7 to 28.5 milliseconds, giving a speedup of about 2.1 times. These measurements support the claim that the student reduces model cost. They do not prove that a complete video application runs at the reciprocal frame rate, because loading frames, preprocessing, rendering and encoding take additional time. The final conclusion combines this slide with the previous one: the student achieves substantial efficiency gains, with a measurable reconstruction-accuracy cost.</a:t>
            </a:r>
          </a:p>
          <a:p/>
          <a:p>
            <a:r>
              <a:t>POINT / DEMO CUE</a:t>
            </a:r>
          </a:p>
          <a:p>
            <a:r>
              <a:t>Use the paired measurements only; do not mix L40S and A100 timings.</a:t>
            </a:r>
          </a:p>
          <a:p/>
          <a:p>
            <a:r>
              <a:t>TRANSITION</a:t>
            </a:r>
          </a:p>
          <a:p>
            <a:r>
              <a:t>Now I will explain the data used to train these models.</a:t>
            </a:r>
          </a:p>
          <a:p/>
          <a:p>
            <a:r>
              <a:t>SOURCE</a:t>
            </a:r>
          </a:p>
          <a:p>
            <a:r>
              <a:t>Source: thesis Table T16; paired L40S measurements, job 3614191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Two data sources with one common body format</a:t>
            </a:r>
          </a:p>
          <a:p/>
          <a:p>
            <a:r>
              <a:t>SPEAKING SCRIPT</a:t>
            </a:r>
          </a:p>
          <a:p>
            <a:r>
              <a:t>AnnyOne provides synthetic images generated with the Anny body model. This gives detailed pose, shape and camera supervision in exactly the format predicted by the network. My training split uses 579,860 images, while the last one hundred images form the thesis holdout. That holdout contains adults, so it cannot answer whether the model works well for children. The real-image source is 3DPW, which consists of recorded video sequences with body annotations. However, those annotations use SMPL rather than Anny. I did not create 3DPW itself: my contribution here is converting its existing annotations into usable Anny targets while keeping the official training, validation and test separation. The corrected conversion yields the image counts shown on the right.</a:t>
            </a:r>
          </a:p>
          <a:p/>
          <a:p>
            <a:r>
              <a:t>POINT / DEMO CUE</a:t>
            </a:r>
          </a:p>
          <a:p>
            <a:r>
              <a:t>Say “converted 3DPW labels,” not “created the 3DPW dataset.”</a:t>
            </a:r>
          </a:p>
          <a:p/>
          <a:p>
            <a:r>
              <a:t>TRANSITION</a:t>
            </a:r>
          </a:p>
          <a:p>
            <a:r>
              <a:t>The conversion is an optimization problem.</a:t>
            </a:r>
          </a:p>
          <a:p/>
          <a:p>
            <a:r>
              <a:t>SOURCE</a:t>
            </a:r>
          </a:p>
          <a:p>
            <a:r>
              <a:t>Sources: thesis Chapter 3; numbers_data.tex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How the 3DPW–Anny labels were created</a:t>
            </a:r>
          </a:p>
          <a:p/>
          <a:p>
            <a:r>
              <a:t>SPEAKING SCRIPT</a:t>
            </a:r>
          </a:p>
          <a:p>
            <a:r>
              <a:t>The converter begins with the source body joints and camera information from 3DPW. It searches for Anny parameters whose joints are close to those targets. The fitting proceeds in stages: root alignment first, then articulated pose, and then the shape parameters that can be supported by joint positions. A previous frame provides an initial guess for the next frame. After the first pass, the median fitted shape is assigned to the person across the sequence, and poses are fitted again with that fixed shape. This avoids treating the same actor as a different body in every frame. A label builder then transforms fits into camera coordinates and groups all labelled actors in each image. The shared sampling grid ensures both actors are represented on the same selected frames.</a:t>
            </a:r>
          </a:p>
          <a:p/>
          <a:p>
            <a:r>
              <a:t>POINT / DEMO CUE</a:t>
            </a:r>
          </a:p>
          <a:p>
            <a:r>
              <a:t>Walk through the four numbered stages.</a:t>
            </a:r>
          </a:p>
          <a:p/>
          <a:p>
            <a:r>
              <a:t>TRANSITION</a:t>
            </a:r>
          </a:p>
          <a:p>
            <a:r>
              <a:t>The difficult part is that the two skeletons do not define every joint at the same place.</a:t>
            </a:r>
          </a:p>
          <a:p/>
          <a:p>
            <a:r>
              <a:t>SOURCE</a:t>
            </a:r>
          </a:p>
          <a:p>
            <a:r>
              <a:t>Sources: thesis §3.3–3.5; smpl_to_anny.py, converter v2.3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Virtual joints compare equivalent body locations</a:t>
            </a:r>
          </a:p>
          <a:p/>
          <a:p>
            <a:r>
              <a:t>SPEAKING SCRIPT</a:t>
            </a:r>
          </a:p>
          <a:p>
            <a:r>
              <a:t>SMPL and Anny can place a joint with a similar name at slightly different anatomical positions. If I simply compare the names, the optimizer may try to bend or stretch the body to remove a mismatch caused by the joint definition itself. A virtual joint gives the fitting procedure a more comparable point. I take a point attached to an Anny bone and add a fixed offset measured in the aligned rest skeletons. When the bone rotates, the offset rotates with it. In the equation, h is the bone head, delta is the local offset, and Q rotates that offset into the posed frame. The resulting point p is compared with the SMPL target. This does not change Anny’s actual rig or make the two anatomies identical.</a:t>
            </a:r>
          </a:p>
          <a:p/>
          <a:p>
            <a:r>
              <a:t>POINT / DEMO CUE</a:t>
            </a:r>
          </a:p>
          <a:p>
            <a:r>
              <a:t>The diagram is conceptual, not a measured anatomical drawing.</a:t>
            </a:r>
          </a:p>
          <a:p/>
          <a:p>
            <a:r>
              <a:t>TRANSITION</a:t>
            </a:r>
          </a:p>
          <a:p>
            <a:r>
              <a:t>The completed annotations are checked independently of the fitting objective.</a:t>
            </a:r>
          </a:p>
          <a:p/>
          <a:p>
            <a:r>
              <a:t>SOURCE</a:t>
            </a:r>
          </a:p>
          <a:p>
            <a:r>
              <a:t>Sources: thesis §3.4 and Appendix 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Converted labels: checked, with residual warnings</a:t>
            </a:r>
          </a:p>
          <a:p/>
          <a:p>
            <a:r>
              <a:t>SPEAKING SCRIPT</a:t>
            </a:r>
          </a:p>
          <a:p>
            <a:r>
              <a:t>These pictures compare the real image, the source SMPL annotation, and the converted Anny annotation. They are label-conversion examples, not network predictions. An independent validation reads the completed labels and compares their joints and projections with the source annotations. The reported median body-joint discrepancy is 14.1 millimetres. The resulting diagnostic status is WARN, because the body models still differ in proportions and some joint definitions. Earlier label-integrity problems were corrected, but that does not guarantee every fit is perfect. It is especially important not to confuse this conversion discrepancy with the student’s prediction error or subtract it from PVE. The two quantities are measured on different objects and answer different questions.</a:t>
            </a:r>
          </a:p>
          <a:p/>
          <a:p>
            <a:r>
              <a:t>POINT / DEMO CUE</a:t>
            </a:r>
          </a:p>
          <a:p>
            <a:r>
              <a:t>Point to the source and converted meshes, then the discrepancy.</a:t>
            </a:r>
          </a:p>
          <a:p/>
          <a:p>
            <a:r>
              <a:t>TRANSITION</a:t>
            </a:r>
          </a:p>
          <a:p>
            <a:r>
              <a:t>The next slides show existing qualitative reconstruction evidence.</a:t>
            </a:r>
          </a:p>
          <a:p/>
          <a:p>
            <a:r>
              <a:t>SOURCE</a:t>
            </a:r>
          </a:p>
          <a:p>
            <a:r>
              <a:t>Sources: thesis §3.5, Table T05; F14_label_check_downtown_walking_00771.jpg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Synthetic example: inspect placement as well as pose</a:t>
            </a:r>
          </a:p>
          <a:p/>
          <a:p>
            <a:r>
              <a:t>SPEAKING SCRIPT</a:t>
            </a:r>
          </a:p>
          <a:p>
            <a:r>
              <a:t>This synthetic image allows a visual comparison with a known ground-truth mesh. The four columns are the input image, dataset ground truth, the earlier Base or v5 model, and the larger Final teacher. This comparison is useful for looking at apparent size and placement, not just whether the body bends plausibly. Each prediction is shown at its own predicted depth in the V1 evaluation setting. In this example, the teacher’s body appears closer to the ground-truth size and location than the Base prediction. This is a selected example rather than proof of improvement on every image. It also does not show student performance. I identify the models explicitly because the word Final in older experiment filenames refers to the larger teacher, while my deployed model is the student.</a:t>
            </a:r>
          </a:p>
          <a:p/>
          <a:p>
            <a:r>
              <a:t>POINT / DEMO CUE</a:t>
            </a:r>
          </a:p>
          <a:p>
            <a:r>
              <a:t>Point to ground truth first; compare the third and fourth panels.</a:t>
            </a:r>
          </a:p>
          <a:p/>
          <a:p>
            <a:r>
              <a:t>TRANSITION</a:t>
            </a:r>
          </a:p>
          <a:p>
            <a:r>
              <a:t>Real-photo demonstrations require additional caution about rendering settings.</a:t>
            </a:r>
          </a:p>
          <a:p/>
          <a:p>
            <a:r>
              <a:t>SOURCE</a:t>
            </a:r>
          </a:p>
          <a:p>
            <a:r>
              <a:t>Sources: thesis Figure F12; AnnyOne holdout image 579860, V1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Real-photo examples show strengths and limits</a:t>
            </a:r>
          </a:p>
          <a:p/>
          <a:p>
            <a:r>
              <a:t>SPEAKING SCRIPT</a:t>
            </a:r>
          </a:p>
          <a:p>
            <a:r>
              <a:t>These are existing real-image demonstrations of Base and the larger teacher. The top row is a 3DPW walking scene, while the lower row is a real-photo garden scene. They show that the system can place plausible whole-body surfaces on multiple people, but individual overlays are not a quantitative evaluation. These legacy demos use bounding-box-based placement and force fingers to a rest pose. Therefore I cannot use them to prove correct raw camera depth or accurate articulated fingers. The garden example also reminds us that people of different sizes and ages remain difficult, especially when partially hidden. The purpose of this slide is to show representative output and its limits. A fair student comparison requires student outputs rendered under the same settings.</a:t>
            </a:r>
          </a:p>
          <a:p/>
          <a:p>
            <a:r>
              <a:t>POINT / DEMO CUE</a:t>
            </a:r>
          </a:p>
          <a:p>
            <a:r>
              <a:t>Do not describe these as newly run student examples.</a:t>
            </a:r>
          </a:p>
          <a:p/>
          <a:p>
            <a:r>
              <a:t>TRANSITION</a:t>
            </a:r>
          </a:p>
          <a:p>
            <a:r>
              <a:t>The video pipeline provides the next comparison using the student itself.</a:t>
            </a:r>
          </a:p>
          <a:p/>
          <a:p>
            <a:r>
              <a:t>SOURCE</a:t>
            </a:r>
          </a:p>
          <a:p>
            <a:r>
              <a:t>Sources: thesis Figures F10; walking and garden examples; demo rendering settings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Video comparison: student and released baseline</a:t>
            </a:r>
          </a:p>
          <a:p/>
          <a:p>
            <a:r>
              <a:t>SPEAKING SCRIPT</a:t>
            </a:r>
          </a:p>
          <a:p>
            <a:r>
              <a:t>The completed walking-video run processes the same 356 frames with the student and NAVER’s released baseline. The tracker matched the primary person on all 356 student frames and on 354 baseline frames. These counts show successful execution and coverage, but they do not measure pose accuracy or smoothness. For the live demo, open the comparison video and inspect whether the mesh shakes, whether limbs suddenly change pose, and whether body shape varies between frames. The pipeline operates frame by frame; it does not train or apply a temporal reconstruction model. A dedicated placeholder is left on this slide so I can insert the comparison video before presenting. The newer FPS feature is implemented, but this successful log predates it and supplies no verified video FPS result.</a:t>
            </a:r>
          </a:p>
          <a:p/>
          <a:p>
            <a:r>
              <a:t>POINT / DEMO CUE</a:t>
            </a:r>
          </a:p>
          <a:p>
            <a:r>
              <a:t>Before presenting: replace the large placeholder with comparison.mp4 using Insert &gt; Video &gt; This Device. Test playback. If the clip is unavailable, report the log counts only.</a:t>
            </a:r>
          </a:p>
          <a:p/>
          <a:p>
            <a:r>
              <a:t>TRANSITION</a:t>
            </a:r>
          </a:p>
          <a:p>
            <a:r>
              <a:t>The remaining issues define what we can honestly conclude.</a:t>
            </a:r>
          </a:p>
          <a:p/>
          <a:p>
            <a:r>
              <a:t>SOURCE</a:t>
            </a:r>
          </a:p>
          <a:p>
            <a:r>
              <a:t>Sources: video-compare-3642415.out; thesis video evidence; demo_video.py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What remains unresolved</a:t>
            </a:r>
          </a:p>
          <a:p/>
          <a:p>
            <a:r>
              <a:t>SPEAKING SCRIPT</a:t>
            </a:r>
          </a:p>
          <a:p>
            <a:r>
              <a:t>There are three main limitations. First, the student does not retain the teacher’s reconstruction accuracy within the planned ninety-five-percent criterion. The compression succeeds computationally, but the accuracy target remains unmet. Second, body shape on real images is still difficult, particularly for children. Strong synthetic results cannot establish performance on real children, and our small synthetic holdout contains adults. Third, a successful video run does not establish temporal stability. We need to inspect the clip and report reproducible timing and motion-variation measurements. These are bounded next steps rather than claims that a large new training programme is already complete. The presentation therefore separates what was implemented, what was measured, and what still needs evidence.</a:t>
            </a:r>
          </a:p>
          <a:p/>
          <a:p>
            <a:r>
              <a:t>POINT / DEMO CUE</a:t>
            </a:r>
          </a:p>
          <a:p>
            <a:r>
              <a:t>Keep these as specific limitations, not a list of speculative fixes.</a:t>
            </a:r>
          </a:p>
          <a:p/>
          <a:p>
            <a:r>
              <a:t>TRANSITION</a:t>
            </a:r>
          </a:p>
          <a:p>
            <a:r>
              <a:t>The final slide brings the contribution and the trade-off together.</a:t>
            </a:r>
          </a:p>
          <a:p/>
          <a:p>
            <a:r>
              <a:t>SOURCE</a:t>
            </a:r>
          </a:p>
          <a:p>
            <a:r>
              <a:t>Sources: thesis Discussion and Conclusion; video evidence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A smaller student with a measured trade-off</a:t>
            </a:r>
          </a:p>
          <a:p/>
          <a:p>
            <a:r>
              <a:t>SPEAKING SCRIPT</a:t>
            </a:r>
          </a:p>
          <a:p>
            <a:r>
              <a:t>The contribution is a complete and evaluated pipeline around a smaller student model. The data work makes real 3DPW supervision usable in Anny format, with validation of the converted annotations. The training work combines direct labels, transferred prediction heads and two distillation signals from a larger frozen teacher. The evaluation shows that the student reduces parameters and computation by roughly a factor of three and halves the recorded forward latency, but has higher reconstruction error than the teacher. The video-comparison implementation adds a practical way to examine deployment behaviour on identical frames. My conclusion is therefore a measured speed–accuracy trade-off. The immediate priorities are reviewing the actual walking clip, collecting its timing and stability evidence, and keeping the written conclusions aligned with those observations.</a:t>
            </a:r>
          </a:p>
          <a:p/>
          <a:p>
            <a:r>
              <a:t>POINT / DEMO CUE</a:t>
            </a:r>
          </a:p>
          <a:p>
            <a:r>
              <a:t>Pause for questions. Use the following slides only for technical details.</a:t>
            </a:r>
          </a:p>
          <a:p/>
          <a:p>
            <a:r>
              <a:t>TRANSITION</a:t>
            </a:r>
          </a:p>
          <a:p>
            <a:r>
              <a:t>Backup: exact objectives and sources.</a:t>
            </a:r>
          </a:p>
          <a:p/>
          <a:p>
            <a:r>
              <a:t>SOURCE</a:t>
            </a:r>
          </a:p>
          <a:p>
            <a:r>
              <a:t>Thesis revision, 22 Oct 2026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Backup: supervised objective and exact weights</a:t>
            </a:r>
          </a:p>
          <a:p/>
          <a:p>
            <a:r>
              <a:t>SPEAKING SCRIPT</a:t>
            </a:r>
          </a:p>
          <a:p>
            <a:r>
              <a:t>This backup gives the supervised weights used by the reported student. Detection has weight ten, offsets one, rotation zero point one, and shape twenty. Depth and translation each have weight five. The centred joint and vertex geometry terms each have weight one hundred, while the two-dimensional terms each have weight zero point one. These weights cannot be interpreted in isolation because the losses use different units and reductions. In the rotation expression, the mask suppresses unavailable 3DPW hand targets, and normalized per-bone weights emphasize selected regions. The mesh terms still include the rest-pose hands from converted labels. Shape supervision in the retained final configuration includes the converter’s fixed phenotype entries. These details matter when interpreting limitations or reproducing training.</a:t>
            </a:r>
          </a:p>
          <a:p/>
          <a:p>
            <a:r>
              <a:t>POINT / DEMO CUE</a:t>
            </a:r>
          </a:p>
          <a:p>
            <a:r>
              <a:t>Use only if asked about training loss or label masks.</a:t>
            </a:r>
          </a:p>
          <a:p/>
          <a:p>
            <a:r>
              <a:t>TRANSITION</a:t>
            </a:r>
          </a:p>
          <a:p>
            <a:r>
              <a:t>The next backup gives the two distillation formulas.</a:t>
            </a:r>
          </a:p>
          <a:p/>
          <a:p>
            <a:r>
              <a:t>SOURCE</a:t>
            </a:r>
          </a:p>
          <a:p>
            <a:r>
              <a:t>Sources: thesis §4.3; Table T02; loss.py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Backup: distillation equations</a:t>
            </a:r>
          </a:p>
          <a:p/>
          <a:p>
            <a:r>
              <a:t>SPEAKING SCRIPT</a:t>
            </a:r>
          </a:p>
          <a:p>
            <a:r>
              <a:t>For feature distillation, each token’s feature channels are converted into a probability distribution using temperature four. KL divergence compares the teacher distribution with the student distribution. The implementation multiplies by temperature squared and divides by batch size. It sums over tokens and channels, so describing it as an average over tokens would change the scale. Output distillation compares teacher and student rotations, phenotype values and focal-normalized log-depth for corresponding people. The weights are zero point one, twenty and five respectively. The teacher outputs are detached, so gradients update only the student. Unlike the supervised rotation loss, rotation distillation uses all bone residuals without the missing-label hand mask or the supervised per-bone weighting.</a:t>
            </a:r>
          </a:p>
          <a:p/>
          <a:p>
            <a:r>
              <a:t>POINT / DEMO CUE</a:t>
            </a:r>
          </a:p>
          <a:p>
            <a:r>
              <a:t>Explain indices only if needed.</a:t>
            </a:r>
          </a:p>
          <a:p/>
          <a:p>
            <a:r>
              <a:t>TRANSITION</a:t>
            </a:r>
          </a:p>
          <a:p>
            <a:r>
              <a:t>The last slide lists the source papers and project evidence.</a:t>
            </a:r>
          </a:p>
          <a:p/>
          <a:p>
            <a:r>
              <a:t>SOURCE</a:t>
            </a:r>
          </a:p>
          <a:p>
            <a:r>
              <a:t>Sources: thesis §4.8; distill.py; loss.py rotation_distill_term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Selected references and evidence</a:t>
            </a:r>
          </a:p>
          <a:p/>
          <a:p>
            <a:r>
              <a:t>SPEAKING SCRIPT</a:t>
            </a:r>
          </a:p>
          <a:p>
            <a:r>
              <a:t>These sources provide the architecture, body model, feature encoder, dataset and distillation background. The numerical results in this presentation come from the revised repository thesis and its traceable experiment records, rather than from the sample presentation or invented estimates. The completed student evaluation is job 3614191, and the walking-video execution is job 3642415. The accompanying source map identifies the thesis sections and image files used on each slide. Existing pictures preserve the model and rendering-setting distinctions described in the thesis. Before a final thesis defence, bibliographic metadata should be checked against the official publications, as the thesis already records that author-review step.</a:t>
            </a:r>
          </a:p>
          <a:p/>
          <a:p>
            <a:r>
              <a:t>POINT / DEMO CUE</a:t>
            </a:r>
          </a:p>
          <a:p>
            <a:r>
              <a:t>Keep as a reference slide for questions, not a slide to read aloud.</a:t>
            </a:r>
          </a:p>
          <a:p/>
          <a:p>
            <a:r>
              <a:t>TRANSITION</a:t>
            </a:r>
          </a:p>
          <a:p/>
          <a:p/>
          <a:p>
            <a:r>
              <a:t>SOURCE</a:t>
            </a:r>
          </a:p>
          <a:p>
            <a:r>
              <a:t>Full bibliography and run provenance: docs/thesis/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01 / INTRODUCTION</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Multi-Person Human Mesh Recovery</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Muhammad Saad Najib · Supervisor presentation · 22 October 2026</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01</a:t>
            </a:r>
          </a:p>
        </p:txBody>
      </p:sp>
      <p:sp>
        <p:nvSpPr>
          <p:cNvPr id="8" name="TextBox 7"/>
          <p:cNvSpPr txBox="1"/>
          <p:nvPr/>
        </p:nvSpPr>
        <p:spPr>
          <a:xfrm>
            <a:off x="548640" y="1481328"/>
            <a:ext cx="10789920" cy="548640"/>
          </a:xfrm>
          <a:prstGeom prst="rect">
            <a:avLst/>
          </a:prstGeom>
          <a:noFill/>
        </p:spPr>
        <p:txBody>
          <a:bodyPr wrap="square" lIns="22860" rIns="22860" tIns="22860" bIns="22860">
            <a:spAutoFit/>
          </a:bodyPr>
          <a:lstStyle/>
          <a:p>
            <a:pPr>
              <a:spcAft>
                <a:spcPts val="700"/>
              </a:spcAft>
              <a:defRPr sz="3000" b="1">
                <a:solidFill>
                  <a:srgbClr val="087F8C"/>
                </a:solidFill>
                <a:latin typeface="Aptos"/>
              </a:defRPr>
            </a:pPr>
            <a:r>
              <a:t>with the Anny Body Model</a:t>
            </a:r>
          </a:p>
        </p:txBody>
      </p:sp>
      <p:sp>
        <p:nvSpPr>
          <p:cNvPr id="9" name="TextBox 8"/>
          <p:cNvSpPr txBox="1"/>
          <p:nvPr/>
        </p:nvSpPr>
        <p:spPr>
          <a:xfrm>
            <a:off x="566928" y="2331720"/>
            <a:ext cx="5943600" cy="1188720"/>
          </a:xfrm>
          <a:prstGeom prst="rect">
            <a:avLst/>
          </a:prstGeom>
          <a:noFill/>
        </p:spPr>
        <p:txBody>
          <a:bodyPr wrap="square" lIns="22860" rIns="22860" tIns="22860" bIns="22860">
            <a:spAutoFit/>
          </a:bodyPr>
          <a:lstStyle/>
          <a:p>
            <a:pPr>
              <a:spcAft>
                <a:spcPts val="700"/>
              </a:spcAft>
              <a:defRPr sz="2700" b="0">
                <a:solidFill>
                  <a:srgbClr val="142D45"/>
                </a:solidFill>
                <a:latin typeface="Aptos"/>
              </a:defRPr>
            </a:pPr>
            <a:r>
              <a:t>A smaller student model for recovering 3D people</a:t>
            </a:r>
          </a:p>
          <a:p>
            <a:pPr>
              <a:spcAft>
                <a:spcPts val="700"/>
              </a:spcAft>
              <a:defRPr sz="2700" b="0">
                <a:solidFill>
                  <a:srgbClr val="142D45"/>
                </a:solidFill>
                <a:latin typeface="Aptos"/>
              </a:defRPr>
            </a:pPr>
            <a:r>
              <a:t>from a single image</a:t>
            </a:r>
          </a:p>
        </p:txBody>
      </p:sp>
      <p:sp>
        <p:nvSpPr>
          <p:cNvPr id="10" name="TextBox 9"/>
          <p:cNvSpPr txBox="1"/>
          <p:nvPr/>
        </p:nvSpPr>
        <p:spPr>
          <a:xfrm>
            <a:off x="566928" y="4297680"/>
            <a:ext cx="5760720" cy="914400"/>
          </a:xfrm>
          <a:prstGeom prst="rect">
            <a:avLst/>
          </a:prstGeom>
          <a:noFill/>
        </p:spPr>
        <p:txBody>
          <a:bodyPr wrap="square" lIns="22860" rIns="22860" tIns="22860" bIns="22860">
            <a:spAutoFit/>
          </a:bodyPr>
          <a:lstStyle/>
          <a:p>
            <a:pPr>
              <a:spcAft>
                <a:spcPts val="700"/>
              </a:spcAft>
              <a:defRPr sz="2000" b="0">
                <a:solidFill>
                  <a:srgbClr val="526779"/>
                </a:solidFill>
                <a:latin typeface="Aptos"/>
              </a:defRPr>
            </a:pPr>
            <a:r>
              <a:t>Muhammad Saad Najib</a:t>
            </a:r>
          </a:p>
          <a:p>
            <a:pPr>
              <a:spcAft>
                <a:spcPts val="700"/>
              </a:spcAft>
              <a:defRPr sz="2000" b="0">
                <a:solidFill>
                  <a:srgbClr val="526779"/>
                </a:solidFill>
                <a:latin typeface="Aptos"/>
              </a:defRPr>
            </a:pPr>
            <a:r>
              <a:t>Master’s thesis · Supervisor presentation</a:t>
            </a:r>
          </a:p>
        </p:txBody>
      </p:sp>
      <p:pic>
        <p:nvPicPr>
          <p:cNvPr id="11" name="Picture 10" descr="final_model_real_photos.jpg"/>
          <p:cNvPicPr>
            <a:picLocks noChangeAspect="1"/>
          </p:cNvPicPr>
          <p:nvPr/>
        </p:nvPicPr>
        <p:blipFill>
          <a:blip r:embed="rId2"/>
          <a:stretch>
            <a:fillRect/>
          </a:stretch>
        </p:blipFill>
        <p:spPr>
          <a:xfrm>
            <a:off x="7484181" y="2194560"/>
            <a:ext cx="3502517" cy="3474720"/>
          </a:xfrm>
          <a:prstGeom prst="rect">
            <a:avLst/>
          </a:prstGeom>
        </p:spPr>
      </p:pic>
      <p:sp>
        <p:nvSpPr>
          <p:cNvPr id="12" name="TextBox 11"/>
          <p:cNvSpPr txBox="1"/>
          <p:nvPr/>
        </p:nvSpPr>
        <p:spPr>
          <a:xfrm>
            <a:off x="7223760" y="5715000"/>
            <a:ext cx="4114800" cy="502920"/>
          </a:xfrm>
          <a:prstGeom prst="rect">
            <a:avLst/>
          </a:prstGeom>
          <a:noFill/>
        </p:spPr>
        <p:txBody>
          <a:bodyPr wrap="square" lIns="22860" rIns="22860" tIns="22860" bIns="22860">
            <a:spAutoFit/>
          </a:bodyPr>
          <a:lstStyle/>
          <a:p>
            <a:pPr>
              <a:spcAft>
                <a:spcPts val="700"/>
              </a:spcAft>
              <a:defRPr sz="1200" b="0">
                <a:solidFill>
                  <a:srgbClr val="526779"/>
                </a:solidFill>
                <a:latin typeface="Aptos"/>
              </a:defRPr>
            </a:pPr>
            <a:r>
              <a:t>Illustration: Base/v5 and teacher overlays</a:t>
            </a:r>
          </a:p>
          <a:p>
            <a:pPr>
              <a:spcAft>
                <a:spcPts val="700"/>
              </a:spcAft>
              <a:defRPr sz="1200" b="0">
                <a:solidFill>
                  <a:srgbClr val="526779"/>
                </a:solidFill>
                <a:latin typeface="Aptos"/>
              </a:defRPr>
            </a:pPr>
            <a:r>
              <a:t>These are not student predictions.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02 / PROBLEM STATEMENT</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One photograph, several difficult decisions</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Thesis revision, 22 Oct 2026</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02</a:t>
            </a:r>
          </a:p>
        </p:txBody>
      </p:sp>
      <p:sp>
        <p:nvSpPr>
          <p:cNvPr id="8" name="Rounded Rectangle 7"/>
          <p:cNvSpPr/>
          <p:nvPr/>
        </p:nvSpPr>
        <p:spPr>
          <a:xfrm>
            <a:off x="548640" y="1874519"/>
            <a:ext cx="3566160" cy="3154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74519"/>
            <a:ext cx="50292" cy="31546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039112"/>
            <a:ext cx="318211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Recover a whole body</a:t>
            </a:r>
          </a:p>
        </p:txBody>
      </p:sp>
      <p:sp>
        <p:nvSpPr>
          <p:cNvPr id="11" name="TextBox 10"/>
          <p:cNvSpPr txBox="1"/>
          <p:nvPr/>
        </p:nvSpPr>
        <p:spPr>
          <a:xfrm>
            <a:off x="749808" y="2770632"/>
            <a:ext cx="3182112" cy="216712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Estimate pose, body shape</a:t>
            </a:r>
          </a:p>
          <a:p>
            <a:pPr>
              <a:spcAft>
                <a:spcPts val="700"/>
              </a:spcAft>
              <a:defRPr sz="1800" b="0">
                <a:solidFill>
                  <a:srgbClr val="20374B"/>
                </a:solidFill>
                <a:latin typeface="Aptos"/>
              </a:defRPr>
            </a:pPr>
            <a:r>
              <a:t>and distance from the camera.</a:t>
            </a:r>
          </a:p>
          <a:p>
            <a:pPr>
              <a:spcAft>
                <a:spcPts val="700"/>
              </a:spcAft>
              <a:defRPr sz="1800" b="0">
                <a:solidFill>
                  <a:srgbClr val="20374B"/>
                </a:solidFill>
                <a:latin typeface="Aptos"/>
              </a:defRPr>
            </a:pPr>
          </a:p>
          <a:p>
            <a:pPr>
              <a:spcAft>
                <a:spcPts val="700"/>
              </a:spcAft>
              <a:defRPr sz="1800" b="0">
                <a:solidFill>
                  <a:srgbClr val="20374B"/>
                </a:solidFill>
                <a:latin typeface="Aptos"/>
              </a:defRPr>
            </a:pPr>
            <a:r>
              <a:t>People can overlap or be</a:t>
            </a:r>
          </a:p>
          <a:p>
            <a:pPr>
              <a:spcAft>
                <a:spcPts val="700"/>
              </a:spcAft>
              <a:defRPr sz="1800" b="0">
                <a:solidFill>
                  <a:srgbClr val="20374B"/>
                </a:solidFill>
                <a:latin typeface="Aptos"/>
              </a:defRPr>
            </a:pPr>
            <a:r>
              <a:t>partly hidden.</a:t>
            </a:r>
          </a:p>
        </p:txBody>
      </p:sp>
      <p:sp>
        <p:nvSpPr>
          <p:cNvPr id="12" name="Rounded Rectangle 11"/>
          <p:cNvSpPr/>
          <p:nvPr/>
        </p:nvSpPr>
        <p:spPr>
          <a:xfrm>
            <a:off x="4315968" y="1874519"/>
            <a:ext cx="3566160" cy="3154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74519"/>
            <a:ext cx="50292" cy="31546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2039112"/>
            <a:ext cx="318211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Real photographs</a:t>
            </a:r>
          </a:p>
        </p:txBody>
      </p:sp>
      <p:sp>
        <p:nvSpPr>
          <p:cNvPr id="15" name="TextBox 14"/>
          <p:cNvSpPr txBox="1"/>
          <p:nvPr/>
        </p:nvSpPr>
        <p:spPr>
          <a:xfrm>
            <a:off x="4517136" y="2770632"/>
            <a:ext cx="3182112" cy="216712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Synthetic images have exact</a:t>
            </a:r>
          </a:p>
          <a:p>
            <a:pPr>
              <a:spcAft>
                <a:spcPts val="700"/>
              </a:spcAft>
              <a:defRPr sz="1800" b="0">
                <a:solidFill>
                  <a:srgbClr val="20374B"/>
                </a:solidFill>
                <a:latin typeface="Aptos"/>
              </a:defRPr>
            </a:pPr>
            <a:r>
              <a:t>labels but differ from photos.</a:t>
            </a:r>
          </a:p>
          <a:p>
            <a:pPr>
              <a:spcAft>
                <a:spcPts val="700"/>
              </a:spcAft>
              <a:defRPr sz="1800" b="0">
                <a:solidFill>
                  <a:srgbClr val="20374B"/>
                </a:solidFill>
                <a:latin typeface="Aptos"/>
              </a:defRPr>
            </a:pPr>
          </a:p>
          <a:p>
            <a:pPr>
              <a:spcAft>
                <a:spcPts val="700"/>
              </a:spcAft>
              <a:defRPr sz="1800" b="0">
                <a:solidFill>
                  <a:srgbClr val="20374B"/>
                </a:solidFill>
                <a:latin typeface="Aptos"/>
              </a:defRPr>
            </a:pPr>
            <a:r>
              <a:t>3DPW annotations use</a:t>
            </a:r>
          </a:p>
          <a:p>
            <a:pPr>
              <a:spcAft>
                <a:spcPts val="700"/>
              </a:spcAft>
              <a:defRPr sz="1800" b="0">
                <a:solidFill>
                  <a:srgbClr val="20374B"/>
                </a:solidFill>
                <a:latin typeface="Aptos"/>
              </a:defRPr>
            </a:pPr>
            <a:r>
              <a:t>a different body model.</a:t>
            </a:r>
          </a:p>
        </p:txBody>
      </p:sp>
      <p:sp>
        <p:nvSpPr>
          <p:cNvPr id="16" name="Rounded Rectangle 15"/>
          <p:cNvSpPr/>
          <p:nvPr/>
        </p:nvSpPr>
        <p:spPr>
          <a:xfrm>
            <a:off x="8083296" y="1874519"/>
            <a:ext cx="3566160" cy="3154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83296" y="1874519"/>
            <a:ext cx="50292" cy="31546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4464" y="2039112"/>
            <a:ext cx="318211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Reduce inference cost</a:t>
            </a:r>
          </a:p>
        </p:txBody>
      </p:sp>
      <p:sp>
        <p:nvSpPr>
          <p:cNvPr id="19" name="TextBox 18"/>
          <p:cNvSpPr txBox="1"/>
          <p:nvPr/>
        </p:nvSpPr>
        <p:spPr>
          <a:xfrm>
            <a:off x="8284464" y="2770632"/>
            <a:ext cx="3182112" cy="216712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Large models require more</a:t>
            </a:r>
          </a:p>
          <a:p>
            <a:pPr>
              <a:spcAft>
                <a:spcPts val="700"/>
              </a:spcAft>
              <a:defRPr sz="1800" b="0">
                <a:solidFill>
                  <a:srgbClr val="20374B"/>
                </a:solidFill>
                <a:latin typeface="Aptos"/>
              </a:defRPr>
            </a:pPr>
            <a:r>
              <a:t>computation and memory.</a:t>
            </a:r>
          </a:p>
          <a:p>
            <a:pPr>
              <a:spcAft>
                <a:spcPts val="700"/>
              </a:spcAft>
              <a:defRPr sz="1800" b="0">
                <a:solidFill>
                  <a:srgbClr val="20374B"/>
                </a:solidFill>
                <a:latin typeface="Aptos"/>
              </a:defRPr>
            </a:pPr>
          </a:p>
          <a:p>
            <a:pPr>
              <a:spcAft>
                <a:spcPts val="700"/>
              </a:spcAft>
              <a:defRPr sz="1800" b="0">
                <a:solidFill>
                  <a:srgbClr val="20374B"/>
                </a:solidFill>
                <a:latin typeface="Aptos"/>
              </a:defRPr>
            </a:pPr>
            <a:r>
              <a:t>Can a smaller model retain</a:t>
            </a:r>
          </a:p>
          <a:p>
            <a:pPr>
              <a:spcAft>
                <a:spcPts val="700"/>
              </a:spcAft>
              <a:defRPr sz="1800" b="0">
                <a:solidFill>
                  <a:srgbClr val="20374B"/>
                </a:solidFill>
                <a:latin typeface="Aptos"/>
              </a:defRPr>
            </a:pPr>
            <a:r>
              <a:t>useful reconstruction quality?</a:t>
            </a:r>
          </a:p>
        </p:txBody>
      </p:sp>
      <p:sp>
        <p:nvSpPr>
          <p:cNvPr id="20" name="Rounded Rectangle 19"/>
          <p:cNvSpPr/>
          <p:nvPr/>
        </p:nvSpPr>
        <p:spPr>
          <a:xfrm>
            <a:off x="530352" y="5623560"/>
            <a:ext cx="11109960" cy="566928"/>
          </a:xfrm>
          <a:prstGeom prst="roundRect">
            <a:avLst>
              <a:gd name="adj" fmla="val 12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705856"/>
            <a:ext cx="10698480" cy="438912"/>
          </a:xfrm>
          <a:prstGeom prst="rect">
            <a:avLst/>
          </a:prstGeom>
          <a:noFill/>
        </p:spPr>
        <p:txBody>
          <a:bodyPr wrap="square" lIns="22860" rIns="22860" tIns="22860" bIns="22860">
            <a:spAutoFit/>
          </a:bodyPr>
          <a:lstStyle/>
          <a:p>
            <a:pPr>
              <a:spcAft>
                <a:spcPts val="700"/>
              </a:spcAft>
              <a:defRPr sz="1900" b="1">
                <a:solidFill>
                  <a:srgbClr val="FFFFFF"/>
                </a:solidFill>
                <a:latin typeface="Aptos"/>
              </a:defRPr>
            </a:pPr>
            <a:r>
              <a:t>Research question: how much accuracy can a smaller student retain?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03 / ORIGINAL MULTI-HMR</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Baseline: one image → multiple 3D bodies</a:t>
            </a:r>
          </a:p>
        </p:txBody>
      </p:sp>
      <p:sp>
        <p:nvSpPr>
          <p:cNvPr id="5" name="TextBox 4"/>
          <p:cNvSpPr txBox="1"/>
          <p:nvPr/>
        </p:nvSpPr>
        <p:spPr>
          <a:xfrm>
            <a:off x="530352" y="1508760"/>
            <a:ext cx="10972800" cy="548640"/>
          </a:xfrm>
          <a:prstGeom prst="rect">
            <a:avLst/>
          </a:prstGeom>
          <a:noFill/>
        </p:spPr>
        <p:txBody>
          <a:bodyPr wrap="square" lIns="22860" rIns="22860" tIns="22860" bIns="22860">
            <a:spAutoFit/>
          </a:bodyPr>
          <a:lstStyle/>
          <a:p>
            <a:pPr>
              <a:spcAft>
                <a:spcPts val="700"/>
              </a:spcAft>
              <a:defRPr sz="1600" b="0">
                <a:solidFill>
                  <a:srgbClr val="526779"/>
                </a:solidFill>
                <a:latin typeface="Aptos"/>
              </a:defRPr>
            </a:pPr>
            <a:r>
              <a:t>Baseline used in this project: the released Multi-HMR model with Anny outputs.</a:t>
            </a:r>
          </a:p>
        </p:txBody>
      </p:sp>
      <p:sp>
        <p:nvSpPr>
          <p:cNvPr id="6" name="Rectangle 5"/>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Multi-HMR (Baradel et al., 2024); released NAVER Anny checkpoint; thesis §4.2</a:t>
            </a:r>
          </a:p>
        </p:txBody>
      </p:sp>
      <p:sp>
        <p:nvSpPr>
          <p:cNvPr id="8" name="TextBox 7"/>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03</a:t>
            </a:r>
          </a:p>
        </p:txBody>
      </p:sp>
      <p:sp>
        <p:nvSpPr>
          <p:cNvPr id="9" name="Rounded Rectangle 8"/>
          <p:cNvSpPr/>
          <p:nvPr/>
        </p:nvSpPr>
        <p:spPr>
          <a:xfrm>
            <a:off x="566928" y="2606040"/>
            <a:ext cx="2029968" cy="114300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52344"/>
            <a:ext cx="1847088" cy="9601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RGB image</a:t>
            </a:r>
          </a:p>
          <a:p>
            <a:pPr algn="ctr">
              <a:spcAft>
                <a:spcPts val="700"/>
              </a:spcAft>
              <a:defRPr sz="1800" b="1">
                <a:solidFill>
                  <a:srgbClr val="20374B"/>
                </a:solidFill>
                <a:latin typeface="Aptos"/>
              </a:defRPr>
            </a:pPr>
            <a:r>
              <a:t>672 × 672</a:t>
            </a:r>
          </a:p>
        </p:txBody>
      </p:sp>
      <p:cxnSp>
        <p:nvCxnSpPr>
          <p:cNvPr id="11" name="Connector 10"/>
          <p:cNvCxnSpPr/>
          <p:nvPr/>
        </p:nvCxnSpPr>
        <p:spPr>
          <a:xfrm>
            <a:off x="2596896" y="3172968"/>
            <a:ext cx="265176"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98648" y="2606040"/>
            <a:ext cx="2029968" cy="114300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0088" y="2752344"/>
            <a:ext cx="1847088" cy="9601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DINOv2</a:t>
            </a:r>
          </a:p>
          <a:p>
            <a:pPr algn="ctr">
              <a:spcAft>
                <a:spcPts val="700"/>
              </a:spcAft>
              <a:defRPr sz="1800" b="1">
                <a:solidFill>
                  <a:srgbClr val="20374B"/>
                </a:solidFill>
                <a:latin typeface="Aptos"/>
              </a:defRPr>
            </a:pPr>
            <a:r>
              <a:t>ViT-L encoder</a:t>
            </a:r>
          </a:p>
        </p:txBody>
      </p:sp>
      <p:cxnSp>
        <p:nvCxnSpPr>
          <p:cNvPr id="14" name="Connector 13"/>
          <p:cNvCxnSpPr/>
          <p:nvPr/>
        </p:nvCxnSpPr>
        <p:spPr>
          <a:xfrm>
            <a:off x="4928616" y="3172968"/>
            <a:ext cx="265176"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230368" y="2606040"/>
            <a:ext cx="2029968" cy="114300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21807" y="2752344"/>
            <a:ext cx="1847088" cy="9601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Detect people</a:t>
            </a:r>
          </a:p>
          <a:p>
            <a:pPr algn="ctr">
              <a:spcAft>
                <a:spcPts val="700"/>
              </a:spcAft>
              <a:defRPr sz="1800" b="1">
                <a:solidFill>
                  <a:srgbClr val="20374B"/>
                </a:solidFill>
                <a:latin typeface="Aptos"/>
              </a:defRPr>
            </a:pPr>
            <a:r>
              <a:t>+ image offsets</a:t>
            </a:r>
          </a:p>
        </p:txBody>
      </p:sp>
      <p:cxnSp>
        <p:nvCxnSpPr>
          <p:cNvPr id="17" name="Connector 16"/>
          <p:cNvCxnSpPr/>
          <p:nvPr/>
        </p:nvCxnSpPr>
        <p:spPr>
          <a:xfrm>
            <a:off x="7260336" y="3172968"/>
            <a:ext cx="265176"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562088" y="2606040"/>
            <a:ext cx="2029968" cy="114300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53527" y="2752344"/>
            <a:ext cx="1847088" cy="9601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Person decoder</a:t>
            </a:r>
          </a:p>
          <a:p>
            <a:pPr algn="ctr">
              <a:spcAft>
                <a:spcPts val="700"/>
              </a:spcAft>
              <a:defRPr sz="1800" b="1">
                <a:solidFill>
                  <a:srgbClr val="20374B"/>
                </a:solidFill>
                <a:latin typeface="Aptos"/>
              </a:defRPr>
            </a:pPr>
            <a:r>
              <a:t>(cross-attention)</a:t>
            </a:r>
          </a:p>
        </p:txBody>
      </p:sp>
      <p:cxnSp>
        <p:nvCxnSpPr>
          <p:cNvPr id="20" name="Connector 19"/>
          <p:cNvCxnSpPr/>
          <p:nvPr/>
        </p:nvCxnSpPr>
        <p:spPr>
          <a:xfrm>
            <a:off x="9592055" y="3172968"/>
            <a:ext cx="265177"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893807" y="2606040"/>
            <a:ext cx="2029968" cy="114300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85247" y="2752344"/>
            <a:ext cx="1847088" cy="9601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Anny body</a:t>
            </a:r>
          </a:p>
          <a:p>
            <a:pPr algn="ctr">
              <a:spcAft>
                <a:spcPts val="700"/>
              </a:spcAft>
              <a:defRPr sz="1800" b="1">
                <a:solidFill>
                  <a:srgbClr val="20374B"/>
                </a:solidFill>
                <a:latin typeface="Aptos"/>
              </a:defRPr>
            </a:pPr>
            <a:r>
              <a:t>+ placement</a:t>
            </a:r>
          </a:p>
        </p:txBody>
      </p:sp>
      <p:sp>
        <p:nvSpPr>
          <p:cNvPr id="23" name="TextBox 22"/>
          <p:cNvSpPr txBox="1"/>
          <p:nvPr/>
        </p:nvSpPr>
        <p:spPr>
          <a:xfrm>
            <a:off x="6675120" y="1920240"/>
            <a:ext cx="4754880" cy="411480"/>
          </a:xfrm>
          <a:prstGeom prst="rect">
            <a:avLst/>
          </a:prstGeom>
          <a:noFill/>
        </p:spPr>
        <p:txBody>
          <a:bodyPr wrap="square" lIns="22860" rIns="22860" tIns="22860" bIns="22860">
            <a:spAutoFit/>
          </a:bodyPr>
          <a:lstStyle/>
          <a:p>
            <a:pPr>
              <a:spcAft>
                <a:spcPts val="700"/>
              </a:spcAft>
              <a:defRPr sz="1800" b="1">
                <a:solidFill>
                  <a:srgbClr val="087F8C"/>
                </a:solidFill>
                <a:latin typeface="Aptos"/>
              </a:defRPr>
            </a:pPr>
            <a:r>
              <a:t>Camera intrinsics K → geometric placement</a:t>
            </a:r>
          </a:p>
        </p:txBody>
      </p:sp>
      <p:cxnSp>
        <p:nvCxnSpPr>
          <p:cNvPr id="24" name="Connector 23"/>
          <p:cNvCxnSpPr/>
          <p:nvPr/>
        </p:nvCxnSpPr>
        <p:spPr>
          <a:xfrm>
            <a:off x="10927080" y="2395728"/>
            <a:ext cx="0" cy="201168"/>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58368" y="4206240"/>
            <a:ext cx="5394960" cy="548640"/>
          </a:xfrm>
          <a:prstGeom prst="rect">
            <a:avLst/>
          </a:prstGeom>
          <a:noFill/>
        </p:spPr>
        <p:txBody>
          <a:bodyPr wrap="square" lIns="22860" rIns="22860" tIns="22860" bIns="22860">
            <a:spAutoFit/>
          </a:bodyPr>
          <a:lstStyle/>
          <a:p>
            <a:pPr>
              <a:spcAft>
                <a:spcPts val="700"/>
              </a:spcAft>
              <a:defRPr sz="2100" b="0">
                <a:solidFill>
                  <a:srgbClr val="20374B"/>
                </a:solidFill>
                <a:latin typeface="Aptos"/>
              </a:defRPr>
            </a:pPr>
            <a:r>
              <a:t>Encoder: extracts image information</a:t>
            </a:r>
          </a:p>
        </p:txBody>
      </p:sp>
      <p:sp>
        <p:nvSpPr>
          <p:cNvPr id="26" name="TextBox 25"/>
          <p:cNvSpPr txBox="1"/>
          <p:nvPr/>
        </p:nvSpPr>
        <p:spPr>
          <a:xfrm>
            <a:off x="5943600" y="4206240"/>
            <a:ext cx="5486400" cy="731520"/>
          </a:xfrm>
          <a:prstGeom prst="rect">
            <a:avLst/>
          </a:prstGeom>
          <a:noFill/>
        </p:spPr>
        <p:txBody>
          <a:bodyPr wrap="square" lIns="22860" rIns="22860" tIns="22860" bIns="22860">
            <a:spAutoFit/>
          </a:bodyPr>
          <a:lstStyle/>
          <a:p>
            <a:pPr>
              <a:spcAft>
                <a:spcPts val="700"/>
              </a:spcAft>
              <a:defRPr sz="2100" b="0">
                <a:solidFill>
                  <a:srgbClr val="20374B"/>
                </a:solidFill>
                <a:latin typeface="Aptos"/>
              </a:defRPr>
            </a:pPr>
            <a:r>
              <a:t>Decoder: predicts one body per detected person</a:t>
            </a:r>
          </a:p>
        </p:txBody>
      </p:sp>
      <p:sp>
        <p:nvSpPr>
          <p:cNvPr id="27" name="Rounded Rectangle 26"/>
          <p:cNvSpPr/>
          <p:nvPr/>
        </p:nvSpPr>
        <p:spPr>
          <a:xfrm>
            <a:off x="530352" y="5623560"/>
            <a:ext cx="11109960" cy="566928"/>
          </a:xfrm>
          <a:prstGeom prst="roundRect">
            <a:avLst>
              <a:gd name="adj" fmla="val 12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705856"/>
            <a:ext cx="10698480" cy="438912"/>
          </a:xfrm>
          <a:prstGeom prst="rect">
            <a:avLst/>
          </a:prstGeom>
          <a:noFill/>
        </p:spPr>
        <p:txBody>
          <a:bodyPr wrap="square" lIns="22860" rIns="22860" tIns="22860" bIns="22860">
            <a:spAutoFit/>
          </a:bodyPr>
          <a:lstStyle/>
          <a:p>
            <a:pPr>
              <a:spcAft>
                <a:spcPts val="700"/>
              </a:spcAft>
              <a:defRPr sz="1900" b="1">
                <a:solidFill>
                  <a:srgbClr val="FFFFFF"/>
                </a:solidFill>
                <a:latin typeface="Aptos"/>
              </a:defRPr>
            </a:pPr>
            <a:r>
              <a:t>Single-shot: process the whole image in one forward pass.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04 / STUDENT–TEACHER ARCHITECTURE</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The student learns from labels and a frozen teacher</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§4.1, §4.8; model.py; distill.py; train.py</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04</a:t>
            </a:r>
          </a:p>
        </p:txBody>
      </p:sp>
      <p:sp>
        <p:nvSpPr>
          <p:cNvPr id="8" name="Rounded Rectangle 7"/>
          <p:cNvSpPr/>
          <p:nvPr/>
        </p:nvSpPr>
        <p:spPr>
          <a:xfrm>
            <a:off x="566928" y="2743200"/>
            <a:ext cx="1737360" cy="109728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889504"/>
            <a:ext cx="1554480" cy="91440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Same RGB image</a:t>
            </a:r>
          </a:p>
          <a:p>
            <a:pPr algn="ctr">
              <a:spcAft>
                <a:spcPts val="700"/>
              </a:spcAft>
              <a:defRPr sz="1800" b="1">
                <a:solidFill>
                  <a:srgbClr val="20374B"/>
                </a:solidFill>
                <a:latin typeface="Aptos"/>
              </a:defRPr>
            </a:pPr>
            <a:r>
              <a:t>+ camera K</a:t>
            </a:r>
          </a:p>
        </p:txBody>
      </p:sp>
      <p:sp>
        <p:nvSpPr>
          <p:cNvPr id="10" name="Rounded Rectangle 9"/>
          <p:cNvSpPr/>
          <p:nvPr/>
        </p:nvSpPr>
        <p:spPr>
          <a:xfrm>
            <a:off x="2743200" y="1874519"/>
            <a:ext cx="2148840" cy="91440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0" y="2020824"/>
            <a:ext cx="1965960" cy="7315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Teacher: ViT-L</a:t>
            </a:r>
          </a:p>
          <a:p>
            <a:pPr algn="ctr">
              <a:spcAft>
                <a:spcPts val="700"/>
              </a:spcAft>
              <a:defRPr sz="1800" b="1">
                <a:solidFill>
                  <a:srgbClr val="20374B"/>
                </a:solidFill>
                <a:latin typeface="Aptos"/>
              </a:defRPr>
            </a:pPr>
            <a:r>
              <a:t>1,024 features</a:t>
            </a:r>
          </a:p>
        </p:txBody>
      </p:sp>
      <p:sp>
        <p:nvSpPr>
          <p:cNvPr id="12" name="Rounded Rectangle 11"/>
          <p:cNvSpPr/>
          <p:nvPr/>
        </p:nvSpPr>
        <p:spPr>
          <a:xfrm>
            <a:off x="5577840" y="1874519"/>
            <a:ext cx="2331720" cy="91440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79" y="2020824"/>
            <a:ext cx="2148839" cy="7315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Teacher heads</a:t>
            </a:r>
          </a:p>
          <a:p>
            <a:pPr algn="ctr">
              <a:spcAft>
                <a:spcPts val="700"/>
              </a:spcAft>
              <a:defRPr sz="1800" b="1">
                <a:solidFill>
                  <a:srgbClr val="20374B"/>
                </a:solidFill>
                <a:latin typeface="Aptos"/>
              </a:defRPr>
            </a:pPr>
            <a:r>
              <a:t>→ body parameters</a:t>
            </a:r>
          </a:p>
        </p:txBody>
      </p:sp>
      <p:sp>
        <p:nvSpPr>
          <p:cNvPr id="14" name="Rounded Rectangle 13"/>
          <p:cNvSpPr/>
          <p:nvPr/>
        </p:nvSpPr>
        <p:spPr>
          <a:xfrm>
            <a:off x="8778240" y="1874519"/>
            <a:ext cx="2606040" cy="91440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0" y="2020824"/>
            <a:ext cx="2423160" cy="7315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Anny layer</a:t>
            </a:r>
          </a:p>
          <a:p>
            <a:pPr algn="ctr">
              <a:spcAft>
                <a:spcPts val="700"/>
              </a:spcAft>
              <a:defRPr sz="1800" b="1">
                <a:solidFill>
                  <a:srgbClr val="20374B"/>
                </a:solidFill>
                <a:latin typeface="Aptos"/>
              </a:defRPr>
            </a:pPr>
            <a:r>
              <a:t>→ mesh + joints</a:t>
            </a:r>
          </a:p>
        </p:txBody>
      </p:sp>
      <p:sp>
        <p:nvSpPr>
          <p:cNvPr id="16" name="Rounded Rectangle 15"/>
          <p:cNvSpPr/>
          <p:nvPr/>
        </p:nvSpPr>
        <p:spPr>
          <a:xfrm>
            <a:off x="2743200" y="3749039"/>
            <a:ext cx="2148840" cy="914400"/>
          </a:xfrm>
          <a:prstGeom prst="roundRect">
            <a:avLst>
              <a:gd name="adj" fmla="val 12000"/>
            </a:avLst>
          </a:prstGeom>
          <a:solidFill>
            <a:srgbClr val="D5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3895344"/>
            <a:ext cx="1965960" cy="7315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Student: ViT-B</a:t>
            </a:r>
          </a:p>
          <a:p>
            <a:pPr algn="ctr">
              <a:spcAft>
                <a:spcPts val="700"/>
              </a:spcAft>
              <a:defRPr sz="1800" b="1">
                <a:solidFill>
                  <a:srgbClr val="20374B"/>
                </a:solidFill>
                <a:latin typeface="Aptos"/>
              </a:defRPr>
            </a:pPr>
            <a:r>
              <a:t>768 features</a:t>
            </a:r>
          </a:p>
        </p:txBody>
      </p:sp>
      <p:sp>
        <p:nvSpPr>
          <p:cNvPr id="18" name="Rounded Rectangle 17"/>
          <p:cNvSpPr/>
          <p:nvPr/>
        </p:nvSpPr>
        <p:spPr>
          <a:xfrm>
            <a:off x="5230368" y="3749039"/>
            <a:ext cx="1828800" cy="914400"/>
          </a:xfrm>
          <a:prstGeom prst="roundRect">
            <a:avLst>
              <a:gd name="adj" fmla="val 12000"/>
            </a:avLst>
          </a:prstGeom>
          <a:solidFill>
            <a:srgbClr val="D5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21807" y="3895344"/>
            <a:ext cx="1645920" cy="7315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Projector</a:t>
            </a:r>
          </a:p>
          <a:p>
            <a:pPr algn="ctr">
              <a:spcAft>
                <a:spcPts val="700"/>
              </a:spcAft>
              <a:defRPr sz="1800" b="1">
                <a:solidFill>
                  <a:srgbClr val="20374B"/>
                </a:solidFill>
                <a:latin typeface="Aptos"/>
              </a:defRPr>
            </a:pPr>
            <a:r>
              <a:t>768 → 1,024</a:t>
            </a:r>
          </a:p>
        </p:txBody>
      </p:sp>
      <p:sp>
        <p:nvSpPr>
          <p:cNvPr id="20" name="Rounded Rectangle 19"/>
          <p:cNvSpPr/>
          <p:nvPr/>
        </p:nvSpPr>
        <p:spPr>
          <a:xfrm>
            <a:off x="7388352" y="3749039"/>
            <a:ext cx="1874519" cy="914400"/>
          </a:xfrm>
          <a:prstGeom prst="roundRect">
            <a:avLst>
              <a:gd name="adj" fmla="val 12000"/>
            </a:avLst>
          </a:prstGeom>
          <a:solidFill>
            <a:srgbClr val="D5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79792" y="3895344"/>
            <a:ext cx="1691639" cy="7315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Copied heads</a:t>
            </a:r>
          </a:p>
          <a:p>
            <a:pPr algn="ctr">
              <a:spcAft>
                <a:spcPts val="700"/>
              </a:spcAft>
              <a:defRPr sz="1800" b="1">
                <a:solidFill>
                  <a:srgbClr val="20374B"/>
                </a:solidFill>
                <a:latin typeface="Aptos"/>
              </a:defRPr>
            </a:pPr>
            <a:r>
              <a:t>→ parameters</a:t>
            </a:r>
          </a:p>
        </p:txBody>
      </p:sp>
      <p:sp>
        <p:nvSpPr>
          <p:cNvPr id="22" name="Rounded Rectangle 21"/>
          <p:cNvSpPr/>
          <p:nvPr/>
        </p:nvSpPr>
        <p:spPr>
          <a:xfrm>
            <a:off x="9601200" y="3749039"/>
            <a:ext cx="1828800" cy="914400"/>
          </a:xfrm>
          <a:prstGeom prst="roundRect">
            <a:avLst>
              <a:gd name="adj" fmla="val 12000"/>
            </a:avLst>
          </a:prstGeom>
          <a:solidFill>
            <a:srgbClr val="D5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0" y="3895344"/>
            <a:ext cx="1645920" cy="7315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Anny layer</a:t>
            </a:r>
          </a:p>
          <a:p>
            <a:pPr algn="ctr">
              <a:spcAft>
                <a:spcPts val="700"/>
              </a:spcAft>
              <a:defRPr sz="1800" b="1">
                <a:solidFill>
                  <a:srgbClr val="20374B"/>
                </a:solidFill>
                <a:latin typeface="Aptos"/>
              </a:defRPr>
            </a:pPr>
            <a:r>
              <a:t>→ mesh</a:t>
            </a:r>
          </a:p>
        </p:txBody>
      </p:sp>
      <p:cxnSp>
        <p:nvCxnSpPr>
          <p:cNvPr id="24" name="Connector 23"/>
          <p:cNvCxnSpPr/>
          <p:nvPr/>
        </p:nvCxnSpPr>
        <p:spPr>
          <a:xfrm flipV="1">
            <a:off x="2304288" y="2331720"/>
            <a:ext cx="438912" cy="68580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304288" y="3474720"/>
            <a:ext cx="438912" cy="73152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892040" y="2331720"/>
            <a:ext cx="685800"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909560" y="2331720"/>
            <a:ext cx="868680"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892040" y="4206240"/>
            <a:ext cx="338328"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059168" y="4206240"/>
            <a:ext cx="329184"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262872" y="4206240"/>
            <a:ext cx="338328"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770632" y="1527048"/>
            <a:ext cx="4572000" cy="274320"/>
          </a:xfrm>
          <a:prstGeom prst="rect">
            <a:avLst/>
          </a:prstGeom>
          <a:noFill/>
        </p:spPr>
        <p:txBody>
          <a:bodyPr wrap="square" lIns="22860" rIns="22860" tIns="22860" bIns="22860">
            <a:spAutoFit/>
          </a:bodyPr>
          <a:lstStyle/>
          <a:p>
            <a:pPr>
              <a:spcAft>
                <a:spcPts val="700"/>
              </a:spcAft>
              <a:defRPr sz="1200" b="1">
                <a:solidFill>
                  <a:srgbClr val="526779"/>
                </a:solidFill>
                <a:latin typeface="Aptos"/>
              </a:defRPr>
            </a:pPr>
            <a:r>
              <a:t>FROZEN: no weight updates</a:t>
            </a:r>
          </a:p>
        </p:txBody>
      </p:sp>
      <p:cxnSp>
        <p:nvCxnSpPr>
          <p:cNvPr id="32" name="Connector 31"/>
          <p:cNvCxnSpPr/>
          <p:nvPr/>
        </p:nvCxnSpPr>
        <p:spPr>
          <a:xfrm>
            <a:off x="4663440" y="2798064"/>
            <a:ext cx="1325880" cy="932688"/>
          </a:xfrm>
          <a:prstGeom prst="line">
            <a:avLst/>
          </a:prstGeom>
          <a:ln w="25400">
            <a:solidFill>
              <a:srgbClr val="C48835"/>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657600" y="3063240"/>
            <a:ext cx="1920240" cy="365760"/>
          </a:xfrm>
          <a:prstGeom prst="rect">
            <a:avLst/>
          </a:prstGeom>
          <a:noFill/>
        </p:spPr>
        <p:txBody>
          <a:bodyPr wrap="square" lIns="22860" rIns="22860" tIns="22860" bIns="22860">
            <a:spAutoFit/>
          </a:bodyPr>
          <a:lstStyle/>
          <a:p>
            <a:pPr>
              <a:spcAft>
                <a:spcPts val="700"/>
              </a:spcAft>
              <a:defRPr sz="1500" b="1">
                <a:solidFill>
                  <a:srgbClr val="C48835"/>
                </a:solidFill>
                <a:latin typeface="Aptos"/>
              </a:defRPr>
            </a:pPr>
            <a:r>
              <a:t>Feature loss</a:t>
            </a:r>
          </a:p>
        </p:txBody>
      </p:sp>
      <p:cxnSp>
        <p:nvCxnSpPr>
          <p:cNvPr id="34" name="Connector 33"/>
          <p:cNvCxnSpPr/>
          <p:nvPr/>
        </p:nvCxnSpPr>
        <p:spPr>
          <a:xfrm>
            <a:off x="7543800" y="2798064"/>
            <a:ext cx="685800" cy="932688"/>
          </a:xfrm>
          <a:prstGeom prst="line">
            <a:avLst/>
          </a:prstGeom>
          <a:ln w="25400">
            <a:solidFill>
              <a:srgbClr val="C48835"/>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955279" y="3063240"/>
            <a:ext cx="1828800" cy="365760"/>
          </a:xfrm>
          <a:prstGeom prst="rect">
            <a:avLst/>
          </a:prstGeom>
          <a:noFill/>
        </p:spPr>
        <p:txBody>
          <a:bodyPr wrap="square" lIns="22860" rIns="22860" tIns="22860" bIns="22860">
            <a:spAutoFit/>
          </a:bodyPr>
          <a:lstStyle/>
          <a:p>
            <a:pPr>
              <a:spcAft>
                <a:spcPts val="700"/>
              </a:spcAft>
              <a:defRPr sz="1500" b="1">
                <a:solidFill>
                  <a:srgbClr val="C48835"/>
                </a:solidFill>
                <a:latin typeface="Aptos"/>
              </a:defRPr>
            </a:pPr>
            <a:r>
              <a:t>Output loss</a:t>
            </a:r>
          </a:p>
        </p:txBody>
      </p:sp>
      <p:sp>
        <p:nvSpPr>
          <p:cNvPr id="36" name="TextBox 35"/>
          <p:cNvSpPr txBox="1"/>
          <p:nvPr/>
        </p:nvSpPr>
        <p:spPr>
          <a:xfrm>
            <a:off x="2743200" y="5029200"/>
            <a:ext cx="8595360" cy="457200"/>
          </a:xfrm>
          <a:prstGeom prst="rect">
            <a:avLst/>
          </a:prstGeom>
          <a:noFill/>
        </p:spPr>
        <p:txBody>
          <a:bodyPr wrap="square" lIns="22860" rIns="22860" tIns="22860" bIns="22860">
            <a:spAutoFit/>
          </a:bodyPr>
          <a:lstStyle/>
          <a:p>
            <a:pPr>
              <a:spcAft>
                <a:spcPts val="700"/>
              </a:spcAft>
              <a:defRPr sz="2100" b="1">
                <a:solidFill>
                  <a:srgbClr val="087F8C"/>
                </a:solidFill>
                <a:latin typeface="Aptos"/>
              </a:defRPr>
            </a:pPr>
            <a:r>
              <a:t>Dataset labels → supervised losses on student predictions</a:t>
            </a:r>
          </a:p>
        </p:txBody>
      </p:sp>
      <p:sp>
        <p:nvSpPr>
          <p:cNvPr id="37" name="Rounded Rectangle 36"/>
          <p:cNvSpPr/>
          <p:nvPr/>
        </p:nvSpPr>
        <p:spPr>
          <a:xfrm>
            <a:off x="530352" y="5623560"/>
            <a:ext cx="11109960" cy="566928"/>
          </a:xfrm>
          <a:prstGeom prst="roundRect">
            <a:avLst>
              <a:gd name="adj" fmla="val 12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705856"/>
            <a:ext cx="10698480" cy="438912"/>
          </a:xfrm>
          <a:prstGeom prst="rect">
            <a:avLst/>
          </a:prstGeom>
          <a:noFill/>
        </p:spPr>
        <p:txBody>
          <a:bodyPr wrap="square" lIns="22860" rIns="22860" tIns="22860" bIns="22860">
            <a:spAutoFit/>
          </a:bodyPr>
          <a:lstStyle/>
          <a:p>
            <a:pPr>
              <a:spcAft>
                <a:spcPts val="700"/>
              </a:spcAft>
              <a:defRPr sz="1900" b="1">
                <a:solidFill>
                  <a:srgbClr val="FFFFFF"/>
                </a:solidFill>
                <a:latin typeface="Aptos"/>
              </a:defRPr>
            </a:pPr>
            <a:r>
              <a:t>Deployment uses only the student branch, including its projector.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04 / MODEL INPUTS AND OUTPUTS</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What goes in, and what comes out?</a:t>
            </a:r>
          </a:p>
        </p:txBody>
      </p:sp>
      <p:sp>
        <p:nvSpPr>
          <p:cNvPr id="5" name="TextBox 4"/>
          <p:cNvSpPr txBox="1"/>
          <p:nvPr/>
        </p:nvSpPr>
        <p:spPr>
          <a:xfrm>
            <a:off x="530352" y="1508760"/>
            <a:ext cx="10972800" cy="548640"/>
          </a:xfrm>
          <a:prstGeom prst="rect">
            <a:avLst/>
          </a:prstGeom>
          <a:noFill/>
        </p:spPr>
        <p:txBody>
          <a:bodyPr wrap="square" lIns="22860" rIns="22860" tIns="22860" bIns="22860">
            <a:spAutoFit/>
          </a:bodyPr>
          <a:lstStyle/>
          <a:p>
            <a:pPr>
              <a:spcAft>
                <a:spcPts val="700"/>
              </a:spcAft>
              <a:defRPr sz="1600" b="0">
                <a:solidFill>
                  <a:srgbClr val="526779"/>
                </a:solidFill>
                <a:latin typeface="Aptos"/>
              </a:defRPr>
            </a:pPr>
            <a:r>
              <a:t>A body model turns predicted parameters into a visible 3D surface.</a:t>
            </a:r>
          </a:p>
        </p:txBody>
      </p:sp>
      <p:sp>
        <p:nvSpPr>
          <p:cNvPr id="6" name="Rectangle 5"/>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§4.2; model.py</a:t>
            </a:r>
          </a:p>
        </p:txBody>
      </p:sp>
      <p:sp>
        <p:nvSpPr>
          <p:cNvPr id="8" name="TextBox 7"/>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05</a:t>
            </a:r>
          </a:p>
        </p:txBody>
      </p:sp>
      <p:sp>
        <p:nvSpPr>
          <p:cNvPr id="9" name="Rounded Rectangle 8"/>
          <p:cNvSpPr/>
          <p:nvPr/>
        </p:nvSpPr>
        <p:spPr>
          <a:xfrm>
            <a:off x="566928" y="2148840"/>
            <a:ext cx="3310128" cy="31272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148840"/>
            <a:ext cx="50292" cy="31272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13432"/>
            <a:ext cx="2926080"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Input</a:t>
            </a:r>
          </a:p>
        </p:txBody>
      </p:sp>
      <p:sp>
        <p:nvSpPr>
          <p:cNvPr id="12" name="TextBox 11"/>
          <p:cNvSpPr txBox="1"/>
          <p:nvPr/>
        </p:nvSpPr>
        <p:spPr>
          <a:xfrm>
            <a:off x="768096" y="3044952"/>
            <a:ext cx="2926080" cy="2139696"/>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RGB image + camera K</a:t>
            </a:r>
          </a:p>
          <a:p>
            <a:pPr>
              <a:spcAft>
                <a:spcPts val="700"/>
              </a:spcAft>
              <a:defRPr sz="1800" b="0">
                <a:solidFill>
                  <a:srgbClr val="20374B"/>
                </a:solidFill>
                <a:latin typeface="Aptos"/>
              </a:defRPr>
            </a:pPr>
          </a:p>
          <a:p>
            <a:pPr>
              <a:spcAft>
                <a:spcPts val="700"/>
              </a:spcAft>
              <a:defRPr sz="1800" b="0">
                <a:solidFill>
                  <a:srgbClr val="20374B"/>
                </a:solidFill>
                <a:latin typeface="Aptos"/>
              </a:defRPr>
            </a:pPr>
            <a:r>
              <a:t>Training also supplies</a:t>
            </a:r>
          </a:p>
          <a:p>
            <a:pPr>
              <a:spcAft>
                <a:spcPts val="700"/>
              </a:spcAft>
              <a:defRPr sz="1800" b="0">
                <a:solidFill>
                  <a:srgbClr val="20374B"/>
                </a:solidFill>
                <a:latin typeface="Aptos"/>
              </a:defRPr>
            </a:pPr>
            <a:r>
              <a:t>per-person body labels</a:t>
            </a:r>
          </a:p>
          <a:p>
            <a:pPr>
              <a:spcAft>
                <a:spcPts val="700"/>
              </a:spcAft>
              <a:defRPr sz="1800" b="0">
                <a:solidFill>
                  <a:srgbClr val="20374B"/>
                </a:solidFill>
                <a:latin typeface="Aptos"/>
              </a:defRPr>
            </a:pPr>
            <a:r>
              <a:t>and anchor locations.</a:t>
            </a:r>
          </a:p>
        </p:txBody>
      </p:sp>
      <p:sp>
        <p:nvSpPr>
          <p:cNvPr id="13" name="Rounded Rectangle 12"/>
          <p:cNvSpPr/>
          <p:nvPr/>
        </p:nvSpPr>
        <p:spPr>
          <a:xfrm>
            <a:off x="4142232" y="2148840"/>
            <a:ext cx="3703320" cy="31272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42232" y="2148840"/>
            <a:ext cx="50292" cy="31272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2313432"/>
            <a:ext cx="331927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Predictions per person</a:t>
            </a:r>
          </a:p>
        </p:txBody>
      </p:sp>
      <p:sp>
        <p:nvSpPr>
          <p:cNvPr id="16" name="TextBox 15"/>
          <p:cNvSpPr txBox="1"/>
          <p:nvPr/>
        </p:nvSpPr>
        <p:spPr>
          <a:xfrm>
            <a:off x="4343400" y="3044952"/>
            <a:ext cx="3319272" cy="2139696"/>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Detection score + 2D offset</a:t>
            </a:r>
          </a:p>
          <a:p>
            <a:pPr>
              <a:spcAft>
                <a:spcPts val="700"/>
              </a:spcAft>
              <a:defRPr sz="1800" b="0">
                <a:solidFill>
                  <a:srgbClr val="20374B"/>
                </a:solidFill>
                <a:latin typeface="Aptos"/>
              </a:defRPr>
            </a:pPr>
            <a:r>
              <a:t>163 bone rotations</a:t>
            </a:r>
          </a:p>
          <a:p>
            <a:pPr>
              <a:spcAft>
                <a:spcPts val="700"/>
              </a:spcAft>
              <a:defRPr sz="1800" b="0">
                <a:solidFill>
                  <a:srgbClr val="20374B"/>
                </a:solidFill>
                <a:latin typeface="Aptos"/>
              </a:defRPr>
            </a:pPr>
            <a:r>
              <a:t>11 body-shape parameters</a:t>
            </a:r>
          </a:p>
          <a:p>
            <a:pPr>
              <a:spcAft>
                <a:spcPts val="700"/>
              </a:spcAft>
              <a:defRPr sz="1800" b="0">
                <a:solidFill>
                  <a:srgbClr val="20374B"/>
                </a:solidFill>
                <a:latin typeface="Aptos"/>
              </a:defRPr>
            </a:pPr>
            <a:r>
              <a:t>Head-anchor depth</a:t>
            </a:r>
          </a:p>
        </p:txBody>
      </p:sp>
      <p:sp>
        <p:nvSpPr>
          <p:cNvPr id="17" name="Rounded Rectangle 16"/>
          <p:cNvSpPr/>
          <p:nvPr/>
        </p:nvSpPr>
        <p:spPr>
          <a:xfrm>
            <a:off x="8110727" y="2148840"/>
            <a:ext cx="3520440" cy="31272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10727" y="2148840"/>
            <a:ext cx="50292" cy="31272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2313432"/>
            <a:ext cx="313639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Decoded output</a:t>
            </a:r>
          </a:p>
        </p:txBody>
      </p:sp>
      <p:sp>
        <p:nvSpPr>
          <p:cNvPr id="20" name="TextBox 19"/>
          <p:cNvSpPr txBox="1"/>
          <p:nvPr/>
        </p:nvSpPr>
        <p:spPr>
          <a:xfrm>
            <a:off x="8311896" y="3044952"/>
            <a:ext cx="3136392" cy="2139696"/>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3D body mesh + joints</a:t>
            </a:r>
          </a:p>
          <a:p>
            <a:pPr>
              <a:spcAft>
                <a:spcPts val="700"/>
              </a:spcAft>
              <a:defRPr sz="1800" b="0">
                <a:solidFill>
                  <a:srgbClr val="20374B"/>
                </a:solidFill>
                <a:latin typeface="Aptos"/>
              </a:defRPr>
            </a:pPr>
          </a:p>
          <a:p>
            <a:pPr>
              <a:spcAft>
                <a:spcPts val="700"/>
              </a:spcAft>
              <a:defRPr sz="1800" b="0">
                <a:solidFill>
                  <a:srgbClr val="20374B"/>
                </a:solidFill>
                <a:latin typeface="Aptos"/>
              </a:defRPr>
            </a:pPr>
            <a:r>
              <a:t>Pose: how the body bends</a:t>
            </a:r>
          </a:p>
          <a:p>
            <a:pPr>
              <a:spcAft>
                <a:spcPts val="700"/>
              </a:spcAft>
              <a:defRPr sz="1800" b="0">
                <a:solidFill>
                  <a:srgbClr val="20374B"/>
                </a:solidFill>
                <a:latin typeface="Aptos"/>
              </a:defRPr>
            </a:pPr>
            <a:r>
              <a:t>Shape: body proportions</a:t>
            </a:r>
          </a:p>
          <a:p>
            <a:pPr>
              <a:spcAft>
                <a:spcPts val="700"/>
              </a:spcAft>
              <a:defRPr sz="1800" b="0">
                <a:solidFill>
                  <a:srgbClr val="20374B"/>
                </a:solidFill>
                <a:latin typeface="Aptos"/>
              </a:defRPr>
            </a:pPr>
            <a:r>
              <a:t>Placement: where it stands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04 / LOSS FUNCTIONS</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Supervised losses: compare predictions with labels</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§4.3; Table T02; exact formulas in backup slides</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06</a:t>
            </a:r>
          </a:p>
        </p:txBody>
      </p:sp>
      <p:graphicFrame>
        <p:nvGraphicFramePr>
          <p:cNvPr id="8" name="Table 7"/>
          <p:cNvGraphicFramePr>
            <a:graphicFrameLocks noGrp="1"/>
          </p:cNvGraphicFramePr>
          <p:nvPr/>
        </p:nvGraphicFramePr>
        <p:xfrm>
          <a:off x="566928" y="1874519"/>
          <a:ext cx="11045952" cy="3337560"/>
        </p:xfrm>
        <a:graphic>
          <a:graphicData uri="http://schemas.openxmlformats.org/drawingml/2006/table">
            <a:tbl>
              <a:tblPr firstRow="1" bandRow="1">
                <a:tableStyleId>{5C22544A-7EE6-4342-B048-85BDC9FD1C3A}</a:tableStyleId>
              </a:tblPr>
              <a:tblGrid>
                <a:gridCol w="2423160"/>
                <a:gridCol w="4617720"/>
                <a:gridCol w="4005072"/>
              </a:tblGrid>
              <a:tr h="556260">
                <a:tc>
                  <a:txBody>
                    <a:bodyPr/>
                    <a:lstStyle/>
                    <a:p>
                      <a:pPr>
                        <a:defRPr sz="1700" b="1">
                          <a:solidFill>
                            <a:srgbClr val="FFFFFF"/>
                          </a:solidFill>
                          <a:latin typeface="Aptos"/>
                        </a:defRPr>
                      </a:pPr>
                      <a:r>
                        <a:t>Loss group</a:t>
                      </a:r>
                    </a:p>
                  </a:txBody>
                  <a:tcPr marL="118872" marR="73152" marT="91440" anchor="ctr">
                    <a:solidFill>
                      <a:srgbClr val="142D45"/>
                    </a:solidFill>
                  </a:tcPr>
                </a:tc>
                <a:tc>
                  <a:txBody>
                    <a:bodyPr/>
                    <a:lstStyle/>
                    <a:p>
                      <a:pPr>
                        <a:defRPr sz="1700" b="1">
                          <a:solidFill>
                            <a:srgbClr val="FFFFFF"/>
                          </a:solidFill>
                          <a:latin typeface="Aptos"/>
                        </a:defRPr>
                      </a:pPr>
                      <a:r>
                        <a:t>What is compared?</a:t>
                      </a:r>
                    </a:p>
                  </a:txBody>
                  <a:tcPr marL="118872" marR="73152" marT="91440" anchor="ctr">
                    <a:solidFill>
                      <a:srgbClr val="142D45"/>
                    </a:solidFill>
                  </a:tcPr>
                </a:tc>
                <a:tc>
                  <a:txBody>
                    <a:bodyPr/>
                    <a:lstStyle/>
                    <a:p>
                      <a:pPr>
                        <a:defRPr sz="1700" b="1">
                          <a:solidFill>
                            <a:srgbClr val="FFFFFF"/>
                          </a:solidFill>
                          <a:latin typeface="Aptos"/>
                        </a:defRPr>
                      </a:pPr>
                      <a:r>
                        <a:t>Plain-language purpose</a:t>
                      </a:r>
                    </a:p>
                  </a:txBody>
                  <a:tcPr marL="118872" marR="73152" marT="91440" anchor="ctr">
                    <a:solidFill>
                      <a:srgbClr val="142D45"/>
                    </a:solidFill>
                  </a:tcPr>
                </a:tc>
              </a:tr>
              <a:tr h="556260">
                <a:tc>
                  <a:txBody>
                    <a:bodyPr/>
                    <a:lstStyle/>
                    <a:p>
                      <a:pPr>
                        <a:defRPr sz="1700" b="0">
                          <a:solidFill>
                            <a:srgbClr val="20374B"/>
                          </a:solidFill>
                          <a:latin typeface="Aptos"/>
                        </a:defRPr>
                      </a:pPr>
                      <a:r>
                        <a:t>Detection + offset</a:t>
                      </a:r>
                    </a:p>
                  </a:txBody>
                  <a:tcPr marL="118872" marR="73152" marT="91440" anchor="ctr">
                    <a:solidFill>
                      <a:srgbClr val="FFFFFF"/>
                    </a:solidFill>
                  </a:tcPr>
                </a:tc>
                <a:tc>
                  <a:txBody>
                    <a:bodyPr/>
                    <a:lstStyle/>
                    <a:p>
                      <a:pPr>
                        <a:defRPr sz="1700" b="0">
                          <a:solidFill>
                            <a:srgbClr val="20374B"/>
                          </a:solidFill>
                          <a:latin typeface="Aptos"/>
                        </a:defRPr>
                      </a:pPr>
                      <a:r>
                        <a:t>Person-anchor score and 2D location</a:t>
                      </a:r>
                    </a:p>
                  </a:txBody>
                  <a:tcPr marL="118872" marR="73152" marT="91440" anchor="ctr">
                    <a:solidFill>
                      <a:srgbClr val="FFFFFF"/>
                    </a:solidFill>
                  </a:tcPr>
                </a:tc>
                <a:tc>
                  <a:txBody>
                    <a:bodyPr/>
                    <a:lstStyle/>
                    <a:p>
                      <a:pPr>
                        <a:defRPr sz="1700" b="0">
                          <a:solidFill>
                            <a:srgbClr val="20374B"/>
                          </a:solidFill>
                          <a:latin typeface="Aptos"/>
                        </a:defRPr>
                      </a:pPr>
                      <a:r>
                        <a:t>Find each person correctly</a:t>
                      </a:r>
                    </a:p>
                  </a:txBody>
                  <a:tcPr marL="118872" marR="73152" marT="91440" anchor="ctr">
                    <a:solidFill>
                      <a:srgbClr val="FFFFFF"/>
                    </a:solidFill>
                  </a:tcPr>
                </a:tc>
              </a:tr>
              <a:tr h="556260">
                <a:tc>
                  <a:txBody>
                    <a:bodyPr/>
                    <a:lstStyle/>
                    <a:p>
                      <a:pPr>
                        <a:defRPr sz="1700" b="0">
                          <a:solidFill>
                            <a:srgbClr val="20374B"/>
                          </a:solidFill>
                          <a:latin typeface="Aptos"/>
                        </a:defRPr>
                      </a:pPr>
                      <a:r>
                        <a:t>Pose + shape</a:t>
                      </a:r>
                    </a:p>
                  </a:txBody>
                  <a:tcPr marL="118872" marR="73152" marT="91440" anchor="ctr">
                    <a:solidFill>
                      <a:srgbClr val="E6EFF3"/>
                    </a:solidFill>
                  </a:tcPr>
                </a:tc>
                <a:tc>
                  <a:txBody>
                    <a:bodyPr/>
                    <a:lstStyle/>
                    <a:p>
                      <a:pPr>
                        <a:defRPr sz="1700" b="0">
                          <a:solidFill>
                            <a:srgbClr val="20374B"/>
                          </a:solidFill>
                          <a:latin typeface="Aptos"/>
                        </a:defRPr>
                      </a:pPr>
                      <a:r>
                        <a:t>Bone rotations and body parameters</a:t>
                      </a:r>
                    </a:p>
                  </a:txBody>
                  <a:tcPr marL="118872" marR="73152" marT="91440" anchor="ctr">
                    <a:solidFill>
                      <a:srgbClr val="E6EFF3"/>
                    </a:solidFill>
                  </a:tcPr>
                </a:tc>
                <a:tc>
                  <a:txBody>
                    <a:bodyPr/>
                    <a:lstStyle/>
                    <a:p>
                      <a:pPr>
                        <a:defRPr sz="1700" b="0">
                          <a:solidFill>
                            <a:srgbClr val="20374B"/>
                          </a:solidFill>
                          <a:latin typeface="Aptos"/>
                        </a:defRPr>
                      </a:pPr>
                      <a:r>
                        <a:t>Recover articulation and proportions</a:t>
                      </a:r>
                    </a:p>
                  </a:txBody>
                  <a:tcPr marL="118872" marR="73152" marT="91440" anchor="ctr">
                    <a:solidFill>
                      <a:srgbClr val="E6EFF3"/>
                    </a:solidFill>
                  </a:tcPr>
                </a:tc>
              </a:tr>
              <a:tr h="556260">
                <a:tc>
                  <a:txBody>
                    <a:bodyPr/>
                    <a:lstStyle/>
                    <a:p>
                      <a:pPr>
                        <a:defRPr sz="1700" b="0">
                          <a:solidFill>
                            <a:srgbClr val="20374B"/>
                          </a:solidFill>
                          <a:latin typeface="Aptos"/>
                        </a:defRPr>
                      </a:pPr>
                      <a:r>
                        <a:t>Depth + translation</a:t>
                      </a:r>
                    </a:p>
                  </a:txBody>
                  <a:tcPr marL="118872" marR="73152" marT="91440" anchor="ctr">
                    <a:solidFill>
                      <a:srgbClr val="FFFFFF"/>
                    </a:solidFill>
                  </a:tcPr>
                </a:tc>
                <a:tc>
                  <a:txBody>
                    <a:bodyPr/>
                    <a:lstStyle/>
                    <a:p>
                      <a:pPr>
                        <a:defRPr sz="1700" b="0">
                          <a:solidFill>
                            <a:srgbClr val="20374B"/>
                          </a:solidFill>
                          <a:latin typeface="Aptos"/>
                        </a:defRPr>
                      </a:pPr>
                      <a:r>
                        <a:t>Head depth and 3D anchor position</a:t>
                      </a:r>
                    </a:p>
                  </a:txBody>
                  <a:tcPr marL="118872" marR="73152" marT="91440" anchor="ctr">
                    <a:solidFill>
                      <a:srgbClr val="FFFFFF"/>
                    </a:solidFill>
                  </a:tcPr>
                </a:tc>
                <a:tc>
                  <a:txBody>
                    <a:bodyPr/>
                    <a:lstStyle/>
                    <a:p>
                      <a:pPr>
                        <a:defRPr sz="1700" b="0">
                          <a:solidFill>
                            <a:srgbClr val="20374B"/>
                          </a:solidFill>
                          <a:latin typeface="Aptos"/>
                        </a:defRPr>
                      </a:pPr>
                      <a:r>
                        <a:t>Put the body at the right distance</a:t>
                      </a:r>
                    </a:p>
                  </a:txBody>
                  <a:tcPr marL="118872" marR="73152" marT="91440" anchor="ctr">
                    <a:solidFill>
                      <a:srgbClr val="FFFFFF"/>
                    </a:solidFill>
                  </a:tcPr>
                </a:tc>
              </a:tr>
              <a:tr h="556260">
                <a:tc>
                  <a:txBody>
                    <a:bodyPr/>
                    <a:lstStyle/>
                    <a:p>
                      <a:pPr>
                        <a:defRPr sz="1700" b="0">
                          <a:solidFill>
                            <a:srgbClr val="20374B"/>
                          </a:solidFill>
                          <a:latin typeface="Aptos"/>
                        </a:defRPr>
                      </a:pPr>
                      <a:r>
                        <a:t>3D joints + vertices</a:t>
                      </a:r>
                    </a:p>
                  </a:txBody>
                  <a:tcPr marL="118872" marR="73152" marT="91440" anchor="ctr">
                    <a:solidFill>
                      <a:srgbClr val="E6EFF3"/>
                    </a:solidFill>
                  </a:tcPr>
                </a:tc>
                <a:tc>
                  <a:txBody>
                    <a:bodyPr/>
                    <a:lstStyle/>
                    <a:p>
                      <a:pPr>
                        <a:defRPr sz="1700" b="0">
                          <a:solidFill>
                            <a:srgbClr val="20374B"/>
                          </a:solidFill>
                          <a:latin typeface="Aptos"/>
                        </a:defRPr>
                      </a:pPr>
                      <a:r>
                        <a:t>Pelvis-centred predicted / target bodies</a:t>
                      </a:r>
                    </a:p>
                  </a:txBody>
                  <a:tcPr marL="118872" marR="73152" marT="91440" anchor="ctr">
                    <a:solidFill>
                      <a:srgbClr val="E6EFF3"/>
                    </a:solidFill>
                  </a:tcPr>
                </a:tc>
                <a:tc>
                  <a:txBody>
                    <a:bodyPr/>
                    <a:lstStyle/>
                    <a:p>
                      <a:pPr>
                        <a:defRPr sz="1700" b="0">
                          <a:solidFill>
                            <a:srgbClr val="20374B"/>
                          </a:solidFill>
                          <a:latin typeface="Aptos"/>
                        </a:defRPr>
                      </a:pPr>
                      <a:r>
                        <a:t>Match the body geometry</a:t>
                      </a:r>
                    </a:p>
                  </a:txBody>
                  <a:tcPr marL="118872" marR="73152" marT="91440" anchor="ctr">
                    <a:solidFill>
                      <a:srgbClr val="E6EFF3"/>
                    </a:solidFill>
                  </a:tcPr>
                </a:tc>
              </a:tr>
              <a:tr h="556260">
                <a:tc>
                  <a:txBody>
                    <a:bodyPr/>
                    <a:lstStyle/>
                    <a:p>
                      <a:pPr>
                        <a:defRPr sz="1700" b="0">
                          <a:solidFill>
                            <a:srgbClr val="20374B"/>
                          </a:solidFill>
                          <a:latin typeface="Aptos"/>
                        </a:defRPr>
                      </a:pPr>
                      <a:r>
                        <a:t>2D projection</a:t>
                      </a:r>
                    </a:p>
                  </a:txBody>
                  <a:tcPr marL="118872" marR="73152" marT="91440" anchor="ctr">
                    <a:solidFill>
                      <a:srgbClr val="FFFFFF"/>
                    </a:solidFill>
                  </a:tcPr>
                </a:tc>
                <a:tc>
                  <a:txBody>
                    <a:bodyPr/>
                    <a:lstStyle/>
                    <a:p>
                      <a:pPr>
                        <a:defRPr sz="1700" b="0">
                          <a:solidFill>
                            <a:srgbClr val="20374B"/>
                          </a:solidFill>
                          <a:latin typeface="Aptos"/>
                        </a:defRPr>
                      </a:pPr>
                      <a:r>
                        <a:t>Predicted / target points in the image</a:t>
                      </a:r>
                    </a:p>
                  </a:txBody>
                  <a:tcPr marL="118872" marR="73152" marT="91440" anchor="ctr">
                    <a:solidFill>
                      <a:srgbClr val="FFFFFF"/>
                    </a:solidFill>
                  </a:tcPr>
                </a:tc>
                <a:tc>
                  <a:txBody>
                    <a:bodyPr/>
                    <a:lstStyle/>
                    <a:p>
                      <a:pPr>
                        <a:defRPr sz="1700" b="0">
                          <a:solidFill>
                            <a:srgbClr val="20374B"/>
                          </a:solidFill>
                          <a:latin typeface="Aptos"/>
                        </a:defRPr>
                      </a:pPr>
                      <a:r>
                        <a:t>Make the mesh line up with the photo</a:t>
                      </a:r>
                    </a:p>
                  </a:txBody>
                  <a:tcPr marL="118872" marR="73152" marT="91440" anchor="ctr">
                    <a:solidFill>
                      <a:srgbClr val="FFFFFF"/>
                    </a:solidFill>
                  </a:tcPr>
                </a:tc>
              </a:tr>
            </a:tbl>
          </a:graphicData>
        </a:graphic>
      </p:graphicFrame>
      <p:sp>
        <p:nvSpPr>
          <p:cNvPr id="9" name="Rounded Rectangle 8"/>
          <p:cNvSpPr/>
          <p:nvPr/>
        </p:nvSpPr>
        <p:spPr>
          <a:xfrm>
            <a:off x="530352" y="5623560"/>
            <a:ext cx="11109960" cy="566928"/>
          </a:xfrm>
          <a:prstGeom prst="roundRect">
            <a:avLst>
              <a:gd name="adj" fmla="val 12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705856"/>
            <a:ext cx="10698480" cy="438912"/>
          </a:xfrm>
          <a:prstGeom prst="rect">
            <a:avLst/>
          </a:prstGeom>
          <a:noFill/>
        </p:spPr>
        <p:txBody>
          <a:bodyPr wrap="square" lIns="22860" rIns="22860" tIns="22860" bIns="22860">
            <a:spAutoFit/>
          </a:bodyPr>
          <a:lstStyle/>
          <a:p>
            <a:pPr>
              <a:spcAft>
                <a:spcPts val="700"/>
              </a:spcAft>
              <a:defRPr sz="1900" b="1">
                <a:solidFill>
                  <a:srgbClr val="FFFFFF"/>
                </a:solidFill>
                <a:latin typeface="Aptos"/>
              </a:defRPr>
            </a:pPr>
            <a:r>
              <a:t>Ltotal = Lsupervised + Lfeature KD + Loutput KD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05 / TRAINING PROCESS</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Knowledge distillation: two kinds of teacher guidance</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§4.8; distill.py; loss.py</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07</a:t>
            </a:r>
          </a:p>
        </p:txBody>
      </p:sp>
      <p:sp>
        <p:nvSpPr>
          <p:cNvPr id="8" name="Rounded Rectangle 7"/>
          <p:cNvSpPr/>
          <p:nvPr/>
        </p:nvSpPr>
        <p:spPr>
          <a:xfrm>
            <a:off x="566928" y="1874519"/>
            <a:ext cx="5349240" cy="3154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874519"/>
            <a:ext cx="50292" cy="31546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039112"/>
            <a:ext cx="496519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Feature distillation</a:t>
            </a:r>
          </a:p>
        </p:txBody>
      </p:sp>
      <p:sp>
        <p:nvSpPr>
          <p:cNvPr id="11" name="TextBox 10"/>
          <p:cNvSpPr txBox="1"/>
          <p:nvPr/>
        </p:nvSpPr>
        <p:spPr>
          <a:xfrm>
            <a:off x="768096" y="2770632"/>
            <a:ext cx="4965192" cy="216712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Compare teacher image features with</a:t>
            </a:r>
          </a:p>
          <a:p>
            <a:pPr>
              <a:spcAft>
                <a:spcPts val="700"/>
              </a:spcAft>
              <a:defRPr sz="1800" b="0">
                <a:solidFill>
                  <a:srgbClr val="20374B"/>
                </a:solidFill>
                <a:latin typeface="Aptos"/>
              </a:defRPr>
            </a:pPr>
            <a:r>
              <a:t>the student’s projected features.</a:t>
            </a:r>
          </a:p>
          <a:p>
            <a:pPr>
              <a:spcAft>
                <a:spcPts val="700"/>
              </a:spcAft>
              <a:defRPr sz="1800" b="0">
                <a:solidFill>
                  <a:srgbClr val="20374B"/>
                </a:solidFill>
                <a:latin typeface="Aptos"/>
              </a:defRPr>
            </a:pPr>
          </a:p>
          <a:p>
            <a:pPr>
              <a:spcAft>
                <a:spcPts val="700"/>
              </a:spcAft>
              <a:defRPr sz="1800" b="0">
                <a:solidFill>
                  <a:srgbClr val="20374B"/>
                </a:solidFill>
                <a:latin typeface="Aptos"/>
              </a:defRPr>
            </a:pPr>
            <a:r>
              <a:t>KL divergence, temperature T = 4.</a:t>
            </a:r>
          </a:p>
          <a:p>
            <a:pPr>
              <a:spcAft>
                <a:spcPts val="700"/>
              </a:spcAft>
              <a:defRPr sz="1800" b="0">
                <a:solidFill>
                  <a:srgbClr val="20374B"/>
                </a:solidFill>
                <a:latin typeface="Aptos"/>
              </a:defRPr>
            </a:pPr>
            <a:r>
              <a:t>“Learn similar image representations.”</a:t>
            </a:r>
          </a:p>
        </p:txBody>
      </p:sp>
      <p:sp>
        <p:nvSpPr>
          <p:cNvPr id="12" name="Rounded Rectangle 11"/>
          <p:cNvSpPr/>
          <p:nvPr/>
        </p:nvSpPr>
        <p:spPr>
          <a:xfrm>
            <a:off x="6172200" y="1874519"/>
            <a:ext cx="5440680" cy="3154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874519"/>
            <a:ext cx="50292" cy="31546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039112"/>
            <a:ext cx="505663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Output distillation</a:t>
            </a:r>
          </a:p>
        </p:txBody>
      </p:sp>
      <p:sp>
        <p:nvSpPr>
          <p:cNvPr id="15" name="TextBox 14"/>
          <p:cNvSpPr txBox="1"/>
          <p:nvPr/>
        </p:nvSpPr>
        <p:spPr>
          <a:xfrm>
            <a:off x="6373368" y="2770632"/>
            <a:ext cx="5056632" cy="216712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Compare corresponding people’s</a:t>
            </a:r>
          </a:p>
          <a:p>
            <a:pPr>
              <a:spcAft>
                <a:spcPts val="700"/>
              </a:spcAft>
              <a:defRPr sz="1800" b="0">
                <a:solidFill>
                  <a:srgbClr val="20374B"/>
                </a:solidFill>
                <a:latin typeface="Aptos"/>
              </a:defRPr>
            </a:pPr>
            <a:r>
              <a:t>rotations, shape parameters and depth.</a:t>
            </a:r>
          </a:p>
          <a:p>
            <a:pPr>
              <a:spcAft>
                <a:spcPts val="700"/>
              </a:spcAft>
              <a:defRPr sz="1800" b="0">
                <a:solidFill>
                  <a:srgbClr val="20374B"/>
                </a:solidFill>
                <a:latin typeface="Aptos"/>
              </a:defRPr>
            </a:pPr>
          </a:p>
          <a:p>
            <a:pPr>
              <a:spcAft>
                <a:spcPts val="700"/>
              </a:spcAft>
              <a:defRPr sz="1800" b="0">
                <a:solidFill>
                  <a:srgbClr val="20374B"/>
                </a:solidFill>
                <a:latin typeface="Aptos"/>
              </a:defRPr>
            </a:pPr>
            <a:r>
              <a:t>Weighted L1 differences.</a:t>
            </a:r>
          </a:p>
          <a:p>
            <a:pPr>
              <a:spcAft>
                <a:spcPts val="700"/>
              </a:spcAft>
              <a:defRPr sz="1800" b="0">
                <a:solidFill>
                  <a:srgbClr val="20374B"/>
                </a:solidFill>
                <a:latin typeface="Aptos"/>
              </a:defRPr>
            </a:pPr>
            <a:r>
              <a:t>“Learn similar body predictions.”</a:t>
            </a:r>
          </a:p>
        </p:txBody>
      </p:sp>
      <p:sp>
        <p:nvSpPr>
          <p:cNvPr id="16" name="Rounded Rectangle 15"/>
          <p:cNvSpPr/>
          <p:nvPr/>
        </p:nvSpPr>
        <p:spPr>
          <a:xfrm>
            <a:off x="530352" y="5623560"/>
            <a:ext cx="11109960" cy="566928"/>
          </a:xfrm>
          <a:prstGeom prst="roundRect">
            <a:avLst>
              <a:gd name="adj" fmla="val 12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705856"/>
            <a:ext cx="10698480" cy="438912"/>
          </a:xfrm>
          <a:prstGeom prst="rect">
            <a:avLst/>
          </a:prstGeom>
          <a:noFill/>
        </p:spPr>
        <p:txBody>
          <a:bodyPr wrap="square" lIns="22860" rIns="22860" tIns="22860" bIns="22860">
            <a:spAutoFit/>
          </a:bodyPr>
          <a:lstStyle/>
          <a:p>
            <a:pPr>
              <a:spcAft>
                <a:spcPts val="700"/>
              </a:spcAft>
              <a:defRPr sz="1900" b="1">
                <a:solidFill>
                  <a:srgbClr val="FFFFFF"/>
                </a:solidFill>
                <a:latin typeface="Aptos"/>
              </a:defRPr>
            </a:pPr>
            <a:r>
              <a:t>The student learns from the true labels and the teacher; both KD weights are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05 / TRAINING PROCESS</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Training recipe for the reported student</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Table T11; exp8_distill_vitb.sh; job 3614191</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08</a:t>
            </a:r>
          </a:p>
        </p:txBody>
      </p:sp>
      <p:sp>
        <p:nvSpPr>
          <p:cNvPr id="8" name="TextBox 7"/>
          <p:cNvSpPr txBox="1"/>
          <p:nvPr/>
        </p:nvSpPr>
        <p:spPr>
          <a:xfrm>
            <a:off x="594360" y="2057400"/>
            <a:ext cx="2377440" cy="640080"/>
          </a:xfrm>
          <a:prstGeom prst="rect">
            <a:avLst/>
          </a:prstGeom>
          <a:noFill/>
        </p:spPr>
        <p:txBody>
          <a:bodyPr wrap="square" lIns="22860" rIns="22860" tIns="22860" bIns="22860">
            <a:spAutoFit/>
          </a:bodyPr>
          <a:lstStyle/>
          <a:p>
            <a:pPr>
              <a:spcAft>
                <a:spcPts val="700"/>
              </a:spcAft>
              <a:defRPr sz="3700" b="1">
                <a:solidFill>
                  <a:srgbClr val="087F8C"/>
                </a:solidFill>
                <a:latin typeface="Aptos"/>
              </a:defRPr>
            </a:pPr>
            <a:r>
              <a:t>30</a:t>
            </a:r>
          </a:p>
        </p:txBody>
      </p:sp>
      <p:sp>
        <p:nvSpPr>
          <p:cNvPr id="9" name="TextBox 8"/>
          <p:cNvSpPr txBox="1"/>
          <p:nvPr/>
        </p:nvSpPr>
        <p:spPr>
          <a:xfrm>
            <a:off x="594360" y="2743200"/>
            <a:ext cx="2377440" cy="640080"/>
          </a:xfrm>
          <a:prstGeom prst="rect">
            <a:avLst/>
          </a:prstGeom>
          <a:noFill/>
        </p:spPr>
        <p:txBody>
          <a:bodyPr wrap="square" lIns="22860" rIns="22860" tIns="22860" bIns="22860">
            <a:spAutoFit/>
          </a:bodyPr>
          <a:lstStyle/>
          <a:p>
            <a:pPr>
              <a:spcAft>
                <a:spcPts val="700"/>
              </a:spcAft>
              <a:defRPr sz="1800" b="0">
                <a:solidFill>
                  <a:srgbClr val="526779"/>
                </a:solidFill>
                <a:latin typeface="Aptos"/>
              </a:defRPr>
            </a:pPr>
            <a:r>
              <a:t>epochs</a:t>
            </a:r>
          </a:p>
        </p:txBody>
      </p:sp>
      <p:sp>
        <p:nvSpPr>
          <p:cNvPr id="10" name="TextBox 9"/>
          <p:cNvSpPr txBox="1"/>
          <p:nvPr/>
        </p:nvSpPr>
        <p:spPr>
          <a:xfrm>
            <a:off x="3474720" y="2057400"/>
            <a:ext cx="2377440" cy="640080"/>
          </a:xfrm>
          <a:prstGeom prst="rect">
            <a:avLst/>
          </a:prstGeom>
          <a:noFill/>
        </p:spPr>
        <p:txBody>
          <a:bodyPr wrap="square" lIns="22860" rIns="22860" tIns="22860" bIns="22860">
            <a:spAutoFit/>
          </a:bodyPr>
          <a:lstStyle/>
          <a:p>
            <a:pPr>
              <a:spcAft>
                <a:spcPts val="700"/>
              </a:spcAft>
              <a:defRPr sz="3700" b="1">
                <a:solidFill>
                  <a:srgbClr val="087F8C"/>
                </a:solidFill>
                <a:latin typeface="Aptos"/>
              </a:defRPr>
            </a:pPr>
            <a:r>
              <a:t>1,000</a:t>
            </a:r>
          </a:p>
        </p:txBody>
      </p:sp>
      <p:sp>
        <p:nvSpPr>
          <p:cNvPr id="11" name="TextBox 10"/>
          <p:cNvSpPr txBox="1"/>
          <p:nvPr/>
        </p:nvSpPr>
        <p:spPr>
          <a:xfrm>
            <a:off x="3474720" y="2743200"/>
            <a:ext cx="2377440" cy="640080"/>
          </a:xfrm>
          <a:prstGeom prst="rect">
            <a:avLst/>
          </a:prstGeom>
          <a:noFill/>
        </p:spPr>
        <p:txBody>
          <a:bodyPr wrap="square" lIns="22860" rIns="22860" tIns="22860" bIns="22860">
            <a:spAutoFit/>
          </a:bodyPr>
          <a:lstStyle/>
          <a:p>
            <a:pPr>
              <a:spcAft>
                <a:spcPts val="700"/>
              </a:spcAft>
              <a:defRPr sz="1800" b="0">
                <a:solidFill>
                  <a:srgbClr val="526779"/>
                </a:solidFill>
                <a:latin typeface="Aptos"/>
              </a:defRPr>
            </a:pPr>
            <a:r>
              <a:t>steps per epoch</a:t>
            </a:r>
          </a:p>
        </p:txBody>
      </p:sp>
      <p:sp>
        <p:nvSpPr>
          <p:cNvPr id="12" name="TextBox 11"/>
          <p:cNvSpPr txBox="1"/>
          <p:nvPr/>
        </p:nvSpPr>
        <p:spPr>
          <a:xfrm>
            <a:off x="6355080" y="2057400"/>
            <a:ext cx="2377440" cy="640080"/>
          </a:xfrm>
          <a:prstGeom prst="rect">
            <a:avLst/>
          </a:prstGeom>
          <a:noFill/>
        </p:spPr>
        <p:txBody>
          <a:bodyPr wrap="square" lIns="22860" rIns="22860" tIns="22860" bIns="22860">
            <a:spAutoFit/>
          </a:bodyPr>
          <a:lstStyle/>
          <a:p>
            <a:pPr>
              <a:spcAft>
                <a:spcPts val="700"/>
              </a:spcAft>
              <a:defRPr sz="3700" b="1">
                <a:solidFill>
                  <a:srgbClr val="087F8C"/>
                </a:solidFill>
                <a:latin typeface="Aptos"/>
              </a:defRPr>
            </a:pPr>
            <a:r>
              <a:t>8</a:t>
            </a:r>
          </a:p>
        </p:txBody>
      </p:sp>
      <p:sp>
        <p:nvSpPr>
          <p:cNvPr id="13" name="TextBox 12"/>
          <p:cNvSpPr txBox="1"/>
          <p:nvPr/>
        </p:nvSpPr>
        <p:spPr>
          <a:xfrm>
            <a:off x="6355080" y="2743200"/>
            <a:ext cx="2377440" cy="640080"/>
          </a:xfrm>
          <a:prstGeom prst="rect">
            <a:avLst/>
          </a:prstGeom>
          <a:noFill/>
        </p:spPr>
        <p:txBody>
          <a:bodyPr wrap="square" lIns="22860" rIns="22860" tIns="22860" bIns="22860">
            <a:spAutoFit/>
          </a:bodyPr>
          <a:lstStyle/>
          <a:p>
            <a:pPr>
              <a:spcAft>
                <a:spcPts val="700"/>
              </a:spcAft>
              <a:defRPr sz="1800" b="0">
                <a:solidFill>
                  <a:srgbClr val="526779"/>
                </a:solidFill>
                <a:latin typeface="Aptos"/>
              </a:defRPr>
            </a:pPr>
            <a:r>
              <a:t>images per batch</a:t>
            </a:r>
          </a:p>
        </p:txBody>
      </p:sp>
      <p:sp>
        <p:nvSpPr>
          <p:cNvPr id="14" name="TextBox 13"/>
          <p:cNvSpPr txBox="1"/>
          <p:nvPr/>
        </p:nvSpPr>
        <p:spPr>
          <a:xfrm>
            <a:off x="9235440" y="2057400"/>
            <a:ext cx="2377440" cy="640080"/>
          </a:xfrm>
          <a:prstGeom prst="rect">
            <a:avLst/>
          </a:prstGeom>
          <a:noFill/>
        </p:spPr>
        <p:txBody>
          <a:bodyPr wrap="square" lIns="22860" rIns="22860" tIns="22860" bIns="22860">
            <a:spAutoFit/>
          </a:bodyPr>
          <a:lstStyle/>
          <a:p>
            <a:pPr>
              <a:spcAft>
                <a:spcPts val="700"/>
              </a:spcAft>
              <a:defRPr sz="3700" b="1">
                <a:solidFill>
                  <a:srgbClr val="087F8C"/>
                </a:solidFill>
                <a:latin typeface="Aptos"/>
              </a:defRPr>
            </a:pPr>
            <a:r>
              <a:t>70 / 30</a:t>
            </a:r>
          </a:p>
        </p:txBody>
      </p:sp>
      <p:sp>
        <p:nvSpPr>
          <p:cNvPr id="15" name="TextBox 14"/>
          <p:cNvSpPr txBox="1"/>
          <p:nvPr/>
        </p:nvSpPr>
        <p:spPr>
          <a:xfrm>
            <a:off x="9235440" y="2743200"/>
            <a:ext cx="2377440" cy="640080"/>
          </a:xfrm>
          <a:prstGeom prst="rect">
            <a:avLst/>
          </a:prstGeom>
          <a:noFill/>
        </p:spPr>
        <p:txBody>
          <a:bodyPr wrap="square" lIns="22860" rIns="22860" tIns="22860" bIns="22860">
            <a:spAutoFit/>
          </a:bodyPr>
          <a:lstStyle/>
          <a:p>
            <a:pPr>
              <a:spcAft>
                <a:spcPts val="700"/>
              </a:spcAft>
              <a:defRPr sz="1800" b="0">
                <a:solidFill>
                  <a:srgbClr val="526779"/>
                </a:solidFill>
                <a:latin typeface="Aptos"/>
              </a:defRPr>
            </a:pPr>
            <a:r>
              <a:t>synthetic / real mix</a:t>
            </a:r>
          </a:p>
        </p:txBody>
      </p:sp>
      <p:sp>
        <p:nvSpPr>
          <p:cNvPr id="16" name="Rounded Rectangle 15"/>
          <p:cNvSpPr/>
          <p:nvPr/>
        </p:nvSpPr>
        <p:spPr>
          <a:xfrm>
            <a:off x="594360" y="3703320"/>
            <a:ext cx="3200400" cy="91440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49624"/>
            <a:ext cx="3017520" cy="7315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Initialize ViT-B</a:t>
            </a:r>
          </a:p>
          <a:p>
            <a:pPr algn="ctr">
              <a:spcAft>
                <a:spcPts val="700"/>
              </a:spcAft>
              <a:defRPr sz="1800" b="1">
                <a:solidFill>
                  <a:srgbClr val="20374B"/>
                </a:solidFill>
                <a:latin typeface="Aptos"/>
              </a:defRPr>
            </a:pPr>
            <a:r>
              <a:t>+ copy teacher heads</a:t>
            </a:r>
          </a:p>
        </p:txBody>
      </p:sp>
      <p:sp>
        <p:nvSpPr>
          <p:cNvPr id="18" name="Rounded Rectangle 17"/>
          <p:cNvSpPr/>
          <p:nvPr/>
        </p:nvSpPr>
        <p:spPr>
          <a:xfrm>
            <a:off x="4480560" y="3703320"/>
            <a:ext cx="3200400" cy="91440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3849624"/>
            <a:ext cx="3017520" cy="7315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First 5 epochs</a:t>
            </a:r>
          </a:p>
          <a:p>
            <a:pPr algn="ctr">
              <a:spcAft>
                <a:spcPts val="700"/>
              </a:spcAft>
              <a:defRPr sz="1800" b="1">
                <a:solidFill>
                  <a:srgbClr val="20374B"/>
                </a:solidFill>
                <a:latin typeface="Aptos"/>
              </a:defRPr>
            </a:pPr>
            <a:r>
              <a:t>keep copied heads frozen</a:t>
            </a:r>
          </a:p>
        </p:txBody>
      </p:sp>
      <p:sp>
        <p:nvSpPr>
          <p:cNvPr id="20" name="Rounded Rectangle 19"/>
          <p:cNvSpPr/>
          <p:nvPr/>
        </p:nvSpPr>
        <p:spPr>
          <a:xfrm>
            <a:off x="8366760" y="3703320"/>
            <a:ext cx="3200400" cy="91440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3849624"/>
            <a:ext cx="3017520" cy="731520"/>
          </a:xfrm>
          <a:prstGeom prst="rect">
            <a:avLst/>
          </a:prstGeom>
          <a:noFill/>
        </p:spPr>
        <p:txBody>
          <a:bodyPr wrap="square" lIns="22860" rIns="22860" tIns="22860" bIns="22860">
            <a:spAutoFit/>
          </a:bodyPr>
          <a:lstStyle/>
          <a:p>
            <a:pPr algn="ctr">
              <a:spcAft>
                <a:spcPts val="700"/>
              </a:spcAft>
              <a:defRPr sz="1800" b="1">
                <a:solidFill>
                  <a:srgbClr val="20374B"/>
                </a:solidFill>
                <a:latin typeface="Aptos"/>
              </a:defRPr>
            </a:pPr>
            <a:r>
              <a:t>Continue training</a:t>
            </a:r>
          </a:p>
          <a:p>
            <a:pPr algn="ctr">
              <a:spcAft>
                <a:spcPts val="700"/>
              </a:spcAft>
              <a:defRPr sz="1800" b="1">
                <a:solidFill>
                  <a:srgbClr val="20374B"/>
                </a:solidFill>
                <a:latin typeface="Aptos"/>
              </a:defRPr>
            </a:pPr>
            <a:r>
              <a:t>then calibrate student outputs</a:t>
            </a:r>
          </a:p>
        </p:txBody>
      </p:sp>
      <p:cxnSp>
        <p:nvCxnSpPr>
          <p:cNvPr id="22" name="Connector 21"/>
          <p:cNvCxnSpPr/>
          <p:nvPr/>
        </p:nvCxnSpPr>
        <p:spPr>
          <a:xfrm>
            <a:off x="3794760" y="4160520"/>
            <a:ext cx="685800"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680960" y="4160520"/>
            <a:ext cx="685800"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4360" y="5074920"/>
            <a:ext cx="10972800" cy="457200"/>
          </a:xfrm>
          <a:prstGeom prst="rect">
            <a:avLst/>
          </a:prstGeom>
          <a:noFill/>
        </p:spPr>
        <p:txBody>
          <a:bodyPr wrap="square" lIns="22860" rIns="22860" tIns="22860" bIns="22860">
            <a:spAutoFit/>
          </a:bodyPr>
          <a:lstStyle/>
          <a:p>
            <a:pPr>
              <a:spcAft>
                <a:spcPts val="700"/>
              </a:spcAft>
              <a:defRPr sz="2100" b="0">
                <a:solidFill>
                  <a:srgbClr val="20374B"/>
                </a:solidFill>
                <a:latin typeface="Aptos"/>
              </a:defRPr>
            </a:pPr>
            <a:r>
              <a:t>Learning rate: 3 × 10⁻⁵; halved every 12 epochs. Teacher stays frozen.</a:t>
            </a:r>
          </a:p>
        </p:txBody>
      </p:sp>
      <p:sp>
        <p:nvSpPr>
          <p:cNvPr id="25" name="TextBox 24"/>
          <p:cNvSpPr txBox="1"/>
          <p:nvPr/>
        </p:nvSpPr>
        <p:spPr>
          <a:xfrm>
            <a:off x="594360" y="5742432"/>
            <a:ext cx="10972800" cy="411480"/>
          </a:xfrm>
          <a:prstGeom prst="rect">
            <a:avLst/>
          </a:prstGeom>
          <a:noFill/>
        </p:spPr>
        <p:txBody>
          <a:bodyPr wrap="square" lIns="22860" rIns="22860" tIns="22860" bIns="22860">
            <a:spAutoFit/>
          </a:bodyPr>
          <a:lstStyle/>
          <a:p>
            <a:pPr>
              <a:spcAft>
                <a:spcPts val="700"/>
              </a:spcAft>
              <a:defRPr sz="1700" b="0">
                <a:solidFill>
                  <a:srgbClr val="526779"/>
                </a:solidFill>
                <a:latin typeface="Aptos"/>
              </a:defRPr>
            </a:pPr>
            <a:r>
              <a:t>70/30 is the sampling ratio of images, not people. Test images are excluded.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05 / EVALUATION METRICS</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How reconstruction quality is measured</a:t>
            </a:r>
          </a:p>
        </p:txBody>
      </p:sp>
      <p:sp>
        <p:nvSpPr>
          <p:cNvPr id="5" name="TextBox 4"/>
          <p:cNvSpPr txBox="1"/>
          <p:nvPr/>
        </p:nvSpPr>
        <p:spPr>
          <a:xfrm>
            <a:off x="530352" y="1508760"/>
            <a:ext cx="10972800" cy="548640"/>
          </a:xfrm>
          <a:prstGeom prst="rect">
            <a:avLst/>
          </a:prstGeom>
          <a:noFill/>
        </p:spPr>
        <p:txBody>
          <a:bodyPr wrap="square" lIns="22860" rIns="22860" tIns="22860" bIns="22860">
            <a:spAutoFit/>
          </a:bodyPr>
          <a:lstStyle/>
          <a:p>
            <a:pPr>
              <a:spcAft>
                <a:spcPts val="700"/>
              </a:spcAft>
              <a:defRPr sz="1600" b="0">
                <a:solidFill>
                  <a:srgbClr val="526779"/>
                </a:solidFill>
                <a:latin typeface="Aptos"/>
              </a:defRPr>
            </a:pPr>
            <a:r>
              <a:t>Errors are measured on matched people. Lower error is better; higher recall is better.</a:t>
            </a:r>
          </a:p>
        </p:txBody>
      </p:sp>
      <p:sp>
        <p:nvSpPr>
          <p:cNvPr id="6" name="Rectangle 5"/>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§4.10; Table T07</a:t>
            </a:r>
          </a:p>
        </p:txBody>
      </p:sp>
      <p:sp>
        <p:nvSpPr>
          <p:cNvPr id="8" name="TextBox 7"/>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09</a:t>
            </a:r>
          </a:p>
        </p:txBody>
      </p:sp>
      <p:graphicFrame>
        <p:nvGraphicFramePr>
          <p:cNvPr id="9" name="Table 8"/>
          <p:cNvGraphicFramePr>
            <a:graphicFrameLocks noGrp="1"/>
          </p:cNvGraphicFramePr>
          <p:nvPr/>
        </p:nvGraphicFramePr>
        <p:xfrm>
          <a:off x="566928" y="2148840"/>
          <a:ext cx="11045952" cy="3337560"/>
        </p:xfrm>
        <a:graphic>
          <a:graphicData uri="http://schemas.openxmlformats.org/drawingml/2006/table">
            <a:tbl>
              <a:tblPr firstRow="1" bandRow="1">
                <a:tableStyleId>{5C22544A-7EE6-4342-B048-85BDC9FD1C3A}</a:tableStyleId>
              </a:tblPr>
              <a:tblGrid>
                <a:gridCol w="1965960"/>
                <a:gridCol w="7315200"/>
                <a:gridCol w="1764792"/>
              </a:tblGrid>
              <a:tr h="556260">
                <a:tc>
                  <a:txBody>
                    <a:bodyPr/>
                    <a:lstStyle/>
                    <a:p>
                      <a:pPr>
                        <a:defRPr sz="1700" b="1">
                          <a:solidFill>
                            <a:srgbClr val="FFFFFF"/>
                          </a:solidFill>
                          <a:latin typeface="Aptos"/>
                        </a:defRPr>
                      </a:pPr>
                      <a:r>
                        <a:t>Metric</a:t>
                      </a:r>
                    </a:p>
                  </a:txBody>
                  <a:tcPr marL="118872" marR="73152" marT="91440" anchor="ctr">
                    <a:solidFill>
                      <a:srgbClr val="142D45"/>
                    </a:solidFill>
                  </a:tcPr>
                </a:tc>
                <a:tc>
                  <a:txBody>
                    <a:bodyPr/>
                    <a:lstStyle/>
                    <a:p>
                      <a:pPr>
                        <a:defRPr sz="1700" b="1">
                          <a:solidFill>
                            <a:srgbClr val="FFFFFF"/>
                          </a:solidFill>
                          <a:latin typeface="Aptos"/>
                        </a:defRPr>
                      </a:pPr>
                      <a:r>
                        <a:t>Simple meaning</a:t>
                      </a:r>
                    </a:p>
                  </a:txBody>
                  <a:tcPr marL="118872" marR="73152" marT="91440" anchor="ctr">
                    <a:solidFill>
                      <a:srgbClr val="142D45"/>
                    </a:solidFill>
                  </a:tcPr>
                </a:tc>
                <a:tc>
                  <a:txBody>
                    <a:bodyPr/>
                    <a:lstStyle/>
                    <a:p>
                      <a:pPr>
                        <a:defRPr sz="1700" b="1">
                          <a:solidFill>
                            <a:srgbClr val="FFFFFF"/>
                          </a:solidFill>
                          <a:latin typeface="Aptos"/>
                        </a:defRPr>
                      </a:pPr>
                      <a:r>
                        <a:t>Unit</a:t>
                      </a:r>
                    </a:p>
                  </a:txBody>
                  <a:tcPr marL="118872" marR="73152" marT="91440" anchor="ctr">
                    <a:solidFill>
                      <a:srgbClr val="142D45"/>
                    </a:solidFill>
                  </a:tcPr>
                </a:tc>
              </a:tr>
              <a:tr h="556260">
                <a:tc>
                  <a:txBody>
                    <a:bodyPr/>
                    <a:lstStyle/>
                    <a:p>
                      <a:pPr>
                        <a:defRPr sz="1700" b="0">
                          <a:solidFill>
                            <a:srgbClr val="20374B"/>
                          </a:solidFill>
                          <a:latin typeface="Aptos"/>
                        </a:defRPr>
                      </a:pPr>
                      <a:r>
                        <a:t>PVE</a:t>
                      </a:r>
                    </a:p>
                  </a:txBody>
                  <a:tcPr marL="118872" marR="73152" marT="91440" anchor="ctr">
                    <a:solidFill>
                      <a:srgbClr val="FFFFFF"/>
                    </a:solidFill>
                  </a:tcPr>
                </a:tc>
                <a:tc>
                  <a:txBody>
                    <a:bodyPr/>
                    <a:lstStyle/>
                    <a:p>
                      <a:pPr>
                        <a:defRPr sz="1700" b="0">
                          <a:solidFill>
                            <a:srgbClr val="20374B"/>
                          </a:solidFill>
                          <a:latin typeface="Aptos"/>
                        </a:defRPr>
                      </a:pPr>
                      <a:r>
                        <a:t>Average surface-point error after pelvis alignment</a:t>
                      </a:r>
                    </a:p>
                  </a:txBody>
                  <a:tcPr marL="118872" marR="73152" marT="91440" anchor="ctr">
                    <a:solidFill>
                      <a:srgbClr val="FFFFFF"/>
                    </a:solidFill>
                  </a:tcPr>
                </a:tc>
                <a:tc>
                  <a:txBody>
                    <a:bodyPr/>
                    <a:lstStyle/>
                    <a:p>
                      <a:pPr>
                        <a:defRPr sz="1700" b="0">
                          <a:solidFill>
                            <a:srgbClr val="20374B"/>
                          </a:solidFill>
                          <a:latin typeface="Aptos"/>
                        </a:defRPr>
                      </a:pPr>
                      <a:r>
                        <a:t>mm ↓</a:t>
                      </a:r>
                    </a:p>
                  </a:txBody>
                  <a:tcPr marL="118872" marR="73152" marT="91440" anchor="ctr">
                    <a:solidFill>
                      <a:srgbClr val="FFFFFF"/>
                    </a:solidFill>
                  </a:tcPr>
                </a:tc>
              </a:tr>
              <a:tr h="556260">
                <a:tc>
                  <a:txBody>
                    <a:bodyPr/>
                    <a:lstStyle/>
                    <a:p>
                      <a:pPr>
                        <a:defRPr sz="1700" b="0">
                          <a:solidFill>
                            <a:srgbClr val="20374B"/>
                          </a:solidFill>
                          <a:latin typeface="Aptos"/>
                        </a:defRPr>
                      </a:pPr>
                      <a:r>
                        <a:t>PA-PVE</a:t>
                      </a:r>
                    </a:p>
                  </a:txBody>
                  <a:tcPr marL="118872" marR="73152" marT="91440" anchor="ctr">
                    <a:solidFill>
                      <a:srgbClr val="E6EFF3"/>
                    </a:solidFill>
                  </a:tcPr>
                </a:tc>
                <a:tc>
                  <a:txBody>
                    <a:bodyPr/>
                    <a:lstStyle/>
                    <a:p>
                      <a:pPr>
                        <a:defRPr sz="1700" b="0">
                          <a:solidFill>
                            <a:srgbClr val="20374B"/>
                          </a:solidFill>
                          <a:latin typeface="Aptos"/>
                        </a:defRPr>
                      </a:pPr>
                      <a:r>
                        <a:t>Surface error after optimal rotation, translation and scale alignment</a:t>
                      </a:r>
                    </a:p>
                  </a:txBody>
                  <a:tcPr marL="118872" marR="73152" marT="91440" anchor="ctr">
                    <a:solidFill>
                      <a:srgbClr val="E6EFF3"/>
                    </a:solidFill>
                  </a:tcPr>
                </a:tc>
                <a:tc>
                  <a:txBody>
                    <a:bodyPr/>
                    <a:lstStyle/>
                    <a:p>
                      <a:pPr>
                        <a:defRPr sz="1700" b="0">
                          <a:solidFill>
                            <a:srgbClr val="20374B"/>
                          </a:solidFill>
                          <a:latin typeface="Aptos"/>
                        </a:defRPr>
                      </a:pPr>
                      <a:r>
                        <a:t>mm ↓</a:t>
                      </a:r>
                    </a:p>
                  </a:txBody>
                  <a:tcPr marL="118872" marR="73152" marT="91440" anchor="ctr">
                    <a:solidFill>
                      <a:srgbClr val="E6EFF3"/>
                    </a:solidFill>
                  </a:tcPr>
                </a:tc>
              </a:tr>
              <a:tr h="556260">
                <a:tc>
                  <a:txBody>
                    <a:bodyPr/>
                    <a:lstStyle/>
                    <a:p>
                      <a:pPr>
                        <a:defRPr sz="1700" b="0">
                          <a:solidFill>
                            <a:srgbClr val="20374B"/>
                          </a:solidFill>
                          <a:latin typeface="Aptos"/>
                        </a:defRPr>
                      </a:pPr>
                      <a:r>
                        <a:t>MPJPE</a:t>
                      </a:r>
                    </a:p>
                  </a:txBody>
                  <a:tcPr marL="118872" marR="73152" marT="91440" anchor="ctr">
                    <a:solidFill>
                      <a:srgbClr val="FFFFFF"/>
                    </a:solidFill>
                  </a:tcPr>
                </a:tc>
                <a:tc>
                  <a:txBody>
                    <a:bodyPr/>
                    <a:lstStyle/>
                    <a:p>
                      <a:pPr>
                        <a:defRPr sz="1700" b="0">
                          <a:solidFill>
                            <a:srgbClr val="20374B"/>
                          </a:solidFill>
                          <a:latin typeface="Aptos"/>
                        </a:defRPr>
                      </a:pPr>
                      <a:r>
                        <a:t>Average joint-position error after pelvis alignment</a:t>
                      </a:r>
                    </a:p>
                  </a:txBody>
                  <a:tcPr marL="118872" marR="73152" marT="91440" anchor="ctr">
                    <a:solidFill>
                      <a:srgbClr val="FFFFFF"/>
                    </a:solidFill>
                  </a:tcPr>
                </a:tc>
                <a:tc>
                  <a:txBody>
                    <a:bodyPr/>
                    <a:lstStyle/>
                    <a:p>
                      <a:pPr>
                        <a:defRPr sz="1700" b="0">
                          <a:solidFill>
                            <a:srgbClr val="20374B"/>
                          </a:solidFill>
                          <a:latin typeface="Aptos"/>
                        </a:defRPr>
                      </a:pPr>
                      <a:r>
                        <a:t>mm ↓</a:t>
                      </a:r>
                    </a:p>
                  </a:txBody>
                  <a:tcPr marL="118872" marR="73152" marT="91440" anchor="ctr">
                    <a:solidFill>
                      <a:srgbClr val="FFFFFF"/>
                    </a:solidFill>
                  </a:tcPr>
                </a:tc>
              </a:tr>
              <a:tr h="556260">
                <a:tc>
                  <a:txBody>
                    <a:bodyPr/>
                    <a:lstStyle/>
                    <a:p>
                      <a:pPr>
                        <a:defRPr sz="1700" b="0">
                          <a:solidFill>
                            <a:srgbClr val="20374B"/>
                          </a:solidFill>
                          <a:latin typeface="Aptos"/>
                        </a:defRPr>
                      </a:pPr>
                      <a:r>
                        <a:t>Recall</a:t>
                      </a:r>
                    </a:p>
                  </a:txBody>
                  <a:tcPr marL="118872" marR="73152" marT="91440" anchor="ctr">
                    <a:solidFill>
                      <a:srgbClr val="E6EFF3"/>
                    </a:solidFill>
                  </a:tcPr>
                </a:tc>
                <a:tc>
                  <a:txBody>
                    <a:bodyPr/>
                    <a:lstStyle/>
                    <a:p>
                      <a:pPr>
                        <a:defRPr sz="1700" b="0">
                          <a:solidFill>
                            <a:srgbClr val="20374B"/>
                          </a:solidFill>
                          <a:latin typeface="Aptos"/>
                        </a:defRPr>
                      </a:pPr>
                      <a:r>
                        <a:t>Share of labelled people recovered by the detector</a:t>
                      </a:r>
                    </a:p>
                  </a:txBody>
                  <a:tcPr marL="118872" marR="73152" marT="91440" anchor="ctr">
                    <a:solidFill>
                      <a:srgbClr val="E6EFF3"/>
                    </a:solidFill>
                  </a:tcPr>
                </a:tc>
                <a:tc>
                  <a:txBody>
                    <a:bodyPr/>
                    <a:lstStyle/>
                    <a:p>
                      <a:pPr>
                        <a:defRPr sz="1700" b="0">
                          <a:solidFill>
                            <a:srgbClr val="20374B"/>
                          </a:solidFill>
                          <a:latin typeface="Aptos"/>
                        </a:defRPr>
                      </a:pPr>
                      <a:r>
                        <a:t>% ↑</a:t>
                      </a:r>
                    </a:p>
                  </a:txBody>
                  <a:tcPr marL="118872" marR="73152" marT="91440" anchor="ctr">
                    <a:solidFill>
                      <a:srgbClr val="E6EFF3"/>
                    </a:solidFill>
                  </a:tcPr>
                </a:tc>
              </a:tr>
              <a:tr h="556260">
                <a:tc>
                  <a:txBody>
                    <a:bodyPr/>
                    <a:lstStyle/>
                    <a:p>
                      <a:pPr>
                        <a:defRPr sz="1700" b="0">
                          <a:solidFill>
                            <a:srgbClr val="20374B"/>
                          </a:solidFill>
                          <a:latin typeface="Aptos"/>
                        </a:defRPr>
                      </a:pPr>
                      <a:r>
                        <a:t>Latency / model cost</a:t>
                      </a:r>
                    </a:p>
                  </a:txBody>
                  <a:tcPr marL="118872" marR="73152" marT="91440" anchor="ctr">
                    <a:solidFill>
                      <a:srgbClr val="FFFFFF"/>
                    </a:solidFill>
                  </a:tcPr>
                </a:tc>
                <a:tc>
                  <a:txBody>
                    <a:bodyPr/>
                    <a:lstStyle/>
                    <a:p>
                      <a:pPr>
                        <a:defRPr sz="1700" b="0">
                          <a:solidFill>
                            <a:srgbClr val="20374B"/>
                          </a:solidFill>
                          <a:latin typeface="Aptos"/>
                        </a:defRPr>
                      </a:pPr>
                      <a:r>
                        <a:t>Time per forward pass; parameters and operations</a:t>
                      </a:r>
                    </a:p>
                  </a:txBody>
                  <a:tcPr marL="118872" marR="73152" marT="91440" anchor="ctr">
                    <a:solidFill>
                      <a:srgbClr val="FFFFFF"/>
                    </a:solidFill>
                  </a:tcPr>
                </a:tc>
                <a:tc>
                  <a:txBody>
                    <a:bodyPr/>
                    <a:lstStyle/>
                    <a:p>
                      <a:pPr>
                        <a:defRPr sz="1700" b="0">
                          <a:solidFill>
                            <a:srgbClr val="20374B"/>
                          </a:solidFill>
                          <a:latin typeface="Aptos"/>
                        </a:defRPr>
                      </a:pPr>
                      <a:r>
                        <a:t>ms / M / GFLOPs ↓</a:t>
                      </a:r>
                    </a:p>
                  </a:txBody>
                  <a:tcPr marL="118872" marR="73152" marT="91440"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05 / RECONSTRUCTION RESULTS</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The student loses accuracy relative to its teacher</a:t>
            </a:r>
          </a:p>
        </p:txBody>
      </p:sp>
      <p:sp>
        <p:nvSpPr>
          <p:cNvPr id="5" name="TextBox 4"/>
          <p:cNvSpPr txBox="1"/>
          <p:nvPr/>
        </p:nvSpPr>
        <p:spPr>
          <a:xfrm>
            <a:off x="530352" y="1508760"/>
            <a:ext cx="10972800" cy="548640"/>
          </a:xfrm>
          <a:prstGeom prst="rect">
            <a:avLst/>
          </a:prstGeom>
          <a:noFill/>
        </p:spPr>
        <p:txBody>
          <a:bodyPr wrap="square" lIns="22860" rIns="22860" tIns="22860" bIns="22860">
            <a:spAutoFit/>
          </a:bodyPr>
          <a:lstStyle/>
          <a:p>
            <a:pPr>
              <a:spcAft>
                <a:spcPts val="700"/>
              </a:spcAft>
              <a:defRPr sz="1600" b="0">
                <a:solidFill>
                  <a:srgbClr val="526779"/>
                </a:solidFill>
                <a:latin typeface="Aptos"/>
              </a:defRPr>
            </a:pPr>
            <a:r>
              <a:t>PVE / PA-PVE, in mm. All 3DPW values use converted Anny labels.</a:t>
            </a:r>
          </a:p>
        </p:txBody>
      </p:sp>
      <p:sp>
        <p:nvSpPr>
          <p:cNvPr id="6" name="Rectangle 5"/>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Tables T16–T17; jobs 3614191, 3611336, 3614192</a:t>
            </a:r>
          </a:p>
        </p:txBody>
      </p:sp>
      <p:sp>
        <p:nvSpPr>
          <p:cNvPr id="8" name="TextBox 7"/>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10</a:t>
            </a:r>
          </a:p>
        </p:txBody>
      </p:sp>
      <p:graphicFrame>
        <p:nvGraphicFramePr>
          <p:cNvPr id="9" name="Table 8"/>
          <p:cNvGraphicFramePr>
            <a:graphicFrameLocks noGrp="1"/>
          </p:cNvGraphicFramePr>
          <p:nvPr/>
        </p:nvGraphicFramePr>
        <p:xfrm>
          <a:off x="566928" y="2148840"/>
          <a:ext cx="11045951" cy="2331720"/>
        </p:xfrm>
        <a:graphic>
          <a:graphicData uri="http://schemas.openxmlformats.org/drawingml/2006/table">
            <a:tbl>
              <a:tblPr firstRow="1" bandRow="1">
                <a:tableStyleId>{5C22544A-7EE6-4342-B048-85BDC9FD1C3A}</a:tableStyleId>
              </a:tblPr>
              <a:tblGrid>
                <a:gridCol w="3749039"/>
                <a:gridCol w="2560320"/>
                <a:gridCol w="2560320"/>
                <a:gridCol w="2176272"/>
              </a:tblGrid>
              <a:tr h="582930">
                <a:tc>
                  <a:txBody>
                    <a:bodyPr/>
                    <a:lstStyle/>
                    <a:p>
                      <a:pPr>
                        <a:defRPr sz="2000" b="1">
                          <a:solidFill>
                            <a:srgbClr val="FFFFFF"/>
                          </a:solidFill>
                          <a:latin typeface="Aptos"/>
                        </a:defRPr>
                      </a:pPr>
                      <a:r>
                        <a:t>Model</a:t>
                      </a:r>
                    </a:p>
                  </a:txBody>
                  <a:tcPr marL="118872" marR="73152" marT="91440" anchor="ctr">
                    <a:solidFill>
                      <a:srgbClr val="142D45"/>
                    </a:solidFill>
                  </a:tcPr>
                </a:tc>
                <a:tc>
                  <a:txBody>
                    <a:bodyPr/>
                    <a:lstStyle/>
                    <a:p>
                      <a:pPr>
                        <a:defRPr sz="2000" b="1">
                          <a:solidFill>
                            <a:srgbClr val="FFFFFF"/>
                          </a:solidFill>
                          <a:latin typeface="Aptos"/>
                        </a:defRPr>
                      </a:pPr>
                      <a:r>
                        <a:t>Synthetic holdout</a:t>
                      </a:r>
                    </a:p>
                  </a:txBody>
                  <a:tcPr marL="118872" marR="73152" marT="91440" anchor="ctr">
                    <a:solidFill>
                      <a:srgbClr val="142D45"/>
                    </a:solidFill>
                  </a:tcPr>
                </a:tc>
                <a:tc>
                  <a:txBody>
                    <a:bodyPr/>
                    <a:lstStyle/>
                    <a:p>
                      <a:pPr>
                        <a:defRPr sz="2000" b="1">
                          <a:solidFill>
                            <a:srgbClr val="FFFFFF"/>
                          </a:solidFill>
                          <a:latin typeface="Aptos"/>
                        </a:defRPr>
                      </a:pPr>
                      <a:r>
                        <a:t>3DPW test</a:t>
                      </a:r>
                    </a:p>
                  </a:txBody>
                  <a:tcPr marL="118872" marR="73152" marT="91440" anchor="ctr">
                    <a:solidFill>
                      <a:srgbClr val="142D45"/>
                    </a:solidFill>
                  </a:tcPr>
                </a:tc>
                <a:tc>
                  <a:txBody>
                    <a:bodyPr/>
                    <a:lstStyle/>
                    <a:p>
                      <a:pPr>
                        <a:defRPr sz="2000" b="1">
                          <a:solidFill>
                            <a:srgbClr val="FFFFFF"/>
                          </a:solidFill>
                          <a:latin typeface="Aptos"/>
                        </a:defRPr>
                      </a:pPr>
                      <a:r>
                        <a:t>3DPW recall</a:t>
                      </a:r>
                    </a:p>
                  </a:txBody>
                  <a:tcPr marL="118872" marR="73152" marT="91440" anchor="ctr">
                    <a:solidFill>
                      <a:srgbClr val="142D45"/>
                    </a:solidFill>
                  </a:tcPr>
                </a:tc>
              </a:tr>
              <a:tr h="582930">
                <a:tc>
                  <a:txBody>
                    <a:bodyPr/>
                    <a:lstStyle/>
                    <a:p>
                      <a:pPr>
                        <a:defRPr sz="2000" b="0">
                          <a:solidFill>
                            <a:srgbClr val="20374B"/>
                          </a:solidFill>
                          <a:latin typeface="Aptos"/>
                        </a:defRPr>
                      </a:pPr>
                      <a:r>
                        <a:t>Released baseline</a:t>
                      </a:r>
                    </a:p>
                  </a:txBody>
                  <a:tcPr marL="118872" marR="73152" marT="91440" anchor="ctr">
                    <a:solidFill>
                      <a:srgbClr val="FFFFFF"/>
                    </a:solidFill>
                  </a:tcPr>
                </a:tc>
                <a:tc>
                  <a:txBody>
                    <a:bodyPr/>
                    <a:lstStyle/>
                    <a:p>
                      <a:pPr>
                        <a:defRPr sz="2000" b="0">
                          <a:solidFill>
                            <a:srgbClr val="20374B"/>
                          </a:solidFill>
                          <a:latin typeface="Aptos"/>
                        </a:defRPr>
                      </a:pPr>
                      <a:r>
                        <a:t>60.3 / 44.6*</a:t>
                      </a:r>
                    </a:p>
                  </a:txBody>
                  <a:tcPr marL="118872" marR="73152" marT="91440" anchor="ctr">
                    <a:solidFill>
                      <a:srgbClr val="FFFFFF"/>
                    </a:solidFill>
                  </a:tcPr>
                </a:tc>
                <a:tc>
                  <a:txBody>
                    <a:bodyPr/>
                    <a:lstStyle/>
                    <a:p>
                      <a:pPr>
                        <a:defRPr sz="2000" b="0">
                          <a:solidFill>
                            <a:srgbClr val="20374B"/>
                          </a:solidFill>
                          <a:latin typeface="Aptos"/>
                        </a:defRPr>
                      </a:pPr>
                      <a:r>
                        <a:t>126.9 / 68.8</a:t>
                      </a:r>
                    </a:p>
                  </a:txBody>
                  <a:tcPr marL="118872" marR="73152" marT="91440" anchor="ctr">
                    <a:solidFill>
                      <a:srgbClr val="FFFFFF"/>
                    </a:solidFill>
                  </a:tcPr>
                </a:tc>
                <a:tc>
                  <a:txBody>
                    <a:bodyPr/>
                    <a:lstStyle/>
                    <a:p>
                      <a:pPr>
                        <a:defRPr sz="2000" b="0">
                          <a:solidFill>
                            <a:srgbClr val="20374B"/>
                          </a:solidFill>
                          <a:latin typeface="Aptos"/>
                        </a:defRPr>
                      </a:pPr>
                      <a:r>
                        <a:t>97%</a:t>
                      </a:r>
                    </a:p>
                  </a:txBody>
                  <a:tcPr marL="118872" marR="73152" marT="91440" anchor="ctr">
                    <a:solidFill>
                      <a:srgbClr val="FFFFFF"/>
                    </a:solidFill>
                  </a:tcPr>
                </a:tc>
              </a:tr>
              <a:tr h="582930">
                <a:tc>
                  <a:txBody>
                    <a:bodyPr/>
                    <a:lstStyle/>
                    <a:p>
                      <a:pPr>
                        <a:defRPr sz="2000" b="0">
                          <a:solidFill>
                            <a:srgbClr val="20374B"/>
                          </a:solidFill>
                          <a:latin typeface="Aptos"/>
                        </a:defRPr>
                      </a:pPr>
                      <a:r>
                        <a:t>Teacher (Final, ViT-L)</a:t>
                      </a:r>
                    </a:p>
                  </a:txBody>
                  <a:tcPr marL="118872" marR="73152" marT="91440" anchor="ctr">
                    <a:solidFill>
                      <a:srgbClr val="E6EFF3"/>
                    </a:solidFill>
                  </a:tcPr>
                </a:tc>
                <a:tc>
                  <a:txBody>
                    <a:bodyPr/>
                    <a:lstStyle/>
                    <a:p>
                      <a:pPr>
                        <a:defRPr sz="2000" b="0">
                          <a:solidFill>
                            <a:srgbClr val="20374B"/>
                          </a:solidFill>
                          <a:latin typeface="Aptos"/>
                        </a:defRPr>
                      </a:pPr>
                      <a:r>
                        <a:t>73.7 / 50.3</a:t>
                      </a:r>
                    </a:p>
                  </a:txBody>
                  <a:tcPr marL="118872" marR="73152" marT="91440" anchor="ctr">
                    <a:solidFill>
                      <a:srgbClr val="E6EFF3"/>
                    </a:solidFill>
                  </a:tcPr>
                </a:tc>
                <a:tc>
                  <a:txBody>
                    <a:bodyPr/>
                    <a:lstStyle/>
                    <a:p>
                      <a:pPr>
                        <a:defRPr sz="2000" b="0">
                          <a:solidFill>
                            <a:srgbClr val="20374B"/>
                          </a:solidFill>
                          <a:latin typeface="Aptos"/>
                        </a:defRPr>
                      </a:pPr>
                      <a:r>
                        <a:t>89.0 / 57.6</a:t>
                      </a:r>
                    </a:p>
                  </a:txBody>
                  <a:tcPr marL="118872" marR="73152" marT="91440" anchor="ctr">
                    <a:solidFill>
                      <a:srgbClr val="E6EFF3"/>
                    </a:solidFill>
                  </a:tcPr>
                </a:tc>
                <a:tc>
                  <a:txBody>
                    <a:bodyPr/>
                    <a:lstStyle/>
                    <a:p>
                      <a:pPr>
                        <a:defRPr sz="2000" b="0">
                          <a:solidFill>
                            <a:srgbClr val="20374B"/>
                          </a:solidFill>
                          <a:latin typeface="Aptos"/>
                        </a:defRPr>
                      </a:pPr>
                      <a:r>
                        <a:t>99%</a:t>
                      </a:r>
                    </a:p>
                  </a:txBody>
                  <a:tcPr marL="118872" marR="73152" marT="91440" anchor="ctr">
                    <a:solidFill>
                      <a:srgbClr val="E6EFF3"/>
                    </a:solidFill>
                  </a:tcPr>
                </a:tc>
              </a:tr>
              <a:tr h="582930">
                <a:tc>
                  <a:txBody>
                    <a:bodyPr/>
                    <a:lstStyle/>
                    <a:p>
                      <a:pPr>
                        <a:defRPr sz="2000" b="0">
                          <a:solidFill>
                            <a:srgbClr val="20374B"/>
                          </a:solidFill>
                          <a:latin typeface="Aptos"/>
                        </a:defRPr>
                      </a:pPr>
                      <a:r>
                        <a:t>Student (ViT-B)</a:t>
                      </a:r>
                    </a:p>
                  </a:txBody>
                  <a:tcPr marL="118872" marR="73152" marT="91440" anchor="ctr">
                    <a:solidFill>
                      <a:srgbClr val="FFFFFF"/>
                    </a:solidFill>
                  </a:tcPr>
                </a:tc>
                <a:tc>
                  <a:txBody>
                    <a:bodyPr/>
                    <a:lstStyle/>
                    <a:p>
                      <a:pPr>
                        <a:defRPr sz="2000" b="0">
                          <a:solidFill>
                            <a:srgbClr val="20374B"/>
                          </a:solidFill>
                          <a:latin typeface="Aptos"/>
                        </a:defRPr>
                      </a:pPr>
                      <a:r>
                        <a:t>119.6 / 80.8</a:t>
                      </a:r>
                    </a:p>
                  </a:txBody>
                  <a:tcPr marL="118872" marR="73152" marT="91440" anchor="ctr">
                    <a:solidFill>
                      <a:srgbClr val="FFFFFF"/>
                    </a:solidFill>
                  </a:tcPr>
                </a:tc>
                <a:tc>
                  <a:txBody>
                    <a:bodyPr/>
                    <a:lstStyle/>
                    <a:p>
                      <a:pPr>
                        <a:defRPr sz="2000" b="0">
                          <a:solidFill>
                            <a:srgbClr val="20374B"/>
                          </a:solidFill>
                          <a:latin typeface="Aptos"/>
                        </a:defRPr>
                      </a:pPr>
                      <a:r>
                        <a:t>110.1 / 71.8</a:t>
                      </a:r>
                    </a:p>
                  </a:txBody>
                  <a:tcPr marL="118872" marR="73152" marT="91440" anchor="ctr">
                    <a:solidFill>
                      <a:srgbClr val="FFFFFF"/>
                    </a:solidFill>
                  </a:tcPr>
                </a:tc>
                <a:tc>
                  <a:txBody>
                    <a:bodyPr/>
                    <a:lstStyle/>
                    <a:p>
                      <a:pPr>
                        <a:defRPr sz="2000" b="0">
                          <a:solidFill>
                            <a:srgbClr val="20374B"/>
                          </a:solidFill>
                          <a:latin typeface="Aptos"/>
                        </a:defRPr>
                      </a:pPr>
                      <a:r>
                        <a:t>99%</a:t>
                      </a:r>
                    </a:p>
                  </a:txBody>
                  <a:tcPr marL="118872" marR="73152" marT="91440" anchor="ctr">
                    <a:solidFill>
                      <a:srgbClr val="FFFFFF"/>
                    </a:solidFill>
                  </a:tcPr>
                </a:tc>
              </a:tr>
            </a:tbl>
          </a:graphicData>
        </a:graphic>
      </p:graphicFrame>
      <p:sp>
        <p:nvSpPr>
          <p:cNvPr id="10" name="TextBox 9"/>
          <p:cNvSpPr txBox="1"/>
          <p:nvPr/>
        </p:nvSpPr>
        <p:spPr>
          <a:xfrm>
            <a:off x="594360" y="4709160"/>
            <a:ext cx="10972800" cy="640080"/>
          </a:xfrm>
          <a:prstGeom prst="rect">
            <a:avLst/>
          </a:prstGeom>
          <a:noFill/>
        </p:spPr>
        <p:txBody>
          <a:bodyPr wrap="square" lIns="22860" rIns="22860" tIns="22860" bIns="22860">
            <a:spAutoFit/>
          </a:bodyPr>
          <a:lstStyle/>
          <a:p>
            <a:pPr>
              <a:spcAft>
                <a:spcPts val="700"/>
              </a:spcAft>
              <a:defRPr sz="1600" b="0">
                <a:solidFill>
                  <a:srgbClr val="526779"/>
                </a:solidFill>
                <a:latin typeface="Aptos"/>
              </a:defRPr>
            </a:pPr>
            <a:r>
              <a:t>* Baseline synthetic images are potentially in its training set.</a:t>
            </a:r>
          </a:p>
          <a:p>
            <a:pPr>
              <a:spcAft>
                <a:spcPts val="700"/>
              </a:spcAft>
              <a:defRPr sz="1600" b="0">
                <a:solidFill>
                  <a:srgbClr val="526779"/>
                </a:solidFill>
                <a:latin typeface="Aptos"/>
              </a:defRPr>
            </a:pPr>
            <a:r>
              <a:t>Baseline real-image training exposure also differs from teacher/student.</a:t>
            </a:r>
          </a:p>
        </p:txBody>
      </p:sp>
      <p:sp>
        <p:nvSpPr>
          <p:cNvPr id="11" name="Rounded Rectangle 10"/>
          <p:cNvSpPr/>
          <p:nvPr/>
        </p:nvSpPr>
        <p:spPr>
          <a:xfrm>
            <a:off x="530352" y="5623560"/>
            <a:ext cx="11109960" cy="566928"/>
          </a:xfrm>
          <a:prstGeom prst="roundRect">
            <a:avLst>
              <a:gd name="adj" fmla="val 12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705856"/>
            <a:ext cx="10698480" cy="438912"/>
          </a:xfrm>
          <a:prstGeom prst="rect">
            <a:avLst/>
          </a:prstGeom>
          <a:noFill/>
        </p:spPr>
        <p:txBody>
          <a:bodyPr wrap="square" lIns="22860" rIns="22860" tIns="22860" bIns="22860">
            <a:spAutoFit/>
          </a:bodyPr>
          <a:lstStyle/>
          <a:p>
            <a:pPr>
              <a:spcAft>
                <a:spcPts val="700"/>
              </a:spcAft>
              <a:defRPr sz="1900" b="1">
                <a:solidFill>
                  <a:srgbClr val="FFFFFF"/>
                </a:solidFill>
                <a:latin typeface="Aptos"/>
              </a:defRPr>
            </a:pPr>
            <a:r>
              <a:t>Student: lower 3DPW PVE than the released baseline, but higher error than the teacher.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05 / EFFICIENCY RESULTS</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The student is smaller and faster</a:t>
            </a:r>
          </a:p>
        </p:txBody>
      </p:sp>
      <p:sp>
        <p:nvSpPr>
          <p:cNvPr id="5" name="TextBox 4"/>
          <p:cNvSpPr txBox="1"/>
          <p:nvPr/>
        </p:nvSpPr>
        <p:spPr>
          <a:xfrm>
            <a:off x="530352" y="1508760"/>
            <a:ext cx="10972800" cy="548640"/>
          </a:xfrm>
          <a:prstGeom prst="rect">
            <a:avLst/>
          </a:prstGeom>
          <a:noFill/>
        </p:spPr>
        <p:txBody>
          <a:bodyPr wrap="square" lIns="22860" rIns="22860" tIns="22860" bIns="22860">
            <a:spAutoFit/>
          </a:bodyPr>
          <a:lstStyle/>
          <a:p>
            <a:pPr>
              <a:spcAft>
                <a:spcPts val="700"/>
              </a:spcAft>
              <a:defRPr sz="1600" b="0">
                <a:solidFill>
                  <a:srgbClr val="526779"/>
                </a:solidFill>
                <a:latin typeface="Aptos"/>
              </a:defRPr>
            </a:pPr>
            <a:r>
              <a:t>Same benchmark: 672-pixel input, one person, batch 1, fp32 with TF32.</a:t>
            </a:r>
          </a:p>
        </p:txBody>
      </p:sp>
      <p:sp>
        <p:nvSpPr>
          <p:cNvPr id="6" name="Rectangle 5"/>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 thesis Table T16; paired L40S measurements, job 3614191</a:t>
            </a:r>
          </a:p>
        </p:txBody>
      </p:sp>
      <p:sp>
        <p:nvSpPr>
          <p:cNvPr id="8" name="TextBox 7"/>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11</a:t>
            </a:r>
          </a:p>
        </p:txBody>
      </p:sp>
      <p:graphicFrame>
        <p:nvGraphicFramePr>
          <p:cNvPr id="9" name="Table 8"/>
          <p:cNvGraphicFramePr>
            <a:graphicFrameLocks noGrp="1"/>
          </p:cNvGraphicFramePr>
          <p:nvPr/>
        </p:nvGraphicFramePr>
        <p:xfrm>
          <a:off x="566928" y="2057400"/>
          <a:ext cx="11045952" cy="1691640"/>
        </p:xfrm>
        <a:graphic>
          <a:graphicData uri="http://schemas.openxmlformats.org/drawingml/2006/table">
            <a:tbl>
              <a:tblPr firstRow="1" bandRow="1">
                <a:tableStyleId>{5C22544A-7EE6-4342-B048-85BDC9FD1C3A}</a:tableStyleId>
              </a:tblPr>
              <a:tblGrid>
                <a:gridCol w="2743200"/>
                <a:gridCol w="2468880"/>
                <a:gridCol w="2743200"/>
                <a:gridCol w="3090672"/>
              </a:tblGrid>
              <a:tr h="563880">
                <a:tc>
                  <a:txBody>
                    <a:bodyPr/>
                    <a:lstStyle/>
                    <a:p>
                      <a:pPr>
                        <a:defRPr sz="2100" b="1">
                          <a:solidFill>
                            <a:srgbClr val="FFFFFF"/>
                          </a:solidFill>
                          <a:latin typeface="Aptos"/>
                        </a:defRPr>
                      </a:pPr>
                      <a:r>
                        <a:t>Model</a:t>
                      </a:r>
                    </a:p>
                  </a:txBody>
                  <a:tcPr marL="118872" marR="73152" marT="91440" anchor="ctr">
                    <a:solidFill>
                      <a:srgbClr val="142D45"/>
                    </a:solidFill>
                  </a:tcPr>
                </a:tc>
                <a:tc>
                  <a:txBody>
                    <a:bodyPr/>
                    <a:lstStyle/>
                    <a:p>
                      <a:pPr>
                        <a:defRPr sz="2100" b="1">
                          <a:solidFill>
                            <a:srgbClr val="FFFFFF"/>
                          </a:solidFill>
                          <a:latin typeface="Aptos"/>
                        </a:defRPr>
                      </a:pPr>
                      <a:r>
                        <a:t>Parameters</a:t>
                      </a:r>
                    </a:p>
                  </a:txBody>
                  <a:tcPr marL="118872" marR="73152" marT="91440" anchor="ctr">
                    <a:solidFill>
                      <a:srgbClr val="142D45"/>
                    </a:solidFill>
                  </a:tcPr>
                </a:tc>
                <a:tc>
                  <a:txBody>
                    <a:bodyPr/>
                    <a:lstStyle/>
                    <a:p>
                      <a:pPr>
                        <a:defRPr sz="2100" b="1">
                          <a:solidFill>
                            <a:srgbClr val="FFFFFF"/>
                          </a:solidFill>
                          <a:latin typeface="Aptos"/>
                        </a:defRPr>
                      </a:pPr>
                      <a:r>
                        <a:t>Compute</a:t>
                      </a:r>
                    </a:p>
                  </a:txBody>
                  <a:tcPr marL="118872" marR="73152" marT="91440" anchor="ctr">
                    <a:solidFill>
                      <a:srgbClr val="142D45"/>
                    </a:solidFill>
                  </a:tcPr>
                </a:tc>
                <a:tc>
                  <a:txBody>
                    <a:bodyPr/>
                    <a:lstStyle/>
                    <a:p>
                      <a:pPr>
                        <a:defRPr sz="2100" b="1">
                          <a:solidFill>
                            <a:srgbClr val="FFFFFF"/>
                          </a:solidFill>
                          <a:latin typeface="Aptos"/>
                        </a:defRPr>
                      </a:pPr>
                      <a:r>
                        <a:t>Median forward time</a:t>
                      </a:r>
                    </a:p>
                  </a:txBody>
                  <a:tcPr marL="118872" marR="73152" marT="91440" anchor="ctr">
                    <a:solidFill>
                      <a:srgbClr val="142D45"/>
                    </a:solidFill>
                  </a:tcPr>
                </a:tc>
              </a:tr>
              <a:tr h="563880">
                <a:tc>
                  <a:txBody>
                    <a:bodyPr/>
                    <a:lstStyle/>
                    <a:p>
                      <a:pPr>
                        <a:defRPr sz="2100" b="0">
                          <a:solidFill>
                            <a:srgbClr val="20374B"/>
                          </a:solidFill>
                          <a:latin typeface="Aptos"/>
                        </a:defRPr>
                      </a:pPr>
                      <a:r>
                        <a:t>Teacher</a:t>
                      </a:r>
                    </a:p>
                  </a:txBody>
                  <a:tcPr marL="118872" marR="73152" marT="91440" anchor="ctr">
                    <a:solidFill>
                      <a:srgbClr val="FFFFFF"/>
                    </a:solidFill>
                  </a:tcPr>
                </a:tc>
                <a:tc>
                  <a:txBody>
                    <a:bodyPr/>
                    <a:lstStyle/>
                    <a:p>
                      <a:pPr>
                        <a:defRPr sz="2100" b="0">
                          <a:solidFill>
                            <a:srgbClr val="20374B"/>
                          </a:solidFill>
                          <a:latin typeface="Aptos"/>
                        </a:defRPr>
                      </a:pPr>
                      <a:r>
                        <a:t>318.38 M</a:t>
                      </a:r>
                    </a:p>
                  </a:txBody>
                  <a:tcPr marL="118872" marR="73152" marT="91440" anchor="ctr">
                    <a:solidFill>
                      <a:srgbClr val="FFFFFF"/>
                    </a:solidFill>
                  </a:tcPr>
                </a:tc>
                <a:tc>
                  <a:txBody>
                    <a:bodyPr/>
                    <a:lstStyle/>
                    <a:p>
                      <a:pPr>
                        <a:defRPr sz="2100" b="0">
                          <a:solidFill>
                            <a:srgbClr val="20374B"/>
                          </a:solidFill>
                          <a:latin typeface="Aptos"/>
                        </a:defRPr>
                      </a:pPr>
                      <a:r>
                        <a:t>1,927.4 GFLOPs</a:t>
                      </a:r>
                    </a:p>
                  </a:txBody>
                  <a:tcPr marL="118872" marR="73152" marT="91440" anchor="ctr">
                    <a:solidFill>
                      <a:srgbClr val="FFFFFF"/>
                    </a:solidFill>
                  </a:tcPr>
                </a:tc>
                <a:tc>
                  <a:txBody>
                    <a:bodyPr/>
                    <a:lstStyle/>
                    <a:p>
                      <a:pPr>
                        <a:defRPr sz="2100" b="0">
                          <a:solidFill>
                            <a:srgbClr val="20374B"/>
                          </a:solidFill>
                          <a:latin typeface="Aptos"/>
                        </a:defRPr>
                      </a:pPr>
                      <a:r>
                        <a:t>59.7 ms</a:t>
                      </a:r>
                    </a:p>
                  </a:txBody>
                  <a:tcPr marL="118872" marR="73152" marT="91440" anchor="ctr">
                    <a:solidFill>
                      <a:srgbClr val="FFFFFF"/>
                    </a:solidFill>
                  </a:tcPr>
                </a:tc>
              </a:tr>
              <a:tr h="563880">
                <a:tc>
                  <a:txBody>
                    <a:bodyPr/>
                    <a:lstStyle/>
                    <a:p>
                      <a:pPr>
                        <a:defRPr sz="2100" b="0">
                          <a:solidFill>
                            <a:srgbClr val="20374B"/>
                          </a:solidFill>
                          <a:latin typeface="Aptos"/>
                        </a:defRPr>
                      </a:pPr>
                      <a:r>
                        <a:t>Student</a:t>
                      </a:r>
                    </a:p>
                  </a:txBody>
                  <a:tcPr marL="118872" marR="73152" marT="91440" anchor="ctr">
                    <a:solidFill>
                      <a:srgbClr val="E6EFF3"/>
                    </a:solidFill>
                  </a:tcPr>
                </a:tc>
                <a:tc>
                  <a:txBody>
                    <a:bodyPr/>
                    <a:lstStyle/>
                    <a:p>
                      <a:pPr>
                        <a:defRPr sz="2100" b="0">
                          <a:solidFill>
                            <a:srgbClr val="20374B"/>
                          </a:solidFill>
                          <a:latin typeface="Aptos"/>
                        </a:defRPr>
                      </a:pPr>
                      <a:r>
                        <a:t>101.38 M</a:t>
                      </a:r>
                    </a:p>
                  </a:txBody>
                  <a:tcPr marL="118872" marR="73152" marT="91440" anchor="ctr">
                    <a:solidFill>
                      <a:srgbClr val="E6EFF3"/>
                    </a:solidFill>
                  </a:tcPr>
                </a:tc>
                <a:tc>
                  <a:txBody>
                    <a:bodyPr/>
                    <a:lstStyle/>
                    <a:p>
                      <a:pPr>
                        <a:defRPr sz="2100" b="0">
                          <a:solidFill>
                            <a:srgbClr val="20374B"/>
                          </a:solidFill>
                          <a:latin typeface="Aptos"/>
                        </a:defRPr>
                      </a:pPr>
                      <a:r>
                        <a:t>603.3 GFLOPs</a:t>
                      </a:r>
                    </a:p>
                  </a:txBody>
                  <a:tcPr marL="118872" marR="73152" marT="91440" anchor="ctr">
                    <a:solidFill>
                      <a:srgbClr val="E6EFF3"/>
                    </a:solidFill>
                  </a:tcPr>
                </a:tc>
                <a:tc>
                  <a:txBody>
                    <a:bodyPr/>
                    <a:lstStyle/>
                    <a:p>
                      <a:pPr>
                        <a:defRPr sz="2100" b="0">
                          <a:solidFill>
                            <a:srgbClr val="20374B"/>
                          </a:solidFill>
                          <a:latin typeface="Aptos"/>
                        </a:defRPr>
                      </a:pPr>
                      <a:r>
                        <a:t>28.5 ms</a:t>
                      </a:r>
                    </a:p>
                  </a:txBody>
                  <a:tcPr marL="118872" marR="73152" marT="91440" anchor="ctr">
                    <a:solidFill>
                      <a:srgbClr val="E6EFF3"/>
                    </a:solidFill>
                  </a:tcPr>
                </a:tc>
              </a:tr>
            </a:tbl>
          </a:graphicData>
        </a:graphic>
      </p:graphicFrame>
      <p:sp>
        <p:nvSpPr>
          <p:cNvPr id="10" name="TextBox 9"/>
          <p:cNvSpPr txBox="1"/>
          <p:nvPr/>
        </p:nvSpPr>
        <p:spPr>
          <a:xfrm>
            <a:off x="731520" y="4160520"/>
            <a:ext cx="3200400" cy="640080"/>
          </a:xfrm>
          <a:prstGeom prst="rect">
            <a:avLst/>
          </a:prstGeom>
          <a:noFill/>
        </p:spPr>
        <p:txBody>
          <a:bodyPr wrap="square" lIns="22860" rIns="22860" tIns="22860" bIns="22860">
            <a:spAutoFit/>
          </a:bodyPr>
          <a:lstStyle/>
          <a:p>
            <a:pPr>
              <a:spcAft>
                <a:spcPts val="700"/>
              </a:spcAft>
              <a:defRPr sz="3600" b="1">
                <a:solidFill>
                  <a:srgbClr val="087F8C"/>
                </a:solidFill>
                <a:latin typeface="Aptos"/>
              </a:defRPr>
            </a:pPr>
            <a:r>
              <a:t>3.14×</a:t>
            </a:r>
          </a:p>
        </p:txBody>
      </p:sp>
      <p:sp>
        <p:nvSpPr>
          <p:cNvPr id="11" name="TextBox 10"/>
          <p:cNvSpPr txBox="1"/>
          <p:nvPr/>
        </p:nvSpPr>
        <p:spPr>
          <a:xfrm>
            <a:off x="731520" y="4846320"/>
            <a:ext cx="3200400" cy="457200"/>
          </a:xfrm>
          <a:prstGeom prst="rect">
            <a:avLst/>
          </a:prstGeom>
          <a:noFill/>
        </p:spPr>
        <p:txBody>
          <a:bodyPr wrap="square" lIns="22860" rIns="22860" tIns="22860" bIns="22860">
            <a:spAutoFit/>
          </a:bodyPr>
          <a:lstStyle/>
          <a:p>
            <a:pPr>
              <a:spcAft>
                <a:spcPts val="700"/>
              </a:spcAft>
              <a:defRPr sz="1900" b="0">
                <a:solidFill>
                  <a:srgbClr val="526779"/>
                </a:solidFill>
                <a:latin typeface="Aptos"/>
              </a:defRPr>
            </a:pPr>
            <a:r>
              <a:t>fewer parameters</a:t>
            </a:r>
          </a:p>
        </p:txBody>
      </p:sp>
      <p:sp>
        <p:nvSpPr>
          <p:cNvPr id="12" name="TextBox 11"/>
          <p:cNvSpPr txBox="1"/>
          <p:nvPr/>
        </p:nvSpPr>
        <p:spPr>
          <a:xfrm>
            <a:off x="4572000" y="4160520"/>
            <a:ext cx="3200400" cy="640080"/>
          </a:xfrm>
          <a:prstGeom prst="rect">
            <a:avLst/>
          </a:prstGeom>
          <a:noFill/>
        </p:spPr>
        <p:txBody>
          <a:bodyPr wrap="square" lIns="22860" rIns="22860" tIns="22860" bIns="22860">
            <a:spAutoFit/>
          </a:bodyPr>
          <a:lstStyle/>
          <a:p>
            <a:pPr>
              <a:spcAft>
                <a:spcPts val="700"/>
              </a:spcAft>
              <a:defRPr sz="3600" b="1">
                <a:solidFill>
                  <a:srgbClr val="087F8C"/>
                </a:solidFill>
                <a:latin typeface="Aptos"/>
              </a:defRPr>
            </a:pPr>
            <a:r>
              <a:t>3.19×</a:t>
            </a:r>
          </a:p>
        </p:txBody>
      </p:sp>
      <p:sp>
        <p:nvSpPr>
          <p:cNvPr id="13" name="TextBox 12"/>
          <p:cNvSpPr txBox="1"/>
          <p:nvPr/>
        </p:nvSpPr>
        <p:spPr>
          <a:xfrm>
            <a:off x="4572000" y="4846320"/>
            <a:ext cx="3200400" cy="457200"/>
          </a:xfrm>
          <a:prstGeom prst="rect">
            <a:avLst/>
          </a:prstGeom>
          <a:noFill/>
        </p:spPr>
        <p:txBody>
          <a:bodyPr wrap="square" lIns="22860" rIns="22860" tIns="22860" bIns="22860">
            <a:spAutoFit/>
          </a:bodyPr>
          <a:lstStyle/>
          <a:p>
            <a:pPr>
              <a:spcAft>
                <a:spcPts val="700"/>
              </a:spcAft>
              <a:defRPr sz="1900" b="0">
                <a:solidFill>
                  <a:srgbClr val="526779"/>
                </a:solidFill>
                <a:latin typeface="Aptos"/>
              </a:defRPr>
            </a:pPr>
            <a:r>
              <a:t>less computation</a:t>
            </a:r>
          </a:p>
        </p:txBody>
      </p:sp>
      <p:sp>
        <p:nvSpPr>
          <p:cNvPr id="14" name="TextBox 13"/>
          <p:cNvSpPr txBox="1"/>
          <p:nvPr/>
        </p:nvSpPr>
        <p:spPr>
          <a:xfrm>
            <a:off x="8321040" y="4160520"/>
            <a:ext cx="3200400" cy="640080"/>
          </a:xfrm>
          <a:prstGeom prst="rect">
            <a:avLst/>
          </a:prstGeom>
          <a:noFill/>
        </p:spPr>
        <p:txBody>
          <a:bodyPr wrap="square" lIns="22860" rIns="22860" tIns="22860" bIns="22860">
            <a:spAutoFit/>
          </a:bodyPr>
          <a:lstStyle/>
          <a:p>
            <a:pPr>
              <a:spcAft>
                <a:spcPts val="700"/>
              </a:spcAft>
              <a:defRPr sz="3600" b="1">
                <a:solidFill>
                  <a:srgbClr val="087F8C"/>
                </a:solidFill>
                <a:latin typeface="Aptos"/>
              </a:defRPr>
            </a:pPr>
            <a:r>
              <a:t>2.10×</a:t>
            </a:r>
          </a:p>
        </p:txBody>
      </p:sp>
      <p:sp>
        <p:nvSpPr>
          <p:cNvPr id="15" name="TextBox 14"/>
          <p:cNvSpPr txBox="1"/>
          <p:nvPr/>
        </p:nvSpPr>
        <p:spPr>
          <a:xfrm>
            <a:off x="8321040" y="4846320"/>
            <a:ext cx="3200400" cy="457200"/>
          </a:xfrm>
          <a:prstGeom prst="rect">
            <a:avLst/>
          </a:prstGeom>
          <a:noFill/>
        </p:spPr>
        <p:txBody>
          <a:bodyPr wrap="square" lIns="22860" rIns="22860" tIns="22860" bIns="22860">
            <a:spAutoFit/>
          </a:bodyPr>
          <a:lstStyle/>
          <a:p>
            <a:pPr>
              <a:spcAft>
                <a:spcPts val="700"/>
              </a:spcAft>
              <a:defRPr sz="1900" b="0">
                <a:solidFill>
                  <a:srgbClr val="526779"/>
                </a:solidFill>
                <a:latin typeface="Aptos"/>
              </a:defRPr>
            </a:pPr>
            <a:r>
              <a:t>faster forward pass</a:t>
            </a:r>
          </a:p>
        </p:txBody>
      </p:sp>
      <p:sp>
        <p:nvSpPr>
          <p:cNvPr id="16" name="TextBox 15"/>
          <p:cNvSpPr txBox="1"/>
          <p:nvPr/>
        </p:nvSpPr>
        <p:spPr>
          <a:xfrm>
            <a:off x="594360" y="5824728"/>
            <a:ext cx="10972800" cy="365760"/>
          </a:xfrm>
          <a:prstGeom prst="rect">
            <a:avLst/>
          </a:prstGeom>
          <a:noFill/>
        </p:spPr>
        <p:txBody>
          <a:bodyPr wrap="square" lIns="22860" rIns="22860" tIns="22860" bIns="22860">
            <a:spAutoFit/>
          </a:bodyPr>
          <a:lstStyle/>
          <a:p>
            <a:pPr>
              <a:spcAft>
                <a:spcPts val="700"/>
              </a:spcAft>
              <a:defRPr sz="1800" b="0">
                <a:solidFill>
                  <a:srgbClr val="526779"/>
                </a:solidFill>
                <a:latin typeface="Aptos"/>
              </a:defRPr>
            </a:pPr>
            <a:r>
              <a:t>This is a model-forward benchmark, not end-to-end video FPS.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06 / DATASETS</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Two data sources with one common body format</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Chapter 3; numbers_data.tex</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12</a:t>
            </a:r>
          </a:p>
        </p:txBody>
      </p:sp>
      <p:sp>
        <p:nvSpPr>
          <p:cNvPr id="8" name="Rounded Rectangle 7"/>
          <p:cNvSpPr/>
          <p:nvPr/>
        </p:nvSpPr>
        <p:spPr>
          <a:xfrm>
            <a:off x="566928" y="196596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65960"/>
            <a:ext cx="50292" cy="33375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130552"/>
            <a:ext cx="496519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AnnyOne: synthetic images</a:t>
            </a:r>
          </a:p>
        </p:txBody>
      </p:sp>
      <p:sp>
        <p:nvSpPr>
          <p:cNvPr id="11" name="TextBox 10"/>
          <p:cNvSpPr txBox="1"/>
          <p:nvPr/>
        </p:nvSpPr>
        <p:spPr>
          <a:xfrm>
            <a:off x="768096" y="2862072"/>
            <a:ext cx="4965192" cy="235000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Exact Anny pose, shape and camera labels.</a:t>
            </a:r>
          </a:p>
          <a:p>
            <a:pPr>
              <a:spcAft>
                <a:spcPts val="700"/>
              </a:spcAft>
              <a:defRPr sz="1800" b="0">
                <a:solidFill>
                  <a:srgbClr val="20374B"/>
                </a:solidFill>
                <a:latin typeface="Aptos"/>
              </a:defRPr>
            </a:pPr>
          </a:p>
          <a:p>
            <a:pPr>
              <a:spcAft>
                <a:spcPts val="700"/>
              </a:spcAft>
              <a:defRPr sz="1800" b="0">
                <a:solidFill>
                  <a:srgbClr val="20374B"/>
                </a:solidFill>
                <a:latin typeface="Aptos"/>
              </a:defRPr>
            </a:pPr>
            <a:r>
              <a:t>579,860 training images</a:t>
            </a:r>
          </a:p>
          <a:p>
            <a:pPr>
              <a:spcAft>
                <a:spcPts val="700"/>
              </a:spcAft>
              <a:defRPr sz="1800" b="0">
                <a:solidFill>
                  <a:srgbClr val="20374B"/>
                </a:solidFill>
                <a:latin typeface="Aptos"/>
              </a:defRPr>
            </a:pPr>
            <a:r>
              <a:t>100-image thesis holdout</a:t>
            </a:r>
          </a:p>
          <a:p>
            <a:pPr>
              <a:spcAft>
                <a:spcPts val="700"/>
              </a:spcAft>
              <a:defRPr sz="1800" b="0">
                <a:solidFill>
                  <a:srgbClr val="20374B"/>
                </a:solidFill>
                <a:latin typeface="Aptos"/>
              </a:defRPr>
            </a:pPr>
          </a:p>
          <a:p>
            <a:pPr>
              <a:spcAft>
                <a:spcPts val="700"/>
              </a:spcAft>
              <a:defRPr sz="1800" b="0">
                <a:solidFill>
                  <a:srgbClr val="20374B"/>
                </a:solidFill>
                <a:latin typeface="Aptos"/>
              </a:defRPr>
            </a:pPr>
            <a:r>
              <a:t>70% of mixed training samples</a:t>
            </a:r>
          </a:p>
        </p:txBody>
      </p:sp>
      <p:sp>
        <p:nvSpPr>
          <p:cNvPr id="12" name="Rounded Rectangle 11"/>
          <p:cNvSpPr/>
          <p:nvPr/>
        </p:nvSpPr>
        <p:spPr>
          <a:xfrm>
            <a:off x="6172200" y="1965960"/>
            <a:ext cx="544068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965960"/>
            <a:ext cx="50292" cy="33375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130552"/>
            <a:ext cx="505663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3DPW: real video frames</a:t>
            </a:r>
          </a:p>
        </p:txBody>
      </p:sp>
      <p:sp>
        <p:nvSpPr>
          <p:cNvPr id="15" name="TextBox 14"/>
          <p:cNvSpPr txBox="1"/>
          <p:nvPr/>
        </p:nvSpPr>
        <p:spPr>
          <a:xfrm>
            <a:off x="6373368" y="2862072"/>
            <a:ext cx="5056632" cy="235000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Original labels describe SMPL bodies.</a:t>
            </a:r>
          </a:p>
          <a:p>
            <a:pPr>
              <a:spcAft>
                <a:spcPts val="700"/>
              </a:spcAft>
              <a:defRPr sz="1800" b="0">
                <a:solidFill>
                  <a:srgbClr val="20374B"/>
                </a:solidFill>
                <a:latin typeface="Aptos"/>
              </a:defRPr>
            </a:pPr>
            <a:r>
              <a:t>Convert them into Anny training targets.</a:t>
            </a:r>
          </a:p>
          <a:p>
            <a:pPr>
              <a:spcAft>
                <a:spcPts val="700"/>
              </a:spcAft>
              <a:defRPr sz="1800" b="0">
                <a:solidFill>
                  <a:srgbClr val="20374B"/>
                </a:solidFill>
                <a:latin typeface="Aptos"/>
              </a:defRPr>
            </a:pPr>
          </a:p>
          <a:p>
            <a:pPr>
              <a:spcAft>
                <a:spcPts val="700"/>
              </a:spcAft>
              <a:defRPr sz="1800" b="0">
                <a:solidFill>
                  <a:srgbClr val="20374B"/>
                </a:solidFill>
                <a:latin typeface="Aptos"/>
              </a:defRPr>
            </a:pPr>
            <a:r>
              <a:t>Train 5,882 · Validation 2,622 · Test 8,190</a:t>
            </a:r>
          </a:p>
          <a:p>
            <a:pPr>
              <a:spcAft>
                <a:spcPts val="700"/>
              </a:spcAft>
              <a:defRPr sz="1800" b="0">
                <a:solidFill>
                  <a:srgbClr val="20374B"/>
                </a:solidFill>
                <a:latin typeface="Aptos"/>
              </a:defRPr>
            </a:pPr>
            <a:r>
              <a:t>30% of mixed training samples</a:t>
            </a:r>
          </a:p>
        </p:txBody>
      </p:sp>
      <p:sp>
        <p:nvSpPr>
          <p:cNvPr id="16" name="TextBox 15"/>
          <p:cNvSpPr txBox="1"/>
          <p:nvPr/>
        </p:nvSpPr>
        <p:spPr>
          <a:xfrm>
            <a:off x="594360" y="5760720"/>
            <a:ext cx="10972800" cy="457200"/>
          </a:xfrm>
          <a:prstGeom prst="rect">
            <a:avLst/>
          </a:prstGeom>
          <a:noFill/>
        </p:spPr>
        <p:txBody>
          <a:bodyPr wrap="square" lIns="22860" rIns="22860" tIns="22860" bIns="22860">
            <a:spAutoFit/>
          </a:bodyPr>
          <a:lstStyle/>
          <a:p>
            <a:pPr>
              <a:spcAft>
                <a:spcPts val="700"/>
              </a:spcAft>
              <a:defRPr sz="1700" b="0">
                <a:solidFill>
                  <a:srgbClr val="526779"/>
                </a:solidFill>
                <a:latin typeface="Aptos"/>
              </a:defRPr>
            </a:pPr>
            <a:r>
              <a:t>The 100-image synthetic holdout contains adults only; it cannot establish child performance.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06 / LABEL CONVERSION</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How the 3DPW–Anny labels were created</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§3.3–3.5; smpl_to_anny.py, converter v2.3</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13</a:t>
            </a:r>
          </a:p>
        </p:txBody>
      </p:sp>
      <p:sp>
        <p:nvSpPr>
          <p:cNvPr id="8" name="TextBox 7"/>
          <p:cNvSpPr txBox="1"/>
          <p:nvPr/>
        </p:nvSpPr>
        <p:spPr>
          <a:xfrm>
            <a:off x="594360" y="2011680"/>
            <a:ext cx="2560320" cy="594360"/>
          </a:xfrm>
          <a:prstGeom prst="rect">
            <a:avLst/>
          </a:prstGeom>
          <a:noFill/>
        </p:spPr>
        <p:txBody>
          <a:bodyPr wrap="square" lIns="22860" rIns="22860" tIns="22860" bIns="22860">
            <a:spAutoFit/>
          </a:bodyPr>
          <a:lstStyle/>
          <a:p>
            <a:pPr>
              <a:spcAft>
                <a:spcPts val="700"/>
              </a:spcAft>
              <a:defRPr sz="3400" b="1">
                <a:solidFill>
                  <a:srgbClr val="087F8C"/>
                </a:solidFill>
                <a:latin typeface="Aptos"/>
              </a:defRPr>
            </a:pPr>
            <a:r>
              <a:t>1</a:t>
            </a:r>
          </a:p>
        </p:txBody>
      </p:sp>
      <p:sp>
        <p:nvSpPr>
          <p:cNvPr id="9" name="Rounded Rectangle 8"/>
          <p:cNvSpPr/>
          <p:nvPr/>
        </p:nvSpPr>
        <p:spPr>
          <a:xfrm>
            <a:off x="594360" y="2743200"/>
            <a:ext cx="2606040" cy="22402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743200"/>
            <a:ext cx="50292" cy="2240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907792"/>
            <a:ext cx="222199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Read source labels</a:t>
            </a:r>
          </a:p>
        </p:txBody>
      </p:sp>
      <p:sp>
        <p:nvSpPr>
          <p:cNvPr id="12" name="TextBox 11"/>
          <p:cNvSpPr txBox="1"/>
          <p:nvPr/>
        </p:nvSpPr>
        <p:spPr>
          <a:xfrm>
            <a:off x="795528" y="3639312"/>
            <a:ext cx="2221992" cy="125272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3DPW joints, shape,</a:t>
            </a:r>
          </a:p>
          <a:p>
            <a:pPr>
              <a:spcAft>
                <a:spcPts val="700"/>
              </a:spcAft>
              <a:defRPr sz="1800" b="0">
                <a:solidFill>
                  <a:srgbClr val="20374B"/>
                </a:solidFill>
                <a:latin typeface="Aptos"/>
              </a:defRPr>
            </a:pPr>
            <a:r>
              <a:t>camera and frame ID</a:t>
            </a:r>
          </a:p>
        </p:txBody>
      </p:sp>
      <p:sp>
        <p:nvSpPr>
          <p:cNvPr id="13" name="TextBox 12"/>
          <p:cNvSpPr txBox="1"/>
          <p:nvPr/>
        </p:nvSpPr>
        <p:spPr>
          <a:xfrm>
            <a:off x="3429000" y="2011680"/>
            <a:ext cx="2560320" cy="594360"/>
          </a:xfrm>
          <a:prstGeom prst="rect">
            <a:avLst/>
          </a:prstGeom>
          <a:noFill/>
        </p:spPr>
        <p:txBody>
          <a:bodyPr wrap="square" lIns="22860" rIns="22860" tIns="22860" bIns="22860">
            <a:spAutoFit/>
          </a:bodyPr>
          <a:lstStyle/>
          <a:p>
            <a:pPr>
              <a:spcAft>
                <a:spcPts val="700"/>
              </a:spcAft>
              <a:defRPr sz="3400" b="1">
                <a:solidFill>
                  <a:srgbClr val="087F8C"/>
                </a:solidFill>
                <a:latin typeface="Aptos"/>
              </a:defRPr>
            </a:pPr>
            <a:r>
              <a:t>2</a:t>
            </a:r>
          </a:p>
        </p:txBody>
      </p:sp>
      <p:sp>
        <p:nvSpPr>
          <p:cNvPr id="14" name="Rounded Rectangle 13"/>
          <p:cNvSpPr/>
          <p:nvPr/>
        </p:nvSpPr>
        <p:spPr>
          <a:xfrm>
            <a:off x="3429000" y="2743200"/>
            <a:ext cx="2606040" cy="22402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2743200"/>
            <a:ext cx="50292" cy="2240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2907792"/>
            <a:ext cx="222199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Fit an Anny body</a:t>
            </a:r>
          </a:p>
        </p:txBody>
      </p:sp>
      <p:sp>
        <p:nvSpPr>
          <p:cNvPr id="17" name="TextBox 16"/>
          <p:cNvSpPr txBox="1"/>
          <p:nvPr/>
        </p:nvSpPr>
        <p:spPr>
          <a:xfrm>
            <a:off x="3630168" y="3639312"/>
            <a:ext cx="2221992" cy="125272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Optimize root, pose,</a:t>
            </a:r>
          </a:p>
          <a:p>
            <a:pPr>
              <a:spcAft>
                <a:spcPts val="700"/>
              </a:spcAft>
              <a:defRPr sz="1800" b="0">
                <a:solidFill>
                  <a:srgbClr val="20374B"/>
                </a:solidFill>
                <a:latin typeface="Aptos"/>
              </a:defRPr>
            </a:pPr>
            <a:r>
              <a:t>then free shape values</a:t>
            </a:r>
          </a:p>
        </p:txBody>
      </p:sp>
      <p:sp>
        <p:nvSpPr>
          <p:cNvPr id="18" name="TextBox 17"/>
          <p:cNvSpPr txBox="1"/>
          <p:nvPr/>
        </p:nvSpPr>
        <p:spPr>
          <a:xfrm>
            <a:off x="6263640" y="2011680"/>
            <a:ext cx="2560320" cy="594360"/>
          </a:xfrm>
          <a:prstGeom prst="rect">
            <a:avLst/>
          </a:prstGeom>
          <a:noFill/>
        </p:spPr>
        <p:txBody>
          <a:bodyPr wrap="square" lIns="22860" rIns="22860" tIns="22860" bIns="22860">
            <a:spAutoFit/>
          </a:bodyPr>
          <a:lstStyle/>
          <a:p>
            <a:pPr>
              <a:spcAft>
                <a:spcPts val="700"/>
              </a:spcAft>
              <a:defRPr sz="3400" b="1">
                <a:solidFill>
                  <a:srgbClr val="087F8C"/>
                </a:solidFill>
                <a:latin typeface="Aptos"/>
              </a:defRPr>
            </a:pPr>
            <a:r>
              <a:t>3</a:t>
            </a:r>
          </a:p>
        </p:txBody>
      </p:sp>
      <p:sp>
        <p:nvSpPr>
          <p:cNvPr id="19" name="Rounded Rectangle 18"/>
          <p:cNvSpPr/>
          <p:nvPr/>
        </p:nvSpPr>
        <p:spPr>
          <a:xfrm>
            <a:off x="6263640" y="2743200"/>
            <a:ext cx="2606040" cy="22402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2743200"/>
            <a:ext cx="50292" cy="2240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4808" y="2907792"/>
            <a:ext cx="222199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Share body shape</a:t>
            </a:r>
          </a:p>
        </p:txBody>
      </p:sp>
      <p:sp>
        <p:nvSpPr>
          <p:cNvPr id="22" name="TextBox 21"/>
          <p:cNvSpPr txBox="1"/>
          <p:nvPr/>
        </p:nvSpPr>
        <p:spPr>
          <a:xfrm>
            <a:off x="6464808" y="3639312"/>
            <a:ext cx="2221992" cy="125272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One median shape</a:t>
            </a:r>
          </a:p>
          <a:p>
            <a:pPr>
              <a:spcAft>
                <a:spcPts val="700"/>
              </a:spcAft>
              <a:defRPr sz="1800" b="0">
                <a:solidFill>
                  <a:srgbClr val="20374B"/>
                </a:solidFill>
                <a:latin typeface="Aptos"/>
              </a:defRPr>
            </a:pPr>
            <a:r>
              <a:t>for each person’s sequence</a:t>
            </a:r>
          </a:p>
        </p:txBody>
      </p:sp>
      <p:sp>
        <p:nvSpPr>
          <p:cNvPr id="23" name="TextBox 22"/>
          <p:cNvSpPr txBox="1"/>
          <p:nvPr/>
        </p:nvSpPr>
        <p:spPr>
          <a:xfrm>
            <a:off x="9098280" y="2011680"/>
            <a:ext cx="2560320" cy="594360"/>
          </a:xfrm>
          <a:prstGeom prst="rect">
            <a:avLst/>
          </a:prstGeom>
          <a:noFill/>
        </p:spPr>
        <p:txBody>
          <a:bodyPr wrap="square" lIns="22860" rIns="22860" tIns="22860" bIns="22860">
            <a:spAutoFit/>
          </a:bodyPr>
          <a:lstStyle/>
          <a:p>
            <a:pPr>
              <a:spcAft>
                <a:spcPts val="700"/>
              </a:spcAft>
              <a:defRPr sz="3400" b="1">
                <a:solidFill>
                  <a:srgbClr val="087F8C"/>
                </a:solidFill>
                <a:latin typeface="Aptos"/>
              </a:defRPr>
            </a:pPr>
            <a:r>
              <a:t>4</a:t>
            </a:r>
          </a:p>
        </p:txBody>
      </p:sp>
      <p:sp>
        <p:nvSpPr>
          <p:cNvPr id="24" name="Rounded Rectangle 23"/>
          <p:cNvSpPr/>
          <p:nvPr/>
        </p:nvSpPr>
        <p:spPr>
          <a:xfrm>
            <a:off x="9098280" y="2743200"/>
            <a:ext cx="2606040" cy="22402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98280" y="2743200"/>
            <a:ext cx="50292" cy="2240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99448" y="2907792"/>
            <a:ext cx="222199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Build image labels</a:t>
            </a:r>
          </a:p>
        </p:txBody>
      </p:sp>
      <p:sp>
        <p:nvSpPr>
          <p:cNvPr id="27" name="TextBox 26"/>
          <p:cNvSpPr txBox="1"/>
          <p:nvPr/>
        </p:nvSpPr>
        <p:spPr>
          <a:xfrm>
            <a:off x="9299448" y="3639312"/>
            <a:ext cx="2221992" cy="125272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Refit poses; transform</a:t>
            </a:r>
          </a:p>
          <a:p>
            <a:pPr>
              <a:spcAft>
                <a:spcPts val="700"/>
              </a:spcAft>
              <a:defRPr sz="1800" b="0">
                <a:solidFill>
                  <a:srgbClr val="20374B"/>
                </a:solidFill>
                <a:latin typeface="Aptos"/>
              </a:defRPr>
            </a:pPr>
            <a:r>
              <a:t>to camera coordinates</a:t>
            </a:r>
          </a:p>
        </p:txBody>
      </p:sp>
      <p:sp>
        <p:nvSpPr>
          <p:cNvPr id="28" name="TextBox 27"/>
          <p:cNvSpPr txBox="1"/>
          <p:nvPr/>
        </p:nvSpPr>
        <p:spPr>
          <a:xfrm>
            <a:off x="594360" y="5349240"/>
            <a:ext cx="10972800" cy="685800"/>
          </a:xfrm>
          <a:prstGeom prst="rect">
            <a:avLst/>
          </a:prstGeom>
          <a:noFill/>
        </p:spPr>
        <p:txBody>
          <a:bodyPr wrap="square" lIns="22860" rIns="22860" tIns="22860" bIns="22860">
            <a:spAutoFit/>
          </a:bodyPr>
          <a:lstStyle/>
          <a:p>
            <a:pPr>
              <a:spcAft>
                <a:spcPts val="700"/>
              </a:spcAft>
              <a:defRPr sz="2000" b="0">
                <a:solidFill>
                  <a:srgbClr val="20374B"/>
                </a:solidFill>
                <a:latin typeface="Aptos"/>
              </a:defRPr>
            </a:pPr>
            <a:r>
              <a:t>Fit every third valid frame on a shared frame grid; validate and filter the completed labels.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06 / GEOMETRIC CORRESPONDENCE</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Virtual joints compare equivalent body locations</a:t>
            </a:r>
          </a:p>
        </p:txBody>
      </p:sp>
      <p:sp>
        <p:nvSpPr>
          <p:cNvPr id="5" name="TextBox 4"/>
          <p:cNvSpPr txBox="1"/>
          <p:nvPr/>
        </p:nvSpPr>
        <p:spPr>
          <a:xfrm>
            <a:off x="530352" y="1508760"/>
            <a:ext cx="10972800" cy="548640"/>
          </a:xfrm>
          <a:prstGeom prst="rect">
            <a:avLst/>
          </a:prstGeom>
          <a:noFill/>
        </p:spPr>
        <p:txBody>
          <a:bodyPr wrap="square" lIns="22860" rIns="22860" tIns="22860" bIns="22860">
            <a:spAutoFit/>
          </a:bodyPr>
          <a:lstStyle/>
          <a:p>
            <a:pPr>
              <a:spcAft>
                <a:spcPts val="700"/>
              </a:spcAft>
              <a:defRPr sz="1600" b="0">
                <a:solidFill>
                  <a:srgbClr val="526779"/>
                </a:solidFill>
                <a:latin typeface="Aptos"/>
              </a:defRPr>
            </a:pPr>
            <a:r>
              <a:t>A geometric offset changes the point used for fitting, while the Anny skeleton stays intact.</a:t>
            </a:r>
          </a:p>
        </p:txBody>
      </p:sp>
      <p:sp>
        <p:nvSpPr>
          <p:cNvPr id="6" name="Rectangle 5"/>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§3.4 and Appendix B</a:t>
            </a:r>
          </a:p>
        </p:txBody>
      </p:sp>
      <p:sp>
        <p:nvSpPr>
          <p:cNvPr id="8" name="TextBox 7"/>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14</a:t>
            </a:r>
          </a:p>
        </p:txBody>
      </p:sp>
      <p:sp>
        <p:nvSpPr>
          <p:cNvPr id="9" name="Rounded Rectangle 8"/>
          <p:cNvSpPr/>
          <p:nvPr/>
        </p:nvSpPr>
        <p:spPr>
          <a:xfrm>
            <a:off x="822960" y="2468880"/>
            <a:ext cx="2651760" cy="91440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15184"/>
            <a:ext cx="2468879" cy="731520"/>
          </a:xfrm>
          <a:prstGeom prst="rect">
            <a:avLst/>
          </a:prstGeom>
          <a:noFill/>
        </p:spPr>
        <p:txBody>
          <a:bodyPr wrap="square" lIns="22860" rIns="22860" tIns="22860" bIns="22860">
            <a:spAutoFit/>
          </a:bodyPr>
          <a:lstStyle/>
          <a:p>
            <a:pPr algn="ctr">
              <a:spcAft>
                <a:spcPts val="700"/>
              </a:spcAft>
              <a:defRPr sz="2100" b="1">
                <a:solidFill>
                  <a:srgbClr val="20374B"/>
                </a:solidFill>
                <a:latin typeface="Aptos"/>
              </a:defRPr>
            </a:pPr>
            <a:r>
              <a:t>Anny bone head</a:t>
            </a:r>
          </a:p>
          <a:p>
            <a:pPr algn="ctr">
              <a:spcAft>
                <a:spcPts val="700"/>
              </a:spcAft>
              <a:defRPr sz="2100" b="1">
                <a:solidFill>
                  <a:srgbClr val="20374B"/>
                </a:solidFill>
                <a:latin typeface="Aptos"/>
              </a:defRPr>
            </a:pPr>
            <a:r>
              <a:t>h</a:t>
            </a:r>
          </a:p>
        </p:txBody>
      </p:sp>
      <p:sp>
        <p:nvSpPr>
          <p:cNvPr id="11" name="Rounded Rectangle 10"/>
          <p:cNvSpPr/>
          <p:nvPr/>
        </p:nvSpPr>
        <p:spPr>
          <a:xfrm>
            <a:off x="4709160" y="2468880"/>
            <a:ext cx="2834640" cy="914400"/>
          </a:xfrm>
          <a:prstGeom prst="roundRect">
            <a:avLst>
              <a:gd name="adj" fmla="val 12000"/>
            </a:avLst>
          </a:prstGeom>
          <a:solidFill>
            <a:srgbClr val="D5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2615184"/>
            <a:ext cx="2651760" cy="731520"/>
          </a:xfrm>
          <a:prstGeom prst="rect">
            <a:avLst/>
          </a:prstGeom>
          <a:noFill/>
        </p:spPr>
        <p:txBody>
          <a:bodyPr wrap="square" lIns="22860" rIns="22860" tIns="22860" bIns="22860">
            <a:spAutoFit/>
          </a:bodyPr>
          <a:lstStyle/>
          <a:p>
            <a:pPr algn="ctr">
              <a:spcAft>
                <a:spcPts val="700"/>
              </a:spcAft>
              <a:defRPr sz="2100" b="1">
                <a:solidFill>
                  <a:srgbClr val="20374B"/>
                </a:solidFill>
                <a:latin typeface="Aptos"/>
              </a:defRPr>
            </a:pPr>
            <a:r>
              <a:t>Virtual point</a:t>
            </a:r>
          </a:p>
          <a:p>
            <a:pPr algn="ctr">
              <a:spcAft>
                <a:spcPts val="700"/>
              </a:spcAft>
              <a:defRPr sz="2100" b="1">
                <a:solidFill>
                  <a:srgbClr val="20374B"/>
                </a:solidFill>
                <a:latin typeface="Aptos"/>
              </a:defRPr>
            </a:pPr>
            <a:r>
              <a:t>p = h + Qδ</a:t>
            </a:r>
          </a:p>
        </p:txBody>
      </p:sp>
      <p:sp>
        <p:nvSpPr>
          <p:cNvPr id="13" name="Rounded Rectangle 12"/>
          <p:cNvSpPr/>
          <p:nvPr/>
        </p:nvSpPr>
        <p:spPr>
          <a:xfrm>
            <a:off x="8823960" y="2468880"/>
            <a:ext cx="2560320" cy="914400"/>
          </a:xfrm>
          <a:prstGeom prst="roundRect">
            <a:avLst>
              <a:gd name="adj" fmla="val 12000"/>
            </a:avLst>
          </a:prstGeom>
          <a:solidFill>
            <a:srgbClr val="E6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2615184"/>
            <a:ext cx="2377439" cy="731520"/>
          </a:xfrm>
          <a:prstGeom prst="rect">
            <a:avLst/>
          </a:prstGeom>
          <a:noFill/>
        </p:spPr>
        <p:txBody>
          <a:bodyPr wrap="square" lIns="22860" rIns="22860" tIns="22860" bIns="22860">
            <a:spAutoFit/>
          </a:bodyPr>
          <a:lstStyle/>
          <a:p>
            <a:pPr algn="ctr">
              <a:spcAft>
                <a:spcPts val="700"/>
              </a:spcAft>
              <a:defRPr sz="2100" b="1">
                <a:solidFill>
                  <a:srgbClr val="20374B"/>
                </a:solidFill>
                <a:latin typeface="Aptos"/>
              </a:defRPr>
            </a:pPr>
            <a:r>
              <a:t>SMPL joint</a:t>
            </a:r>
          </a:p>
          <a:p>
            <a:pPr algn="ctr">
              <a:spcAft>
                <a:spcPts val="700"/>
              </a:spcAft>
              <a:defRPr sz="2100" b="1">
                <a:solidFill>
                  <a:srgbClr val="20374B"/>
                </a:solidFill>
                <a:latin typeface="Aptos"/>
              </a:defRPr>
            </a:pPr>
            <a:r>
              <a:t>target</a:t>
            </a:r>
          </a:p>
        </p:txBody>
      </p:sp>
      <p:cxnSp>
        <p:nvCxnSpPr>
          <p:cNvPr id="15" name="Connector 14"/>
          <p:cNvCxnSpPr/>
          <p:nvPr/>
        </p:nvCxnSpPr>
        <p:spPr>
          <a:xfrm>
            <a:off x="3474720" y="2926080"/>
            <a:ext cx="1234440"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552944" y="2926080"/>
            <a:ext cx="1271016"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063240" y="3749039"/>
            <a:ext cx="4754880" cy="822960"/>
          </a:xfrm>
          <a:prstGeom prst="rect">
            <a:avLst/>
          </a:prstGeom>
          <a:noFill/>
        </p:spPr>
        <p:txBody>
          <a:bodyPr wrap="square" lIns="22860" rIns="22860" tIns="22860" bIns="22860">
            <a:spAutoFit/>
          </a:bodyPr>
          <a:lstStyle/>
          <a:p>
            <a:pPr>
              <a:spcAft>
                <a:spcPts val="700"/>
              </a:spcAft>
              <a:defRPr sz="2100" b="1">
                <a:solidFill>
                  <a:srgbClr val="087F8C"/>
                </a:solidFill>
                <a:latin typeface="Aptos"/>
              </a:defRPr>
            </a:pPr>
            <a:r>
              <a:t>Move by a fixed offset δ,</a:t>
            </a:r>
          </a:p>
          <a:p>
            <a:pPr>
              <a:spcAft>
                <a:spcPts val="700"/>
              </a:spcAft>
              <a:defRPr sz="2100" b="1">
                <a:solidFill>
                  <a:srgbClr val="087F8C"/>
                </a:solidFill>
                <a:latin typeface="Aptos"/>
              </a:defRPr>
            </a:pPr>
            <a:r>
              <a:t>rotated with the bone by Q</a:t>
            </a:r>
          </a:p>
        </p:txBody>
      </p:sp>
      <p:sp>
        <p:nvSpPr>
          <p:cNvPr id="18" name="TextBox 17"/>
          <p:cNvSpPr txBox="1"/>
          <p:nvPr/>
        </p:nvSpPr>
        <p:spPr>
          <a:xfrm>
            <a:off x="8229600" y="3749039"/>
            <a:ext cx="3108960" cy="822960"/>
          </a:xfrm>
          <a:prstGeom prst="rect">
            <a:avLst/>
          </a:prstGeom>
          <a:noFill/>
        </p:spPr>
        <p:txBody>
          <a:bodyPr wrap="square" lIns="22860" rIns="22860" tIns="22860" bIns="22860">
            <a:spAutoFit/>
          </a:bodyPr>
          <a:lstStyle/>
          <a:p>
            <a:pPr>
              <a:spcAft>
                <a:spcPts val="700"/>
              </a:spcAft>
              <a:defRPr sz="2100" b="1">
                <a:solidFill>
                  <a:srgbClr val="087F8C"/>
                </a:solidFill>
                <a:latin typeface="Aptos"/>
              </a:defRPr>
            </a:pPr>
            <a:r>
              <a:t>Minimize the gap</a:t>
            </a:r>
          </a:p>
          <a:p>
            <a:pPr>
              <a:spcAft>
                <a:spcPts val="700"/>
              </a:spcAft>
              <a:defRPr sz="2100" b="1">
                <a:solidFill>
                  <a:srgbClr val="087F8C"/>
                </a:solidFill>
                <a:latin typeface="Aptos"/>
              </a:defRPr>
            </a:pPr>
            <a:r>
              <a:t>to the target</a:t>
            </a:r>
          </a:p>
        </p:txBody>
      </p:sp>
      <p:sp>
        <p:nvSpPr>
          <p:cNvPr id="19" name="Rounded Rectangle 18"/>
          <p:cNvSpPr/>
          <p:nvPr/>
        </p:nvSpPr>
        <p:spPr>
          <a:xfrm>
            <a:off x="530352" y="5623560"/>
            <a:ext cx="11109960" cy="566928"/>
          </a:xfrm>
          <a:prstGeom prst="roundRect">
            <a:avLst>
              <a:gd name="adj" fmla="val 12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705856"/>
            <a:ext cx="10698480" cy="438912"/>
          </a:xfrm>
          <a:prstGeom prst="rect">
            <a:avLst/>
          </a:prstGeom>
          <a:noFill/>
        </p:spPr>
        <p:txBody>
          <a:bodyPr wrap="square" lIns="22860" rIns="22860" tIns="22860" bIns="22860">
            <a:spAutoFit/>
          </a:bodyPr>
          <a:lstStyle/>
          <a:p>
            <a:pPr>
              <a:spcAft>
                <a:spcPts val="700"/>
              </a:spcAft>
              <a:defRPr sz="1900" b="1">
                <a:solidFill>
                  <a:srgbClr val="FFFFFF"/>
                </a:solidFill>
                <a:latin typeface="Aptos"/>
              </a:defRPr>
            </a:pPr>
            <a:r>
              <a:t>Joint definitions can be aligned; limb lengths and body proportions can still differ.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06 / LABEL VALIDATION</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Converted labels: checked, with residual warnings</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§3.5, Table T05; F14_label_check_downtown_walking_00771.jpg</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15</a:t>
            </a:r>
          </a:p>
        </p:txBody>
      </p:sp>
      <p:sp>
        <p:nvSpPr>
          <p:cNvPr id="8" name="TextBox 7"/>
          <p:cNvSpPr txBox="1"/>
          <p:nvPr/>
        </p:nvSpPr>
        <p:spPr>
          <a:xfrm>
            <a:off x="594360" y="1828800"/>
            <a:ext cx="3566160" cy="457200"/>
          </a:xfrm>
          <a:prstGeom prst="rect">
            <a:avLst/>
          </a:prstGeom>
          <a:noFill/>
        </p:spPr>
        <p:txBody>
          <a:bodyPr wrap="square" lIns="22860" rIns="22860" tIns="22860" bIns="22860">
            <a:spAutoFit/>
          </a:bodyPr>
          <a:lstStyle/>
          <a:p>
            <a:pPr algn="ctr">
              <a:spcAft>
                <a:spcPts val="700"/>
              </a:spcAft>
              <a:defRPr sz="1800" b="1">
                <a:solidFill>
                  <a:srgbClr val="087F8C"/>
                </a:solidFill>
                <a:latin typeface="Aptos"/>
              </a:defRPr>
            </a:pPr>
            <a:r>
              <a:t>Original image</a:t>
            </a:r>
          </a:p>
        </p:txBody>
      </p:sp>
      <p:sp>
        <p:nvSpPr>
          <p:cNvPr id="9" name="TextBox 8"/>
          <p:cNvSpPr txBox="1"/>
          <p:nvPr/>
        </p:nvSpPr>
        <p:spPr>
          <a:xfrm>
            <a:off x="4315968" y="1828800"/>
            <a:ext cx="3566160" cy="457200"/>
          </a:xfrm>
          <a:prstGeom prst="rect">
            <a:avLst/>
          </a:prstGeom>
          <a:noFill/>
        </p:spPr>
        <p:txBody>
          <a:bodyPr wrap="square" lIns="22860" rIns="22860" tIns="22860" bIns="22860">
            <a:spAutoFit/>
          </a:bodyPr>
          <a:lstStyle/>
          <a:p>
            <a:pPr algn="ctr">
              <a:spcAft>
                <a:spcPts val="700"/>
              </a:spcAft>
              <a:defRPr sz="1800" b="1">
                <a:solidFill>
                  <a:srgbClr val="087F8C"/>
                </a:solidFill>
                <a:latin typeface="Aptos"/>
              </a:defRPr>
            </a:pPr>
            <a:r>
              <a:t>Source SMPL annotation</a:t>
            </a:r>
          </a:p>
        </p:txBody>
      </p:sp>
      <p:sp>
        <p:nvSpPr>
          <p:cNvPr id="10" name="TextBox 9"/>
          <p:cNvSpPr txBox="1"/>
          <p:nvPr/>
        </p:nvSpPr>
        <p:spPr>
          <a:xfrm>
            <a:off x="8046720" y="1828800"/>
            <a:ext cx="3566160" cy="457200"/>
          </a:xfrm>
          <a:prstGeom prst="rect">
            <a:avLst/>
          </a:prstGeom>
          <a:noFill/>
        </p:spPr>
        <p:txBody>
          <a:bodyPr wrap="square" lIns="22860" rIns="22860" tIns="22860" bIns="22860">
            <a:spAutoFit/>
          </a:bodyPr>
          <a:lstStyle/>
          <a:p>
            <a:pPr algn="ctr">
              <a:spcAft>
                <a:spcPts val="700"/>
              </a:spcAft>
              <a:defRPr sz="1800" b="1">
                <a:solidFill>
                  <a:srgbClr val="087F8C"/>
                </a:solidFill>
                <a:latin typeface="Aptos"/>
              </a:defRPr>
            </a:pPr>
            <a:r>
              <a:t>Converted Anny annotation</a:t>
            </a:r>
          </a:p>
        </p:txBody>
      </p:sp>
      <p:pic>
        <p:nvPicPr>
          <p:cNvPr id="11" name="Picture 10" descr="F14_label_check_downtown_walking_00771.jpg"/>
          <p:cNvPicPr>
            <a:picLocks noChangeAspect="1"/>
          </p:cNvPicPr>
          <p:nvPr/>
        </p:nvPicPr>
        <p:blipFill>
          <a:blip r:embed="rId2"/>
          <a:stretch>
            <a:fillRect/>
          </a:stretch>
        </p:blipFill>
        <p:spPr>
          <a:xfrm>
            <a:off x="594360" y="2494026"/>
            <a:ext cx="10972800" cy="2052828"/>
          </a:xfrm>
          <a:prstGeom prst="rect">
            <a:avLst/>
          </a:prstGeom>
        </p:spPr>
      </p:pic>
      <p:sp>
        <p:nvSpPr>
          <p:cNvPr id="12" name="TextBox 11"/>
          <p:cNvSpPr txBox="1"/>
          <p:nvPr/>
        </p:nvSpPr>
        <p:spPr>
          <a:xfrm>
            <a:off x="621792" y="4818888"/>
            <a:ext cx="10789920" cy="502920"/>
          </a:xfrm>
          <a:prstGeom prst="rect">
            <a:avLst/>
          </a:prstGeom>
          <a:noFill/>
        </p:spPr>
        <p:txBody>
          <a:bodyPr wrap="square" lIns="22860" rIns="22860" tIns="22860" bIns="22860">
            <a:spAutoFit/>
          </a:bodyPr>
          <a:lstStyle/>
          <a:p>
            <a:pPr>
              <a:spcAft>
                <a:spcPts val="700"/>
              </a:spcAft>
              <a:defRPr sz="2700" b="1">
                <a:solidFill>
                  <a:srgbClr val="087F8C"/>
                </a:solidFill>
                <a:latin typeface="Aptos"/>
              </a:defRPr>
            </a:pPr>
            <a:r>
              <a:t>14.1 mm median body-joint discrepancy</a:t>
            </a:r>
          </a:p>
        </p:txBody>
      </p:sp>
      <p:sp>
        <p:nvSpPr>
          <p:cNvPr id="13" name="TextBox 12"/>
          <p:cNvSpPr txBox="1"/>
          <p:nvPr/>
        </p:nvSpPr>
        <p:spPr>
          <a:xfrm>
            <a:off x="621792" y="5486400"/>
            <a:ext cx="10789920" cy="685800"/>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WARN: remaining limb-proportion and joint-definition differences.</a:t>
            </a:r>
          </a:p>
          <a:p>
            <a:pPr>
              <a:spcAft>
                <a:spcPts val="700"/>
              </a:spcAft>
              <a:defRPr sz="1800" b="0">
                <a:solidFill>
                  <a:srgbClr val="20374B"/>
                </a:solidFill>
                <a:latin typeface="Aptos"/>
              </a:defRPr>
            </a:pPr>
            <a:r>
              <a:t>This label-fit discrepancy is not the model’s prediction error.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07 / PICTURES</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Synthetic example: inspect placement as well as pose</a:t>
            </a:r>
          </a:p>
        </p:txBody>
      </p:sp>
      <p:sp>
        <p:nvSpPr>
          <p:cNvPr id="5" name="TextBox 4"/>
          <p:cNvSpPr txBox="1"/>
          <p:nvPr/>
        </p:nvSpPr>
        <p:spPr>
          <a:xfrm>
            <a:off x="530352" y="1508760"/>
            <a:ext cx="10972800" cy="548640"/>
          </a:xfrm>
          <a:prstGeom prst="rect">
            <a:avLst/>
          </a:prstGeom>
          <a:noFill/>
        </p:spPr>
        <p:txBody>
          <a:bodyPr wrap="square" lIns="22860" rIns="22860" tIns="22860" bIns="22860">
            <a:spAutoFit/>
          </a:bodyPr>
          <a:lstStyle/>
          <a:p>
            <a:pPr>
              <a:spcAft>
                <a:spcPts val="700"/>
              </a:spcAft>
              <a:defRPr sz="1600" b="0">
                <a:solidFill>
                  <a:srgbClr val="526779"/>
                </a:solidFill>
                <a:latin typeface="Aptos"/>
              </a:defRPr>
            </a:pPr>
            <a:r>
              <a:t>Historical comparison: Base/v5 versus the larger teacher (Final).</a:t>
            </a:r>
          </a:p>
        </p:txBody>
      </p:sp>
      <p:sp>
        <p:nvSpPr>
          <p:cNvPr id="6" name="Rectangle 5"/>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Figure F12; AnnyOne holdout image 579860, V1</a:t>
            </a:r>
          </a:p>
        </p:txBody>
      </p:sp>
      <p:sp>
        <p:nvSpPr>
          <p:cNvPr id="8" name="TextBox 7"/>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16</a:t>
            </a:r>
          </a:p>
        </p:txBody>
      </p:sp>
      <p:sp>
        <p:nvSpPr>
          <p:cNvPr id="9" name="TextBox 8"/>
          <p:cNvSpPr txBox="1"/>
          <p:nvPr/>
        </p:nvSpPr>
        <p:spPr>
          <a:xfrm>
            <a:off x="594360" y="2084831"/>
            <a:ext cx="2651760" cy="411480"/>
          </a:xfrm>
          <a:prstGeom prst="rect">
            <a:avLst/>
          </a:prstGeom>
          <a:noFill/>
        </p:spPr>
        <p:txBody>
          <a:bodyPr wrap="square" lIns="22860" rIns="22860" tIns="22860" bIns="22860">
            <a:spAutoFit/>
          </a:bodyPr>
          <a:lstStyle/>
          <a:p>
            <a:pPr algn="ctr">
              <a:spcAft>
                <a:spcPts val="700"/>
              </a:spcAft>
              <a:defRPr sz="1800" b="1">
                <a:solidFill>
                  <a:srgbClr val="087F8C"/>
                </a:solidFill>
                <a:latin typeface="Aptos"/>
              </a:defRPr>
            </a:pPr>
            <a:r>
              <a:t>Input image</a:t>
            </a:r>
          </a:p>
        </p:txBody>
      </p:sp>
      <p:sp>
        <p:nvSpPr>
          <p:cNvPr id="10" name="TextBox 9"/>
          <p:cNvSpPr txBox="1"/>
          <p:nvPr/>
        </p:nvSpPr>
        <p:spPr>
          <a:xfrm>
            <a:off x="3383279" y="2084831"/>
            <a:ext cx="2651760" cy="411480"/>
          </a:xfrm>
          <a:prstGeom prst="rect">
            <a:avLst/>
          </a:prstGeom>
          <a:noFill/>
        </p:spPr>
        <p:txBody>
          <a:bodyPr wrap="square" lIns="22860" rIns="22860" tIns="22860" bIns="22860">
            <a:spAutoFit/>
          </a:bodyPr>
          <a:lstStyle/>
          <a:p>
            <a:pPr algn="ctr">
              <a:spcAft>
                <a:spcPts val="700"/>
              </a:spcAft>
              <a:defRPr sz="1800" b="1">
                <a:solidFill>
                  <a:srgbClr val="087F8C"/>
                </a:solidFill>
                <a:latin typeface="Aptos"/>
              </a:defRPr>
            </a:pPr>
            <a:r>
              <a:t>Dataset ground truth</a:t>
            </a:r>
          </a:p>
        </p:txBody>
      </p:sp>
      <p:sp>
        <p:nvSpPr>
          <p:cNvPr id="11" name="TextBox 10"/>
          <p:cNvSpPr txBox="1"/>
          <p:nvPr/>
        </p:nvSpPr>
        <p:spPr>
          <a:xfrm>
            <a:off x="6172200" y="2084831"/>
            <a:ext cx="2651760" cy="411480"/>
          </a:xfrm>
          <a:prstGeom prst="rect">
            <a:avLst/>
          </a:prstGeom>
          <a:noFill/>
        </p:spPr>
        <p:txBody>
          <a:bodyPr wrap="square" lIns="22860" rIns="22860" tIns="22860" bIns="22860">
            <a:spAutoFit/>
          </a:bodyPr>
          <a:lstStyle/>
          <a:p>
            <a:pPr algn="ctr">
              <a:spcAft>
                <a:spcPts val="700"/>
              </a:spcAft>
              <a:defRPr sz="1800" b="1">
                <a:solidFill>
                  <a:srgbClr val="087F8C"/>
                </a:solidFill>
                <a:latin typeface="Aptos"/>
              </a:defRPr>
            </a:pPr>
            <a:r>
              <a:t>Base / v5</a:t>
            </a:r>
          </a:p>
        </p:txBody>
      </p:sp>
      <p:sp>
        <p:nvSpPr>
          <p:cNvPr id="12" name="TextBox 11"/>
          <p:cNvSpPr txBox="1"/>
          <p:nvPr/>
        </p:nvSpPr>
        <p:spPr>
          <a:xfrm>
            <a:off x="8961119" y="2084831"/>
            <a:ext cx="2651760" cy="411480"/>
          </a:xfrm>
          <a:prstGeom prst="rect">
            <a:avLst/>
          </a:prstGeom>
          <a:noFill/>
        </p:spPr>
        <p:txBody>
          <a:bodyPr wrap="square" lIns="22860" rIns="22860" tIns="22860" bIns="22860">
            <a:spAutoFit/>
          </a:bodyPr>
          <a:lstStyle/>
          <a:p>
            <a:pPr algn="ctr">
              <a:spcAft>
                <a:spcPts val="700"/>
              </a:spcAft>
              <a:defRPr sz="1800" b="1">
                <a:solidFill>
                  <a:srgbClr val="087F8C"/>
                </a:solidFill>
                <a:latin typeface="Aptos"/>
              </a:defRPr>
            </a:pPr>
            <a:r>
              <a:t>Teacher / Final</a:t>
            </a:r>
          </a:p>
        </p:txBody>
      </p:sp>
      <p:pic>
        <p:nvPicPr>
          <p:cNvPr id="13" name="Picture 12" descr="F12_holdout_579860_img_gt_base_final.jpg"/>
          <p:cNvPicPr>
            <a:picLocks noChangeAspect="1"/>
          </p:cNvPicPr>
          <p:nvPr/>
        </p:nvPicPr>
        <p:blipFill>
          <a:blip r:embed="rId2"/>
          <a:stretch>
            <a:fillRect/>
          </a:stretch>
        </p:blipFill>
        <p:spPr>
          <a:xfrm>
            <a:off x="594360" y="2612898"/>
            <a:ext cx="10972800" cy="2729484"/>
          </a:xfrm>
          <a:prstGeom prst="rect">
            <a:avLst/>
          </a:prstGeom>
        </p:spPr>
      </p:pic>
      <p:sp>
        <p:nvSpPr>
          <p:cNvPr id="14" name="TextBox 13"/>
          <p:cNvSpPr txBox="1"/>
          <p:nvPr/>
        </p:nvSpPr>
        <p:spPr>
          <a:xfrm>
            <a:off x="594360" y="5687568"/>
            <a:ext cx="10972800" cy="502920"/>
          </a:xfrm>
          <a:prstGeom prst="rect">
            <a:avLst/>
          </a:prstGeom>
          <a:noFill/>
        </p:spPr>
        <p:txBody>
          <a:bodyPr wrap="square" lIns="22860" rIns="22860" tIns="22860" bIns="22860">
            <a:spAutoFit/>
          </a:bodyPr>
          <a:lstStyle/>
          <a:p>
            <a:pPr>
              <a:spcAft>
                <a:spcPts val="700"/>
              </a:spcAft>
              <a:defRPr sz="1800" b="0">
                <a:solidFill>
                  <a:srgbClr val="526779"/>
                </a:solidFill>
                <a:latin typeface="Aptos"/>
              </a:defRPr>
            </a:pPr>
            <a:r>
              <a:t>Meshes use each model’s own predicted depth. These panels are not student results.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07 / PICTURES</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Real-photo examples show strengths and limits</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Figures F10; walking and garden examples; demo rendering settings</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17</a:t>
            </a:r>
          </a:p>
        </p:txBody>
      </p:sp>
      <p:sp>
        <p:nvSpPr>
          <p:cNvPr id="8" name="TextBox 7"/>
          <p:cNvSpPr txBox="1"/>
          <p:nvPr/>
        </p:nvSpPr>
        <p:spPr>
          <a:xfrm>
            <a:off x="594360" y="1783080"/>
            <a:ext cx="10972800" cy="457200"/>
          </a:xfrm>
          <a:prstGeom prst="rect">
            <a:avLst/>
          </a:prstGeom>
          <a:noFill/>
        </p:spPr>
        <p:txBody>
          <a:bodyPr wrap="square" lIns="22860" rIns="22860" tIns="22860" bIns="22860">
            <a:spAutoFit/>
          </a:bodyPr>
          <a:lstStyle/>
          <a:p>
            <a:pPr algn="ctr">
              <a:spcAft>
                <a:spcPts val="700"/>
              </a:spcAft>
              <a:defRPr sz="2000" b="1">
                <a:solidFill>
                  <a:srgbClr val="087F8C"/>
                </a:solidFill>
                <a:latin typeface="Aptos"/>
              </a:defRPr>
            </a:pPr>
            <a:r>
              <a:t>Image  |  Base/v5 overlay  |  Image  |  Teacher/Final overlay</a:t>
            </a:r>
          </a:p>
        </p:txBody>
      </p:sp>
      <p:pic>
        <p:nvPicPr>
          <p:cNvPr id="9" name="Picture 8" descr="F10_3dpw_walking_v5_vs_final.jpg"/>
          <p:cNvPicPr>
            <a:picLocks noChangeAspect="1"/>
          </p:cNvPicPr>
          <p:nvPr/>
        </p:nvPicPr>
        <p:blipFill>
          <a:blip r:embed="rId2"/>
          <a:stretch>
            <a:fillRect/>
          </a:stretch>
        </p:blipFill>
        <p:spPr>
          <a:xfrm>
            <a:off x="594360" y="2414016"/>
            <a:ext cx="10972800" cy="1618488"/>
          </a:xfrm>
          <a:prstGeom prst="rect">
            <a:avLst/>
          </a:prstGeom>
        </p:spPr>
      </p:pic>
      <p:pic>
        <p:nvPicPr>
          <p:cNvPr id="10" name="Picture 9" descr="F10_photo_garden_v5_vs_final.jpg"/>
          <p:cNvPicPr>
            <a:picLocks noChangeAspect="1"/>
          </p:cNvPicPr>
          <p:nvPr/>
        </p:nvPicPr>
        <p:blipFill>
          <a:blip r:embed="rId3"/>
          <a:stretch>
            <a:fillRect/>
          </a:stretch>
        </p:blipFill>
        <p:spPr>
          <a:xfrm>
            <a:off x="594360" y="4265676"/>
            <a:ext cx="10972800" cy="1618488"/>
          </a:xfrm>
          <a:prstGeom prst="rect">
            <a:avLst/>
          </a:prstGeom>
        </p:spPr>
      </p:pic>
      <p:sp>
        <p:nvSpPr>
          <p:cNvPr id="11" name="TextBox 10"/>
          <p:cNvSpPr txBox="1"/>
          <p:nvPr/>
        </p:nvSpPr>
        <p:spPr>
          <a:xfrm>
            <a:off x="594360" y="6035040"/>
            <a:ext cx="10972800" cy="274320"/>
          </a:xfrm>
          <a:prstGeom prst="rect">
            <a:avLst/>
          </a:prstGeom>
          <a:noFill/>
        </p:spPr>
        <p:txBody>
          <a:bodyPr wrap="square" lIns="22860" rIns="22860" tIns="22860" bIns="22860">
            <a:spAutoFit/>
          </a:bodyPr>
          <a:lstStyle/>
          <a:p>
            <a:pPr>
              <a:spcAft>
                <a:spcPts val="700"/>
              </a:spcAft>
              <a:defRPr sz="1400" b="0">
                <a:solidFill>
                  <a:srgbClr val="526779"/>
                </a:solidFill>
                <a:latin typeface="Aptos"/>
              </a:defRPr>
            </a:pPr>
            <a:r>
              <a:t>Legacy demos: box-based placement and rest-pose fingers; not raw depth or hand-accuracy evidence.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07 / VIDEO DEMONSTRATION</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Video comparison: student and released baseline</a:t>
            </a:r>
          </a:p>
        </p:txBody>
      </p:sp>
      <p:sp>
        <p:nvSpPr>
          <p:cNvPr id="5" name="TextBox 4"/>
          <p:cNvSpPr txBox="1"/>
          <p:nvPr/>
        </p:nvSpPr>
        <p:spPr>
          <a:xfrm>
            <a:off x="530352" y="1508760"/>
            <a:ext cx="10972800" cy="548640"/>
          </a:xfrm>
          <a:prstGeom prst="rect">
            <a:avLst/>
          </a:prstGeom>
          <a:noFill/>
        </p:spPr>
        <p:txBody>
          <a:bodyPr wrap="square" lIns="22860" rIns="22860" tIns="22860" bIns="22860">
            <a:spAutoFit/>
          </a:bodyPr>
          <a:lstStyle/>
          <a:p>
            <a:pPr>
              <a:spcAft>
                <a:spcPts val="700"/>
              </a:spcAft>
              <a:defRPr sz="1600" b="0">
                <a:solidFill>
                  <a:srgbClr val="526779"/>
                </a:solidFill>
                <a:latin typeface="Aptos"/>
              </a:defRPr>
            </a:pPr>
            <a:r>
              <a:t>Completed run: man_walking.mp4 · 356 frames · NVIDIA L40S</a:t>
            </a:r>
          </a:p>
        </p:txBody>
      </p:sp>
      <p:sp>
        <p:nvSpPr>
          <p:cNvPr id="6" name="Rectangle 5"/>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video-compare-3642415.out; thesis video evidence; demo_video.py</a:t>
            </a:r>
          </a:p>
        </p:txBody>
      </p:sp>
      <p:sp>
        <p:nvSpPr>
          <p:cNvPr id="8" name="TextBox 7"/>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18</a:t>
            </a:r>
          </a:p>
        </p:txBody>
      </p:sp>
      <p:sp>
        <p:nvSpPr>
          <p:cNvPr id="9" name="TextBox 8"/>
          <p:cNvSpPr txBox="1"/>
          <p:nvPr/>
        </p:nvSpPr>
        <p:spPr>
          <a:xfrm>
            <a:off x="594360" y="1920240"/>
            <a:ext cx="10972800" cy="457200"/>
          </a:xfrm>
          <a:prstGeom prst="rect">
            <a:avLst/>
          </a:prstGeom>
          <a:noFill/>
        </p:spPr>
        <p:txBody>
          <a:bodyPr wrap="square" lIns="22860" rIns="22860" tIns="22860" bIns="22860">
            <a:spAutoFit/>
          </a:bodyPr>
          <a:lstStyle/>
          <a:p>
            <a:pPr>
              <a:spcAft>
                <a:spcPts val="700"/>
              </a:spcAft>
              <a:defRPr sz="1900" b="1">
                <a:solidFill>
                  <a:srgbClr val="087F8C"/>
                </a:solidFill>
                <a:latin typeface="Aptos"/>
              </a:defRPr>
            </a:pPr>
            <a:r>
              <a:t>Same 356 frames · Student: 356/356 matched · Baseline: 354/356 matched</a:t>
            </a:r>
          </a:p>
        </p:txBody>
      </p:sp>
      <p:sp>
        <p:nvSpPr>
          <p:cNvPr id="10" name="Rounded Rectangle 9"/>
          <p:cNvSpPr/>
          <p:nvPr/>
        </p:nvSpPr>
        <p:spPr>
          <a:xfrm>
            <a:off x="594360" y="2606040"/>
            <a:ext cx="10972800" cy="2697480"/>
          </a:xfrm>
          <a:prstGeom prst="roundRect">
            <a:avLst>
              <a:gd name="adj" fmla="val 12000"/>
            </a:avLst>
          </a:prstGeom>
          <a:solidFill>
            <a:srgbClr val="E6EFF3"/>
          </a:solidFill>
          <a:ln>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3383280"/>
            <a:ext cx="9784080" cy="548640"/>
          </a:xfrm>
          <a:prstGeom prst="rect">
            <a:avLst/>
          </a:prstGeom>
          <a:noFill/>
        </p:spPr>
        <p:txBody>
          <a:bodyPr wrap="square" lIns="22860" rIns="22860" tIns="22860" bIns="22860">
            <a:spAutoFit/>
          </a:bodyPr>
          <a:lstStyle/>
          <a:p>
            <a:pPr algn="ctr">
              <a:spcAft>
                <a:spcPts val="700"/>
              </a:spcAft>
              <a:defRPr sz="2700" b="1">
                <a:solidFill>
                  <a:srgbClr val="087F8C"/>
                </a:solidFill>
                <a:latin typeface="Aptos"/>
              </a:defRPr>
            </a:pPr>
            <a:r>
              <a:t>INSERT YOUR COMPARISON VIDEO HERE</a:t>
            </a:r>
          </a:p>
        </p:txBody>
      </p:sp>
      <p:sp>
        <p:nvSpPr>
          <p:cNvPr id="12" name="TextBox 11"/>
          <p:cNvSpPr txBox="1"/>
          <p:nvPr/>
        </p:nvSpPr>
        <p:spPr>
          <a:xfrm>
            <a:off x="1188720" y="4069080"/>
            <a:ext cx="9784080" cy="457200"/>
          </a:xfrm>
          <a:prstGeom prst="rect">
            <a:avLst/>
          </a:prstGeom>
          <a:noFill/>
        </p:spPr>
        <p:txBody>
          <a:bodyPr wrap="square" lIns="22860" rIns="22860" tIns="22860" bIns="22860">
            <a:spAutoFit/>
          </a:bodyPr>
          <a:lstStyle/>
          <a:p>
            <a:pPr algn="ctr">
              <a:spcAft>
                <a:spcPts val="700"/>
              </a:spcAft>
              <a:defRPr sz="2000" b="0">
                <a:solidFill>
                  <a:srgbClr val="526779"/>
                </a:solidFill>
                <a:latin typeface="Aptos"/>
              </a:defRPr>
            </a:pPr>
            <a:r>
              <a:t>Input  |  Student  |  Released baseline</a:t>
            </a:r>
          </a:p>
        </p:txBody>
      </p:sp>
      <p:sp>
        <p:nvSpPr>
          <p:cNvPr id="13" name="TextBox 12"/>
          <p:cNvSpPr txBox="1"/>
          <p:nvPr/>
        </p:nvSpPr>
        <p:spPr>
          <a:xfrm>
            <a:off x="594360" y="5559552"/>
            <a:ext cx="10972800" cy="694944"/>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Inspect jitter, sudden pose changes and changing body shape.</a:t>
            </a:r>
          </a:p>
          <a:p>
            <a:pPr>
              <a:spcAft>
                <a:spcPts val="700"/>
              </a:spcAft>
              <a:defRPr sz="1800" b="0">
                <a:solidFill>
                  <a:srgbClr val="20374B"/>
                </a:solidFill>
                <a:latin typeface="Aptos"/>
              </a:defRPr>
            </a:pPr>
            <a:r>
              <a:t>Frame coverage does not prove smoothness. Video FPS has not yet been verified.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07 / LIMITATIONS AND NEXT STEPS</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What remains unresolved</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Discussion and Conclusion; video evidence</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19</a:t>
            </a:r>
          </a:p>
        </p:txBody>
      </p:sp>
      <p:sp>
        <p:nvSpPr>
          <p:cNvPr id="8" name="Rounded Rectangle 7"/>
          <p:cNvSpPr/>
          <p:nvPr/>
        </p:nvSpPr>
        <p:spPr>
          <a:xfrm>
            <a:off x="566928" y="1920240"/>
            <a:ext cx="3566160" cy="33832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20240"/>
            <a:ext cx="50292" cy="3383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084832"/>
            <a:ext cx="318211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Accuracy gap</a:t>
            </a:r>
          </a:p>
        </p:txBody>
      </p:sp>
      <p:sp>
        <p:nvSpPr>
          <p:cNvPr id="11" name="TextBox 10"/>
          <p:cNvSpPr txBox="1"/>
          <p:nvPr/>
        </p:nvSpPr>
        <p:spPr>
          <a:xfrm>
            <a:off x="768096" y="2816352"/>
            <a:ext cx="3182112" cy="239572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Student errors remain higher</a:t>
            </a:r>
          </a:p>
          <a:p>
            <a:pPr>
              <a:spcAft>
                <a:spcPts val="700"/>
              </a:spcAft>
              <a:defRPr sz="1800" b="0">
                <a:solidFill>
                  <a:srgbClr val="20374B"/>
                </a:solidFill>
                <a:latin typeface="Aptos"/>
              </a:defRPr>
            </a:pPr>
            <a:r>
              <a:t>than the teacher’s.</a:t>
            </a:r>
          </a:p>
          <a:p>
            <a:pPr>
              <a:spcAft>
                <a:spcPts val="700"/>
              </a:spcAft>
              <a:defRPr sz="1800" b="0">
                <a:solidFill>
                  <a:srgbClr val="20374B"/>
                </a:solidFill>
                <a:latin typeface="Aptos"/>
              </a:defRPr>
            </a:pPr>
          </a:p>
          <a:p>
            <a:pPr>
              <a:spcAft>
                <a:spcPts val="700"/>
              </a:spcAft>
              <a:defRPr sz="1800" b="0">
                <a:solidFill>
                  <a:srgbClr val="20374B"/>
                </a:solidFill>
                <a:latin typeface="Aptos"/>
              </a:defRPr>
            </a:pPr>
            <a:r>
              <a:t>The 95% accuracy-retention</a:t>
            </a:r>
          </a:p>
          <a:p>
            <a:pPr>
              <a:spcAft>
                <a:spcPts val="700"/>
              </a:spcAft>
              <a:defRPr sz="1800" b="0">
                <a:solidFill>
                  <a:srgbClr val="20374B"/>
                </a:solidFill>
                <a:latin typeface="Aptos"/>
              </a:defRPr>
            </a:pPr>
            <a:r>
              <a:t>target is not met.</a:t>
            </a:r>
          </a:p>
        </p:txBody>
      </p:sp>
      <p:sp>
        <p:nvSpPr>
          <p:cNvPr id="12" name="Rounded Rectangle 11"/>
          <p:cNvSpPr/>
          <p:nvPr/>
        </p:nvSpPr>
        <p:spPr>
          <a:xfrm>
            <a:off x="4334256" y="1920240"/>
            <a:ext cx="3566160" cy="33832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4256" y="1920240"/>
            <a:ext cx="50292" cy="3383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2084832"/>
            <a:ext cx="318211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Real-image body shape</a:t>
            </a:r>
          </a:p>
        </p:txBody>
      </p:sp>
      <p:sp>
        <p:nvSpPr>
          <p:cNvPr id="15" name="TextBox 14"/>
          <p:cNvSpPr txBox="1"/>
          <p:nvPr/>
        </p:nvSpPr>
        <p:spPr>
          <a:xfrm>
            <a:off x="4535424" y="2816352"/>
            <a:ext cx="3182112" cy="239572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Children and body-shape</a:t>
            </a:r>
          </a:p>
          <a:p>
            <a:pPr>
              <a:spcAft>
                <a:spcPts val="700"/>
              </a:spcAft>
              <a:defRPr sz="1800" b="0">
                <a:solidFill>
                  <a:srgbClr val="20374B"/>
                </a:solidFill>
                <a:latin typeface="Aptos"/>
              </a:defRPr>
            </a:pPr>
            <a:r>
              <a:t>variation remain difficult.</a:t>
            </a:r>
          </a:p>
          <a:p>
            <a:pPr>
              <a:spcAft>
                <a:spcPts val="700"/>
              </a:spcAft>
              <a:defRPr sz="1800" b="0">
                <a:solidFill>
                  <a:srgbClr val="20374B"/>
                </a:solidFill>
                <a:latin typeface="Aptos"/>
              </a:defRPr>
            </a:pPr>
          </a:p>
          <a:p>
            <a:pPr>
              <a:spcAft>
                <a:spcPts val="700"/>
              </a:spcAft>
              <a:defRPr sz="1800" b="0">
                <a:solidFill>
                  <a:srgbClr val="20374B"/>
                </a:solidFill>
                <a:latin typeface="Aptos"/>
              </a:defRPr>
            </a:pPr>
            <a:r>
              <a:t>The adult-only holdout</a:t>
            </a:r>
          </a:p>
          <a:p>
            <a:pPr>
              <a:spcAft>
                <a:spcPts val="700"/>
              </a:spcAft>
              <a:defRPr sz="1800" b="0">
                <a:solidFill>
                  <a:srgbClr val="20374B"/>
                </a:solidFill>
                <a:latin typeface="Aptos"/>
              </a:defRPr>
            </a:pPr>
            <a:r>
              <a:t>cannot test child performance.</a:t>
            </a:r>
          </a:p>
        </p:txBody>
      </p:sp>
      <p:sp>
        <p:nvSpPr>
          <p:cNvPr id="16" name="Rounded Rectangle 15"/>
          <p:cNvSpPr/>
          <p:nvPr/>
        </p:nvSpPr>
        <p:spPr>
          <a:xfrm>
            <a:off x="8101583" y="1920240"/>
            <a:ext cx="3520440" cy="33832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1583" y="1920240"/>
            <a:ext cx="50292" cy="3383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2084832"/>
            <a:ext cx="3136392" cy="594360"/>
          </a:xfrm>
          <a:prstGeom prst="rect">
            <a:avLst/>
          </a:prstGeom>
          <a:noFill/>
        </p:spPr>
        <p:txBody>
          <a:bodyPr wrap="square" lIns="22860" rIns="22860" tIns="22860" bIns="22860">
            <a:spAutoFit/>
          </a:bodyPr>
          <a:lstStyle/>
          <a:p>
            <a:pPr>
              <a:spcAft>
                <a:spcPts val="700"/>
              </a:spcAft>
              <a:defRPr sz="2000" b="1">
                <a:solidFill>
                  <a:srgbClr val="087F8C"/>
                </a:solidFill>
                <a:latin typeface="Aptos"/>
              </a:defRPr>
            </a:pPr>
            <a:r>
              <a:t>Temporal evidence</a:t>
            </a:r>
          </a:p>
        </p:txBody>
      </p:sp>
      <p:sp>
        <p:nvSpPr>
          <p:cNvPr id="19" name="TextBox 18"/>
          <p:cNvSpPr txBox="1"/>
          <p:nvPr/>
        </p:nvSpPr>
        <p:spPr>
          <a:xfrm>
            <a:off x="8302752" y="2816352"/>
            <a:ext cx="3136392" cy="2395728"/>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Review the actual video.</a:t>
            </a:r>
          </a:p>
          <a:p>
            <a:pPr>
              <a:spcAft>
                <a:spcPts val="700"/>
              </a:spcAft>
              <a:defRPr sz="1800" b="0">
                <a:solidFill>
                  <a:srgbClr val="20374B"/>
                </a:solidFill>
                <a:latin typeface="Aptos"/>
              </a:defRPr>
            </a:pPr>
          </a:p>
          <a:p>
            <a:pPr>
              <a:spcAft>
                <a:spcPts val="700"/>
              </a:spcAft>
              <a:defRPr sz="1800" b="0">
                <a:solidFill>
                  <a:srgbClr val="20374B"/>
                </a:solidFill>
                <a:latin typeface="Aptos"/>
              </a:defRPr>
            </a:pPr>
            <a:r>
              <a:t>Measure synchronized FPS</a:t>
            </a:r>
          </a:p>
          <a:p>
            <a:pPr>
              <a:spcAft>
                <a:spcPts val="700"/>
              </a:spcAft>
              <a:defRPr sz="1800" b="0">
                <a:solidFill>
                  <a:srgbClr val="20374B"/>
                </a:solidFill>
                <a:latin typeface="Aptos"/>
              </a:defRPr>
            </a:pPr>
            <a:r>
              <a:t>and frame-to-frame stability.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07 / CONCLUSION</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A smaller student with a measured trade-off</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Thesis revision, 22 Oct 2026</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20</a:t>
            </a:r>
          </a:p>
        </p:txBody>
      </p:sp>
      <p:sp>
        <p:nvSpPr>
          <p:cNvPr id="8" name="TextBox 7"/>
          <p:cNvSpPr txBox="1"/>
          <p:nvPr/>
        </p:nvSpPr>
        <p:spPr>
          <a:xfrm>
            <a:off x="621792" y="1920240"/>
            <a:ext cx="914400" cy="548640"/>
          </a:xfrm>
          <a:prstGeom prst="rect">
            <a:avLst/>
          </a:prstGeom>
          <a:noFill/>
        </p:spPr>
        <p:txBody>
          <a:bodyPr wrap="square" lIns="22860" rIns="22860" tIns="22860" bIns="22860">
            <a:spAutoFit/>
          </a:bodyPr>
          <a:lstStyle/>
          <a:p>
            <a:pPr>
              <a:spcAft>
                <a:spcPts val="700"/>
              </a:spcAft>
              <a:defRPr sz="2900" b="1">
                <a:solidFill>
                  <a:srgbClr val="087F8C"/>
                </a:solidFill>
                <a:latin typeface="Aptos"/>
              </a:defRPr>
            </a:pPr>
            <a:r>
              <a:t>01</a:t>
            </a:r>
          </a:p>
        </p:txBody>
      </p:sp>
      <p:sp>
        <p:nvSpPr>
          <p:cNvPr id="9" name="TextBox 8"/>
          <p:cNvSpPr txBox="1"/>
          <p:nvPr/>
        </p:nvSpPr>
        <p:spPr>
          <a:xfrm>
            <a:off x="1645920" y="1920240"/>
            <a:ext cx="9601200" cy="822960"/>
          </a:xfrm>
          <a:prstGeom prst="rect">
            <a:avLst/>
          </a:prstGeom>
          <a:noFill/>
        </p:spPr>
        <p:txBody>
          <a:bodyPr wrap="square" lIns="22860" rIns="22860" tIns="22860" bIns="22860">
            <a:spAutoFit/>
          </a:bodyPr>
          <a:lstStyle/>
          <a:p>
            <a:pPr>
              <a:spcAft>
                <a:spcPts val="700"/>
              </a:spcAft>
              <a:defRPr sz="2500" b="0">
                <a:solidFill>
                  <a:srgbClr val="142D45"/>
                </a:solidFill>
                <a:latin typeface="Aptos"/>
              </a:defRPr>
            </a:pPr>
            <a:r>
              <a:t>Converted real 3DPW annotations into checked Anny labels.</a:t>
            </a:r>
          </a:p>
        </p:txBody>
      </p:sp>
      <p:sp>
        <p:nvSpPr>
          <p:cNvPr id="10" name="TextBox 9"/>
          <p:cNvSpPr txBox="1"/>
          <p:nvPr/>
        </p:nvSpPr>
        <p:spPr>
          <a:xfrm>
            <a:off x="621792" y="2926080"/>
            <a:ext cx="914400" cy="548640"/>
          </a:xfrm>
          <a:prstGeom prst="rect">
            <a:avLst/>
          </a:prstGeom>
          <a:noFill/>
        </p:spPr>
        <p:txBody>
          <a:bodyPr wrap="square" lIns="22860" rIns="22860" tIns="22860" bIns="22860">
            <a:spAutoFit/>
          </a:bodyPr>
          <a:lstStyle/>
          <a:p>
            <a:pPr>
              <a:spcAft>
                <a:spcPts val="700"/>
              </a:spcAft>
              <a:defRPr sz="2900" b="1">
                <a:solidFill>
                  <a:srgbClr val="087F8C"/>
                </a:solidFill>
                <a:latin typeface="Aptos"/>
              </a:defRPr>
            </a:pPr>
            <a:r>
              <a:t>02</a:t>
            </a:r>
          </a:p>
        </p:txBody>
      </p:sp>
      <p:sp>
        <p:nvSpPr>
          <p:cNvPr id="11" name="TextBox 10"/>
          <p:cNvSpPr txBox="1"/>
          <p:nvPr/>
        </p:nvSpPr>
        <p:spPr>
          <a:xfrm>
            <a:off x="1645920" y="2926080"/>
            <a:ext cx="9601200" cy="822960"/>
          </a:xfrm>
          <a:prstGeom prst="rect">
            <a:avLst/>
          </a:prstGeom>
          <a:noFill/>
        </p:spPr>
        <p:txBody>
          <a:bodyPr wrap="square" lIns="22860" rIns="22860" tIns="22860" bIns="22860">
            <a:spAutoFit/>
          </a:bodyPr>
          <a:lstStyle/>
          <a:p>
            <a:pPr>
              <a:spcAft>
                <a:spcPts val="700"/>
              </a:spcAft>
              <a:defRPr sz="2500" b="0">
                <a:solidFill>
                  <a:srgbClr val="142D45"/>
                </a:solidFill>
                <a:latin typeface="Aptos"/>
              </a:defRPr>
            </a:pPr>
            <a:r>
              <a:t>Trained a ViT-B student with label and teacher supervision.</a:t>
            </a:r>
          </a:p>
        </p:txBody>
      </p:sp>
      <p:sp>
        <p:nvSpPr>
          <p:cNvPr id="12" name="TextBox 11"/>
          <p:cNvSpPr txBox="1"/>
          <p:nvPr/>
        </p:nvSpPr>
        <p:spPr>
          <a:xfrm>
            <a:off x="621792" y="3931920"/>
            <a:ext cx="914400" cy="548640"/>
          </a:xfrm>
          <a:prstGeom prst="rect">
            <a:avLst/>
          </a:prstGeom>
          <a:noFill/>
        </p:spPr>
        <p:txBody>
          <a:bodyPr wrap="square" lIns="22860" rIns="22860" tIns="22860" bIns="22860">
            <a:spAutoFit/>
          </a:bodyPr>
          <a:lstStyle/>
          <a:p>
            <a:pPr>
              <a:spcAft>
                <a:spcPts val="700"/>
              </a:spcAft>
              <a:defRPr sz="2900" b="1">
                <a:solidFill>
                  <a:srgbClr val="087F8C"/>
                </a:solidFill>
                <a:latin typeface="Aptos"/>
              </a:defRPr>
            </a:pPr>
            <a:r>
              <a:t>03</a:t>
            </a:r>
          </a:p>
        </p:txBody>
      </p:sp>
      <p:sp>
        <p:nvSpPr>
          <p:cNvPr id="13" name="TextBox 12"/>
          <p:cNvSpPr txBox="1"/>
          <p:nvPr/>
        </p:nvSpPr>
        <p:spPr>
          <a:xfrm>
            <a:off x="1645920" y="3931920"/>
            <a:ext cx="9601200" cy="822960"/>
          </a:xfrm>
          <a:prstGeom prst="rect">
            <a:avLst/>
          </a:prstGeom>
          <a:noFill/>
        </p:spPr>
        <p:txBody>
          <a:bodyPr wrap="square" lIns="22860" rIns="22860" tIns="22860" bIns="22860">
            <a:spAutoFit/>
          </a:bodyPr>
          <a:lstStyle/>
          <a:p>
            <a:pPr>
              <a:spcAft>
                <a:spcPts val="700"/>
              </a:spcAft>
              <a:defRPr sz="2500" b="0">
                <a:solidFill>
                  <a:srgbClr val="142D45"/>
                </a:solidFill>
                <a:latin typeface="Aptos"/>
              </a:defRPr>
            </a:pPr>
            <a:r>
              <a:t>Measured a 2.10× speedup, with higher reconstruction error.</a:t>
            </a:r>
          </a:p>
        </p:txBody>
      </p:sp>
      <p:sp>
        <p:nvSpPr>
          <p:cNvPr id="14" name="Rounded Rectangle 13"/>
          <p:cNvSpPr/>
          <p:nvPr/>
        </p:nvSpPr>
        <p:spPr>
          <a:xfrm>
            <a:off x="530352" y="5623560"/>
            <a:ext cx="11109960" cy="566928"/>
          </a:xfrm>
          <a:prstGeom prst="roundRect">
            <a:avLst>
              <a:gd name="adj" fmla="val 12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705856"/>
            <a:ext cx="10698480" cy="438912"/>
          </a:xfrm>
          <a:prstGeom prst="rect">
            <a:avLst/>
          </a:prstGeom>
          <a:noFill/>
        </p:spPr>
        <p:txBody>
          <a:bodyPr wrap="square" lIns="22860" rIns="22860" tIns="22860" bIns="22860">
            <a:spAutoFit/>
          </a:bodyPr>
          <a:lstStyle/>
          <a:p>
            <a:pPr>
              <a:spcAft>
                <a:spcPts val="700"/>
              </a:spcAft>
              <a:defRPr sz="1900" b="1">
                <a:solidFill>
                  <a:srgbClr val="FFFFFF"/>
                </a:solidFill>
                <a:latin typeface="Aptos"/>
              </a:defRPr>
            </a:pPr>
            <a:r>
              <a:t>Main result: a clear speed–accuracy trade-off, plus a working video-comparison pipeline.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TECHNICAL BACKUP</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Backup: supervised objective and exact weights</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§4.3; Table T02; loss.py</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21</a:t>
            </a:r>
          </a:p>
        </p:txBody>
      </p:sp>
      <p:pic>
        <p:nvPicPr>
          <p:cNvPr id="8" name="Picture 7" descr="sup1.png"/>
          <p:cNvPicPr>
            <a:picLocks noChangeAspect="1"/>
          </p:cNvPicPr>
          <p:nvPr/>
        </p:nvPicPr>
        <p:blipFill>
          <a:blip r:embed="rId2"/>
          <a:stretch>
            <a:fillRect/>
          </a:stretch>
        </p:blipFill>
        <p:spPr>
          <a:xfrm>
            <a:off x="3209380" y="1783080"/>
            <a:ext cx="5834198" cy="548640"/>
          </a:xfrm>
          <a:prstGeom prst="rect">
            <a:avLst/>
          </a:prstGeom>
        </p:spPr>
      </p:pic>
      <p:pic>
        <p:nvPicPr>
          <p:cNvPr id="9" name="Picture 8" descr="sup2.png"/>
          <p:cNvPicPr>
            <a:picLocks noChangeAspect="1"/>
          </p:cNvPicPr>
          <p:nvPr/>
        </p:nvPicPr>
        <p:blipFill>
          <a:blip r:embed="rId3"/>
          <a:stretch>
            <a:fillRect/>
          </a:stretch>
        </p:blipFill>
        <p:spPr>
          <a:xfrm>
            <a:off x="1458993" y="2423160"/>
            <a:ext cx="9334972" cy="640080"/>
          </a:xfrm>
          <a:prstGeom prst="rect">
            <a:avLst/>
          </a:prstGeom>
        </p:spPr>
      </p:pic>
      <p:pic>
        <p:nvPicPr>
          <p:cNvPr id="10" name="Picture 9" descr="rot.png"/>
          <p:cNvPicPr>
            <a:picLocks noChangeAspect="1"/>
          </p:cNvPicPr>
          <p:nvPr/>
        </p:nvPicPr>
        <p:blipFill>
          <a:blip r:embed="rId4"/>
          <a:stretch>
            <a:fillRect/>
          </a:stretch>
        </p:blipFill>
        <p:spPr>
          <a:xfrm>
            <a:off x="4241886" y="3246120"/>
            <a:ext cx="3769187" cy="731520"/>
          </a:xfrm>
          <a:prstGeom prst="rect">
            <a:avLst/>
          </a:prstGeom>
        </p:spPr>
      </p:pic>
      <p:sp>
        <p:nvSpPr>
          <p:cNvPr id="11" name="TextBox 10"/>
          <p:cNvSpPr txBox="1"/>
          <p:nvPr/>
        </p:nvSpPr>
        <p:spPr>
          <a:xfrm>
            <a:off x="777240" y="4251960"/>
            <a:ext cx="10789920" cy="1828800"/>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L1 = sum of absolute differences; rotations use matrix entries.</a:t>
            </a:r>
          </a:p>
          <a:p>
            <a:pPr>
              <a:spcAft>
                <a:spcPts val="700"/>
              </a:spcAft>
              <a:defRPr sz="1800" b="0">
                <a:solidFill>
                  <a:srgbClr val="20374B"/>
                </a:solidFill>
                <a:latin typeface="Aptos"/>
              </a:defRPr>
            </a:pPr>
            <a:r>
              <a:t>Nₕ = supervised people; m = availability mask; w = normalized bone weight.</a:t>
            </a:r>
          </a:p>
          <a:p>
            <a:pPr>
              <a:spcAft>
                <a:spcPts val="700"/>
              </a:spcAft>
              <a:defRPr sz="1800" b="0">
                <a:solidFill>
                  <a:srgbClr val="20374B"/>
                </a:solidFill>
                <a:latin typeface="Aptos"/>
              </a:defRPr>
            </a:pPr>
            <a:r>
              <a:t>3DPW hand rotations are masked; mesh losses still contain rest-pose hands.</a:t>
            </a:r>
          </a:p>
          <a:p>
            <a:pPr>
              <a:spcAft>
                <a:spcPts val="700"/>
              </a:spcAft>
              <a:defRPr sz="1800" b="0">
                <a:solidFill>
                  <a:srgbClr val="20374B"/>
                </a:solidFill>
                <a:latin typeface="Aptos"/>
              </a:defRPr>
            </a:pPr>
            <a:r>
              <a:t>Depth and translation refer to the same head anchor used for placement.</a:t>
            </a:r>
          </a:p>
          <a:p>
            <a:pPr>
              <a:spcAft>
                <a:spcPts val="700"/>
              </a:spcAft>
              <a:defRPr sz="1800" b="0">
                <a:solidFill>
                  <a:srgbClr val="20374B"/>
                </a:solidFill>
                <a:latin typeface="Aptos"/>
              </a:defRPr>
            </a:pPr>
            <a:r>
              <a:t>The final recipe supervises all shape entries, including converter constants.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TECHNICAL BACKUP</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Backup: distillation equations</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Sources: thesis §4.8; distill.py; loss.py rotation_distill_term</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22</a:t>
            </a:r>
          </a:p>
        </p:txBody>
      </p:sp>
      <p:pic>
        <p:nvPicPr>
          <p:cNvPr id="8" name="Picture 7" descr="kd0.png"/>
          <p:cNvPicPr>
            <a:picLocks noChangeAspect="1"/>
          </p:cNvPicPr>
          <p:nvPr/>
        </p:nvPicPr>
        <p:blipFill>
          <a:blip r:embed="rId2"/>
          <a:stretch>
            <a:fillRect/>
          </a:stretch>
        </p:blipFill>
        <p:spPr>
          <a:xfrm>
            <a:off x="2701977" y="1737360"/>
            <a:ext cx="6849005" cy="548640"/>
          </a:xfrm>
          <a:prstGeom prst="rect">
            <a:avLst/>
          </a:prstGeom>
        </p:spPr>
      </p:pic>
      <p:pic>
        <p:nvPicPr>
          <p:cNvPr id="9" name="Picture 8" descr="kd1.png"/>
          <p:cNvPicPr>
            <a:picLocks noChangeAspect="1"/>
          </p:cNvPicPr>
          <p:nvPr/>
        </p:nvPicPr>
        <p:blipFill>
          <a:blip r:embed="rId3"/>
          <a:stretch>
            <a:fillRect/>
          </a:stretch>
        </p:blipFill>
        <p:spPr>
          <a:xfrm>
            <a:off x="4476087" y="2468880"/>
            <a:ext cx="3300785" cy="822960"/>
          </a:xfrm>
          <a:prstGeom prst="rect">
            <a:avLst/>
          </a:prstGeom>
        </p:spPr>
      </p:pic>
      <p:pic>
        <p:nvPicPr>
          <p:cNvPr id="10" name="Picture 9" descr="kd2.png"/>
          <p:cNvPicPr>
            <a:picLocks noChangeAspect="1"/>
          </p:cNvPicPr>
          <p:nvPr/>
        </p:nvPicPr>
        <p:blipFill>
          <a:blip r:embed="rId4"/>
          <a:stretch>
            <a:fillRect/>
          </a:stretch>
        </p:blipFill>
        <p:spPr>
          <a:xfrm>
            <a:off x="2226879" y="3474720"/>
            <a:ext cx="7799201" cy="777240"/>
          </a:xfrm>
          <a:prstGeom prst="rect">
            <a:avLst/>
          </a:prstGeom>
        </p:spPr>
      </p:pic>
      <p:sp>
        <p:nvSpPr>
          <p:cNvPr id="11" name="TextBox 10"/>
          <p:cNvSpPr txBox="1"/>
          <p:nvPr/>
        </p:nvSpPr>
        <p:spPr>
          <a:xfrm>
            <a:off x="777240" y="4572000"/>
            <a:ext cx="10789920" cy="1371600"/>
          </a:xfrm>
          <a:prstGeom prst="rect">
            <a:avLst/>
          </a:prstGeom>
          <a:noFill/>
        </p:spPr>
        <p:txBody>
          <a:bodyPr wrap="square" lIns="22860" rIns="22860" tIns="22860" bIns="22860">
            <a:spAutoFit/>
          </a:bodyPr>
          <a:lstStyle/>
          <a:p>
            <a:pPr>
              <a:spcAft>
                <a:spcPts val="700"/>
              </a:spcAft>
              <a:defRPr sz="1700" b="0">
                <a:solidFill>
                  <a:srgbClr val="20374B"/>
                </a:solidFill>
                <a:latin typeface="Aptos"/>
              </a:defRPr>
            </a:pPr>
            <a:r>
              <a:t>B: batch size · n: image token · c: feature channel · i: person · b: bone · k: shape value</a:t>
            </a:r>
          </a:p>
          <a:p>
            <a:pPr>
              <a:spcAft>
                <a:spcPts val="700"/>
              </a:spcAft>
              <a:defRPr sz="1700" b="0">
                <a:solidFill>
                  <a:srgbClr val="20374B"/>
                </a:solidFill>
                <a:latin typeface="Aptos"/>
              </a:defRPr>
            </a:pPr>
            <a:r>
              <a:t>Feature KL averages over the batch and sums tokens/channels.</a:t>
            </a:r>
          </a:p>
          <a:p>
            <a:pPr>
              <a:spcAft>
                <a:spcPts val="700"/>
              </a:spcAft>
              <a:defRPr sz="1700" b="0">
                <a:solidFill>
                  <a:srgbClr val="20374B"/>
                </a:solidFill>
                <a:latin typeface="Aptos"/>
              </a:defRPr>
            </a:pPr>
            <a:r>
              <a:t>Output KD uses matched labelled-person locations and detached teacher predictions.</a:t>
            </a:r>
          </a:p>
          <a:p>
            <a:pPr>
              <a:spcAft>
                <a:spcPts val="700"/>
              </a:spcAft>
              <a:defRPr sz="1700" b="0">
                <a:solidFill>
                  <a:srgbClr val="20374B"/>
                </a:solidFill>
                <a:latin typeface="Aptos"/>
              </a:defRPr>
            </a:pPr>
            <a:r>
              <a:t>Rotation KD does not use the supervised hand mask or per-bone boost.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22860" rIns="22860" tIns="22860" bIns="22860">
            <a:spAutoFit/>
          </a:bodyPr>
          <a:lstStyle/>
          <a:p>
            <a:pPr>
              <a:spcAft>
                <a:spcPts val="700"/>
              </a:spcAft>
              <a:defRPr sz="1100" b="1">
                <a:solidFill>
                  <a:srgbClr val="087F8C"/>
                </a:solidFill>
                <a:latin typeface="Aptos"/>
              </a:defRPr>
            </a:pPr>
            <a:r>
              <a:t>TECHNICAL BACKUP</a:t>
            </a:r>
          </a:p>
        </p:txBody>
      </p:sp>
      <p:sp>
        <p:nvSpPr>
          <p:cNvPr id="4" name="TextBox 3"/>
          <p:cNvSpPr txBox="1"/>
          <p:nvPr/>
        </p:nvSpPr>
        <p:spPr>
          <a:xfrm>
            <a:off x="502920" y="777240"/>
            <a:ext cx="11155680" cy="777240"/>
          </a:xfrm>
          <a:prstGeom prst="rect">
            <a:avLst/>
          </a:prstGeom>
          <a:noFill/>
        </p:spPr>
        <p:txBody>
          <a:bodyPr wrap="square" lIns="22860" rIns="22860" tIns="22860" bIns="22860">
            <a:spAutoFit/>
          </a:bodyPr>
          <a:lstStyle/>
          <a:p>
            <a:pPr>
              <a:spcAft>
                <a:spcPts val="700"/>
              </a:spcAft>
              <a:defRPr sz="3000" b="1">
                <a:solidFill>
                  <a:srgbClr val="142D45"/>
                </a:solidFill>
                <a:latin typeface="Aptos"/>
              </a:defRPr>
            </a:pPr>
            <a:r>
              <a:t>Selected references and evidence</a:t>
            </a:r>
          </a:p>
        </p:txBody>
      </p:sp>
      <p:sp>
        <p:nvSpPr>
          <p:cNvPr id="5" name="Rectangle 4"/>
          <p:cNvSpPr/>
          <p:nvPr/>
        </p:nvSpPr>
        <p:spPr>
          <a:xfrm>
            <a:off x="502920" y="6400800"/>
            <a:ext cx="11155680" cy="10972"/>
          </a:xfrm>
          <a:prstGeom prst="rect">
            <a:avLst/>
          </a:prstGeom>
          <a:solidFill>
            <a:srgbClr val="CED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510528"/>
            <a:ext cx="10607040" cy="201168"/>
          </a:xfrm>
          <a:prstGeom prst="rect">
            <a:avLst/>
          </a:prstGeom>
          <a:noFill/>
        </p:spPr>
        <p:txBody>
          <a:bodyPr wrap="square" lIns="22860" rIns="22860" tIns="22860" bIns="22860">
            <a:spAutoFit/>
          </a:bodyPr>
          <a:lstStyle/>
          <a:p>
            <a:pPr>
              <a:spcAft>
                <a:spcPts val="700"/>
              </a:spcAft>
              <a:defRPr sz="900" b="0">
                <a:solidFill>
                  <a:srgbClr val="526779"/>
                </a:solidFill>
                <a:latin typeface="Aptos"/>
              </a:defRPr>
            </a:pPr>
            <a:r>
              <a:t>Full bibliography and run provenance: docs/thesis/</a:t>
            </a:r>
          </a:p>
        </p:txBody>
      </p:sp>
      <p:sp>
        <p:nvSpPr>
          <p:cNvPr id="7" name="TextBox 6"/>
          <p:cNvSpPr txBox="1"/>
          <p:nvPr/>
        </p:nvSpPr>
        <p:spPr>
          <a:xfrm>
            <a:off x="11201400" y="6492240"/>
            <a:ext cx="457200" cy="228600"/>
          </a:xfrm>
          <a:prstGeom prst="rect">
            <a:avLst/>
          </a:prstGeom>
          <a:noFill/>
        </p:spPr>
        <p:txBody>
          <a:bodyPr wrap="square" lIns="22860" rIns="22860" tIns="22860" bIns="22860">
            <a:spAutoFit/>
          </a:bodyPr>
          <a:lstStyle/>
          <a:p>
            <a:pPr algn="r">
              <a:spcAft>
                <a:spcPts val="700"/>
              </a:spcAft>
              <a:defRPr sz="1100" b="1">
                <a:solidFill>
                  <a:srgbClr val="087F8C"/>
                </a:solidFill>
                <a:latin typeface="Aptos"/>
              </a:defRPr>
            </a:pPr>
            <a:r>
              <a:t>23</a:t>
            </a:r>
          </a:p>
        </p:txBody>
      </p:sp>
      <p:sp>
        <p:nvSpPr>
          <p:cNvPr id="8" name="TextBox 7"/>
          <p:cNvSpPr txBox="1"/>
          <p:nvPr/>
        </p:nvSpPr>
        <p:spPr>
          <a:xfrm>
            <a:off x="594360" y="1783080"/>
            <a:ext cx="10972800" cy="411480"/>
          </a:xfrm>
          <a:prstGeom prst="rect">
            <a:avLst/>
          </a:prstGeom>
          <a:noFill/>
        </p:spPr>
        <p:txBody>
          <a:bodyPr wrap="square" lIns="22860" rIns="22860" tIns="22860" bIns="22860">
            <a:spAutoFit/>
          </a:bodyPr>
          <a:lstStyle/>
          <a:p>
            <a:pPr>
              <a:spcAft>
                <a:spcPts val="700"/>
              </a:spcAft>
              <a:defRPr sz="2300" b="1">
                <a:solidFill>
                  <a:srgbClr val="087F8C"/>
                </a:solidFill>
                <a:latin typeface="Aptos"/>
              </a:defRPr>
            </a:pPr>
            <a:r>
              <a:t>Method background</a:t>
            </a:r>
          </a:p>
        </p:txBody>
      </p:sp>
      <p:sp>
        <p:nvSpPr>
          <p:cNvPr id="9" name="TextBox 8"/>
          <p:cNvSpPr txBox="1"/>
          <p:nvPr/>
        </p:nvSpPr>
        <p:spPr>
          <a:xfrm>
            <a:off x="594360" y="2331720"/>
            <a:ext cx="10972800" cy="2377440"/>
          </a:xfrm>
          <a:prstGeom prst="rect">
            <a:avLst/>
          </a:prstGeom>
          <a:noFill/>
        </p:spPr>
        <p:txBody>
          <a:bodyPr wrap="square" lIns="22860" rIns="22860" tIns="22860" bIns="22860">
            <a:spAutoFit/>
          </a:bodyPr>
          <a:lstStyle/>
          <a:p>
            <a:pPr>
              <a:spcAft>
                <a:spcPts val="700"/>
              </a:spcAft>
              <a:defRPr sz="1700" b="0">
                <a:solidFill>
                  <a:srgbClr val="20374B"/>
                </a:solidFill>
                <a:latin typeface="Aptos"/>
              </a:defRPr>
            </a:pPr>
            <a:r>
              <a:t>Baradel et al. (2024). Multi-HMR: Multi-Person Whole-Body Human Mesh Recovery in a Single Shot.</a:t>
            </a:r>
          </a:p>
          <a:p>
            <a:pPr>
              <a:spcAft>
                <a:spcPts val="700"/>
              </a:spcAft>
              <a:defRPr sz="1700" b="0">
                <a:solidFill>
                  <a:srgbClr val="20374B"/>
                </a:solidFill>
                <a:latin typeface="Aptos"/>
              </a:defRPr>
            </a:pPr>
            <a:r>
              <a:t>Brégier et al. Human Mesh Modeling for Anny Body. arXiv:2511.03589.</a:t>
            </a:r>
          </a:p>
          <a:p>
            <a:pPr>
              <a:spcAft>
                <a:spcPts val="700"/>
              </a:spcAft>
              <a:defRPr sz="1700" b="0">
                <a:solidFill>
                  <a:srgbClr val="20374B"/>
                </a:solidFill>
                <a:latin typeface="Aptos"/>
              </a:defRPr>
            </a:pPr>
            <a:r>
              <a:t>Oquab et al. (2023). DINOv2: Learning Robust Visual Features without Supervision.</a:t>
            </a:r>
          </a:p>
          <a:p>
            <a:pPr>
              <a:spcAft>
                <a:spcPts val="700"/>
              </a:spcAft>
              <a:defRPr sz="1700" b="0">
                <a:solidFill>
                  <a:srgbClr val="20374B"/>
                </a:solidFill>
                <a:latin typeface="Aptos"/>
              </a:defRPr>
            </a:pPr>
            <a:r>
              <a:t>von Marcard et al. (2018). Recovering Accurate 3D Human Pose in the Wild Using IMUs and a Moving Camera.</a:t>
            </a:r>
          </a:p>
          <a:p>
            <a:pPr>
              <a:spcAft>
                <a:spcPts val="700"/>
              </a:spcAft>
              <a:defRPr sz="1700" b="0">
                <a:solidFill>
                  <a:srgbClr val="20374B"/>
                </a:solidFill>
                <a:latin typeface="Aptos"/>
              </a:defRPr>
            </a:pPr>
            <a:r>
              <a:t>Hinton et al. (2015). Distilling the Knowledge in a Neural Network.</a:t>
            </a:r>
          </a:p>
        </p:txBody>
      </p:sp>
      <p:sp>
        <p:nvSpPr>
          <p:cNvPr id="10" name="TextBox 9"/>
          <p:cNvSpPr txBox="1"/>
          <p:nvPr/>
        </p:nvSpPr>
        <p:spPr>
          <a:xfrm>
            <a:off x="594360" y="4892040"/>
            <a:ext cx="10972800" cy="411480"/>
          </a:xfrm>
          <a:prstGeom prst="rect">
            <a:avLst/>
          </a:prstGeom>
          <a:noFill/>
        </p:spPr>
        <p:txBody>
          <a:bodyPr wrap="square" lIns="22860" rIns="22860" tIns="22860" bIns="22860">
            <a:spAutoFit/>
          </a:bodyPr>
          <a:lstStyle/>
          <a:p>
            <a:pPr>
              <a:spcAft>
                <a:spcPts val="700"/>
              </a:spcAft>
              <a:defRPr sz="2300" b="1">
                <a:solidFill>
                  <a:srgbClr val="087F8C"/>
                </a:solidFill>
                <a:latin typeface="Aptos"/>
              </a:defRPr>
            </a:pPr>
            <a:r>
              <a:t>Project evidence</a:t>
            </a:r>
          </a:p>
        </p:txBody>
      </p:sp>
      <p:sp>
        <p:nvSpPr>
          <p:cNvPr id="11" name="TextBox 10"/>
          <p:cNvSpPr txBox="1"/>
          <p:nvPr/>
        </p:nvSpPr>
        <p:spPr>
          <a:xfrm>
            <a:off x="594360" y="5440680"/>
            <a:ext cx="10972800" cy="685800"/>
          </a:xfrm>
          <a:prstGeom prst="rect">
            <a:avLst/>
          </a:prstGeom>
          <a:noFill/>
        </p:spPr>
        <p:txBody>
          <a:bodyPr wrap="square" lIns="22860" rIns="22860" tIns="22860" bIns="22860">
            <a:spAutoFit/>
          </a:bodyPr>
          <a:lstStyle/>
          <a:p>
            <a:pPr>
              <a:spcAft>
                <a:spcPts val="700"/>
              </a:spcAft>
              <a:defRPr sz="1800" b="0">
                <a:solidFill>
                  <a:srgbClr val="20374B"/>
                </a:solidFill>
                <a:latin typeface="Aptos"/>
              </a:defRPr>
            </a:pPr>
            <a:r>
              <a:t>Revised thesis: commit 3e2f21e · Student results: job 3614191</a:t>
            </a:r>
          </a:p>
          <a:p>
            <a:pPr>
              <a:spcAft>
                <a:spcPts val="700"/>
              </a:spcAft>
              <a:defRPr sz="1800" b="0">
                <a:solidFill>
                  <a:srgbClr val="20374B"/>
                </a:solidFill>
                <a:latin typeface="Aptos"/>
              </a:defRPr>
            </a:pPr>
            <a:r>
              <a:t>Video execution: job 3642415 · Every pictured model is identified on its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Multi-Person Human Mesh Recovery with the Anny Body Model</dc:title>
  <dc:subject>Supervisor presentation: student model, distillation, data conversion and verified results</dc:subject>
  <dc:creator>Muhammad Saad Najib</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